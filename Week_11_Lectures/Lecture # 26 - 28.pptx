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6"/>
  </p:notesMasterIdLst>
  <p:sldIdLst>
    <p:sldId id="256" r:id="rId2"/>
    <p:sldId id="261" r:id="rId3"/>
    <p:sldId id="475" r:id="rId4"/>
    <p:sldId id="520" r:id="rId5"/>
    <p:sldId id="521" r:id="rId6"/>
    <p:sldId id="522" r:id="rId7"/>
    <p:sldId id="523" r:id="rId8"/>
    <p:sldId id="524" r:id="rId9"/>
    <p:sldId id="525" r:id="rId10"/>
    <p:sldId id="526" r:id="rId11"/>
    <p:sldId id="527" r:id="rId12"/>
    <p:sldId id="528" r:id="rId13"/>
    <p:sldId id="529" r:id="rId14"/>
    <p:sldId id="530" r:id="rId15"/>
    <p:sldId id="531" r:id="rId16"/>
    <p:sldId id="532" r:id="rId17"/>
    <p:sldId id="533" r:id="rId18"/>
    <p:sldId id="534" r:id="rId19"/>
    <p:sldId id="535" r:id="rId20"/>
    <p:sldId id="536" r:id="rId21"/>
    <p:sldId id="537" r:id="rId22"/>
    <p:sldId id="538" r:id="rId23"/>
    <p:sldId id="539" r:id="rId24"/>
    <p:sldId id="26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3842" autoAdjust="0"/>
  </p:normalViewPr>
  <p:slideViewPr>
    <p:cSldViewPr snapToGrid="0">
      <p:cViewPr varScale="1">
        <p:scale>
          <a:sx n="60" d="100"/>
          <a:sy n="60" d="100"/>
        </p:scale>
        <p:origin x="9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18/01/2026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proton.me/blog/anonymity-vs-privacy" TargetMode="External"/><Relationship Id="rId2" Type="http://schemas.openxmlformats.org/officeDocument/2006/relationships/hyperlink" Target="https://www.pewresearch.org/internet/2013/09/05/anonymity-privacy-and-security-online/" TargetMode="External"/><Relationship Id="rId1" Type="http://schemas.openxmlformats.org/officeDocument/2006/relationships/slideLayout" Target="../slideLayouts/slideLayout7.xml"/><Relationship Id="rId6" Type="http://schemas.openxmlformats.org/officeDocument/2006/relationships/hyperlink" Target="https://www.forbes.com/councils/forbestechcouncil/2024/06/05/privacy-and-anonymity-are-not-the-same-yet-both-are-important/" TargetMode="External"/><Relationship Id="rId5" Type="http://schemas.openxmlformats.org/officeDocument/2006/relationships/hyperlink" Target="https://www.drweb.com/pravda/issue/?number=1310" TargetMode="External"/><Relationship Id="rId4" Type="http://schemas.openxmlformats.org/officeDocument/2006/relationships/hyperlink" Target="https://cyber.harvard.edu/cyberlaw_winter10/Privacy_and_Anonymity_on_the_Internet"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ethical-hacking/how-to-hide-your-ip-address/" TargetMode="External"/><Relationship Id="rId2" Type="http://schemas.openxmlformats.org/officeDocument/2006/relationships/hyperlink" Target="https://www.geeksforgeeks.org/computer-networks/onion-routing/"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www.google.com/search?q=CPRA&amp;sca_esv=9437bc439e189606&amp;rlz=1C1CHBD_en-GBPK1170PK1171&amp;sxsrf=AE3TifOE9kfjuI4vAqN0pvdn215ojA0d5w%3A1767686362246&amp;ei=2sBcafPcDvyHxc8P1479yAE&amp;ved=2ahUKEwjH3K3vu_aRAxX6_rsIHYb5LTYQgK4QegQIARAC&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2" Type="http://schemas.openxmlformats.org/officeDocument/2006/relationships/hyperlink" Target="https://www.google.com/search?q=CCPA&amp;sca_esv=9437bc439e189606&amp;rlz=1C1CHBD_en-GBPK1170PK1171&amp;sxsrf=AE3TifOE9kfjuI4vAqN0pvdn215ojA0d5w%3A1767686362246&amp;ei=2sBcafPcDvyHxc8P1479yAE&amp;ved=2ahUKEwjH3K3vu_aRAxX6_rsIHYb5LTYQgK4QegQIARAB&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1" Type="http://schemas.openxmlformats.org/officeDocument/2006/relationships/slideLayout" Target="../slideLayouts/slideLayout7.xml"/><Relationship Id="rId5" Type="http://schemas.openxmlformats.org/officeDocument/2006/relationships/hyperlink" Target="https://www.google.com/search?q=PECA&amp;sca_esv=9437bc439e189606&amp;rlz=1C1CHBD_en-GBPK1170PK1171&amp;sxsrf=AE3TifOE9kfjuI4vAqN0pvdn215ojA0d5w%3A1767686362246&amp;ei=2sBcafPcDvyHxc8P1479yAE&amp;ved=2ahUKEwjH3K3vu_aRAxX6_rsIHYb5LTYQgK4QegQIARAE&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4" Type="http://schemas.openxmlformats.org/officeDocument/2006/relationships/hyperlink" Target="https://www.google.com/search?q=GDPR&amp;sca_esv=9437bc439e189606&amp;rlz=1C1CHBD_en-GBPK1170PK1171&amp;sxsrf=AE3TifOE9kfjuI4vAqN0pvdn215ojA0d5w%3A1767686362246&amp;ei=2sBcafPcDvyHxc8P1479yAE&amp;ved=2ahUKEwjH3K3vu_aRAxX6_rsIHYb5LTYQgK4QegQIARAD&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www.google.com/search?q=Prevention+of+Electronic+Crimes+Act+2016&amp;sca_esv=9437bc439e189606&amp;rlz=1C1CHBD_en-GBPK1170PK1171&amp;sxsrf=AE3TifOE9kfjuI4vAqN0pvdn215ojA0d5w%3A1767686362246&amp;ei=2sBcafPcDvyHxc8P1479yAE&amp;ved=2ahUKEwjH3K3vu_aRAxX6_rsIHYb5LTYQgK4QegQIBBAL&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3" Type="http://schemas.openxmlformats.org/officeDocument/2006/relationships/hyperlink" Target="https://www.google.com/search?q=Privacy+Act+of+1974&amp;sca_esv=9437bc439e189606&amp;rlz=1C1CHBD_en-GBPK1170PK1171&amp;sxsrf=AE3TifOE9kfjuI4vAqN0pvdn215ojA0d5w%3A1767686362246&amp;ei=2sBcafPcDvyHxc8P1479yAE&amp;ved=2ahUKEwjH3K3vu_aRAxX6_rsIHYb5LTYQgK4QegQIBBAE&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7" Type="http://schemas.openxmlformats.org/officeDocument/2006/relationships/hyperlink" Target="https://www.google.com/search?q=California+Privacy+Rights+Act&amp;sca_esv=9437bc439e189606&amp;rlz=1C1CHBD_en-GBPK1170PK1171&amp;sxsrf=AE3TifOE9kfjuI4vAqN0pvdn215ojA0d5w%3A1767686362246&amp;ei=2sBcafPcDvyHxc8P1479yAE&amp;ved=2ahUKEwjH3K3vu_aRAxX6_rsIHYb5LTYQgK4QegQIBBAJ&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2" Type="http://schemas.openxmlformats.org/officeDocument/2006/relationships/hyperlink" Target="https://www.google.com/search?q=ICCPR&amp;sca_esv=9437bc439e189606&amp;rlz=1C1CHBD_en-GBPK1170PK1171&amp;sxsrf=AE3TifOE9kfjuI4vAqN0pvdn215ojA0d5w%3A1767686362246&amp;ei=2sBcafPcDvyHxc8P1479yAE&amp;ved=2ahUKEwjH3K3vu_aRAxX6_rsIHYb5LTYQgK4QegQIBBAC&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1" Type="http://schemas.openxmlformats.org/officeDocument/2006/relationships/slideLayout" Target="../slideLayouts/slideLayout7.xml"/><Relationship Id="rId6" Type="http://schemas.openxmlformats.org/officeDocument/2006/relationships/hyperlink" Target="https://www.google.com/search?q=CFAA&amp;sca_esv=9437bc439e189606&amp;rlz=1C1CHBD_en-GBPK1170PK1171&amp;sxsrf=AE3TifOE9kfjuI4vAqN0pvdn215ojA0d5w%3A1767686362246&amp;ei=2sBcafPcDvyHxc8P1479yAE&amp;ved=2ahUKEwjH3K3vu_aRAxX6_rsIHYb5LTYQgK4QegQIBBAH&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5" Type="http://schemas.openxmlformats.org/officeDocument/2006/relationships/hyperlink" Target="https://www.google.com/search?q=COPPA&amp;sca_esv=9437bc439e189606&amp;rlz=1C1CHBD_en-GBPK1170PK1171&amp;sxsrf=AE3TifOE9kfjuI4vAqN0pvdn215ojA0d5w%3A1767686362246&amp;ei=2sBcafPcDvyHxc8P1479yAE&amp;ved=2ahUKEwjH3K3vu_aRAxX6_rsIHYb5LTYQgK4QegQIBBAG&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 Id="rId4" Type="http://schemas.openxmlformats.org/officeDocument/2006/relationships/hyperlink" Target="https://www.google.com/search?q=GLBA&amp;sca_esv=9437bc439e189606&amp;rlz=1C1CHBD_en-GBPK1170PK1171&amp;sxsrf=AE3TifOE9kfjuI4vAqN0pvdn215ojA0d5w%3A1767686362246&amp;ei=2sBcafPcDvyHxc8P1479yAE&amp;ved=2ahUKEwjH3K3vu_aRAxX6_rsIHYb5LTYQgK4QegQIBBAF&amp;uact=5&amp;oq=Laws+for+Privacy+and+Anonymity&amp;gs_lp=Egxnd3Mtd2l6LXNlcnAiHkxhd3MgZm9yIFByaXZhY3kgYW5kIEFub255bWl0eTIFECEYoAFImQhQtwVYtwVwAXgBkAEAmAHUAqAB1AKqAQMzLTG4AQPIAQD4AQL4AQGYAgKgAuYCwgIKEAAYsAMY1gQYR5gDAIgGAZAGCJIHBTEuMy0xoAfbAbIHAzMtMbgH2gLCBwUwLjEuMcgHCYAIAA&amp;sclient=gws-wiz-serp&amp;mstk=AUtExfAtJo1upEC0Ws6jtzmORQdsUcx7aDf903e5GyVEocvsgSuPORnr7Up_z8qQggbI27qKSZkdoTMDNdfUA8PZxTYZyS819cQzouz29WP3gMHY6L0l_5DfVHgKrSGjo2hJaWPETI3jMH_-bcyZXV3WuS3bIxNb506CNmcBjJ16WABR6Ny_iXP8PWAt40RMCJrKYfn2NfkKxGHj4R3YT7AA-RYRdeUFdMj46jOH3la3G4o1NackvjlrZuMBp38Luqv2KecUW6OQSFs_pbgboOOqDvmSLYJNWMzTc3WXmDpZUDp58tfzdevCLU1zeRNZ8OIY-s-duLUgcWUe3nsWZsTLPzanz9fJjOZhG0687b50fVKjaFGuyKN_ftg4JaqoHdDF_-DQ2_ScvmbeffcmbaGeJ8SejUfvLF_revH3pjwRArSXaueV2Uv-v6IZtMbl_RCuPBWS_tI2kXroB1EZq6aSDqHSNXNajvvDPG1mYOtgG6Pf2Nnlgq_G1eSulbXW4_6-3GZx4JTzgWcPDJkdzEIByeYnaEQPUaryVDdPUzKVFQaSALaBO1zhX5gv9RZN9dB6dEPadLSM58DcVVLB4g&amp;csui=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865884" y="4403173"/>
            <a:ext cx="8053832" cy="1273048"/>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a:t>
            </a:r>
            <a:r>
              <a:rPr lang="en-US" sz="7200" b="1">
                <a:latin typeface="Times New Roman" panose="02020603050405020304" pitchFamily="18" charset="0"/>
                <a:cs typeface="Times New Roman" panose="02020603050405020304" pitchFamily="18" charset="0"/>
              </a:rPr>
              <a:t># 26 - 28</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016000" y="1499030"/>
            <a:ext cx="9750552" cy="5509200"/>
          </a:xfrm>
          <a:prstGeom prst="rect">
            <a:avLst/>
          </a:prstGeom>
          <a:noFill/>
        </p:spPr>
        <p:txBody>
          <a:bodyPr wrap="square">
            <a:spAutoFit/>
          </a:bodyPr>
          <a:lstStyle/>
          <a:p>
            <a:pPr marL="457200" indent="-457200">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Privacy and Anonymity on the Internet</a:t>
            </a:r>
          </a:p>
          <a:p>
            <a:pPr marL="457200" indent="-457200">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The importance of Privacy and Anonymity </a:t>
            </a:r>
          </a:p>
          <a:p>
            <a:pPr marL="457200" indent="-457200">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Understanding the Layers of the Internet</a:t>
            </a:r>
          </a:p>
          <a:p>
            <a:pPr marL="971550" lvl="1" indent="-514350">
              <a:buFont typeface="+mj-lt"/>
              <a:buAutoNum type="arabicPeriod"/>
            </a:pPr>
            <a:r>
              <a:rPr lang="en-US" sz="3200" dirty="0">
                <a:latin typeface="Times New Roman" panose="02020603050405020304" pitchFamily="18" charset="0"/>
                <a:cs typeface="Times New Roman" panose="02020603050405020304" pitchFamily="18" charset="0"/>
              </a:rPr>
              <a:t>The Surface Web</a:t>
            </a:r>
          </a:p>
          <a:p>
            <a:pPr marL="971550" lvl="1" indent="-514350">
              <a:buFont typeface="+mj-lt"/>
              <a:buAutoNum type="arabicPeriod"/>
            </a:pPr>
            <a:r>
              <a:rPr lang="en-US" sz="3200" dirty="0">
                <a:latin typeface="Times New Roman" panose="02020603050405020304" pitchFamily="18" charset="0"/>
                <a:cs typeface="Times New Roman" panose="02020603050405020304" pitchFamily="18" charset="0"/>
              </a:rPr>
              <a:t>The Deep Web</a:t>
            </a:r>
          </a:p>
          <a:p>
            <a:pPr marL="971550" lvl="1" indent="-514350">
              <a:buFont typeface="+mj-lt"/>
              <a:buAutoNum type="arabicPeriod"/>
            </a:pPr>
            <a:r>
              <a:rPr lang="en-US" sz="3200" dirty="0">
                <a:latin typeface="Times New Roman" panose="02020603050405020304" pitchFamily="18" charset="0"/>
                <a:cs typeface="Times New Roman" panose="02020603050405020304" pitchFamily="18" charset="0"/>
              </a:rPr>
              <a:t>The Dark Web</a:t>
            </a:r>
          </a:p>
          <a:p>
            <a:pPr marL="457200" indent="-457200">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Understanding the Layers of the Internet - Tor </a:t>
            </a:r>
            <a:r>
              <a:rPr lang="en-US" sz="3200" b="1" dirty="0">
                <a:latin typeface="Times New Roman" panose="02020603050405020304" pitchFamily="18" charset="0"/>
                <a:cs typeface="Times New Roman" panose="02020603050405020304" pitchFamily="18" charset="0"/>
              </a:rPr>
              <a:t>(The Onion Router)</a:t>
            </a:r>
          </a:p>
          <a:p>
            <a:pPr marL="457200" indent="-457200">
              <a:buFont typeface="Wingdings" panose="05000000000000000000" pitchFamily="2" charset="2"/>
              <a:buChar char="§"/>
            </a:pPr>
            <a:r>
              <a:rPr lang="en-US" sz="3200" dirty="0">
                <a:latin typeface="Times New Roman" panose="02020603050405020304" pitchFamily="18" charset="0"/>
                <a:ea typeface="Tahoma" panose="020B0604030504040204" pitchFamily="34" charset="0"/>
                <a:cs typeface="Times New Roman" panose="02020603050405020304" pitchFamily="18" charset="0"/>
              </a:rPr>
              <a:t>Tor Browser and Network</a:t>
            </a:r>
          </a:p>
          <a:p>
            <a:pPr marL="457200" indent="-457200">
              <a:buFont typeface="Wingdings" panose="05000000000000000000" pitchFamily="2" charset="2"/>
              <a:buChar char="§"/>
            </a:pP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3D929-9745-D180-0388-2230039774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17A5277-5F6F-3B51-E8B9-429F400782CD}"/>
              </a:ext>
            </a:extLst>
          </p:cNvPr>
          <p:cNvSpPr txBox="1"/>
          <p:nvPr/>
        </p:nvSpPr>
        <p:spPr>
          <a:xfrm>
            <a:off x="828040" y="1510159"/>
            <a:ext cx="10312400" cy="4832092"/>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modern Internet enables seamless communication, data sharing, and global connectivity. However, it also exposes users to </a:t>
            </a:r>
            <a:r>
              <a:rPr lang="en-US" sz="2800" b="1" dirty="0">
                <a:latin typeface="Times New Roman" panose="02020603050405020304" pitchFamily="18" charset="0"/>
                <a:cs typeface="Times New Roman" panose="02020603050405020304" pitchFamily="18" charset="0"/>
              </a:rPr>
              <a:t>surveillance, tracking, profiling, censorship, and cybercrime</a:t>
            </a:r>
            <a:r>
              <a:rPr lang="en-US" sz="2800"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address these challenges, the concepts of </a:t>
            </a:r>
            <a:r>
              <a:rPr lang="en-US" sz="2800" b="1" dirty="0">
                <a:latin typeface="Times New Roman" panose="02020603050405020304" pitchFamily="18" charset="0"/>
                <a:cs typeface="Times New Roman" panose="02020603050405020304" pitchFamily="18" charset="0"/>
              </a:rPr>
              <a:t>privacy</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anonymity</a:t>
            </a:r>
            <a:r>
              <a:rPr lang="en-US" sz="2800" dirty="0">
                <a:latin typeface="Times New Roman" panose="02020603050405020304" pitchFamily="18" charset="0"/>
                <a:cs typeface="Times New Roman" panose="02020603050405020304" pitchFamily="18" charset="0"/>
              </a:rPr>
              <a:t> have become central to Internet security and digital rights.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Anonymity is not the same thing as privacy, and confusing these related but different concepts can weaken your online threat model.</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While often used interchangeably, privacy and anonymity represent distinct facets of protecting our personal information online.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3F170C-A032-A237-B56C-83381D2E532B}"/>
              </a:ext>
            </a:extLst>
          </p:cNvPr>
          <p:cNvSpPr txBox="1"/>
          <p:nvPr/>
        </p:nvSpPr>
        <p:spPr>
          <a:xfrm>
            <a:off x="2072640" y="323562"/>
            <a:ext cx="85140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PRIVACY AND ANONYMITY</a:t>
            </a:r>
          </a:p>
        </p:txBody>
      </p:sp>
    </p:spTree>
    <p:extLst>
      <p:ext uri="{BB962C8B-B14F-4D97-AF65-F5344CB8AC3E}">
        <p14:creationId xmlns:p14="http://schemas.microsoft.com/office/powerpoint/2010/main" val="211998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7611-89DA-71AF-D10C-3E4D9813BE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071136-3A72-C05B-08F1-95736B920059}"/>
              </a:ext>
            </a:extLst>
          </p:cNvPr>
          <p:cNvSpPr txBox="1"/>
          <p:nvPr/>
        </p:nvSpPr>
        <p:spPr>
          <a:xfrm>
            <a:off x="828040" y="1510159"/>
            <a:ext cx="10312400" cy="4401205"/>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According to the </a:t>
            </a:r>
            <a:r>
              <a:rPr lang="en-US" sz="2800" b="1" dirty="0">
                <a:latin typeface="Times New Roman" panose="02020603050405020304" pitchFamily="18" charset="0"/>
                <a:cs typeface="Times New Roman" panose="02020603050405020304" pitchFamily="18" charset="0"/>
              </a:rPr>
              <a:t>Cambridge</a:t>
            </a:r>
            <a:r>
              <a:rPr lang="en-US" sz="2800" dirty="0">
                <a:latin typeface="Times New Roman" panose="02020603050405020304" pitchFamily="18" charset="0"/>
                <a:cs typeface="Times New Roman" panose="02020603050405020304" pitchFamily="18" charset="0"/>
              </a:rPr>
              <a:t>, the definition of privacy is </a:t>
            </a:r>
          </a:p>
          <a:p>
            <a:pPr algn="ctr"/>
            <a:r>
              <a:rPr lang="en-US" sz="2800" b="1" dirty="0">
                <a:latin typeface="Times New Roman" panose="02020603050405020304" pitchFamily="18" charset="0"/>
                <a:cs typeface="Times New Roman" panose="02020603050405020304" pitchFamily="18" charset="0"/>
              </a:rPr>
              <a:t>"the right that someone has to keep their personal life or personal information secret or known only to a small group of people.“</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a digital world, this means that people browsing the web have the right to decide what aspects of their digital actions are shared, with whom and under what circumstances.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Privacy empowers individuals to establish boundaries and make informed choices about the sharing of their data.</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Privacy refers to the right of individuals to control how their personal information is collected, used, stored, and shared.</a:t>
            </a:r>
          </a:p>
        </p:txBody>
      </p:sp>
      <p:sp>
        <p:nvSpPr>
          <p:cNvPr id="3" name="TextBox 2">
            <a:extLst>
              <a:ext uri="{FF2B5EF4-FFF2-40B4-BE49-F238E27FC236}">
                <a16:creationId xmlns:a16="http://schemas.microsoft.com/office/drawing/2014/main" id="{8F13D39A-93CB-03D3-8D5F-2119072F24A7}"/>
              </a:ext>
            </a:extLst>
          </p:cNvPr>
          <p:cNvSpPr txBox="1"/>
          <p:nvPr/>
        </p:nvSpPr>
        <p:spPr>
          <a:xfrm>
            <a:off x="1595120" y="302686"/>
            <a:ext cx="96875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PRIVACY ON THE INTERNET</a:t>
            </a:r>
          </a:p>
        </p:txBody>
      </p:sp>
    </p:spTree>
    <p:extLst>
      <p:ext uri="{BB962C8B-B14F-4D97-AF65-F5344CB8AC3E}">
        <p14:creationId xmlns:p14="http://schemas.microsoft.com/office/powerpoint/2010/main" val="1384740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26FE4-95E9-ACCE-BEDF-DD72D895351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8A98AD-D2EE-9F08-F4C2-FB562D58C105}"/>
              </a:ext>
            </a:extLst>
          </p:cNvPr>
          <p:cNvSpPr txBox="1"/>
          <p:nvPr/>
        </p:nvSpPr>
        <p:spPr>
          <a:xfrm>
            <a:off x="828040" y="1388239"/>
            <a:ext cx="10312400" cy="452431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contrast, the Cambridge  defines anonymity as </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"a situation in which a person is not known by or spoken of by name."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does not only encompass namelessness but also that a person is non-identifiable, unreachable and cannot be traced, so the actions of that person cannot be linked to a real identity.</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Anonymity provides individuals with the freedom to engage in activities or express opinions without fear of retaliation, judgment or unwarranted consequences to themselves as a person.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privacy, which operates within defined boundaries, anonymity transcends contexts.</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Anonymity</a:t>
            </a:r>
            <a:r>
              <a:rPr lang="en-US" sz="2400" dirty="0">
                <a:latin typeface="Times New Roman" panose="02020603050405020304" pitchFamily="18" charset="0"/>
                <a:cs typeface="Times New Roman" panose="02020603050405020304" pitchFamily="18" charset="0"/>
              </a:rPr>
              <a:t> refers to the </a:t>
            </a:r>
            <a:r>
              <a:rPr lang="en-US" sz="2400" b="1" dirty="0">
                <a:latin typeface="Times New Roman" panose="02020603050405020304" pitchFamily="18" charset="0"/>
                <a:cs typeface="Times New Roman" panose="02020603050405020304" pitchFamily="18" charset="0"/>
              </a:rPr>
              <a:t>ability to use the Internet without revealing one’s real identity</a:t>
            </a:r>
            <a:r>
              <a:rPr lang="en-US" sz="24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9E20C66A-25B4-50FD-06AF-B31C7DFDA500}"/>
              </a:ext>
            </a:extLst>
          </p:cNvPr>
          <p:cNvSpPr txBox="1"/>
          <p:nvPr/>
        </p:nvSpPr>
        <p:spPr>
          <a:xfrm>
            <a:off x="828040" y="302686"/>
            <a:ext cx="1045464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ANONYMITY ON THE INTERNET</a:t>
            </a:r>
          </a:p>
        </p:txBody>
      </p:sp>
    </p:spTree>
    <p:extLst>
      <p:ext uri="{BB962C8B-B14F-4D97-AF65-F5344CB8AC3E}">
        <p14:creationId xmlns:p14="http://schemas.microsoft.com/office/powerpoint/2010/main" val="1567425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18B20-5961-9592-8C59-E79E43A0C10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EC1E86-C978-D3B6-9FB7-4C435A42BD31}"/>
              </a:ext>
            </a:extLst>
          </p:cNvPr>
          <p:cNvSpPr txBox="1"/>
          <p:nvPr/>
        </p:nvSpPr>
        <p:spPr>
          <a:xfrm>
            <a:off x="723900" y="1245999"/>
            <a:ext cx="10312400" cy="5262979"/>
          </a:xfrm>
          <a:prstGeom prst="rect">
            <a:avLst/>
          </a:prstGeom>
          <a:noFill/>
        </p:spPr>
        <p:txBody>
          <a:bodyPr wrap="square">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Privacy</a:t>
            </a:r>
            <a:r>
              <a:rPr lang="en-US" sz="2400" dirty="0">
                <a:latin typeface="Times New Roman" panose="02020603050405020304" pitchFamily="18" charset="0"/>
                <a:cs typeface="Times New Roman" panose="02020603050405020304" pitchFamily="18" charset="0"/>
              </a:rPr>
              <a:t> and anonymity are </a:t>
            </a:r>
            <a:r>
              <a:rPr lang="en-US" sz="2400" b="1" dirty="0">
                <a:latin typeface="Times New Roman" panose="02020603050405020304" pitchFamily="18" charset="0"/>
                <a:cs typeface="Times New Roman" panose="02020603050405020304" pitchFamily="18" charset="0"/>
              </a:rPr>
              <a:t>distinct</a:t>
            </a:r>
            <a:r>
              <a:rPr lang="en-US" sz="2400" dirty="0">
                <a:latin typeface="Times New Roman" panose="02020603050405020304" pitchFamily="18" charset="0"/>
                <a:cs typeface="Times New Roman" panose="02020603050405020304" pitchFamily="18" charset="0"/>
              </a:rPr>
              <a:t> but complement each other in safeguarding personal security and data protection.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Privacy </a:t>
            </a:r>
            <a:r>
              <a:rPr lang="en-US" sz="2400" dirty="0">
                <a:latin typeface="Times New Roman" panose="02020603050405020304" pitchFamily="18" charset="0"/>
                <a:cs typeface="Times New Roman" panose="02020603050405020304" pitchFamily="18" charset="0"/>
              </a:rPr>
              <a:t>serves as the foundation upon which individuals can exercise control over their personal information within defined contexts.</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Anonymity, </a:t>
            </a:r>
            <a:r>
              <a:rPr lang="en-US" sz="2400" dirty="0">
                <a:latin typeface="Times New Roman" panose="02020603050405020304" pitchFamily="18" charset="0"/>
                <a:cs typeface="Times New Roman" panose="02020603050405020304" pitchFamily="18" charset="0"/>
              </a:rPr>
              <a:t>on the other hand, adds another level of secrecy to privacy by protecting individuals from unwanted identification and scrutiny.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allows individuals to engage in activities or express opinions without revealing their identity. This mitigates risks that could result from exposure and attribution.</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Anonymity</a:t>
            </a:r>
            <a:r>
              <a:rPr lang="en-US" sz="2400" dirty="0">
                <a:latin typeface="Times New Roman" panose="02020603050405020304" pitchFamily="18" charset="0"/>
                <a:cs typeface="Times New Roman" panose="02020603050405020304" pitchFamily="18" charset="0"/>
              </a:rPr>
              <a:t> becomes particularly important when living in places where free speech is censored and where the wrong statements could land a person in prison, or worse. But in democracies, too, anonymity is prevalent—take for instance whistleblowers or people who would otherwise be afraid to speak their minds as they contradict mainstream opinions.</a:t>
            </a:r>
          </a:p>
        </p:txBody>
      </p:sp>
      <p:sp>
        <p:nvSpPr>
          <p:cNvPr id="3" name="TextBox 2">
            <a:extLst>
              <a:ext uri="{FF2B5EF4-FFF2-40B4-BE49-F238E27FC236}">
                <a16:creationId xmlns:a16="http://schemas.microsoft.com/office/drawing/2014/main" id="{B04A938E-F010-EFE4-9452-F6F737A87344}"/>
              </a:ext>
            </a:extLst>
          </p:cNvPr>
          <p:cNvSpPr txBox="1"/>
          <p:nvPr/>
        </p:nvSpPr>
        <p:spPr>
          <a:xfrm>
            <a:off x="254000" y="234077"/>
            <a:ext cx="11252200" cy="1323439"/>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The Interplay Between Privacy And Anonymity</a:t>
            </a:r>
          </a:p>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3328813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B31B5-6CC6-2F37-8490-3A64529465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7897785-DB4A-AA87-9867-1B44AAAC33DB}"/>
              </a:ext>
            </a:extLst>
          </p:cNvPr>
          <p:cNvSpPr txBox="1"/>
          <p:nvPr/>
        </p:nvSpPr>
        <p:spPr>
          <a:xfrm>
            <a:off x="723900" y="1276479"/>
            <a:ext cx="10312400" cy="4708981"/>
          </a:xfrm>
          <a:prstGeom prst="rect">
            <a:avLst/>
          </a:prstGeom>
          <a:noFill/>
        </p:spPr>
        <p:txBody>
          <a:bodyPr wrap="square">
            <a:spAutoFit/>
          </a:bodyPr>
          <a:lstStyle/>
          <a:p>
            <a:pPr marL="342900" indent="-342900"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Privacy is important because it allows individuals to control their personal information and protect it from misuse. In today’s digital world, users share sensitive data such as bank details, medical records, emails, and location information. Without privacy, this data can be stolen, leaked, or exploited by hackers and companies for financial gain.</a:t>
            </a:r>
          </a:p>
          <a:p>
            <a:pPr marL="342900" indent="-342900"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Anonymity is important because it protects a person’s identity while they communicate or participate online. It allows individuals to express opinions freely without fear of punishment, harassment, or discrimination. </a:t>
            </a:r>
          </a:p>
          <a:p>
            <a:pPr marL="342900" indent="-342900"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Privacy and anonymity are crucial for individual rights, safety, and freedom, allowing control over personal information (privacy) and protection from identification (anonymity) to prevent harm, enable free speech (even for whistleblowers), and conduct sensitive research, though misuse is possible.</a:t>
            </a:r>
          </a:p>
        </p:txBody>
      </p:sp>
      <p:sp>
        <p:nvSpPr>
          <p:cNvPr id="3" name="TextBox 2">
            <a:extLst>
              <a:ext uri="{FF2B5EF4-FFF2-40B4-BE49-F238E27FC236}">
                <a16:creationId xmlns:a16="http://schemas.microsoft.com/office/drawing/2014/main" id="{F7463D19-E9F6-EFCE-1FC8-EA7097698633}"/>
              </a:ext>
            </a:extLst>
          </p:cNvPr>
          <p:cNvSpPr txBox="1"/>
          <p:nvPr/>
        </p:nvSpPr>
        <p:spPr>
          <a:xfrm>
            <a:off x="254000" y="23407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The Importance of Privacy and Anonymity</a:t>
            </a:r>
          </a:p>
        </p:txBody>
      </p:sp>
    </p:spTree>
    <p:extLst>
      <p:ext uri="{BB962C8B-B14F-4D97-AF65-F5344CB8AC3E}">
        <p14:creationId xmlns:p14="http://schemas.microsoft.com/office/powerpoint/2010/main" val="38607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403B-8D7B-4F3E-0228-50931AE27F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C3F4ED-0343-4C66-1CBB-E4C8B2FAFEB8}"/>
              </a:ext>
            </a:extLst>
          </p:cNvPr>
          <p:cNvSpPr txBox="1"/>
          <p:nvPr/>
        </p:nvSpPr>
        <p:spPr>
          <a:xfrm>
            <a:off x="845820" y="1733679"/>
            <a:ext cx="10312400" cy="3970318"/>
          </a:xfrm>
          <a:prstGeom prst="rect">
            <a:avLst/>
          </a:prstGeom>
          <a:noFill/>
        </p:spPr>
        <p:txBody>
          <a:bodyPr wrap="square">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https://www.pewresearch.org/internet/2013/09/05/anonymity-privacy-and-security-online/</a:t>
            </a: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https://proton.me/blog/anonymity-vs-privacy</a:t>
            </a: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https://cyber.harvard.edu/cyberlaw_winter10/Privacy_and_Anonymity_on_the_Internet</a:t>
            </a: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https://www.drweb.com/pravda/issue/?number=1310</a:t>
            </a: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https://www.forbes.com/councils/forbestechcouncil/2024/06/05/privacy-and-anonymity-are-not-the-same-yet-both-are-important/</a:t>
            </a:r>
            <a:endParaRPr lang="en-US" sz="28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E76190D-0BF5-1C75-BA13-22948AF9D94E}"/>
              </a:ext>
            </a:extLst>
          </p:cNvPr>
          <p:cNvSpPr txBox="1"/>
          <p:nvPr/>
        </p:nvSpPr>
        <p:spPr>
          <a:xfrm>
            <a:off x="375920" y="36615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Refer to the resources for more details</a:t>
            </a:r>
          </a:p>
        </p:txBody>
      </p:sp>
    </p:spTree>
    <p:extLst>
      <p:ext uri="{BB962C8B-B14F-4D97-AF65-F5344CB8AC3E}">
        <p14:creationId xmlns:p14="http://schemas.microsoft.com/office/powerpoint/2010/main" val="327147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2A38-818B-F593-E792-6A58B4E7CB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C6AD3E3-F112-42BE-9D6F-9404A2AB53F5}"/>
              </a:ext>
            </a:extLst>
          </p:cNvPr>
          <p:cNvSpPr txBox="1"/>
          <p:nvPr/>
        </p:nvSpPr>
        <p:spPr>
          <a:xfrm>
            <a:off x="744220" y="1337439"/>
            <a:ext cx="6123940" cy="4493538"/>
          </a:xfrm>
          <a:prstGeom prst="rect">
            <a:avLst/>
          </a:prstGeom>
          <a:noFill/>
        </p:spPr>
        <p:txBody>
          <a:bodyPr wrap="square">
            <a:spAutoFit/>
          </a:bodyPr>
          <a:lstStyle/>
          <a:p>
            <a:pPr marL="342900" indent="-3429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The internet </a:t>
            </a:r>
            <a:r>
              <a:rPr lang="en-US" sz="2600" dirty="0">
                <a:latin typeface="Times New Roman" panose="02020603050405020304" pitchFamily="18" charset="0"/>
                <a:cs typeface="Times New Roman" panose="02020603050405020304" pitchFamily="18" charset="0"/>
              </a:rPr>
              <a:t>is an extensive network, though only a limited portion is accessible to the majority of users. </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internet is often compared to </a:t>
            </a:r>
            <a:r>
              <a:rPr lang="en-US" sz="2600" b="1" dirty="0">
                <a:latin typeface="Times New Roman" panose="02020603050405020304" pitchFamily="18" charset="0"/>
                <a:cs typeface="Times New Roman" panose="02020603050405020304" pitchFamily="18" charset="0"/>
              </a:rPr>
              <a:t>an iceberg</a:t>
            </a:r>
            <a:r>
              <a:rPr lang="en-US" sz="2600" dirty="0">
                <a:latin typeface="Times New Roman" panose="02020603050405020304" pitchFamily="18" charset="0"/>
                <a:cs typeface="Times New Roman" panose="02020603050405020304" pitchFamily="18" charset="0"/>
              </a:rPr>
              <a:t>, where only a small portion is visible </a:t>
            </a:r>
            <a:r>
              <a:rPr lang="en-US" sz="2600" b="1" dirty="0">
                <a:latin typeface="Times New Roman" panose="02020603050405020304" pitchFamily="18" charset="0"/>
                <a:cs typeface="Times New Roman" panose="02020603050405020304" pitchFamily="18" charset="0"/>
              </a:rPr>
              <a:t>(the Surface Web), </a:t>
            </a:r>
            <a:r>
              <a:rPr lang="en-US" sz="2600" dirty="0">
                <a:latin typeface="Times New Roman" panose="02020603050405020304" pitchFamily="18" charset="0"/>
                <a:cs typeface="Times New Roman" panose="02020603050405020304" pitchFamily="18" charset="0"/>
              </a:rPr>
              <a:t>while a vast majority lies hidden beneath </a:t>
            </a:r>
            <a:r>
              <a:rPr lang="en-US" sz="2600" b="1" dirty="0">
                <a:latin typeface="Times New Roman" panose="02020603050405020304" pitchFamily="18" charset="0"/>
                <a:cs typeface="Times New Roman" panose="02020603050405020304" pitchFamily="18" charset="0"/>
              </a:rPr>
              <a:t>(the Deep Web and Dark Web). </a:t>
            </a:r>
            <a:r>
              <a:rPr lang="en-US" sz="2600" dirty="0">
                <a:latin typeface="Times New Roman" panose="02020603050405020304" pitchFamily="18" charset="0"/>
                <a:cs typeface="Times New Roman" panose="02020603050405020304" pitchFamily="18" charset="0"/>
              </a:rPr>
              <a:t>Each layer serves different purposes, operates in different ways, and has varying levels of accessibility and risk.</a:t>
            </a:r>
          </a:p>
        </p:txBody>
      </p:sp>
      <p:sp>
        <p:nvSpPr>
          <p:cNvPr id="3" name="TextBox 2">
            <a:extLst>
              <a:ext uri="{FF2B5EF4-FFF2-40B4-BE49-F238E27FC236}">
                <a16:creationId xmlns:a16="http://schemas.microsoft.com/office/drawing/2014/main" id="{CC521E03-1CA7-8919-7D86-9CA7870FCAD1}"/>
              </a:ext>
            </a:extLst>
          </p:cNvPr>
          <p:cNvSpPr txBox="1"/>
          <p:nvPr/>
        </p:nvSpPr>
        <p:spPr>
          <a:xfrm>
            <a:off x="254000" y="23407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Understanding the Layers of the Internet</a:t>
            </a:r>
          </a:p>
        </p:txBody>
      </p:sp>
      <p:pic>
        <p:nvPicPr>
          <p:cNvPr id="4" name="Picture 3">
            <a:extLst>
              <a:ext uri="{FF2B5EF4-FFF2-40B4-BE49-F238E27FC236}">
                <a16:creationId xmlns:a16="http://schemas.microsoft.com/office/drawing/2014/main" id="{A46B2B77-AC14-EEC4-721B-4DA3C6E95603}"/>
              </a:ext>
            </a:extLst>
          </p:cNvPr>
          <p:cNvPicPr>
            <a:picLocks noChangeAspect="1"/>
          </p:cNvPicPr>
          <p:nvPr/>
        </p:nvPicPr>
        <p:blipFill>
          <a:blip r:embed="rId2"/>
          <a:stretch>
            <a:fillRect/>
          </a:stretch>
        </p:blipFill>
        <p:spPr>
          <a:xfrm>
            <a:off x="7396481" y="983828"/>
            <a:ext cx="4188142" cy="5118840"/>
          </a:xfrm>
          <a:prstGeom prst="rect">
            <a:avLst/>
          </a:prstGeom>
        </p:spPr>
      </p:pic>
    </p:spTree>
    <p:extLst>
      <p:ext uri="{BB962C8B-B14F-4D97-AF65-F5344CB8AC3E}">
        <p14:creationId xmlns:p14="http://schemas.microsoft.com/office/powerpoint/2010/main" val="2151916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EB63B-D0CB-1D87-85D1-E618EFAA8C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CE347B5-A721-DC7A-EFFF-88B9E8CCF954}"/>
              </a:ext>
            </a:extLst>
          </p:cNvPr>
          <p:cNvSpPr txBox="1"/>
          <p:nvPr/>
        </p:nvSpPr>
        <p:spPr>
          <a:xfrm>
            <a:off x="715010" y="1052959"/>
            <a:ext cx="10761980" cy="5755422"/>
          </a:xfrm>
          <a:prstGeom prst="rect">
            <a:avLst/>
          </a:prstGeom>
          <a:noFill/>
        </p:spPr>
        <p:txBody>
          <a:bodyPr wrap="square">
            <a:spAutoFit/>
          </a:bodyPr>
          <a:lstStyle/>
          <a:p>
            <a:pPr algn="just" fontAlgn="base"/>
            <a:r>
              <a:rPr lang="en-US" sz="2300" dirty="0">
                <a:latin typeface="Times New Roman" panose="02020603050405020304" pitchFamily="18" charset="0"/>
                <a:cs typeface="Times New Roman" panose="02020603050405020304" pitchFamily="18" charset="0"/>
              </a:rPr>
              <a:t>The </a:t>
            </a:r>
            <a:r>
              <a:rPr lang="en-US" sz="2300" b="1" dirty="0">
                <a:latin typeface="Times New Roman" panose="02020603050405020304" pitchFamily="18" charset="0"/>
                <a:cs typeface="Times New Roman" panose="02020603050405020304" pitchFamily="18" charset="0"/>
              </a:rPr>
              <a:t>Surface Web</a:t>
            </a:r>
            <a:r>
              <a:rPr lang="en-US" sz="2300" dirty="0">
                <a:latin typeface="Times New Roman" panose="02020603050405020304" pitchFamily="18" charset="0"/>
                <a:cs typeface="Times New Roman" panose="02020603050405020304" pitchFamily="18" charset="0"/>
              </a:rPr>
              <a:t> is the portion of the internet that is publicly accessible and indexed by search engines like Google, Bing, or Yahoo. This is where most people spend their time online.</a:t>
            </a:r>
          </a:p>
          <a:p>
            <a:pPr fontAlgn="base"/>
            <a:endParaRPr lang="en-US" sz="2300" b="1" dirty="0">
              <a:latin typeface="Times New Roman" panose="02020603050405020304" pitchFamily="18" charset="0"/>
              <a:cs typeface="Times New Roman" panose="02020603050405020304" pitchFamily="18" charset="0"/>
            </a:endParaRPr>
          </a:p>
          <a:p>
            <a:pPr fontAlgn="base"/>
            <a:r>
              <a:rPr lang="en-US" sz="2300" b="1" dirty="0">
                <a:latin typeface="Times New Roman" panose="02020603050405020304" pitchFamily="18" charset="0"/>
                <a:cs typeface="Times New Roman" panose="02020603050405020304" pitchFamily="18" charset="0"/>
              </a:rPr>
              <a:t>Technical Overview:</a:t>
            </a:r>
          </a:p>
          <a:p>
            <a:pPr marL="800100" lvl="1" indent="-342900" fontAlgn="base">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Access</a:t>
            </a:r>
            <a:r>
              <a:rPr lang="en-US" sz="2300" dirty="0">
                <a:latin typeface="Times New Roman" panose="02020603050405020304" pitchFamily="18" charset="0"/>
                <a:cs typeface="Times New Roman" panose="02020603050405020304" pitchFamily="18" charset="0"/>
              </a:rPr>
              <a:t>: It is accessible through standard browsers like Google Chrome, Mozilla Firefox, and Microsoft Edge. This layer requires no special tools or authentication to access.</a:t>
            </a:r>
          </a:p>
          <a:p>
            <a:pPr marL="800100" lvl="1" indent="-342900" fontAlgn="base">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Indexed Information</a:t>
            </a:r>
            <a:r>
              <a:rPr lang="en-US" sz="2300" dirty="0">
                <a:latin typeface="Times New Roman" panose="02020603050405020304" pitchFamily="18" charset="0"/>
                <a:cs typeface="Times New Roman" panose="02020603050405020304" pitchFamily="18" charset="0"/>
              </a:rPr>
              <a:t>: All websites, web pages, and documents that are visible to search engines are part of this layer. Content is crawled and indexed by search engine bots, making it easily searchable by users.</a:t>
            </a:r>
          </a:p>
          <a:p>
            <a:pPr marL="800100" lvl="1" indent="-342900" fontAlgn="base">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Examples</a:t>
            </a:r>
            <a:r>
              <a:rPr lang="en-US" sz="2300" dirty="0">
                <a:latin typeface="Times New Roman" panose="02020603050405020304" pitchFamily="18" charset="0"/>
                <a:cs typeface="Times New Roman" panose="02020603050405020304" pitchFamily="18" charset="0"/>
              </a:rPr>
              <a:t>: News sites, social media platforms, blogs, eCommerce websites, etc.</a:t>
            </a:r>
          </a:p>
          <a:p>
            <a:pPr fontAlgn="base"/>
            <a:endParaRPr lang="en-US" sz="2300" b="1" dirty="0">
              <a:latin typeface="Times New Roman" panose="02020603050405020304" pitchFamily="18" charset="0"/>
              <a:cs typeface="Times New Roman" panose="02020603050405020304" pitchFamily="18" charset="0"/>
            </a:endParaRPr>
          </a:p>
          <a:p>
            <a:pPr fontAlgn="base"/>
            <a:r>
              <a:rPr lang="en-US" sz="2300" b="1" dirty="0">
                <a:latin typeface="Times New Roman" panose="02020603050405020304" pitchFamily="18" charset="0"/>
                <a:cs typeface="Times New Roman" panose="02020603050405020304" pitchFamily="18" charset="0"/>
              </a:rPr>
              <a:t>Browsers</a:t>
            </a:r>
            <a:r>
              <a:rPr lang="en-US" sz="2300" dirty="0">
                <a:latin typeface="Times New Roman" panose="02020603050405020304" pitchFamily="18" charset="0"/>
                <a:cs typeface="Times New Roman" panose="02020603050405020304" pitchFamily="18" charset="0"/>
              </a:rPr>
              <a:t>: Chrome, Safari, Edge, Firefox.</a:t>
            </a:r>
          </a:p>
          <a:p>
            <a:pPr fontAlgn="base"/>
            <a:r>
              <a:rPr lang="en-US" sz="2300" b="1" dirty="0">
                <a:latin typeface="Times New Roman" panose="02020603050405020304" pitchFamily="18" charset="0"/>
                <a:cs typeface="Times New Roman" panose="02020603050405020304" pitchFamily="18" charset="0"/>
              </a:rPr>
              <a:t>Protocols</a:t>
            </a:r>
            <a:r>
              <a:rPr lang="en-US" sz="2300" dirty="0">
                <a:latin typeface="Times New Roman" panose="02020603050405020304" pitchFamily="18" charset="0"/>
                <a:cs typeface="Times New Roman" panose="02020603050405020304" pitchFamily="18" charset="0"/>
              </a:rPr>
              <a:t>: HTTP/HTTPS (standard web protocol).</a:t>
            </a:r>
          </a:p>
          <a:p>
            <a:pPr lvl="1" fontAlgn="base"/>
            <a:endParaRPr lang="en-US" sz="23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6FEF106-7524-291B-71C7-F909582DF70C}"/>
              </a:ext>
            </a:extLst>
          </p:cNvPr>
          <p:cNvSpPr txBox="1"/>
          <p:nvPr/>
        </p:nvSpPr>
        <p:spPr>
          <a:xfrm>
            <a:off x="254000" y="23407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1. The Surface Web</a:t>
            </a:r>
          </a:p>
        </p:txBody>
      </p:sp>
    </p:spTree>
    <p:extLst>
      <p:ext uri="{BB962C8B-B14F-4D97-AF65-F5344CB8AC3E}">
        <p14:creationId xmlns:p14="http://schemas.microsoft.com/office/powerpoint/2010/main" val="1239115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C42AC-DD6A-D23B-5EA7-F92352157D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11C032-0508-1913-D6CE-0C40851622C5}"/>
              </a:ext>
            </a:extLst>
          </p:cNvPr>
          <p:cNvSpPr txBox="1"/>
          <p:nvPr/>
        </p:nvSpPr>
        <p:spPr>
          <a:xfrm>
            <a:off x="715010" y="1052959"/>
            <a:ext cx="10761980" cy="6247864"/>
          </a:xfrm>
          <a:prstGeom prst="rect">
            <a:avLst/>
          </a:prstGeom>
          <a:noFill/>
        </p:spPr>
        <p:txBody>
          <a:bodyPr wrap="square">
            <a:spAutoFit/>
          </a:bodyPr>
          <a:lstStyle/>
          <a:p>
            <a:pPr algn="just" fontAlgn="base"/>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Deep Web</a:t>
            </a:r>
            <a:r>
              <a:rPr lang="en-US" sz="2000" dirty="0">
                <a:latin typeface="Times New Roman" panose="02020603050405020304" pitchFamily="18" charset="0"/>
                <a:cs typeface="Times New Roman" panose="02020603050405020304" pitchFamily="18" charset="0"/>
              </a:rPr>
              <a:t> refers to the part of the internet that is not indexed by search engines. It includes everything that requires authentication or is hidden behind paywalls.</a:t>
            </a:r>
          </a:p>
          <a:p>
            <a:pPr fontAlgn="base"/>
            <a:endParaRPr lang="en-US" sz="2000" b="1" dirty="0">
              <a:latin typeface="Times New Roman" panose="02020603050405020304" pitchFamily="18" charset="0"/>
              <a:cs typeface="Times New Roman" panose="02020603050405020304" pitchFamily="18" charset="0"/>
            </a:endParaRPr>
          </a:p>
          <a:p>
            <a:pPr fontAlgn="base"/>
            <a:r>
              <a:rPr lang="en-US" sz="2000" b="1" dirty="0">
                <a:latin typeface="Times New Roman" panose="02020603050405020304" pitchFamily="18" charset="0"/>
                <a:cs typeface="Times New Roman" panose="02020603050405020304" pitchFamily="18" charset="0"/>
              </a:rPr>
              <a:t>Technical Overview:</a:t>
            </a:r>
          </a:p>
          <a:p>
            <a:pPr marL="800100" lvl="1" indent="-342900" fontAlgn="base">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Access</a:t>
            </a:r>
            <a:r>
              <a:rPr lang="en-US" sz="2000" dirty="0">
                <a:latin typeface="Times New Roman" panose="02020603050405020304" pitchFamily="18" charset="0"/>
                <a:cs typeface="Times New Roman" panose="02020603050405020304" pitchFamily="18" charset="0"/>
              </a:rPr>
              <a:t>: You can access the Deep Web using regular browsers, but the content is not available through direct search engine results. This includes content like databases, emails, cloud storage, academic archives, medical records, and private company networks.</a:t>
            </a:r>
          </a:p>
          <a:p>
            <a:pPr marL="800100" lvl="1" indent="-342900" fontAlgn="base">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Authentication</a:t>
            </a:r>
            <a:r>
              <a:rPr lang="en-US" sz="2000" dirty="0">
                <a:latin typeface="Times New Roman" panose="02020603050405020304" pitchFamily="18" charset="0"/>
                <a:cs typeface="Times New Roman" panose="02020603050405020304" pitchFamily="18" charset="0"/>
              </a:rPr>
              <a:t>: Much of the Deep Web requires credentials, such as login details or special permissions. It includes secure applications, internal corporate networks, and subscription-based services.</a:t>
            </a:r>
          </a:p>
          <a:p>
            <a:pPr marL="800100" lvl="1" indent="-342900" fontAlgn="base">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Examples</a:t>
            </a:r>
            <a:r>
              <a:rPr lang="en-US" sz="2000" dirty="0">
                <a:latin typeface="Times New Roman" panose="02020603050405020304" pitchFamily="18" charset="0"/>
                <a:cs typeface="Times New Roman" panose="02020603050405020304" pitchFamily="18" charset="0"/>
              </a:rPr>
              <a:t>: Online banking portals, private databases, academic research libraries, or personal email accounts.</a:t>
            </a:r>
          </a:p>
          <a:p>
            <a:pPr fontAlgn="base"/>
            <a:endParaRPr lang="en-US" sz="2000" b="1" dirty="0">
              <a:latin typeface="Times New Roman" panose="02020603050405020304" pitchFamily="18" charset="0"/>
              <a:cs typeface="Times New Roman" panose="02020603050405020304" pitchFamily="18" charset="0"/>
            </a:endParaRPr>
          </a:p>
          <a:p>
            <a:pPr fontAlgn="base"/>
            <a:r>
              <a:rPr lang="en-US" sz="2000" b="1" dirty="0">
                <a:latin typeface="Times New Roman" panose="02020603050405020304" pitchFamily="18" charset="0"/>
                <a:cs typeface="Times New Roman" panose="02020603050405020304" pitchFamily="18" charset="0"/>
              </a:rPr>
              <a:t>Browsers</a:t>
            </a:r>
            <a:r>
              <a:rPr lang="en-US" sz="2000" dirty="0">
                <a:latin typeface="Times New Roman" panose="02020603050405020304" pitchFamily="18" charset="0"/>
                <a:cs typeface="Times New Roman" panose="02020603050405020304" pitchFamily="18" charset="0"/>
              </a:rPr>
              <a:t>: Same as Surface Web.</a:t>
            </a:r>
          </a:p>
          <a:p>
            <a:pPr fontAlgn="base"/>
            <a:r>
              <a:rPr lang="en-US" sz="2000" b="1" dirty="0">
                <a:latin typeface="Times New Roman" panose="02020603050405020304" pitchFamily="18" charset="0"/>
                <a:cs typeface="Times New Roman" panose="02020603050405020304" pitchFamily="18" charset="0"/>
              </a:rPr>
              <a:t>Authentication</a:t>
            </a:r>
            <a:r>
              <a:rPr lang="en-US" sz="2000" dirty="0">
                <a:latin typeface="Times New Roman" panose="02020603050405020304" pitchFamily="18" charset="0"/>
                <a:cs typeface="Times New Roman" panose="02020603050405020304" pitchFamily="18" charset="0"/>
              </a:rPr>
              <a:t>: Username, passwords, CAPTCHAs, 2FA (Two-Factor Authentication).</a:t>
            </a:r>
          </a:p>
          <a:p>
            <a:pPr fontAlgn="base"/>
            <a:r>
              <a:rPr lang="en-US" sz="2000" b="1" dirty="0">
                <a:latin typeface="Times New Roman" panose="02020603050405020304" pitchFamily="18" charset="0"/>
                <a:cs typeface="Times New Roman" panose="02020603050405020304" pitchFamily="18" charset="0"/>
              </a:rPr>
              <a:t>Security: </a:t>
            </a:r>
            <a:r>
              <a:rPr lang="en-US" sz="2000" dirty="0">
                <a:latin typeface="Times New Roman" panose="02020603050405020304" pitchFamily="18" charset="0"/>
                <a:cs typeface="Times New Roman" panose="02020603050405020304" pitchFamily="18" charset="0"/>
              </a:rPr>
              <a:t>Firewalls, VPNs, SSL/TLS encryption for added security.</a:t>
            </a:r>
          </a:p>
          <a:p>
            <a:pPr fontAlgn="base"/>
            <a:r>
              <a:rPr lang="en-US" sz="2000" b="1" dirty="0">
                <a:latin typeface="Times New Roman" panose="02020603050405020304" pitchFamily="18" charset="0"/>
                <a:cs typeface="Times New Roman" panose="02020603050405020304" pitchFamily="18" charset="0"/>
              </a:rPr>
              <a:t>Access Tools: </a:t>
            </a:r>
            <a:r>
              <a:rPr lang="en-US" sz="2000" dirty="0">
                <a:latin typeface="Times New Roman" panose="02020603050405020304" pitchFamily="18" charset="0"/>
                <a:cs typeface="Times New Roman" panose="02020603050405020304" pitchFamily="18" charset="0"/>
              </a:rPr>
              <a:t>VPNs can help with accessing country-restricted databases or secure communication tools</a:t>
            </a:r>
          </a:p>
          <a:p>
            <a:pPr fontAlgn="base"/>
            <a:endParaRPr lang="en-US" sz="2000" dirty="0">
              <a:latin typeface="Times New Roman" panose="02020603050405020304" pitchFamily="18" charset="0"/>
              <a:cs typeface="Times New Roman" panose="02020603050405020304" pitchFamily="18" charset="0"/>
            </a:endParaRPr>
          </a:p>
          <a:p>
            <a:pPr fontAlgn="base"/>
            <a:endParaRPr 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75A5A58-8FBE-28CE-86A5-2E56560D9152}"/>
              </a:ext>
            </a:extLst>
          </p:cNvPr>
          <p:cNvSpPr txBox="1"/>
          <p:nvPr/>
        </p:nvSpPr>
        <p:spPr>
          <a:xfrm>
            <a:off x="254000" y="23407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2. The Deep Web</a:t>
            </a:r>
          </a:p>
        </p:txBody>
      </p:sp>
    </p:spTree>
    <p:extLst>
      <p:ext uri="{BB962C8B-B14F-4D97-AF65-F5344CB8AC3E}">
        <p14:creationId xmlns:p14="http://schemas.microsoft.com/office/powerpoint/2010/main" val="171168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BB4C-84EF-2766-51A4-BC7B537E8C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CDAEC68-D7B7-2B18-7C39-F18EC2204E86}"/>
              </a:ext>
            </a:extLst>
          </p:cNvPr>
          <p:cNvSpPr txBox="1"/>
          <p:nvPr/>
        </p:nvSpPr>
        <p:spPr>
          <a:xfrm>
            <a:off x="715010" y="941963"/>
            <a:ext cx="10761980" cy="6186309"/>
          </a:xfrm>
          <a:prstGeom prst="rect">
            <a:avLst/>
          </a:prstGeom>
          <a:noFill/>
        </p:spPr>
        <p:txBody>
          <a:bodyPr wrap="square">
            <a:spAutoFit/>
          </a:bodyPr>
          <a:lstStyle/>
          <a:p>
            <a:pPr algn="just" fontAlgn="base"/>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Dark Web</a:t>
            </a:r>
            <a:r>
              <a:rPr lang="en-US" sz="2200" dirty="0">
                <a:latin typeface="Times New Roman" panose="02020603050405020304" pitchFamily="18" charset="0"/>
                <a:cs typeface="Times New Roman" panose="02020603050405020304" pitchFamily="18" charset="0"/>
              </a:rPr>
              <a:t> is a subset of the Deep Web that is intentionally hidden and requires special software, such as Tor (The Onion Router), to access. It’s often associated with illicit activities due to its anonymity.</a:t>
            </a:r>
          </a:p>
          <a:p>
            <a:pPr fontAlgn="base"/>
            <a:r>
              <a:rPr lang="en-US" sz="2200" b="1" dirty="0">
                <a:latin typeface="Times New Roman" panose="02020603050405020304" pitchFamily="18" charset="0"/>
                <a:cs typeface="Times New Roman" panose="02020603050405020304" pitchFamily="18" charset="0"/>
              </a:rPr>
              <a:t>Technical Overview:</a:t>
            </a:r>
          </a:p>
          <a:p>
            <a:pPr marL="800100" lvl="1" indent="-342900" fontAlgn="base">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Access</a:t>
            </a:r>
            <a:r>
              <a:rPr lang="en-US" sz="2200" dirty="0">
                <a:latin typeface="Times New Roman" panose="02020603050405020304" pitchFamily="18" charset="0"/>
                <a:cs typeface="Times New Roman" panose="02020603050405020304" pitchFamily="18" charset="0"/>
              </a:rPr>
              <a:t>: To access the Dark Web, you need specific software like Tor or I2P. These tools anonymize the user’s traffic by routing it through multiple layers of encrypted nodes. This makes it difficult to trace the user's IP address or online activity.</a:t>
            </a:r>
          </a:p>
          <a:p>
            <a:pPr marL="800100" lvl="1" indent="-342900" fontAlgn="base">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Anonymity</a:t>
            </a:r>
            <a:r>
              <a:rPr lang="en-US" sz="2200" dirty="0">
                <a:latin typeface="Times New Roman" panose="02020603050405020304" pitchFamily="18" charset="0"/>
                <a:cs typeface="Times New Roman" panose="02020603050405020304" pitchFamily="18" charset="0"/>
              </a:rPr>
              <a:t>: Websites on the Dark Web use domain names that end in .onion rather than the usual .com, .org, or </a:t>
            </a:r>
            <a:r>
              <a:rPr lang="en-US" sz="2200" dirty="0" err="1">
                <a:latin typeface="Times New Roman" panose="02020603050405020304" pitchFamily="18" charset="0"/>
                <a:cs typeface="Times New Roman" panose="02020603050405020304" pitchFamily="18" charset="0"/>
              </a:rPr>
              <a:t>.net</a:t>
            </a:r>
            <a:r>
              <a:rPr lang="en-US" sz="2200" dirty="0">
                <a:latin typeface="Times New Roman" panose="02020603050405020304" pitchFamily="18" charset="0"/>
                <a:cs typeface="Times New Roman" panose="02020603050405020304" pitchFamily="18" charset="0"/>
              </a:rPr>
              <a:t>, and are only accessible through Tor. Because of this anonymity, the Dark Web is often used for illegal transactions, such as selling stolen data, drugs, or weapons.</a:t>
            </a:r>
          </a:p>
          <a:p>
            <a:pPr marL="800100" lvl="1" indent="-342900" fontAlgn="base">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Examples</a:t>
            </a:r>
            <a:r>
              <a:rPr lang="en-US" sz="2200" dirty="0">
                <a:latin typeface="Times New Roman" panose="02020603050405020304" pitchFamily="18" charset="0"/>
                <a:cs typeface="Times New Roman" panose="02020603050405020304" pitchFamily="18" charset="0"/>
              </a:rPr>
              <a:t>: Dark web marketplaces, hacking forums, whistleblower platforms, or encrypted communication platforms.</a:t>
            </a:r>
          </a:p>
          <a:p>
            <a:pPr fontAlgn="base"/>
            <a:endParaRPr lang="en-US" sz="2200" b="1" dirty="0">
              <a:latin typeface="Times New Roman" panose="02020603050405020304" pitchFamily="18" charset="0"/>
              <a:cs typeface="Times New Roman" panose="02020603050405020304" pitchFamily="18" charset="0"/>
            </a:endParaRPr>
          </a:p>
          <a:p>
            <a:pPr fontAlgn="base"/>
            <a:r>
              <a:rPr lang="en-US" sz="2200" b="1" dirty="0">
                <a:latin typeface="Times New Roman" panose="02020603050405020304" pitchFamily="18" charset="0"/>
                <a:cs typeface="Times New Roman" panose="02020603050405020304" pitchFamily="18" charset="0"/>
              </a:rPr>
              <a:t>Browsers</a:t>
            </a:r>
            <a:r>
              <a:rPr lang="en-US" sz="2200" dirty="0">
                <a:latin typeface="Times New Roman" panose="02020603050405020304" pitchFamily="18" charset="0"/>
                <a:cs typeface="Times New Roman" panose="02020603050405020304" pitchFamily="18" charset="0"/>
              </a:rPr>
              <a:t>: Tor, I2P (Invisible Internet Project).</a:t>
            </a:r>
          </a:p>
          <a:p>
            <a:pPr fontAlgn="base"/>
            <a:r>
              <a:rPr lang="en-US" sz="2200" b="1" dirty="0">
                <a:latin typeface="Times New Roman" panose="02020603050405020304" pitchFamily="18" charset="0"/>
                <a:cs typeface="Times New Roman" panose="02020603050405020304" pitchFamily="18" charset="0"/>
              </a:rPr>
              <a:t>Protocols</a:t>
            </a:r>
            <a:r>
              <a:rPr lang="en-US" sz="2200" dirty="0">
                <a:latin typeface="Times New Roman" panose="02020603050405020304" pitchFamily="18" charset="0"/>
                <a:cs typeface="Times New Roman" panose="02020603050405020304" pitchFamily="18" charset="0"/>
              </a:rPr>
              <a:t>: Onion routing for anonymous communication.</a:t>
            </a:r>
          </a:p>
          <a:p>
            <a:pPr fontAlgn="base"/>
            <a:r>
              <a:rPr lang="en-US" sz="2200" b="1" dirty="0">
                <a:latin typeface="Times New Roman" panose="02020603050405020304" pitchFamily="18" charset="0"/>
                <a:cs typeface="Times New Roman" panose="02020603050405020304" pitchFamily="18" charset="0"/>
              </a:rPr>
              <a:t>Access Tools</a:t>
            </a:r>
            <a:r>
              <a:rPr lang="en-US" sz="2200" dirty="0">
                <a:latin typeface="Times New Roman" panose="02020603050405020304" pitchFamily="18" charset="0"/>
                <a:cs typeface="Times New Roman" panose="02020603050405020304" pitchFamily="18" charset="0"/>
              </a:rPr>
              <a:t>: Darknet forums, .onion services.</a:t>
            </a:r>
          </a:p>
          <a:p>
            <a:pPr fontAlgn="base"/>
            <a:endParaRPr lang="en-US" sz="2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A621FAD-D09E-8519-103C-6453E39566E0}"/>
              </a:ext>
            </a:extLst>
          </p:cNvPr>
          <p:cNvSpPr txBox="1"/>
          <p:nvPr/>
        </p:nvSpPr>
        <p:spPr>
          <a:xfrm>
            <a:off x="254000" y="23407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3. The Dark Web</a:t>
            </a:r>
          </a:p>
        </p:txBody>
      </p:sp>
    </p:spTree>
    <p:extLst>
      <p:ext uri="{BB962C8B-B14F-4D97-AF65-F5344CB8AC3E}">
        <p14:creationId xmlns:p14="http://schemas.microsoft.com/office/powerpoint/2010/main" val="2649964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47FA8-5FB9-D6E3-CA80-F8F219A987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E8E54C1-0078-3C09-A344-19D43E7BFD4B}"/>
              </a:ext>
            </a:extLst>
          </p:cNvPr>
          <p:cNvPicPr>
            <a:picLocks noChangeAspect="1"/>
          </p:cNvPicPr>
          <p:nvPr/>
        </p:nvPicPr>
        <p:blipFill>
          <a:blip r:embed="rId2"/>
          <a:stretch>
            <a:fillRect/>
          </a:stretch>
        </p:blipFill>
        <p:spPr>
          <a:xfrm>
            <a:off x="750592" y="1702118"/>
            <a:ext cx="10690816" cy="3463052"/>
          </a:xfrm>
          <a:prstGeom prst="rect">
            <a:avLst/>
          </a:prstGeom>
        </p:spPr>
      </p:pic>
      <p:sp>
        <p:nvSpPr>
          <p:cNvPr id="7" name="TextBox 6">
            <a:extLst>
              <a:ext uri="{FF2B5EF4-FFF2-40B4-BE49-F238E27FC236}">
                <a16:creationId xmlns:a16="http://schemas.microsoft.com/office/drawing/2014/main" id="{86D396ED-D735-65B8-930C-E97699FDE34F}"/>
              </a:ext>
            </a:extLst>
          </p:cNvPr>
          <p:cNvSpPr txBox="1"/>
          <p:nvPr/>
        </p:nvSpPr>
        <p:spPr>
          <a:xfrm>
            <a:off x="2317750" y="675710"/>
            <a:ext cx="7556500" cy="954107"/>
          </a:xfrm>
          <a:prstGeom prst="rect">
            <a:avLst/>
          </a:prstGeom>
          <a:noFill/>
        </p:spPr>
        <p:txBody>
          <a:bodyPr wrap="square">
            <a:spAutoFit/>
          </a:bodyPr>
          <a:lstStyle/>
          <a:p>
            <a:pPr algn="ctr"/>
            <a:r>
              <a:rPr lang="en-US" sz="2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What Information is Found on Each Layer?</a:t>
            </a:r>
          </a:p>
          <a:p>
            <a:pPr algn="ctr"/>
            <a:endParaRPr lang="en-US" sz="2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475975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9A0A6-CFFA-801A-7BBF-038DF382104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2E3270-60F2-2E1D-1AC5-4F174355FC5C}"/>
              </a:ext>
            </a:extLst>
          </p:cNvPr>
          <p:cNvSpPr txBox="1"/>
          <p:nvPr/>
        </p:nvSpPr>
        <p:spPr>
          <a:xfrm>
            <a:off x="715010" y="1145163"/>
            <a:ext cx="10761980" cy="2308324"/>
          </a:xfrm>
          <a:prstGeom prst="rect">
            <a:avLst/>
          </a:prstGeom>
          <a:noFill/>
        </p:spPr>
        <p:txBody>
          <a:bodyPr wrap="square">
            <a:spAutoFit/>
          </a:bodyPr>
          <a:lstStyle/>
          <a:p>
            <a:pPr marL="342900" indent="-342900"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Tor </a:t>
            </a:r>
            <a:r>
              <a:rPr lang="en-US" sz="2400" b="1" dirty="0">
                <a:latin typeface="Times New Roman" panose="02020603050405020304" pitchFamily="18" charset="0"/>
                <a:cs typeface="Times New Roman" panose="02020603050405020304" pitchFamily="18" charset="0"/>
              </a:rPr>
              <a:t>(The Onion Router), </a:t>
            </a:r>
            <a:r>
              <a:rPr lang="en-US" sz="2400" dirty="0">
                <a:latin typeface="Times New Roman" panose="02020603050405020304" pitchFamily="18" charset="0"/>
                <a:cs typeface="Times New Roman" panose="02020603050405020304" pitchFamily="18" charset="0"/>
              </a:rPr>
              <a:t>Browser is an open-source and free web browser that enables the users to browse through the internet anonymously. </a:t>
            </a:r>
          </a:p>
          <a:p>
            <a:pPr marL="342900" indent="-342900"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difficult to track the online activity of users because it routes traffic through a network of servers. </a:t>
            </a:r>
          </a:p>
          <a:p>
            <a:pPr marL="342900" indent="-342900"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browser is often used by the people who want to protect their privacy online, such as journalists, activists, etc.</a:t>
            </a:r>
          </a:p>
        </p:txBody>
      </p:sp>
      <p:sp>
        <p:nvSpPr>
          <p:cNvPr id="3" name="TextBox 2">
            <a:extLst>
              <a:ext uri="{FF2B5EF4-FFF2-40B4-BE49-F238E27FC236}">
                <a16:creationId xmlns:a16="http://schemas.microsoft.com/office/drawing/2014/main" id="{AFCBD14D-4390-935D-AC05-89B86A053977}"/>
              </a:ext>
            </a:extLst>
          </p:cNvPr>
          <p:cNvSpPr txBox="1"/>
          <p:nvPr/>
        </p:nvSpPr>
        <p:spPr>
          <a:xfrm>
            <a:off x="254000" y="234077"/>
            <a:ext cx="11252200" cy="707886"/>
          </a:xfrm>
          <a:prstGeom prst="rect">
            <a:avLst/>
          </a:prstGeom>
          <a:noFill/>
        </p:spPr>
        <p:txBody>
          <a:bodyPr wrap="square">
            <a:spAutoFit/>
          </a:bodyPr>
          <a:lstStyle/>
          <a:p>
            <a:pPr algn="ctr"/>
            <a:r>
              <a:rPr lang="en-US" sz="4000" dirty="0">
                <a:solidFill>
                  <a:srgbClr val="0070C0"/>
                </a:solidFill>
                <a:latin typeface="Times New Roman" panose="02020603050405020304" pitchFamily="18" charset="0"/>
                <a:cs typeface="Times New Roman" panose="02020603050405020304" pitchFamily="18" charset="0"/>
              </a:rPr>
              <a:t>Tor </a:t>
            </a:r>
            <a:r>
              <a:rPr lang="en-US" sz="4000" b="1" dirty="0">
                <a:solidFill>
                  <a:srgbClr val="0070C0"/>
                </a:solidFill>
                <a:latin typeface="Times New Roman" panose="02020603050405020304" pitchFamily="18" charset="0"/>
                <a:cs typeface="Times New Roman" panose="02020603050405020304" pitchFamily="18" charset="0"/>
              </a:rPr>
              <a:t>(The Onion Router)</a:t>
            </a:r>
            <a:endPar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8528BBE-3644-420B-9932-0ECD9B9BD130}"/>
              </a:ext>
            </a:extLst>
          </p:cNvPr>
          <p:cNvPicPr>
            <a:picLocks noChangeAspect="1"/>
          </p:cNvPicPr>
          <p:nvPr/>
        </p:nvPicPr>
        <p:blipFill>
          <a:blip r:embed="rId2"/>
          <a:stretch>
            <a:fillRect/>
          </a:stretch>
        </p:blipFill>
        <p:spPr>
          <a:xfrm>
            <a:off x="3002280" y="3656687"/>
            <a:ext cx="6019800" cy="2714625"/>
          </a:xfrm>
          <a:prstGeom prst="rect">
            <a:avLst/>
          </a:prstGeom>
        </p:spPr>
      </p:pic>
    </p:spTree>
    <p:extLst>
      <p:ext uri="{BB962C8B-B14F-4D97-AF65-F5344CB8AC3E}">
        <p14:creationId xmlns:p14="http://schemas.microsoft.com/office/powerpoint/2010/main" val="3600173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7729-5493-6AF2-F5F2-EA287A1B15F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F9A80C3-C84B-B47D-823A-CFAB161E859A}"/>
              </a:ext>
            </a:extLst>
          </p:cNvPr>
          <p:cNvSpPr txBox="1"/>
          <p:nvPr/>
        </p:nvSpPr>
        <p:spPr>
          <a:xfrm>
            <a:off x="744220" y="1389003"/>
            <a:ext cx="10761980" cy="4893647"/>
          </a:xfrm>
          <a:prstGeom prst="rect">
            <a:avLst/>
          </a:prstGeom>
          <a:noFill/>
        </p:spPr>
        <p:txBody>
          <a:bodyPr wrap="square">
            <a:spAutoFit/>
          </a:bodyPr>
          <a:lstStyle/>
          <a:p>
            <a:pPr marL="457200" indent="-4572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Encrypted Traffic: </a:t>
            </a:r>
            <a:r>
              <a:rPr lang="en-US" sz="2600" dirty="0">
                <a:latin typeface="Times New Roman" panose="02020603050405020304" pitchFamily="18" charset="0"/>
                <a:cs typeface="Times New Roman" panose="02020603050405020304" pitchFamily="18" charset="0"/>
              </a:rPr>
              <a:t>Tor encrypts your traffic multiple times, making it very difficult for anyone to intercept or read it.</a:t>
            </a:r>
          </a:p>
          <a:p>
            <a:pPr marL="457200" indent="-4572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Hidden IP address: </a:t>
            </a:r>
            <a:r>
              <a:rPr lang="en-US" sz="2600" dirty="0">
                <a:latin typeface="Times New Roman" panose="02020603050405020304" pitchFamily="18" charset="0"/>
                <a:cs typeface="Times New Roman" panose="02020603050405020304" pitchFamily="18" charset="0"/>
              </a:rPr>
              <a:t>Tor hides your IP address by routing your traffic through a network of volunteer servers. This makes tracking online activity difficult.</a:t>
            </a:r>
          </a:p>
          <a:p>
            <a:pPr marL="457200" indent="-4572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Bypasses censorship: </a:t>
            </a:r>
            <a:r>
              <a:rPr lang="en-US" sz="2600" dirty="0">
                <a:latin typeface="Times New Roman" panose="02020603050405020304" pitchFamily="18" charset="0"/>
                <a:cs typeface="Times New Roman" panose="02020603050405020304" pitchFamily="18" charset="0"/>
              </a:rPr>
              <a:t>Tor can bypass censorship firewalls and other restrictions to allow you to access blocked websites and content.</a:t>
            </a:r>
          </a:p>
          <a:p>
            <a:pPr marL="457200" indent="-4572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Protects against surveillance: </a:t>
            </a:r>
            <a:r>
              <a:rPr lang="en-US" sz="2600" dirty="0">
                <a:latin typeface="Times New Roman" panose="02020603050405020304" pitchFamily="18" charset="0"/>
                <a:cs typeface="Times New Roman" panose="02020603050405020304" pitchFamily="18" charset="0"/>
              </a:rPr>
              <a:t>Tor helps protect your privacy from surveillance by making it difficult for anyone to track your online activity.</a:t>
            </a:r>
          </a:p>
          <a:p>
            <a:pPr marL="457200" indent="-4572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Free and open-source: </a:t>
            </a:r>
            <a:r>
              <a:rPr lang="en-US" sz="2600" dirty="0">
                <a:latin typeface="Times New Roman" panose="02020603050405020304" pitchFamily="18" charset="0"/>
                <a:cs typeface="Times New Roman" panose="02020603050405020304" pitchFamily="18" charset="0"/>
              </a:rPr>
              <a:t>Tor is free to use and open-source software. This means that anyone can audit the code and verify that it is secure.</a:t>
            </a:r>
          </a:p>
          <a:p>
            <a:pPr marL="457200" indent="-457200" algn="just" fontAlgn="base">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Easy to use: </a:t>
            </a:r>
            <a:r>
              <a:rPr lang="en-US" sz="2600" dirty="0">
                <a:latin typeface="Times New Roman" panose="02020603050405020304" pitchFamily="18" charset="0"/>
                <a:cs typeface="Times New Roman" panose="02020603050405020304" pitchFamily="18" charset="0"/>
              </a:rPr>
              <a:t>Tor is relatively easy to use, even for non-technical users</a:t>
            </a:r>
          </a:p>
        </p:txBody>
      </p:sp>
      <p:sp>
        <p:nvSpPr>
          <p:cNvPr id="3" name="TextBox 2">
            <a:extLst>
              <a:ext uri="{FF2B5EF4-FFF2-40B4-BE49-F238E27FC236}">
                <a16:creationId xmlns:a16="http://schemas.microsoft.com/office/drawing/2014/main" id="{044F7162-2C55-AF06-997D-5EA300923BCD}"/>
              </a:ext>
            </a:extLst>
          </p:cNvPr>
          <p:cNvSpPr txBox="1"/>
          <p:nvPr/>
        </p:nvSpPr>
        <p:spPr>
          <a:xfrm>
            <a:off x="335280" y="34583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cs typeface="Times New Roman" panose="02020603050405020304" pitchFamily="18" charset="0"/>
              </a:rPr>
              <a:t>Features of Tor Browser</a:t>
            </a:r>
          </a:p>
        </p:txBody>
      </p:sp>
    </p:spTree>
    <p:extLst>
      <p:ext uri="{BB962C8B-B14F-4D97-AF65-F5344CB8AC3E}">
        <p14:creationId xmlns:p14="http://schemas.microsoft.com/office/powerpoint/2010/main" val="4106396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AA14E-7030-36EB-20BE-8DE3251C21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7EE26E-1D67-84BB-6AAA-65F7ADDA0D55}"/>
              </a:ext>
            </a:extLst>
          </p:cNvPr>
          <p:cNvSpPr txBox="1"/>
          <p:nvPr/>
        </p:nvSpPr>
        <p:spPr>
          <a:xfrm>
            <a:off x="744220" y="1389003"/>
            <a:ext cx="10761980" cy="4893647"/>
          </a:xfrm>
          <a:prstGeom prst="rect">
            <a:avLst/>
          </a:prstGeom>
          <a:noFill/>
        </p:spPr>
        <p:txBody>
          <a:bodyPr wrap="square">
            <a:spAutoFit/>
          </a:bodyPr>
          <a:lstStyle/>
          <a:p>
            <a:pPr marL="285750" indent="-285750"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Anonymizes traffic:</a:t>
            </a:r>
            <a:r>
              <a:rPr lang="en-US" sz="2400" dirty="0">
                <a:latin typeface="Times New Roman" panose="02020603050405020304" pitchFamily="18" charset="0"/>
                <a:cs typeface="Times New Roman" panose="02020603050405020304" pitchFamily="18" charset="0"/>
              </a:rPr>
              <a:t> Tor anonymizes your internet traffic by routing it through a network of volunteer servers.</a:t>
            </a:r>
          </a:p>
          <a:p>
            <a:pPr marL="285750" indent="-285750"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Protects against eavesdropping:</a:t>
            </a:r>
            <a:r>
              <a:rPr lang="en-US" sz="2400" dirty="0">
                <a:latin typeface="Times New Roman" panose="02020603050405020304" pitchFamily="18" charset="0"/>
                <a:cs typeface="Times New Roman" panose="02020603050405020304" pitchFamily="18" charset="0"/>
              </a:rPr>
              <a:t> Tor encrypts your traffic multiple times, making it very difficult for anyone to intercept or read it.</a:t>
            </a:r>
          </a:p>
          <a:p>
            <a:pPr marL="285750" indent="-285750"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Circumvents censorship:</a:t>
            </a:r>
            <a:r>
              <a:rPr lang="en-US" sz="2400" dirty="0">
                <a:latin typeface="Times New Roman" panose="02020603050405020304" pitchFamily="18" charset="0"/>
                <a:cs typeface="Times New Roman" panose="02020603050405020304" pitchFamily="18" charset="0"/>
              </a:rPr>
              <a:t> Tor can bypass censorship firewalls and other restrictions to allow you to access blocked websites and content.</a:t>
            </a:r>
          </a:p>
          <a:p>
            <a:pPr marL="285750" indent="-285750"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Prevents tracking:</a:t>
            </a:r>
            <a:r>
              <a:rPr lang="en-US" sz="2400" dirty="0">
                <a:latin typeface="Times New Roman" panose="02020603050405020304" pitchFamily="18" charset="0"/>
                <a:cs typeface="Times New Roman" panose="02020603050405020304" pitchFamily="18" charset="0"/>
              </a:rPr>
              <a:t> Tor hides your IP address and makes it difficult for anyone to track your online activity.</a:t>
            </a:r>
          </a:p>
          <a:p>
            <a:pPr marL="285750" indent="-285750"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Protects against surveillance:</a:t>
            </a:r>
            <a:r>
              <a:rPr lang="en-US" sz="2400" dirty="0">
                <a:latin typeface="Times New Roman" panose="02020603050405020304" pitchFamily="18" charset="0"/>
                <a:cs typeface="Times New Roman" panose="02020603050405020304" pitchFamily="18" charset="0"/>
              </a:rPr>
              <a:t> Tor helps protect your privacy from surveillance by making it difficult for anyone to identify you or your location.</a:t>
            </a:r>
          </a:p>
          <a:p>
            <a:pPr marL="285750" indent="-285750"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Provides access to the dark web:</a:t>
            </a:r>
            <a:r>
              <a:rPr lang="en-US" sz="2400" dirty="0">
                <a:latin typeface="Times New Roman" panose="02020603050405020304" pitchFamily="18" charset="0"/>
                <a:cs typeface="Times New Roman" panose="02020603050405020304" pitchFamily="18" charset="0"/>
              </a:rPr>
              <a:t> Tor provides access to the dark web, a hidden network of websites and services that are not accessible through traditional search engines.</a:t>
            </a:r>
          </a:p>
        </p:txBody>
      </p:sp>
      <p:sp>
        <p:nvSpPr>
          <p:cNvPr id="3" name="TextBox 2">
            <a:extLst>
              <a:ext uri="{FF2B5EF4-FFF2-40B4-BE49-F238E27FC236}">
                <a16:creationId xmlns:a16="http://schemas.microsoft.com/office/drawing/2014/main" id="{90CB8FAD-954F-CBA8-B77B-68E47E60C943}"/>
              </a:ext>
            </a:extLst>
          </p:cNvPr>
          <p:cNvSpPr txBox="1"/>
          <p:nvPr/>
        </p:nvSpPr>
        <p:spPr>
          <a:xfrm>
            <a:off x="335280" y="34583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cs typeface="Times New Roman" panose="02020603050405020304" pitchFamily="18" charset="0"/>
              </a:rPr>
              <a:t>Functions of Tor Browser</a:t>
            </a:r>
          </a:p>
        </p:txBody>
      </p:sp>
    </p:spTree>
    <p:extLst>
      <p:ext uri="{BB962C8B-B14F-4D97-AF65-F5344CB8AC3E}">
        <p14:creationId xmlns:p14="http://schemas.microsoft.com/office/powerpoint/2010/main" val="2767337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23945-5A63-4140-F1FC-93E91F708D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EF5568-9FFE-48C3-016E-3732E2CE59EA}"/>
              </a:ext>
            </a:extLst>
          </p:cNvPr>
          <p:cNvSpPr txBox="1"/>
          <p:nvPr/>
        </p:nvSpPr>
        <p:spPr>
          <a:xfrm>
            <a:off x="345440" y="137106"/>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cs typeface="Times New Roman" panose="02020603050405020304" pitchFamily="18" charset="0"/>
              </a:rPr>
              <a:t>How TOR Browser Works</a:t>
            </a:r>
          </a:p>
        </p:txBody>
      </p:sp>
      <p:pic>
        <p:nvPicPr>
          <p:cNvPr id="4" name="Picture 3">
            <a:extLst>
              <a:ext uri="{FF2B5EF4-FFF2-40B4-BE49-F238E27FC236}">
                <a16:creationId xmlns:a16="http://schemas.microsoft.com/office/drawing/2014/main" id="{28BD176E-E47A-B717-0D66-4C70144E446D}"/>
              </a:ext>
            </a:extLst>
          </p:cNvPr>
          <p:cNvPicPr>
            <a:picLocks noChangeAspect="1"/>
          </p:cNvPicPr>
          <p:nvPr/>
        </p:nvPicPr>
        <p:blipFill>
          <a:blip r:embed="rId2"/>
          <a:stretch>
            <a:fillRect/>
          </a:stretch>
        </p:blipFill>
        <p:spPr>
          <a:xfrm>
            <a:off x="2287905" y="1053723"/>
            <a:ext cx="8815070" cy="5352006"/>
          </a:xfrm>
          <a:prstGeom prst="rect">
            <a:avLst/>
          </a:prstGeom>
        </p:spPr>
      </p:pic>
      <p:sp>
        <p:nvSpPr>
          <p:cNvPr id="8" name="TextBox 7">
            <a:extLst>
              <a:ext uri="{FF2B5EF4-FFF2-40B4-BE49-F238E27FC236}">
                <a16:creationId xmlns:a16="http://schemas.microsoft.com/office/drawing/2014/main" id="{D50A402B-A6AA-ED1E-34D5-2E7D1D1634EB}"/>
              </a:ext>
            </a:extLst>
          </p:cNvPr>
          <p:cNvSpPr txBox="1"/>
          <p:nvPr/>
        </p:nvSpPr>
        <p:spPr>
          <a:xfrm>
            <a:off x="103505" y="5243566"/>
            <a:ext cx="6096000" cy="1477328"/>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sends request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Request passes through multiple TOR nodes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node decrypts one layer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Destination cannot identify source</a:t>
            </a:r>
          </a:p>
        </p:txBody>
      </p:sp>
    </p:spTree>
    <p:extLst>
      <p:ext uri="{BB962C8B-B14F-4D97-AF65-F5344CB8AC3E}">
        <p14:creationId xmlns:p14="http://schemas.microsoft.com/office/powerpoint/2010/main" val="2550991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07044-5601-BAC9-5973-D00813D0B8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9167F45-B45D-C543-1852-06782E509A34}"/>
              </a:ext>
            </a:extLst>
          </p:cNvPr>
          <p:cNvSpPr txBox="1"/>
          <p:nvPr/>
        </p:nvSpPr>
        <p:spPr>
          <a:xfrm>
            <a:off x="469900" y="218386"/>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cs typeface="Times New Roman" panose="02020603050405020304" pitchFamily="18" charset="0"/>
              </a:rPr>
              <a:t>Working of TOR Browser </a:t>
            </a:r>
          </a:p>
        </p:txBody>
      </p:sp>
      <p:sp>
        <p:nvSpPr>
          <p:cNvPr id="5" name="TextBox 4">
            <a:extLst>
              <a:ext uri="{FF2B5EF4-FFF2-40B4-BE49-F238E27FC236}">
                <a16:creationId xmlns:a16="http://schemas.microsoft.com/office/drawing/2014/main" id="{0F0F6505-3416-702C-9982-09D6D771E5D2}"/>
              </a:ext>
            </a:extLst>
          </p:cNvPr>
          <p:cNvSpPr txBox="1"/>
          <p:nvPr/>
        </p:nvSpPr>
        <p:spPr>
          <a:xfrm>
            <a:off x="675640" y="1133066"/>
            <a:ext cx="10922000" cy="5078313"/>
          </a:xfrm>
          <a:prstGeom prst="rect">
            <a:avLst/>
          </a:prstGeom>
          <a:noFill/>
        </p:spPr>
        <p:txBody>
          <a:bodyPr wrap="square">
            <a:spAutoFit/>
          </a:bodyPr>
          <a:lstStyle/>
          <a:p>
            <a:pPr marL="285750" indent="-285750"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Onion Routin</a:t>
            </a:r>
            <a:r>
              <a:rPr lang="en-US" sz="2200"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g</a:t>
            </a:r>
            <a:r>
              <a:rPr lang="en-US" sz="2200"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t>
            </a:r>
            <a:r>
              <a:rPr lang="en-US" sz="2200" b="0" i="0" dirty="0">
                <a:effectLst/>
                <a:latin typeface="Times New Roman" panose="02020603050405020304" pitchFamily="18" charset="0"/>
                <a:cs typeface="Times New Roman" panose="02020603050405020304" pitchFamily="18" charset="0"/>
              </a:rPr>
              <a:t> Tor uses a technique called onion routing to anonymize the traffic. This technique encrypts traffic multiple times and routes it through a network of volunteer servers called relays.</a:t>
            </a:r>
          </a:p>
          <a:p>
            <a:pPr marL="285750" indent="-285750"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rPr>
              <a:t>Entry Relay: </a:t>
            </a:r>
            <a:r>
              <a:rPr lang="en-US" sz="2200" b="0" i="0" dirty="0">
                <a:effectLst/>
                <a:latin typeface="Times New Roman" panose="02020603050405020304" pitchFamily="18" charset="0"/>
                <a:cs typeface="Times New Roman" panose="02020603050405020304" pitchFamily="18" charset="0"/>
              </a:rPr>
              <a:t>When you use Tor, your traffic is first routed through any entry relay. The entry relay encrypts your traffic and sends it to the next relay in the circuit.</a:t>
            </a:r>
          </a:p>
          <a:p>
            <a:pPr marL="285750" indent="-285750"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rPr>
              <a:t>Circuit:</a:t>
            </a:r>
            <a:r>
              <a:rPr lang="en-US" sz="2200" b="0" i="0" dirty="0">
                <a:effectLst/>
                <a:latin typeface="Times New Roman" panose="02020603050405020304" pitchFamily="18" charset="0"/>
                <a:cs typeface="Times New Roman" panose="02020603050405020304" pitchFamily="18" charset="0"/>
              </a:rPr>
              <a:t> A Tor circuit is a chain of three relays. Each relay in the circuit decrypts one layer of encryption and forwards the traffic to the next relay in the circuit.</a:t>
            </a:r>
          </a:p>
          <a:p>
            <a:pPr marL="285750" indent="-285750"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rPr>
              <a:t>Exit Relay:</a:t>
            </a:r>
            <a:r>
              <a:rPr lang="en-US" sz="2200" b="0" i="0" dirty="0">
                <a:effectLst/>
                <a:latin typeface="Times New Roman" panose="02020603050405020304" pitchFamily="18" charset="0"/>
                <a:cs typeface="Times New Roman" panose="02020603050405020304" pitchFamily="18" charset="0"/>
              </a:rPr>
              <a:t> The exit relay is the last relay in the Tor circuit. Your traffic is sent to its final destination after the exit relay decrypts the last layer of encryption.</a:t>
            </a:r>
          </a:p>
          <a:p>
            <a:pPr marL="285750" indent="-285750" algn="l" fontAlgn="base">
              <a:spcAft>
                <a:spcPts val="18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Hidden IP address: </a:t>
            </a:r>
            <a:r>
              <a:rPr lang="en-US" sz="2200" b="0" i="0" dirty="0">
                <a:effectLst/>
                <a:latin typeface="Times New Roman" panose="02020603050405020304" pitchFamily="18" charset="0"/>
                <a:cs typeface="Times New Roman" panose="02020603050405020304" pitchFamily="18" charset="0"/>
              </a:rPr>
              <a:t>Because your traffic is routed through a circuit of relays, your IP address is hidden from the websites you visit. The websites you visit will only see the IP address of the exit relay.</a:t>
            </a:r>
          </a:p>
        </p:txBody>
      </p:sp>
    </p:spTree>
    <p:extLst>
      <p:ext uri="{BB962C8B-B14F-4D97-AF65-F5344CB8AC3E}">
        <p14:creationId xmlns:p14="http://schemas.microsoft.com/office/powerpoint/2010/main" val="2419592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0C65F-6E02-1052-2D55-93E187272FA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75B63FA-31C7-5D44-A5AA-C1EACA4389A7}"/>
              </a:ext>
            </a:extLst>
          </p:cNvPr>
          <p:cNvSpPr txBox="1"/>
          <p:nvPr/>
        </p:nvSpPr>
        <p:spPr>
          <a:xfrm>
            <a:off x="715010" y="1145163"/>
            <a:ext cx="10761980" cy="5262979"/>
          </a:xfrm>
          <a:prstGeom prst="rect">
            <a:avLst/>
          </a:prstGeom>
          <a:noFill/>
        </p:spPr>
        <p:txBody>
          <a:bodyPr wrap="square">
            <a:spAutoFit/>
          </a:bodyPr>
          <a:lstStyle/>
          <a:p>
            <a:pPr marL="342900" indent="-342900" algn="just" fontAlgn="base">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Tor Network</a:t>
            </a:r>
            <a:r>
              <a:rPr lang="en-US" sz="2400" dirty="0">
                <a:latin typeface="Times New Roman" panose="02020603050405020304" pitchFamily="18" charset="0"/>
                <a:cs typeface="Times New Roman" panose="02020603050405020304" pitchFamily="18" charset="0"/>
              </a:rPr>
              <a:t> ("The Onion Router") as a system using volunteer-run servers (nodes) and multi-layered encryption (onion routing) to anonymize internet traffic, hiding user identity and location from ISPs, websites, and surveillance. </a:t>
            </a:r>
          </a:p>
          <a:p>
            <a:pPr marL="342900" indent="-342900"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works by bouncing encrypted data through relays, masking IP addresses and allowing access to blocked content and the "dark web," functioning as a tool for privacy, censorship circumvention, and accessing hidden services.</a:t>
            </a:r>
          </a:p>
          <a:p>
            <a:pPr algn="just" fontAlgn="base"/>
            <a:endParaRPr lang="en-US" sz="2400" b="1" dirty="0">
              <a:latin typeface="Times New Roman" panose="02020603050405020304" pitchFamily="18" charset="0"/>
              <a:cs typeface="Times New Roman" panose="02020603050405020304" pitchFamily="18" charset="0"/>
            </a:endParaRPr>
          </a:p>
          <a:p>
            <a:pPr algn="just" fontAlgn="base"/>
            <a:r>
              <a:rPr lang="en-US" sz="2400" b="1" dirty="0">
                <a:latin typeface="Times New Roman" panose="02020603050405020304" pitchFamily="18" charset="0"/>
                <a:cs typeface="Times New Roman" panose="02020603050405020304" pitchFamily="18" charset="0"/>
              </a:rPr>
              <a:t>Working of Tor Network</a:t>
            </a:r>
          </a:p>
          <a:p>
            <a:pPr marL="800100" lvl="1"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Encryption:</a:t>
            </a:r>
            <a:r>
              <a:rPr lang="en-US" sz="2400" dirty="0">
                <a:latin typeface="Times New Roman" panose="02020603050405020304" pitchFamily="18" charset="0"/>
                <a:cs typeface="Times New Roman" panose="02020603050405020304" pitchFamily="18" charset="0"/>
              </a:rPr>
              <a:t> Your traffic is encrypted multiple times by your browser.</a:t>
            </a:r>
          </a:p>
          <a:p>
            <a:pPr marL="800100" lvl="1"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Relay Path:</a:t>
            </a:r>
            <a:r>
              <a:rPr lang="en-US" sz="2400" dirty="0">
                <a:latin typeface="Times New Roman" panose="02020603050405020304" pitchFamily="18" charset="0"/>
                <a:cs typeface="Times New Roman" panose="02020603050405020304" pitchFamily="18" charset="0"/>
              </a:rPr>
              <a:t> It travels through several random Tor relays (Entry, Middle, Exit).</a:t>
            </a:r>
          </a:p>
          <a:p>
            <a:pPr marL="800100" lvl="1"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Decryption:</a:t>
            </a:r>
            <a:r>
              <a:rPr lang="en-US" sz="2400" dirty="0">
                <a:latin typeface="Times New Roman" panose="02020603050405020304" pitchFamily="18" charset="0"/>
                <a:cs typeface="Times New Roman" panose="02020603050405020304" pitchFamily="18" charset="0"/>
              </a:rPr>
              <a:t> The exit node decrypts the final layer and sends it to the destination website.</a:t>
            </a:r>
          </a:p>
          <a:p>
            <a:pPr marL="800100" lvl="1"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IP Masking:</a:t>
            </a:r>
            <a:r>
              <a:rPr lang="en-US" sz="2400" dirty="0">
                <a:latin typeface="Times New Roman" panose="02020603050405020304" pitchFamily="18" charset="0"/>
                <a:cs typeface="Times New Roman" panose="02020603050405020304" pitchFamily="18" charset="0"/>
              </a:rPr>
              <a:t> The website sees the exit node's IP, not yours. </a:t>
            </a:r>
          </a:p>
          <a:p>
            <a:pPr marL="342900" indent="-342900" algn="just" fontAlgn="base">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8DFC82-39D3-BBD9-4D9B-7886977FBF98}"/>
              </a:ext>
            </a:extLst>
          </p:cNvPr>
          <p:cNvSpPr txBox="1"/>
          <p:nvPr/>
        </p:nvSpPr>
        <p:spPr>
          <a:xfrm>
            <a:off x="254000" y="234077"/>
            <a:ext cx="11252200" cy="707886"/>
          </a:xfrm>
          <a:prstGeom prst="rect">
            <a:avLst/>
          </a:prstGeom>
          <a:noFill/>
        </p:spPr>
        <p:txBody>
          <a:bodyPr wrap="square">
            <a:spAutoFit/>
          </a:bodyPr>
          <a:lstStyle/>
          <a:p>
            <a:pPr algn="ctr"/>
            <a:r>
              <a:rPr lang="en-US" sz="4000" dirty="0">
                <a:solidFill>
                  <a:srgbClr val="0070C0"/>
                </a:solidFill>
                <a:latin typeface="Times New Roman" panose="02020603050405020304" pitchFamily="18" charset="0"/>
                <a:cs typeface="Times New Roman" panose="02020603050405020304" pitchFamily="18" charset="0"/>
              </a:rPr>
              <a:t>Tor </a:t>
            </a:r>
            <a:r>
              <a:rPr lang="en-US" sz="4000" b="1" dirty="0">
                <a:solidFill>
                  <a:srgbClr val="0070C0"/>
                </a:solidFill>
                <a:latin typeface="Times New Roman" panose="02020603050405020304" pitchFamily="18" charset="0"/>
                <a:cs typeface="Times New Roman" panose="02020603050405020304" pitchFamily="18" charset="0"/>
              </a:rPr>
              <a:t>(The Onion Router) Network</a:t>
            </a:r>
            <a:endPar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864517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A0ECC-BCA2-56E2-ED55-3ADE0973E7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F4535C-237E-8AA5-AD51-6CC722735BB3}"/>
              </a:ext>
            </a:extLst>
          </p:cNvPr>
          <p:cNvSpPr txBox="1"/>
          <p:nvPr/>
        </p:nvSpPr>
        <p:spPr>
          <a:xfrm>
            <a:off x="254000" y="234077"/>
            <a:ext cx="11252200" cy="707886"/>
          </a:xfrm>
          <a:prstGeom prst="rect">
            <a:avLst/>
          </a:prstGeom>
          <a:noFill/>
        </p:spPr>
        <p:txBody>
          <a:bodyPr wrap="square">
            <a:spAutoFit/>
          </a:bodyPr>
          <a:lstStyle/>
          <a:p>
            <a:pPr algn="ctr"/>
            <a:r>
              <a:rPr lang="en-US" sz="4000" dirty="0">
                <a:solidFill>
                  <a:srgbClr val="0070C0"/>
                </a:solidFill>
                <a:latin typeface="Times New Roman" panose="02020603050405020304" pitchFamily="18" charset="0"/>
                <a:cs typeface="Times New Roman" panose="02020603050405020304" pitchFamily="18" charset="0"/>
              </a:rPr>
              <a:t>Tor </a:t>
            </a:r>
            <a:r>
              <a:rPr lang="en-US" sz="4000" b="1" dirty="0">
                <a:solidFill>
                  <a:srgbClr val="0070C0"/>
                </a:solidFill>
                <a:latin typeface="Times New Roman" panose="02020603050405020304" pitchFamily="18" charset="0"/>
                <a:cs typeface="Times New Roman" panose="02020603050405020304" pitchFamily="18" charset="0"/>
              </a:rPr>
              <a:t>Network</a:t>
            </a:r>
            <a:endPar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934EF24-0222-FE31-6DCC-4DC5F16801F0}"/>
              </a:ext>
            </a:extLst>
          </p:cNvPr>
          <p:cNvPicPr>
            <a:picLocks noChangeAspect="1"/>
          </p:cNvPicPr>
          <p:nvPr/>
        </p:nvPicPr>
        <p:blipFill>
          <a:blip r:embed="rId2"/>
          <a:stretch>
            <a:fillRect/>
          </a:stretch>
        </p:blipFill>
        <p:spPr>
          <a:xfrm>
            <a:off x="1780936" y="1096327"/>
            <a:ext cx="8630127" cy="5436553"/>
          </a:xfrm>
          <a:prstGeom prst="rect">
            <a:avLst/>
          </a:prstGeom>
        </p:spPr>
      </p:pic>
    </p:spTree>
    <p:extLst>
      <p:ext uri="{BB962C8B-B14F-4D97-AF65-F5344CB8AC3E}">
        <p14:creationId xmlns:p14="http://schemas.microsoft.com/office/powerpoint/2010/main" val="2598585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F698F-3A1F-2EAB-C15F-8A9D2CCC76E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77A295C-DC5B-ADB9-4E5F-0BD5E1BF68ED}"/>
              </a:ext>
            </a:extLst>
          </p:cNvPr>
          <p:cNvSpPr txBox="1"/>
          <p:nvPr/>
        </p:nvSpPr>
        <p:spPr>
          <a:xfrm>
            <a:off x="582930" y="1978283"/>
            <a:ext cx="10761980" cy="3539430"/>
          </a:xfrm>
          <a:prstGeom prst="rect">
            <a:avLst/>
          </a:prstGeom>
          <a:noFill/>
        </p:spPr>
        <p:txBody>
          <a:bodyPr wrap="square">
            <a:spAutoFit/>
          </a:bodyPr>
          <a:lstStyle/>
          <a:p>
            <a:pPr marL="342900" indent="-342900" algn="ctr"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Privacy and anonymity laws vary globally but generally protect personal information from unlawful interference, balancing individual rights with public interest, often through constitutional provisions (like India's fundamental right to privacy), specific data protection acts (like the US's </a:t>
            </a:r>
            <a:r>
              <a:rPr lang="en-US" sz="2800"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CCPA</a:t>
            </a:r>
            <a:r>
              <a:rPr lang="en-US"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CPRA</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or EU's </a:t>
            </a:r>
            <a:r>
              <a:rPr lang="en-US" sz="2800"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GDPR</a:t>
            </a:r>
            <a:r>
              <a:rPr lang="en-US" sz="2800" dirty="0">
                <a:latin typeface="Times New Roman" panose="02020603050405020304" pitchFamily="18" charset="0"/>
                <a:cs typeface="Times New Roman" panose="02020603050405020304" pitchFamily="18" charset="0"/>
              </a:rPr>
              <a:t>), and laws addressing surveillance, cybercrime, and data collection (like Pakistan's </a:t>
            </a:r>
            <a:r>
              <a:rPr lang="en-US" sz="2800" b="1"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PECA</a:t>
            </a:r>
            <a:r>
              <a:rPr lang="en-US" sz="2800" dirty="0">
                <a:latin typeface="Times New Roman" panose="02020603050405020304" pitchFamily="18" charset="0"/>
                <a:cs typeface="Times New Roman" panose="02020603050405020304" pitchFamily="18" charset="0"/>
              </a:rPr>
              <a:t>), with international norms emphasizing control over personal data, even if a universal "right to anonymity" isn't explicit</a:t>
            </a:r>
          </a:p>
        </p:txBody>
      </p:sp>
      <p:sp>
        <p:nvSpPr>
          <p:cNvPr id="3" name="TextBox 2">
            <a:extLst>
              <a:ext uri="{FF2B5EF4-FFF2-40B4-BE49-F238E27FC236}">
                <a16:creationId xmlns:a16="http://schemas.microsoft.com/office/drawing/2014/main" id="{D9F3A7E2-B5DC-99E7-6FDD-4078B1B9D686}"/>
              </a:ext>
            </a:extLst>
          </p:cNvPr>
          <p:cNvSpPr txBox="1"/>
          <p:nvPr/>
        </p:nvSpPr>
        <p:spPr>
          <a:xfrm>
            <a:off x="193040" y="721757"/>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cs typeface="Times New Roman" panose="02020603050405020304" pitchFamily="18" charset="0"/>
              </a:rPr>
              <a:t>Laws for Privacy and Anonymity</a:t>
            </a:r>
            <a:endPar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164552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02E71-150D-4958-D0F1-A8787A6EEE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312ECC7-2D68-643F-A7C3-C4D413766B5A}"/>
              </a:ext>
            </a:extLst>
          </p:cNvPr>
          <p:cNvSpPr txBox="1"/>
          <p:nvPr/>
        </p:nvSpPr>
        <p:spPr>
          <a:xfrm>
            <a:off x="815340" y="1409323"/>
            <a:ext cx="10761980" cy="4662815"/>
          </a:xfrm>
          <a:prstGeom prst="rect">
            <a:avLst/>
          </a:prstGeom>
          <a:noFill/>
        </p:spPr>
        <p:txBody>
          <a:bodyPr wrap="square">
            <a:spAutoFit/>
          </a:bodyPr>
          <a:lstStyle/>
          <a:p>
            <a:pPr marL="342900" lvl="0" indent="-342900" algn="just" defTabSz="914400" eaLnBrk="0" fontAlgn="base" hangingPunct="0">
              <a:spcBef>
                <a:spcPct val="0"/>
              </a:spcBef>
              <a:spcAft>
                <a:spcPct val="0"/>
              </a:spcAft>
              <a:buFont typeface="Arial" panose="020B0604020202020204" pitchFamily="34" charset="0"/>
              <a:buChar char="•"/>
            </a:pPr>
            <a:r>
              <a:rPr lang="en-PK" altLang="en-PK" sz="2700" b="1" dirty="0">
                <a:solidFill>
                  <a:srgbClr val="0A0A0A"/>
                </a:solidFill>
                <a:latin typeface="Times New Roman" panose="02020603050405020304" pitchFamily="18" charset="0"/>
                <a:cs typeface="Times New Roman" panose="02020603050405020304" pitchFamily="18" charset="0"/>
              </a:rPr>
              <a:t>Constitutional Rights:</a:t>
            </a:r>
            <a:r>
              <a:rPr lang="en-PK" altLang="en-PK" sz="2700" dirty="0">
                <a:solidFill>
                  <a:srgbClr val="0A0A0A"/>
                </a:solidFill>
                <a:latin typeface="Times New Roman" panose="02020603050405020304" pitchFamily="18" charset="0"/>
                <a:cs typeface="Times New Roman" panose="02020603050405020304" pitchFamily="18" charset="0"/>
              </a:rPr>
              <a:t> Many countries recognize privacy as a fundamental right, stemming from broader liberties (e.g., India's Article 21, Pakistan's Article 14).</a:t>
            </a:r>
          </a:p>
          <a:p>
            <a:pPr marL="342900" lvl="0" indent="-342900" algn="just" defTabSz="914400" eaLnBrk="0" fontAlgn="base" hangingPunct="0">
              <a:spcBef>
                <a:spcPct val="0"/>
              </a:spcBef>
              <a:spcAft>
                <a:spcPct val="0"/>
              </a:spcAft>
              <a:buFont typeface="Arial" panose="020B0604020202020204" pitchFamily="34" charset="0"/>
              <a:buChar char="•"/>
            </a:pPr>
            <a:r>
              <a:rPr lang="en-PK" altLang="en-PK" sz="2700" b="1" dirty="0">
                <a:solidFill>
                  <a:srgbClr val="0A0A0A"/>
                </a:solidFill>
                <a:latin typeface="Times New Roman" panose="02020603050405020304" pitchFamily="18" charset="0"/>
                <a:cs typeface="Times New Roman" panose="02020603050405020304" pitchFamily="18" charset="0"/>
              </a:rPr>
              <a:t>International Standards:</a:t>
            </a:r>
            <a:r>
              <a:rPr lang="en-PK" altLang="en-PK" sz="2700" dirty="0">
                <a:solidFill>
                  <a:srgbClr val="0A0A0A"/>
                </a:solidFill>
                <a:latin typeface="Times New Roman" panose="02020603050405020304" pitchFamily="18" charset="0"/>
                <a:cs typeface="Times New Roman" panose="02020603050405020304" pitchFamily="18" charset="0"/>
              </a:rPr>
              <a:t> The UN's </a:t>
            </a:r>
            <a:r>
              <a:rPr lang="en-PK" altLang="en-PK" sz="2700" dirty="0">
                <a:solidFill>
                  <a:srgbClr val="0A0A0A"/>
                </a:solidFill>
                <a:latin typeface="Times New Roman" panose="02020603050405020304" pitchFamily="18" charset="0"/>
                <a:cs typeface="Times New Roman" panose="02020603050405020304" pitchFamily="18" charset="0"/>
                <a:hlinkClick r:id="rId2"/>
              </a:rPr>
              <a:t>ICCPR</a:t>
            </a:r>
            <a:r>
              <a:rPr lang="en-PK" altLang="en-PK" sz="2700" dirty="0">
                <a:solidFill>
                  <a:srgbClr val="0A0A0A"/>
                </a:solidFill>
                <a:latin typeface="Times New Roman" panose="02020603050405020304" pitchFamily="18" charset="0"/>
                <a:cs typeface="Times New Roman" panose="02020603050405020304" pitchFamily="18" charset="0"/>
              </a:rPr>
              <a:t> (Article 17) protects against arbitrary interference with privacy, applying to data.</a:t>
            </a:r>
          </a:p>
          <a:p>
            <a:pPr marL="342900" lvl="0" indent="-342900" algn="just" defTabSz="914400" eaLnBrk="0" fontAlgn="base" hangingPunct="0">
              <a:spcBef>
                <a:spcPct val="0"/>
              </a:spcBef>
              <a:spcAft>
                <a:spcPct val="0"/>
              </a:spcAft>
              <a:buFont typeface="Arial" panose="020B0604020202020204" pitchFamily="34" charset="0"/>
              <a:buChar char="•"/>
            </a:pPr>
            <a:r>
              <a:rPr lang="en-PK" altLang="en-PK" sz="2700" b="1" dirty="0">
                <a:solidFill>
                  <a:srgbClr val="0A0A0A"/>
                </a:solidFill>
                <a:latin typeface="Times New Roman" panose="02020603050405020304" pitchFamily="18" charset="0"/>
                <a:cs typeface="Times New Roman" panose="02020603050405020304" pitchFamily="18" charset="0"/>
              </a:rPr>
              <a:t>US Federal Laws:</a:t>
            </a:r>
            <a:r>
              <a:rPr lang="en-PK" altLang="en-PK" sz="2700" dirty="0">
                <a:solidFill>
                  <a:srgbClr val="0A0A0A"/>
                </a:solidFill>
                <a:latin typeface="Times New Roman" panose="02020603050405020304" pitchFamily="18" charset="0"/>
                <a:cs typeface="Times New Roman" panose="02020603050405020304" pitchFamily="18" charset="0"/>
              </a:rPr>
              <a:t> No single law; includes the </a:t>
            </a:r>
            <a:r>
              <a:rPr lang="en-PK" altLang="en-PK" sz="2700" dirty="0">
                <a:solidFill>
                  <a:srgbClr val="0A0A0A"/>
                </a:solidFill>
                <a:latin typeface="Times New Roman" panose="02020603050405020304" pitchFamily="18" charset="0"/>
                <a:cs typeface="Times New Roman" panose="02020603050405020304" pitchFamily="18" charset="0"/>
                <a:hlinkClick r:id="rId3"/>
              </a:rPr>
              <a:t>Privacy Act of 1974</a:t>
            </a:r>
            <a:r>
              <a:rPr lang="en-PK" altLang="en-PK" sz="2700" dirty="0">
                <a:solidFill>
                  <a:srgbClr val="0A0A0A"/>
                </a:solidFill>
                <a:latin typeface="Times New Roman" panose="02020603050405020304" pitchFamily="18" charset="0"/>
                <a:cs typeface="Times New Roman" panose="02020603050405020304" pitchFamily="18" charset="0"/>
              </a:rPr>
              <a:t> (gov agencies), </a:t>
            </a:r>
            <a:r>
              <a:rPr lang="en-PK" altLang="en-PK" sz="2700" dirty="0">
                <a:solidFill>
                  <a:srgbClr val="0A0A0A"/>
                </a:solidFill>
                <a:latin typeface="Times New Roman" panose="02020603050405020304" pitchFamily="18" charset="0"/>
                <a:cs typeface="Times New Roman" panose="02020603050405020304" pitchFamily="18" charset="0"/>
                <a:hlinkClick r:id="rId4"/>
              </a:rPr>
              <a:t>GLBA</a:t>
            </a:r>
            <a:r>
              <a:rPr lang="en-PK" altLang="en-PK" sz="2700" dirty="0">
                <a:solidFill>
                  <a:srgbClr val="0A0A0A"/>
                </a:solidFill>
                <a:latin typeface="Times New Roman" panose="02020603050405020304" pitchFamily="18" charset="0"/>
                <a:cs typeface="Times New Roman" panose="02020603050405020304" pitchFamily="18" charset="0"/>
              </a:rPr>
              <a:t> (finance), </a:t>
            </a:r>
            <a:r>
              <a:rPr lang="en-PK" altLang="en-PK" sz="2700" dirty="0">
                <a:solidFill>
                  <a:srgbClr val="0A0A0A"/>
                </a:solidFill>
                <a:latin typeface="Times New Roman" panose="02020603050405020304" pitchFamily="18" charset="0"/>
                <a:cs typeface="Times New Roman" panose="02020603050405020304" pitchFamily="18" charset="0"/>
                <a:hlinkClick r:id="rId5"/>
              </a:rPr>
              <a:t>COPPA</a:t>
            </a:r>
            <a:r>
              <a:rPr lang="en-PK" altLang="en-PK" sz="2700" dirty="0">
                <a:solidFill>
                  <a:srgbClr val="0A0A0A"/>
                </a:solidFill>
                <a:latin typeface="Times New Roman" panose="02020603050405020304" pitchFamily="18" charset="0"/>
                <a:cs typeface="Times New Roman" panose="02020603050405020304" pitchFamily="18" charset="0"/>
              </a:rPr>
              <a:t> (children), and </a:t>
            </a:r>
            <a:r>
              <a:rPr lang="en-PK" altLang="en-PK" sz="2700" dirty="0">
                <a:solidFill>
                  <a:srgbClr val="0A0A0A"/>
                </a:solidFill>
                <a:latin typeface="Times New Roman" panose="02020603050405020304" pitchFamily="18" charset="0"/>
                <a:cs typeface="Times New Roman" panose="02020603050405020304" pitchFamily="18" charset="0"/>
                <a:hlinkClick r:id="rId6"/>
              </a:rPr>
              <a:t>CFAA</a:t>
            </a:r>
            <a:r>
              <a:rPr lang="en-PK" altLang="en-PK" sz="2700" dirty="0">
                <a:solidFill>
                  <a:srgbClr val="0A0A0A"/>
                </a:solidFill>
                <a:latin typeface="Times New Roman" panose="02020603050405020304" pitchFamily="18" charset="0"/>
                <a:cs typeface="Times New Roman" panose="02020603050405020304" pitchFamily="18" charset="0"/>
              </a:rPr>
              <a:t> (cybercrime).</a:t>
            </a:r>
          </a:p>
          <a:p>
            <a:pPr marL="342900" lvl="0" indent="-342900" algn="just" defTabSz="914400" eaLnBrk="0" fontAlgn="base" hangingPunct="0">
              <a:spcBef>
                <a:spcPct val="0"/>
              </a:spcBef>
              <a:spcAft>
                <a:spcPct val="0"/>
              </a:spcAft>
              <a:buFont typeface="Arial" panose="020B0604020202020204" pitchFamily="34" charset="0"/>
              <a:buChar char="•"/>
            </a:pPr>
            <a:r>
              <a:rPr lang="en-PK" altLang="en-PK" sz="2700" b="1" dirty="0">
                <a:solidFill>
                  <a:srgbClr val="0A0A0A"/>
                </a:solidFill>
                <a:latin typeface="Times New Roman" panose="02020603050405020304" pitchFamily="18" charset="0"/>
                <a:cs typeface="Times New Roman" panose="02020603050405020304" pitchFamily="18" charset="0"/>
              </a:rPr>
              <a:t>US State Laws (Example):</a:t>
            </a:r>
            <a:r>
              <a:rPr lang="en-PK" altLang="en-PK" sz="2700" dirty="0">
                <a:solidFill>
                  <a:srgbClr val="0A0A0A"/>
                </a:solidFill>
                <a:latin typeface="Times New Roman" panose="02020603050405020304" pitchFamily="18" charset="0"/>
                <a:cs typeface="Times New Roman" panose="02020603050405020304" pitchFamily="18" charset="0"/>
              </a:rPr>
              <a:t> </a:t>
            </a:r>
            <a:r>
              <a:rPr lang="en-PK" altLang="en-PK" sz="2700" dirty="0">
                <a:solidFill>
                  <a:srgbClr val="0A0A0A"/>
                </a:solidFill>
                <a:latin typeface="Times New Roman" panose="02020603050405020304" pitchFamily="18" charset="0"/>
                <a:cs typeface="Times New Roman" panose="02020603050405020304" pitchFamily="18" charset="0"/>
                <a:hlinkClick r:id="rId7"/>
              </a:rPr>
              <a:t>California Privacy Rights Act</a:t>
            </a:r>
            <a:r>
              <a:rPr lang="en-PK" altLang="en-PK" sz="2700" dirty="0">
                <a:solidFill>
                  <a:srgbClr val="0A0A0A"/>
                </a:solidFill>
                <a:latin typeface="Times New Roman" panose="02020603050405020304" pitchFamily="18" charset="0"/>
                <a:cs typeface="Times New Roman" panose="02020603050405020304" pitchFamily="18" charset="0"/>
              </a:rPr>
              <a:t> (CPRA) grants broad consumer rights (access, deletion, opt-out).</a:t>
            </a:r>
          </a:p>
          <a:p>
            <a:pPr marL="342900" lvl="0" indent="-342900" algn="just" defTabSz="914400" eaLnBrk="0" fontAlgn="base" hangingPunct="0">
              <a:spcBef>
                <a:spcPct val="0"/>
              </a:spcBef>
              <a:spcAft>
                <a:spcPct val="0"/>
              </a:spcAft>
              <a:buFont typeface="Arial" panose="020B0604020202020204" pitchFamily="34" charset="0"/>
              <a:buChar char="•"/>
            </a:pPr>
            <a:r>
              <a:rPr lang="en-PK" altLang="en-PK" sz="2700" b="1" dirty="0">
                <a:solidFill>
                  <a:srgbClr val="0A0A0A"/>
                </a:solidFill>
                <a:latin typeface="Times New Roman" panose="02020603050405020304" pitchFamily="18" charset="0"/>
                <a:cs typeface="Times New Roman" panose="02020603050405020304" pitchFamily="18" charset="0"/>
              </a:rPr>
              <a:t>Pakistan:</a:t>
            </a:r>
            <a:r>
              <a:rPr lang="en-PK" altLang="en-PK" sz="2700" dirty="0">
                <a:solidFill>
                  <a:srgbClr val="0A0A0A"/>
                </a:solidFill>
                <a:latin typeface="Times New Roman" panose="02020603050405020304" pitchFamily="18" charset="0"/>
                <a:cs typeface="Times New Roman" panose="02020603050405020304" pitchFamily="18" charset="0"/>
              </a:rPr>
              <a:t> Constitutional recognition (Art 14) alongside laws like the </a:t>
            </a:r>
            <a:r>
              <a:rPr lang="en-PK" altLang="en-PK" sz="2700" dirty="0">
                <a:solidFill>
                  <a:srgbClr val="0A0A0A"/>
                </a:solidFill>
                <a:latin typeface="Times New Roman" panose="02020603050405020304" pitchFamily="18" charset="0"/>
                <a:cs typeface="Times New Roman" panose="02020603050405020304" pitchFamily="18" charset="0"/>
                <a:hlinkClick r:id="rId8"/>
              </a:rPr>
              <a:t>Prevention of Electronic Crimes Act 2016</a:t>
            </a:r>
            <a:r>
              <a:rPr lang="en-PK" altLang="en-PK" sz="2700" dirty="0">
                <a:solidFill>
                  <a:srgbClr val="0A0A0A"/>
                </a:solidFill>
                <a:latin typeface="Times New Roman" panose="02020603050405020304" pitchFamily="18" charset="0"/>
                <a:cs typeface="Times New Roman" panose="02020603050405020304" pitchFamily="18" charset="0"/>
              </a:rPr>
              <a:t> (PECA). </a:t>
            </a:r>
          </a:p>
        </p:txBody>
      </p:sp>
      <p:sp>
        <p:nvSpPr>
          <p:cNvPr id="3" name="TextBox 2">
            <a:extLst>
              <a:ext uri="{FF2B5EF4-FFF2-40B4-BE49-F238E27FC236}">
                <a16:creationId xmlns:a16="http://schemas.microsoft.com/office/drawing/2014/main" id="{5BB05108-2DE7-F905-62A5-01A2766E3FB9}"/>
              </a:ext>
            </a:extLst>
          </p:cNvPr>
          <p:cNvSpPr txBox="1"/>
          <p:nvPr/>
        </p:nvSpPr>
        <p:spPr>
          <a:xfrm>
            <a:off x="325120" y="336250"/>
            <a:ext cx="11252200" cy="707886"/>
          </a:xfrm>
          <a:prstGeom prst="rect">
            <a:avLst/>
          </a:prstGeom>
          <a:noFill/>
        </p:spPr>
        <p:txBody>
          <a:bodyPr wrap="square">
            <a:spAutoFit/>
          </a:bodyPr>
          <a:lstStyle/>
          <a:p>
            <a:pPr algn="ctr"/>
            <a:r>
              <a:rPr lang="en-PK" altLang="en-PK" sz="4000" b="1" dirty="0">
                <a:solidFill>
                  <a:srgbClr val="0070C0"/>
                </a:solidFill>
                <a:latin typeface="Times New Roman" panose="02020603050405020304" pitchFamily="18" charset="0"/>
                <a:cs typeface="Times New Roman" panose="02020603050405020304" pitchFamily="18" charset="0"/>
              </a:rPr>
              <a:t>Key Legal Frameworks &amp; Concepts</a:t>
            </a:r>
          </a:p>
        </p:txBody>
      </p:sp>
      <p:sp>
        <p:nvSpPr>
          <p:cNvPr id="2" name="Rectangle 1">
            <a:extLst>
              <a:ext uri="{FF2B5EF4-FFF2-40B4-BE49-F238E27FC236}">
                <a16:creationId xmlns:a16="http://schemas.microsoft.com/office/drawing/2014/main" id="{8C6F180F-BD0E-0A2E-4DAF-8B95E74D1F5F}"/>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1978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279A3-C042-6F79-07F2-6CD367B576E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D3BD0FE-1D8F-CC1F-9541-2E4EE496583B}"/>
              </a:ext>
            </a:extLst>
          </p:cNvPr>
          <p:cNvSpPr txBox="1"/>
          <p:nvPr/>
        </p:nvSpPr>
        <p:spPr>
          <a:xfrm>
            <a:off x="815340" y="1348363"/>
            <a:ext cx="10761980" cy="5247590"/>
          </a:xfrm>
          <a:prstGeom prst="rect">
            <a:avLst/>
          </a:prstGeom>
          <a:noFill/>
        </p:spPr>
        <p:txBody>
          <a:bodyPr wrap="square">
            <a:spAutoFit/>
          </a:bodyPr>
          <a:lstStyle/>
          <a:p>
            <a:pPr marL="457200" lvl="0" indent="-457200" algn="just" defTabSz="914400" eaLnBrk="0" fontAlgn="base" hangingPunct="0">
              <a:spcBef>
                <a:spcPct val="0"/>
              </a:spcBef>
              <a:spcAft>
                <a:spcPct val="0"/>
              </a:spcAf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86%</a:t>
            </a:r>
            <a:r>
              <a:rPr lang="en-US" sz="2800" dirty="0">
                <a:latin typeface="Times New Roman" panose="02020603050405020304" pitchFamily="18" charset="0"/>
                <a:cs typeface="Times New Roman" panose="02020603050405020304" pitchFamily="18" charset="0"/>
              </a:rPr>
              <a:t> of internet users have taken steps to </a:t>
            </a:r>
            <a:r>
              <a:rPr lang="en-US" sz="2800" b="1" dirty="0">
                <a:latin typeface="Times New Roman" panose="02020603050405020304" pitchFamily="18" charset="0"/>
                <a:cs typeface="Times New Roman" panose="02020603050405020304" pitchFamily="18" charset="0"/>
              </a:rPr>
              <a:t>remove or mask their digital footprint like clearing cookies, avoiding real name etc.</a:t>
            </a:r>
          </a:p>
          <a:p>
            <a:pPr marL="457200" lvl="0" indent="-457200" defTabSz="914400" eaLnBrk="0" fontAlgn="base" hangingPunct="0">
              <a:spcBef>
                <a:spcPct val="0"/>
              </a:spcBef>
              <a:spcAft>
                <a:spcPct val="0"/>
              </a:spcAft>
              <a:buFont typeface="Arial" panose="020B0604020202020204" pitchFamily="34" charset="0"/>
              <a:buChar char="•"/>
            </a:pPr>
            <a:r>
              <a:rPr lang="en-PK" altLang="en-PK" sz="2800" b="1" dirty="0">
                <a:latin typeface="Times New Roman" panose="02020603050405020304" pitchFamily="18" charset="0"/>
                <a:cs typeface="Times New Roman" panose="02020603050405020304" pitchFamily="18" charset="0"/>
              </a:rPr>
              <a:t>59%</a:t>
            </a:r>
            <a:r>
              <a:rPr lang="en-PK" altLang="en-PK" sz="2800" dirty="0">
                <a:latin typeface="Times New Roman" panose="02020603050405020304" pitchFamily="18" charset="0"/>
                <a:cs typeface="Times New Roman" panose="02020603050405020304" pitchFamily="18" charset="0"/>
              </a:rPr>
              <a:t> believe </a:t>
            </a:r>
            <a:r>
              <a:rPr lang="en-PK" altLang="en-PK" sz="2800" b="1" dirty="0">
                <a:latin typeface="Times New Roman" panose="02020603050405020304" pitchFamily="18" charset="0"/>
                <a:cs typeface="Times New Roman" panose="02020603050405020304" pitchFamily="18" charset="0"/>
              </a:rPr>
              <a:t>complete anonymity is not possible</a:t>
            </a:r>
            <a:endParaRPr lang="en-PK" altLang="en-PK" sz="2800"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Arial" panose="020B0604020202020204" pitchFamily="34" charset="0"/>
              <a:buChar char="•"/>
            </a:pPr>
            <a:r>
              <a:rPr lang="en-PK" altLang="en-PK" sz="2800" dirty="0">
                <a:latin typeface="Times New Roman" panose="02020603050405020304" pitchFamily="18" charset="0"/>
                <a:cs typeface="Times New Roman" panose="02020603050405020304" pitchFamily="18" charset="0"/>
              </a:rPr>
              <a:t>Only </a:t>
            </a:r>
            <a:r>
              <a:rPr lang="en-PK" altLang="en-PK" sz="2800" b="1" dirty="0">
                <a:latin typeface="Times New Roman" panose="02020603050405020304" pitchFamily="18" charset="0"/>
                <a:cs typeface="Times New Roman" panose="02020603050405020304" pitchFamily="18" charset="0"/>
              </a:rPr>
              <a:t>37%</a:t>
            </a:r>
            <a:r>
              <a:rPr lang="en-PK" altLang="en-PK" sz="2800" dirty="0">
                <a:latin typeface="Times New Roman" panose="02020603050405020304" pitchFamily="18" charset="0"/>
                <a:cs typeface="Times New Roman" panose="02020603050405020304" pitchFamily="18" charset="0"/>
              </a:rPr>
              <a:t> believe it </a:t>
            </a:r>
            <a:r>
              <a:rPr lang="en-PK" altLang="en-PK" sz="2800" i="1" dirty="0">
                <a:latin typeface="Times New Roman" panose="02020603050405020304" pitchFamily="18" charset="0"/>
                <a:cs typeface="Times New Roman" panose="02020603050405020304" pitchFamily="18" charset="0"/>
              </a:rPr>
              <a:t>might</a:t>
            </a:r>
            <a:r>
              <a:rPr lang="en-PK" altLang="en-PK" sz="2800" dirty="0">
                <a:latin typeface="Times New Roman" panose="02020603050405020304" pitchFamily="18" charset="0"/>
                <a:cs typeface="Times New Roman" panose="02020603050405020304" pitchFamily="18" charset="0"/>
              </a:rPr>
              <a:t> be achievable</a:t>
            </a:r>
            <a:endParaRPr lang="en-US" altLang="en-PK" sz="2800"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Arial" panose="020B0604020202020204" pitchFamily="34" charset="0"/>
              <a:buChar char="•"/>
            </a:pPr>
            <a:r>
              <a:rPr lang="en-PK" altLang="en-PK" sz="2800" b="1" dirty="0">
                <a:latin typeface="Times New Roman" panose="02020603050405020304" pitchFamily="18" charset="0"/>
                <a:cs typeface="Times New Roman" panose="02020603050405020304" pitchFamily="18" charset="0"/>
              </a:rPr>
              <a:t>66%</a:t>
            </a:r>
            <a:r>
              <a:rPr lang="en-PK" altLang="en-PK" sz="2800" dirty="0">
                <a:latin typeface="Times New Roman" panose="02020603050405020304" pitchFamily="18" charset="0"/>
                <a:cs typeface="Times New Roman" panose="02020603050405020304" pitchFamily="18" charset="0"/>
              </a:rPr>
              <a:t> report photos of themselves are available online</a:t>
            </a:r>
          </a:p>
          <a:p>
            <a:pPr marL="457200" lvl="0" indent="-457200" defTabSz="914400" eaLnBrk="0" fontAlgn="base" hangingPunct="0">
              <a:spcBef>
                <a:spcPct val="0"/>
              </a:spcBef>
              <a:spcAft>
                <a:spcPct val="0"/>
              </a:spcAft>
              <a:buFont typeface="Arial" panose="020B0604020202020204" pitchFamily="34" charset="0"/>
              <a:buChar char="•"/>
            </a:pPr>
            <a:r>
              <a:rPr lang="en-PK" altLang="en-PK" sz="2800" b="1" dirty="0">
                <a:latin typeface="Times New Roman" panose="02020603050405020304" pitchFamily="18" charset="0"/>
                <a:cs typeface="Times New Roman" panose="02020603050405020304" pitchFamily="18" charset="0"/>
              </a:rPr>
              <a:t>50%</a:t>
            </a:r>
            <a:r>
              <a:rPr lang="en-PK" altLang="en-PK" sz="2800" dirty="0">
                <a:latin typeface="Times New Roman" panose="02020603050405020304" pitchFamily="18" charset="0"/>
                <a:cs typeface="Times New Roman" panose="02020603050405020304" pitchFamily="18" charset="0"/>
              </a:rPr>
              <a:t> say their birthdate is accessible</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50%</a:t>
            </a:r>
            <a:r>
              <a:rPr lang="en-US" sz="2800" dirty="0">
                <a:latin typeface="Times New Roman" panose="02020603050405020304" pitchFamily="18" charset="0"/>
                <a:cs typeface="Times New Roman" panose="02020603050405020304" pitchFamily="18" charset="0"/>
              </a:rPr>
              <a:t> of users express </a:t>
            </a:r>
            <a:r>
              <a:rPr lang="en-US" sz="2800" b="1" dirty="0">
                <a:latin typeface="Times New Roman" panose="02020603050405020304" pitchFamily="18" charset="0"/>
                <a:cs typeface="Times New Roman" panose="02020603050405020304" pitchFamily="18" charset="0"/>
              </a:rPr>
              <a:t>serious concern</a:t>
            </a:r>
            <a:r>
              <a:rPr lang="en-US" sz="2800" dirty="0">
                <a:latin typeface="Times New Roman" panose="02020603050405020304" pitchFamily="18" charset="0"/>
                <a:cs typeface="Times New Roman" panose="02020603050405020304" pitchFamily="18" charset="0"/>
              </a:rPr>
              <a:t> about the volume of personal data online.</a:t>
            </a:r>
          </a:p>
          <a:p>
            <a:pPr marL="457200" lvl="0" indent="-457200" defTabSz="914400" eaLnBrk="0" fontAlgn="base" hangingPunct="0">
              <a:spcBef>
                <a:spcPct val="0"/>
              </a:spcBef>
              <a:spcAft>
                <a:spcPct val="0"/>
              </a:spcAft>
              <a:buFont typeface="Arial" panose="020B0604020202020204" pitchFamily="34" charset="0"/>
              <a:buChar char="•"/>
            </a:pPr>
            <a:endParaRPr lang="en-US" altLang="en-PK" sz="2800"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Arial" panose="020B0604020202020204" pitchFamily="34" charset="0"/>
              <a:buChar char="•"/>
            </a:pPr>
            <a:endParaRPr lang="en-PK" altLang="en-PK" sz="2800" dirty="0">
              <a:latin typeface="Times New Roman" panose="02020603050405020304" pitchFamily="18" charset="0"/>
              <a:cs typeface="Times New Roman" panose="02020603050405020304" pitchFamily="18" charset="0"/>
            </a:endParaRPr>
          </a:p>
          <a:p>
            <a:pPr marL="457200" lvl="0" indent="-457200" algn="just" defTabSz="914400" eaLnBrk="0" fontAlgn="base" hangingPunct="0">
              <a:spcBef>
                <a:spcPct val="0"/>
              </a:spcBef>
              <a:spcAft>
                <a:spcPct val="0"/>
              </a:spcAf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marL="457200" lvl="0" indent="-457200" algn="just" defTabSz="914400" eaLnBrk="0" fontAlgn="base" hangingPunct="0">
              <a:spcBef>
                <a:spcPct val="0"/>
              </a:spcBef>
              <a:spcAft>
                <a:spcPct val="0"/>
              </a:spcAft>
              <a:buFont typeface="Arial" panose="020B0604020202020204" pitchFamily="34" charset="0"/>
              <a:buChar char="•"/>
            </a:pPr>
            <a:endParaRPr lang="en-PK" altLang="en-PK" sz="2700" dirty="0">
              <a:solidFill>
                <a:srgbClr val="0A0A0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5083D7D-D406-321C-1C88-79739E5638A5}"/>
              </a:ext>
            </a:extLst>
          </p:cNvPr>
          <p:cNvSpPr txBox="1"/>
          <p:nvPr/>
        </p:nvSpPr>
        <p:spPr>
          <a:xfrm>
            <a:off x="570230" y="336250"/>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cs typeface="Times New Roman" panose="02020603050405020304" pitchFamily="18" charset="0"/>
              </a:rPr>
              <a:t>Public Demand for Anonymity (Survey Evidence)</a:t>
            </a:r>
            <a:endParaRPr lang="en-PK" altLang="en-PK" sz="4000" b="1" dirty="0">
              <a:solidFill>
                <a:srgbClr val="0070C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14070B9-40C3-71BE-AA7F-2786EC0BD6DE}"/>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9600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4148328" y="142594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944880" y="3337560"/>
            <a:ext cx="10535920" cy="369332"/>
          </a:xfrm>
          <a:prstGeom prst="rect">
            <a:avLst/>
          </a:prstGeom>
          <a:noFill/>
        </p:spPr>
        <p:txBody>
          <a:bodyPr wrap="square">
            <a:spAutoFit/>
          </a:bodyPr>
          <a:lstStyle/>
          <a:p>
            <a:pPr algn="ctr"/>
            <a:r>
              <a:rPr lang="en-US" dirty="0"/>
              <a:t>“Privacy is contextual and selective—not absolute.”</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3804</TotalTime>
  <Words>2418</Words>
  <Application>Microsoft Office PowerPoint</Application>
  <PresentationFormat>Widescreen</PresentationFormat>
  <Paragraphs>142</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Rockwell</vt:lpstr>
      <vt:lpstr>Rockwell Condensed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2554</cp:revision>
  <dcterms:created xsi:type="dcterms:W3CDTF">2025-10-15T06:15:30Z</dcterms:created>
  <dcterms:modified xsi:type="dcterms:W3CDTF">2026-01-18T14:59:13Z</dcterms:modified>
</cp:coreProperties>
</file>