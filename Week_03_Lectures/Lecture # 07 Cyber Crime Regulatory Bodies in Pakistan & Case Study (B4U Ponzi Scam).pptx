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4"/>
  </p:notesMasterIdLst>
  <p:sldIdLst>
    <p:sldId id="256" r:id="rId2"/>
    <p:sldId id="261" r:id="rId3"/>
    <p:sldId id="318" r:id="rId4"/>
    <p:sldId id="340" r:id="rId5"/>
    <p:sldId id="339" r:id="rId6"/>
    <p:sldId id="341" r:id="rId7"/>
    <p:sldId id="342" r:id="rId8"/>
    <p:sldId id="343" r:id="rId9"/>
    <p:sldId id="344" r:id="rId10"/>
    <p:sldId id="345" r:id="rId11"/>
    <p:sldId id="346" r:id="rId12"/>
    <p:sldId id="353" r:id="rId13"/>
    <p:sldId id="354" r:id="rId14"/>
    <p:sldId id="355" r:id="rId15"/>
    <p:sldId id="352" r:id="rId16"/>
    <p:sldId id="347" r:id="rId17"/>
    <p:sldId id="349" r:id="rId18"/>
    <p:sldId id="351" r:id="rId19"/>
    <p:sldId id="350" r:id="rId20"/>
    <p:sldId id="356" r:id="rId21"/>
    <p:sldId id="348" r:id="rId22"/>
    <p:sldId id="26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42" autoAdjust="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cp.gov.pk/contact-u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r3c.gov.pk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ia.gov.pk/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wn.com/news/1933153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dawn.com/news/1678512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wn.com/news/1351120" TargetMode="External"/><Relationship Id="rId3" Type="http://schemas.openxmlformats.org/officeDocument/2006/relationships/hyperlink" Target="https://www.dawn.com/news/1668151/fia-issues-notice-to-crypto-exchange-binance-in-multi-million-dollar-scam" TargetMode="External"/><Relationship Id="rId7" Type="http://schemas.openxmlformats.org/officeDocument/2006/relationships/hyperlink" Target="https://tribune.com.pk/story/2571974/gilgit-housewife-loses-rs500000-in-online-scam" TargetMode="External"/><Relationship Id="rId2" Type="http://schemas.openxmlformats.org/officeDocument/2006/relationships/hyperlink" Target="https://www.dawn.com/news/195036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thefridaytimes.com/17-Sep-2025/the-rising-threat-of-digital-fraud-in-pakistan-s-online-apps-and-games" TargetMode="External"/><Relationship Id="rId5" Type="http://schemas.openxmlformats.org/officeDocument/2006/relationships/hyperlink" Target="https://sadapay.pk/blogs/types-of-online-banking-scams" TargetMode="External"/><Relationship Id="rId4" Type="http://schemas.openxmlformats.org/officeDocument/2006/relationships/hyperlink" Target="https://www.dawn.com/news/1764628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endParaRPr lang="en-PK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2241804" y="478925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# 07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328" y="33223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2F36A-3A53-922C-C868-BF2D2A9357FE}"/>
              </a:ext>
            </a:extLst>
          </p:cNvPr>
          <p:cNvSpPr txBox="1"/>
          <p:nvPr/>
        </p:nvSpPr>
        <p:spPr>
          <a:xfrm>
            <a:off x="1354328" y="1838961"/>
            <a:ext cx="975055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Securities and Exchange Commission of Pakistan (SECP)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Crime Wing (CCW) – NRC3 – FIA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Cyber Crime Investigation Agency (NCCIA)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Fraud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- B4U Online Ponzi Scheme Scam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F811B0-F964-0D00-A05B-82E0CFA25408}"/>
              </a:ext>
            </a:extLst>
          </p:cNvPr>
          <p:cNvSpPr txBox="1"/>
          <p:nvPr/>
        </p:nvSpPr>
        <p:spPr>
          <a:xfrm>
            <a:off x="904240" y="476277"/>
            <a:ext cx="5669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FRAUD VIA INTERNET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9AE39-4E74-550A-854B-11990EC774F8}"/>
              </a:ext>
            </a:extLst>
          </p:cNvPr>
          <p:cNvSpPr txBox="1"/>
          <p:nvPr/>
        </p:nvSpPr>
        <p:spPr>
          <a:xfrm>
            <a:off x="990600" y="1280775"/>
            <a:ext cx="102108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Internet fraud refers to deceptive or criminal activities carried out online to steal money, personal data, or access to systems.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There are a variety of ways that fraud can be perpetrated via the Internet such as :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Online Shopping Scams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Banking Fraud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Investment and Crypto Fraud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Job Fraud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Loan App &amp; Digital Lending Scams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endParaRPr lang="en-US" sz="3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lvl="1" algn="just"/>
            <a:endParaRPr lang="en-US" sz="3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989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5773-E81D-36E8-236C-D63D0A9B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040C94-3472-1748-2A21-513380F20409}"/>
              </a:ext>
            </a:extLst>
          </p:cNvPr>
          <p:cNvSpPr txBox="1"/>
          <p:nvPr/>
        </p:nvSpPr>
        <p:spPr>
          <a:xfrm>
            <a:off x="904240" y="476277"/>
            <a:ext cx="10027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Securities and Exchange Commission of Pakistan (SECP)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FBE258-2BEB-5D5B-9E0C-EA2B46D848A2}"/>
              </a:ext>
            </a:extLst>
          </p:cNvPr>
          <p:cNvSpPr txBox="1"/>
          <p:nvPr/>
        </p:nvSpPr>
        <p:spPr>
          <a:xfrm>
            <a:off x="904240" y="1851859"/>
            <a:ext cx="10546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SECP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is a government regulatory body established under the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Securities and Exchange Commission of Pakistan Act, 1997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It oversees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corporate sector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capital markets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insurance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non-banking finance companies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modarabas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(Islamic finance institutions).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Its role is to ensure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transparency, fair practices, and investor protection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 Pakistan’s financial markets.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SECP Roles: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Monitoring Investment Scams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Coordination with FIA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(Cyber Crime Wing)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Public Awareness &amp; Reporting</a:t>
            </a:r>
          </a:p>
        </p:txBody>
      </p:sp>
    </p:spTree>
    <p:extLst>
      <p:ext uri="{BB962C8B-B14F-4D97-AF65-F5344CB8AC3E}">
        <p14:creationId xmlns:p14="http://schemas.microsoft.com/office/powerpoint/2010/main" val="50362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20A1-0F9E-ED6B-2761-3EA4C876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9FB1EA-1300-5E4D-7DC5-8E0E5E453603}"/>
              </a:ext>
            </a:extLst>
          </p:cNvPr>
          <p:cNvSpPr txBox="1"/>
          <p:nvPr/>
        </p:nvSpPr>
        <p:spPr>
          <a:xfrm>
            <a:off x="851811" y="280574"/>
            <a:ext cx="10027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Securities and Exchange Commission of Pakistan (SECP)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675007-D9B3-864B-CE53-6BE4A4E6F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51" y="1480903"/>
            <a:ext cx="9746697" cy="4950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F6F441-39E1-C220-AC3F-AF9F2E363D4B}"/>
              </a:ext>
            </a:extLst>
          </p:cNvPr>
          <p:cNvSpPr txBox="1"/>
          <p:nvPr/>
        </p:nvSpPr>
        <p:spPr>
          <a:xfrm>
            <a:off x="3952240" y="63927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b="1" dirty="0">
                <a:solidFill>
                  <a:srgbClr val="CC99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https://www.secp.gov.pk/contact-us</a:t>
            </a:r>
            <a:r>
              <a:rPr lang="en-PK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b="1" dirty="0"/>
          </a:p>
          <a:p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208571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B397-6FB6-948E-6281-78EC35CAC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75560-0220-3C5F-254E-CEF66A38875F}"/>
              </a:ext>
            </a:extLst>
          </p:cNvPr>
          <p:cNvSpPr txBox="1"/>
          <p:nvPr/>
        </p:nvSpPr>
        <p:spPr>
          <a:xfrm>
            <a:off x="904240" y="287091"/>
            <a:ext cx="1002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K" altLang="en-PK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Cyber Crime Wing (CCW) </a:t>
            </a:r>
            <a:r>
              <a:rPr lang="en-US" altLang="en-PK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 FIA</a:t>
            </a:r>
            <a:endParaRPr 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94012-94D1-C8C0-AA28-9FC154044A65}"/>
              </a:ext>
            </a:extLst>
          </p:cNvPr>
          <p:cNvSpPr txBox="1"/>
          <p:nvPr/>
        </p:nvSpPr>
        <p:spPr>
          <a:xfrm>
            <a:off x="735724" y="1309779"/>
            <a:ext cx="106333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Crime Wing (CCW)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Investigation Agency (FIA)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authority handling online fraud and cybercrimes in Pakistan till 2023.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operates under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Electronic Crimes Act (PECA) 2016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addressing offenses like online fraud, phishing, identity theft, and harassment.</a:t>
            </a:r>
            <a:endParaRPr lang="en-US" altLang="en-PK" sz="3200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Details: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www.nr3c.gov.pk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helpdesk@nr3c.gov.pk / complaints@fia.gov.pk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📞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Helpline: 1991</a:t>
            </a:r>
            <a:endParaRPr lang="en-US" sz="3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63762F-70B0-4FB6-9655-F6342D25C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4" y="2492174"/>
            <a:ext cx="73738" cy="312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 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0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C00DE0-188C-D238-E010-8785B6ACB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" y="410896"/>
            <a:ext cx="2989269" cy="30181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794746-1A3D-AB00-DED1-05190F2A4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396" y="2338069"/>
            <a:ext cx="3415176" cy="3571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2E7E0D-13BF-CE40-11A0-02259A85F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849" y="787187"/>
            <a:ext cx="3517188" cy="3321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AB79CA-F764-970A-5F2E-14B33B45AF94}"/>
              </a:ext>
            </a:extLst>
          </p:cNvPr>
          <p:cNvSpPr txBox="1"/>
          <p:nvPr/>
        </p:nvSpPr>
        <p:spPr>
          <a:xfrm>
            <a:off x="7324799" y="4524194"/>
            <a:ext cx="43639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National Cyber Crime Investigation Agency (NCCIA)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8E1AE2-3809-2F5A-5C07-7AD656A75B86}"/>
              </a:ext>
            </a:extLst>
          </p:cNvPr>
          <p:cNvSpPr txBox="1"/>
          <p:nvPr/>
        </p:nvSpPr>
        <p:spPr>
          <a:xfrm>
            <a:off x="3624890" y="664276"/>
            <a:ext cx="43639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National Response Centre For Cyber Crime 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(NRC3)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A503B7-1C47-EDB8-A053-C6DD43732D66}"/>
              </a:ext>
            </a:extLst>
          </p:cNvPr>
          <p:cNvSpPr txBox="1"/>
          <p:nvPr/>
        </p:nvSpPr>
        <p:spPr>
          <a:xfrm>
            <a:off x="-88791" y="3685345"/>
            <a:ext cx="43639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Federal Investigation Agency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(FIA)</a:t>
            </a:r>
          </a:p>
        </p:txBody>
      </p:sp>
    </p:spTree>
    <p:extLst>
      <p:ext uri="{BB962C8B-B14F-4D97-AF65-F5344CB8AC3E}">
        <p14:creationId xmlns:p14="http://schemas.microsoft.com/office/powerpoint/2010/main" val="973909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27D3-83B9-E36F-0DC0-BEAF5480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8F5030-791C-992B-03E2-1A77852C7F6E}"/>
              </a:ext>
            </a:extLst>
          </p:cNvPr>
          <p:cNvSpPr txBox="1"/>
          <p:nvPr/>
        </p:nvSpPr>
        <p:spPr>
          <a:xfrm>
            <a:off x="1290320" y="4780800"/>
            <a:ext cx="10027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National Cyber Crime Investigation Agency (NCCIA)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F1E2A5-85B5-6CCC-4A25-5637E7A0F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4" y="2492174"/>
            <a:ext cx="73738" cy="312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 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2918C8-1135-3887-4D3A-51F16FC6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F65D66-0E5D-E968-6F33-CD07AD58CF95}"/>
              </a:ext>
            </a:extLst>
          </p:cNvPr>
          <p:cNvSpPr txBox="1"/>
          <p:nvPr/>
        </p:nvSpPr>
        <p:spPr>
          <a:xfrm>
            <a:off x="386080" y="6332974"/>
            <a:ext cx="3200400" cy="372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b="1" dirty="0"/>
              <a:t>https://nccia.gov.pk/</a:t>
            </a:r>
          </a:p>
        </p:txBody>
      </p:sp>
    </p:spTree>
    <p:extLst>
      <p:ext uri="{BB962C8B-B14F-4D97-AF65-F5344CB8AC3E}">
        <p14:creationId xmlns:p14="http://schemas.microsoft.com/office/powerpoint/2010/main" val="1231699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A3EAC-5D12-EB5C-6B48-EE18C965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47726F-A938-58A6-0C98-4DE7616A0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4" y="2492174"/>
            <a:ext cx="73738" cy="312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 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5392A-A231-7981-752D-796C9B10A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2" y="124242"/>
            <a:ext cx="9669580" cy="6715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F80C7E-A8A0-DB0C-D7D1-7B59F3B60382}"/>
              </a:ext>
            </a:extLst>
          </p:cNvPr>
          <p:cNvSpPr txBox="1"/>
          <p:nvPr/>
        </p:nvSpPr>
        <p:spPr>
          <a:xfrm rot="5400000">
            <a:off x="9831026" y="2583252"/>
            <a:ext cx="26085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Official 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Announcement 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by FIA</a:t>
            </a:r>
          </a:p>
        </p:txBody>
      </p:sp>
    </p:spTree>
    <p:extLst>
      <p:ext uri="{BB962C8B-B14F-4D97-AF65-F5344CB8AC3E}">
        <p14:creationId xmlns:p14="http://schemas.microsoft.com/office/powerpoint/2010/main" val="2056780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83BA5-FC8B-65B5-13F2-17F7CAA2ABB2}"/>
              </a:ext>
            </a:extLst>
          </p:cNvPr>
          <p:cNvSpPr txBox="1"/>
          <p:nvPr/>
        </p:nvSpPr>
        <p:spPr>
          <a:xfrm>
            <a:off x="1164266" y="268555"/>
            <a:ext cx="9863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National Cyber Crime Investigation Agency (NCCIA)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8BF1A-B618-ED7C-050C-3CEC20951C98}"/>
              </a:ext>
            </a:extLst>
          </p:cNvPr>
          <p:cNvSpPr txBox="1"/>
          <p:nvPr/>
        </p:nvSpPr>
        <p:spPr>
          <a:xfrm>
            <a:off x="599439" y="1090562"/>
            <a:ext cx="1099312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Cyber Crime Investigation Agency (NCCIA)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established under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51 of the Prevention of Electronic Crimes Act (PECA) 2016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the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FIA’s Cyber Crime Wing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primary investigation body for cyber offenses.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agency is headed by a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 General (DG)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appointed by the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government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two-year term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DG must have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15 years of experience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fields like IT, cyber forensics, law, or digital technology.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 NCCIA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holds powers equivalent to an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Inspector General of Police (IGP)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NCCIA operates under the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Interior Division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federal government</a:t>
            </a:r>
            <a:endParaRPr 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42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8E0D0-D701-61B3-D472-304D8FE9081E}"/>
              </a:ext>
            </a:extLst>
          </p:cNvPr>
          <p:cNvSpPr txBox="1"/>
          <p:nvPr/>
        </p:nvSpPr>
        <p:spPr>
          <a:xfrm>
            <a:off x="3368987" y="278715"/>
            <a:ext cx="5256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INTERNET FRAUD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A2262-A3BA-9168-69C2-DCEABEDF8409}"/>
              </a:ext>
            </a:extLst>
          </p:cNvPr>
          <p:cNvSpPr txBox="1"/>
          <p:nvPr/>
        </p:nvSpPr>
        <p:spPr>
          <a:xfrm>
            <a:off x="1031240" y="1226107"/>
            <a:ext cx="1012952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fraud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using the internet to cheat or trick people, usually to steal money or personal data through fake websites, investment offers, or online messages.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types: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investment scams</a:t>
            </a:r>
            <a:r>
              <a:rPr lang="en-US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Online/App-Based Scams</a:t>
            </a:r>
            <a:endParaRPr lang="en-PK" alt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frauds</a:t>
            </a:r>
            <a:r>
              <a:rPr lang="en-US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Whale International Binance Scam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Theft - </a:t>
            </a:r>
            <a:endParaRPr lang="en-PK" alt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company websites</a:t>
            </a:r>
            <a:r>
              <a:rPr lang="en-US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Scams</a:t>
            </a:r>
            <a:endParaRPr lang="en-PK" alt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and Ponzi </a:t>
            </a:r>
            <a:r>
              <a:rPr lang="en-US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PK" altLang="en-P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chemes</a:t>
            </a:r>
            <a:r>
              <a:rPr lang="en-US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B4U Ponzi Case</a:t>
            </a:r>
            <a:endParaRPr lang="en-PK" alt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116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8043D7-0E33-9FD5-0987-51AEB9CD9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16" y="1479044"/>
            <a:ext cx="10425562" cy="53629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primary legislation is the 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Electronic Crimes Act (PECA) 2016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PK" sz="24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Act provides a comprehensive legal framework to define, investigate, and adjudicate various types of cybercrimes. </a:t>
            </a:r>
            <a:endParaRPr kumimoji="0" lang="en-US" altLang="en-PK" sz="24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Provisions and Penalties under PECA 2016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Electronic Fraud (Section 14):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1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Intentionally interfering with or using an information system or </a:t>
            </a: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data, or inducing someone into a relationship or deceiving them for wrongful gain, causing damage or harm.</a:t>
            </a:r>
          </a:p>
          <a:p>
            <a:pPr marR="0" lvl="1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Punishment: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Imprisonment for a term which may extend to 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years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with a fine which may extend to 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 million rupees (PKR 10 million)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both.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39AE09-F2B7-D03E-E808-928164B342DC}"/>
              </a:ext>
            </a:extLst>
          </p:cNvPr>
          <p:cNvSpPr txBox="1"/>
          <p:nvPr/>
        </p:nvSpPr>
        <p:spPr>
          <a:xfrm>
            <a:off x="1387366" y="278715"/>
            <a:ext cx="8607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PAKISTAN LAW ON INTERNET FRAUD</a:t>
            </a:r>
          </a:p>
        </p:txBody>
      </p:sp>
    </p:spTree>
    <p:extLst>
      <p:ext uri="{BB962C8B-B14F-4D97-AF65-F5344CB8AC3E}">
        <p14:creationId xmlns:p14="http://schemas.microsoft.com/office/powerpoint/2010/main" val="2309531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DE52B4-CCF6-8475-F889-14AF2F1AFC51}"/>
              </a:ext>
            </a:extLst>
          </p:cNvPr>
          <p:cNvSpPr txBox="1"/>
          <p:nvPr/>
        </p:nvSpPr>
        <p:spPr>
          <a:xfrm>
            <a:off x="515007" y="1109346"/>
            <a:ext cx="109728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Electronic Forgery (Section 13):</a:t>
            </a:r>
            <a:endParaRPr kumimoji="0" lang="en-PK" altLang="en-PK" sz="26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Using an information system with intent to commit fraud or cause damage/injury, resulting in unauthentic data being treated as authentic.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Punishment: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Imprisonment for up to 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years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with a fine up to 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hundred and fifty thousand rupees (PKR 250,000)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both.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PK" sz="2600" b="1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to Information Systems or Data (Sections 3 &amp; 4):</a:t>
            </a:r>
            <a:endParaRPr kumimoji="0" lang="en-PK" altLang="en-PK" sz="26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Gaining access to any information system or data with dishonest intent and without authorization.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Punishment: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Imprisonment up to 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months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 a fine up to 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fifty thousand rupees (PKR 50,000)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both. For unauthorized copying or transmission of data, the punishment can extend to 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six months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imprisonment or a fine of 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PKR 100,000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both.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03B4A-E5DD-FA37-A18D-3CA205A156EE}"/>
              </a:ext>
            </a:extLst>
          </p:cNvPr>
          <p:cNvSpPr txBox="1"/>
          <p:nvPr/>
        </p:nvSpPr>
        <p:spPr>
          <a:xfrm>
            <a:off x="1376855" y="215653"/>
            <a:ext cx="9375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PAKISTAN LAW ON INTERNET FRAUD</a:t>
            </a:r>
          </a:p>
        </p:txBody>
      </p:sp>
    </p:spTree>
    <p:extLst>
      <p:ext uri="{BB962C8B-B14F-4D97-AF65-F5344CB8AC3E}">
        <p14:creationId xmlns:p14="http://schemas.microsoft.com/office/powerpoint/2010/main" val="360389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44AF2B-55F7-071C-9D43-9F59C1BD3D39}"/>
              </a:ext>
            </a:extLst>
          </p:cNvPr>
          <p:cNvSpPr txBox="1"/>
          <p:nvPr/>
        </p:nvSpPr>
        <p:spPr>
          <a:xfrm>
            <a:off x="772160" y="1859340"/>
            <a:ext cx="10414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use of identity information (Section 16/26):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2800" b="1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Obtaining, selling, or using another person's identity information without authorization, intending to commit fraud.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Punishment: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Imprisonment for a term which may extend to 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years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 a fine which may extend to 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five million rupees (PKR 5 million)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both.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F7F0F-E3F9-8CB8-AD77-52C9F40C9AD6}"/>
              </a:ext>
            </a:extLst>
          </p:cNvPr>
          <p:cNvSpPr txBox="1"/>
          <p:nvPr/>
        </p:nvSpPr>
        <p:spPr>
          <a:xfrm>
            <a:off x="1387366" y="278715"/>
            <a:ext cx="8607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PAKISTAN LAW ON INTERNET FRAUD</a:t>
            </a:r>
          </a:p>
        </p:txBody>
      </p:sp>
    </p:spTree>
    <p:extLst>
      <p:ext uri="{BB962C8B-B14F-4D97-AF65-F5344CB8AC3E}">
        <p14:creationId xmlns:p14="http://schemas.microsoft.com/office/powerpoint/2010/main" val="226636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A638F-EA76-33D0-7BD2-1285E1B13A81}"/>
              </a:ext>
            </a:extLst>
          </p:cNvPr>
          <p:cNvSpPr txBox="1"/>
          <p:nvPr/>
        </p:nvSpPr>
        <p:spPr>
          <a:xfrm>
            <a:off x="2667947" y="227915"/>
            <a:ext cx="5256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Case Study - Pakistan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01522-57E7-A89F-F242-9534B1F4C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45" y="1472392"/>
            <a:ext cx="10164710" cy="36711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E5965-54FD-D697-610D-5F38F6B4E63F}"/>
              </a:ext>
            </a:extLst>
          </p:cNvPr>
          <p:cNvSpPr txBox="1"/>
          <p:nvPr/>
        </p:nvSpPr>
        <p:spPr>
          <a:xfrm>
            <a:off x="1696720" y="5983754"/>
            <a:ext cx="879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>
                <a:hlinkClick r:id="rId3"/>
              </a:rPr>
              <a:t>https://www.dawn.com/news/1933153</a:t>
            </a:r>
            <a:r>
              <a:rPr lang="en-US" dirty="0"/>
              <a:t> - </a:t>
            </a:r>
            <a:r>
              <a:rPr lang="en-US" dirty="0">
                <a:hlinkClick r:id="rId4"/>
              </a:rPr>
              <a:t>https://www.dawn.com/news/1678512</a:t>
            </a:r>
            <a:endParaRPr lang="en-US" dirty="0"/>
          </a:p>
          <a:p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5ABC5-5D97-A98A-6A54-59A886063FF9}"/>
              </a:ext>
            </a:extLst>
          </p:cNvPr>
          <p:cNvSpPr txBox="1"/>
          <p:nvPr/>
        </p:nvSpPr>
        <p:spPr>
          <a:xfrm>
            <a:off x="1721087" y="764506"/>
            <a:ext cx="7652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B4U Online Ponzi Scheme Scam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669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C51C5A-E982-8C5A-5673-AA9D754C27BB}"/>
              </a:ext>
            </a:extLst>
          </p:cNvPr>
          <p:cNvSpPr txBox="1"/>
          <p:nvPr/>
        </p:nvSpPr>
        <p:spPr>
          <a:xfrm>
            <a:off x="2269727" y="514985"/>
            <a:ext cx="7652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B4U Online Ponzi Scheme Scam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CB51B-5F6F-700A-E369-361E7C4AE758}"/>
              </a:ext>
            </a:extLst>
          </p:cNvPr>
          <p:cNvSpPr txBox="1"/>
          <p:nvPr/>
        </p:nvSpPr>
        <p:spPr>
          <a:xfrm>
            <a:off x="965200" y="1571119"/>
            <a:ext cx="10261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B4U Trading Company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Ponzi scheme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in Pakistan.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claimed to invest people’s money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estate, crypto trading, transport, and 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promised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7% monthly profit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but in reality, it was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scheme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17,500 people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invested their money and were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scammed,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total fraud amount was around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 7.3 billion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758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1CA6E2-7059-980D-7268-2285A956B3BF}"/>
              </a:ext>
            </a:extLst>
          </p:cNvPr>
          <p:cNvSpPr txBox="1"/>
          <p:nvPr/>
        </p:nvSpPr>
        <p:spPr>
          <a:xfrm>
            <a:off x="889000" y="1465779"/>
            <a:ext cx="1041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Securities and Exchange Commission of Pakistan (SECP)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received complaints from victims and detected irregularities.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SECP then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the case to the National Accountability Bureau (NAB),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anti-corruption and accountability agency in Pakistan.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NAB launched an inquiry in 2021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traced the company’s assets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froze 56 bank accounts and properties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owned by the accused.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8243F1-69E2-CB38-C228-80F05FBEDDF4}"/>
              </a:ext>
            </a:extLst>
          </p:cNvPr>
          <p:cNvSpPr txBox="1"/>
          <p:nvPr/>
        </p:nvSpPr>
        <p:spPr>
          <a:xfrm>
            <a:off x="2153920" y="278715"/>
            <a:ext cx="7647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B4U Online Ponzi Scheme Scam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813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459F-C282-C1B5-6BD9-834AC982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19E01F-9A03-AC83-8DC3-93DF37A074B6}"/>
              </a:ext>
            </a:extLst>
          </p:cNvPr>
          <p:cNvSpPr txBox="1"/>
          <p:nvPr/>
        </p:nvSpPr>
        <p:spPr>
          <a:xfrm>
            <a:off x="889000" y="1343859"/>
            <a:ext cx="10414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NAB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recovered billions of rupees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scammers.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2025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NAB started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Rs 3.7 billion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about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17,500 victims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 victims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received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refunds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7,500 victims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received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of their money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rest will be given after selling seized properties).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NAB held a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ceremony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Islamabad to distribute cheques and later announced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bank transfers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payments.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F9703A-1450-680C-08C2-9D8D6A27E9D6}"/>
              </a:ext>
            </a:extLst>
          </p:cNvPr>
          <p:cNvSpPr txBox="1"/>
          <p:nvPr/>
        </p:nvSpPr>
        <p:spPr>
          <a:xfrm>
            <a:off x="2153920" y="278715"/>
            <a:ext cx="7647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B4U Online Ponzi Scheme Scam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465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091DCC-E113-BFCC-BF24-F767FE9C51EB}"/>
              </a:ext>
            </a:extLst>
          </p:cNvPr>
          <p:cNvSpPr txBox="1"/>
          <p:nvPr/>
        </p:nvSpPr>
        <p:spPr>
          <a:xfrm>
            <a:off x="1813560" y="207595"/>
            <a:ext cx="8564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Summary - B4U Online Ponzi Scheme Scam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2DC92-0C3C-3BD6-D3ED-61E54D575DE6}"/>
              </a:ext>
            </a:extLst>
          </p:cNvPr>
          <p:cNvSpPr txBox="1"/>
          <p:nvPr/>
        </p:nvSpPr>
        <p:spPr>
          <a:xfrm>
            <a:off x="640080" y="1747580"/>
            <a:ext cx="11074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B4U Group of Companies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ran an 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internet-based investment scam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promising unrealistically high monthly profits to people across Pakistan.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receiving many complaints, the 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National Accountability Bureau (NAB)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began an investigation.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NAB discovered that 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B4U was running a Ponzi scheme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using 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investors’ money to pay earlier ones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instead of generating real business profits.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company’s head, 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Saif-</a:t>
            </a:r>
            <a:r>
              <a:rPr kumimoji="0" lang="en-PK" altLang="en-PK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-Rehman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was arrested.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Later, NAB 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recovered and returned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large amount of money to the </a:t>
            </a: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victims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who had been defrauded</a:t>
            </a:r>
            <a:r>
              <a:rPr kumimoji="0" lang="en-US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097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C9D940-4389-7931-99FA-8BE71D064757}"/>
              </a:ext>
            </a:extLst>
          </p:cNvPr>
          <p:cNvSpPr txBox="1"/>
          <p:nvPr/>
        </p:nvSpPr>
        <p:spPr>
          <a:xfrm>
            <a:off x="487680" y="1348800"/>
            <a:ext cx="1121664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ISLAMABAD: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SECP has concluded adjudication proceedings against 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B4U Group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its sponsors for engaging in illegal deposit-taking and operating pyramid schemes in violation of 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Act, 2017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SECP, fines totaling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Rs4 billion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been imposed on the group.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B4U Group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comprises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registered companies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unincorporated business setups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 established within the past two years.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sponsor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Saif-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-Rehman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his immediate family members, has been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disqualified from holding the position of company director for five years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fined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Rs100 million each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the sponsors have been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barred from incorporating any new companies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the Act.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SECP has also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 the winding up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B4U companies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imposed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penalty of Rs200 million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each of them.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its statement, the SECP reaffirmed its commitment to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public interest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taking strict action against entities involved in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illegal deposit collection, Ponzi, and pyramid schemes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85AD-25BC-6648-B05D-9FA68470BC7E}"/>
              </a:ext>
            </a:extLst>
          </p:cNvPr>
          <p:cNvSpPr txBox="1"/>
          <p:nvPr/>
        </p:nvSpPr>
        <p:spPr>
          <a:xfrm>
            <a:off x="1158240" y="85675"/>
            <a:ext cx="10017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SECP Imposes Rs4 Billion Fine on B4U Group for Illegal Deposit Schemes</a:t>
            </a: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PK" sz="32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02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B6D4C0-B265-C504-1592-EE7060E35128}"/>
              </a:ext>
            </a:extLst>
          </p:cNvPr>
          <p:cNvSpPr txBox="1"/>
          <p:nvPr/>
        </p:nvSpPr>
        <p:spPr>
          <a:xfrm>
            <a:off x="2702560" y="3385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Case Study - Pakistan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902A6-221B-DD92-9CC5-AD22C65EC898}"/>
              </a:ext>
            </a:extLst>
          </p:cNvPr>
          <p:cNvSpPr txBox="1"/>
          <p:nvPr/>
        </p:nvSpPr>
        <p:spPr>
          <a:xfrm>
            <a:off x="822960" y="1413063"/>
            <a:ext cx="98552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How Pakistan’s Crypto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raze has made it a Scammer’s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aradise.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Crypto Exchange Binance in Multi-Million Dollar Scam.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Pakistan’s Web Of Cyber Scammers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Online Banking Scams in Pakistan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Digital Fraud In Pakistan’s Online Apps And Games.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Gilgit housewife loses Rs500,000 in Online Scam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Modaraba Scam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29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“Always verify before you invest online.”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1846</TotalTime>
  <Words>1472</Words>
  <Application>Microsoft Office PowerPoint</Application>
  <PresentationFormat>Widescreen</PresentationFormat>
  <Paragraphs>131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Google Sans</vt:lpstr>
      <vt:lpstr>Rockwell</vt:lpstr>
      <vt:lpstr>Rockwell Condensed</vt:lpstr>
      <vt:lpstr>Times New Roman</vt:lpstr>
      <vt:lpstr>Wingdings</vt:lpstr>
      <vt:lpstr>Wood Type</vt:lpstr>
      <vt:lpstr>Cyber Security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1015</cp:revision>
  <dcterms:created xsi:type="dcterms:W3CDTF">2025-10-15T06:15:30Z</dcterms:created>
  <dcterms:modified xsi:type="dcterms:W3CDTF">2025-11-04T07:34:45Z</dcterms:modified>
</cp:coreProperties>
</file>