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9"/>
  </p:notesMasterIdLst>
  <p:sldIdLst>
    <p:sldId id="256" r:id="rId2"/>
    <p:sldId id="261" r:id="rId3"/>
    <p:sldId id="479" r:id="rId4"/>
    <p:sldId id="488" r:id="rId5"/>
    <p:sldId id="484" r:id="rId6"/>
    <p:sldId id="485" r:id="rId7"/>
    <p:sldId id="486" r:id="rId8"/>
    <p:sldId id="487" r:id="rId9"/>
    <p:sldId id="489" r:id="rId10"/>
    <p:sldId id="490" r:id="rId11"/>
    <p:sldId id="491" r:id="rId12"/>
    <p:sldId id="492" r:id="rId13"/>
    <p:sldId id="493" r:id="rId14"/>
    <p:sldId id="494" r:id="rId15"/>
    <p:sldId id="495" r:id="rId16"/>
    <p:sldId id="496" r:id="rId17"/>
    <p:sldId id="2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3842" autoAdjust="0"/>
  </p:normalViewPr>
  <p:slideViewPr>
    <p:cSldViewPr snapToGrid="0">
      <p:cViewPr varScale="1">
        <p:scale>
          <a:sx n="60" d="100"/>
          <a:sy n="60" d="100"/>
        </p:scale>
        <p:origin x="9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18/01/2026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1/18/2026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st.gov/cybersecurity/what-quantum-cryptography" TargetMode="External"/><Relationship Id="rId2" Type="http://schemas.openxmlformats.org/officeDocument/2006/relationships/hyperlink" Target="https://medium.com/@RocketMeUpCybersecurity/quantum-computings-impact-on-cryptography-the-future-of-encryption-1f8804205d86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ibm.com/think/topics/quantum-cryptography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  <a:endParaRPr lang="en-PK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1366154" y="4468031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# 21 &amp; 22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448" y="37269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2F36A-3A53-922C-C868-BF2D2A9357FE}"/>
              </a:ext>
            </a:extLst>
          </p:cNvPr>
          <p:cNvSpPr txBox="1"/>
          <p:nvPr/>
        </p:nvSpPr>
        <p:spPr>
          <a:xfrm>
            <a:off x="1220724" y="1841242"/>
            <a:ext cx="975055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Public Key (Asymmetric) Encryption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Rivest, Shamir, and Adleman (RSA) with Example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Digital Signature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Cryptography on the Internet (SSL/TLS)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Quantum Computing Cryptography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36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36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19368-0982-CB41-7C00-16FFB9DC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2CCA3-A24F-CCCC-0E8F-F8258E0FD2FF}"/>
              </a:ext>
            </a:extLst>
          </p:cNvPr>
          <p:cNvSpPr txBox="1"/>
          <p:nvPr/>
        </p:nvSpPr>
        <p:spPr>
          <a:xfrm>
            <a:off x="965200" y="174793"/>
            <a:ext cx="1122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Public Key (Asymmetric) Encryption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7856A-EB16-E550-AF5E-6257D0EC0FC0}"/>
              </a:ext>
            </a:extLst>
          </p:cNvPr>
          <p:cNvSpPr txBox="1"/>
          <p:nvPr/>
        </p:nvSpPr>
        <p:spPr>
          <a:xfrm>
            <a:off x="822960" y="1266319"/>
            <a:ext cx="10312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Public-key (asymmetric) encryption uses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different keys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one key is used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message (public key) and another key is used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message (private key). The public key can be shared openly, while the private key must be kept secret.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person wants to send you a secure message, they encrypt it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public 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encrypted, the message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decrypted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public key.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your private 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decrypt the message.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ensures: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communication over insecure networks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8098A1F-E7B4-A569-BB2E-287AC2BF7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152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D5A2A8-702A-C08E-CF50-147625D96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76" y="406955"/>
            <a:ext cx="11939248" cy="604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41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BB3AB-C7A9-0DF5-72F7-E766A0A2B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76BBA1-AACD-84C2-56B1-45B899E8A9C5}"/>
              </a:ext>
            </a:extLst>
          </p:cNvPr>
          <p:cNvSpPr txBox="1"/>
          <p:nvPr/>
        </p:nvSpPr>
        <p:spPr>
          <a:xfrm>
            <a:off x="1625600" y="195113"/>
            <a:ext cx="1122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Uses of Asymmetric Encryption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D4E124-5051-8D06-8664-219024EC8B4A}"/>
              </a:ext>
            </a:extLst>
          </p:cNvPr>
          <p:cNvSpPr txBox="1"/>
          <p:nvPr/>
        </p:nvSpPr>
        <p:spPr>
          <a:xfrm>
            <a:off x="670560" y="1276479"/>
            <a:ext cx="1031240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uses of asymmetric cryptography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for Confidentiality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encrypts data using the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receiver’s public key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receiver can decrypt the data using their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key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communication.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RSA, ElGamal, ECC</a:t>
            </a:r>
          </a:p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Digital Signatures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signs data using their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key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Anyone can verify the signature using the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sender’s public key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authenticity and integrity.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RSA, DSA, ECDSA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3182BC5-2D86-CE00-498C-F14C5B033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398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4BED-E69A-96C1-B92F-3A149668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95D29C-EEA5-54B2-0289-D70EFA4BF1CC}"/>
              </a:ext>
            </a:extLst>
          </p:cNvPr>
          <p:cNvSpPr txBox="1"/>
          <p:nvPr/>
        </p:nvSpPr>
        <p:spPr>
          <a:xfrm>
            <a:off x="2509520" y="156279"/>
            <a:ext cx="7020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Alice and Bob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358F31-4349-1A59-E544-161828AB1DDD}"/>
              </a:ext>
            </a:extLst>
          </p:cNvPr>
          <p:cNvSpPr txBox="1"/>
          <p:nvPr/>
        </p:nvSpPr>
        <p:spPr>
          <a:xfrm>
            <a:off x="939800" y="1306959"/>
            <a:ext cx="108661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commonly uses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 and Bob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example users.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 generates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key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key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 shares his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key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Alice.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 encrypts her message using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Bob’s public key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encrypted message is sent to Bob.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 decrypts the message using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private key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Formula: 2n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everyone in the world has Bob’s public key,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Bob can read the message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only he has the private key.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8CD7843-D9DF-7D4C-2ECF-244E495BF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6E0660-6CA1-0D4D-C7F9-3356271FD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960" y="1673816"/>
            <a:ext cx="2064067" cy="216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02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57678-3AB3-2845-BDC7-9BC471D9A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D42DB0-7D1E-F254-BCAC-9E8D2408A71C}"/>
              </a:ext>
            </a:extLst>
          </p:cNvPr>
          <p:cNvSpPr txBox="1"/>
          <p:nvPr/>
        </p:nvSpPr>
        <p:spPr>
          <a:xfrm>
            <a:off x="2834640" y="247015"/>
            <a:ext cx="7020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Alice and Bob Example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C7A902F-DABA-C3D3-5B6C-204633F99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2F9FF7-4D0E-591C-9718-594AC5866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1078012"/>
            <a:ext cx="846772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47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8B88F-D73C-5642-7718-116F2548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F79ACE-6873-27F9-889E-FE5F9317477D}"/>
              </a:ext>
            </a:extLst>
          </p:cNvPr>
          <p:cNvSpPr txBox="1"/>
          <p:nvPr/>
        </p:nvSpPr>
        <p:spPr>
          <a:xfrm>
            <a:off x="629920" y="235753"/>
            <a:ext cx="11226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Ron Rivest, Adi Shamir, and Len Adleman (RSA)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82BBC-B48B-C05D-422A-6E39B7CD99FA}"/>
              </a:ext>
            </a:extLst>
          </p:cNvPr>
          <p:cNvSpPr txBox="1"/>
          <p:nvPr/>
        </p:nvSpPr>
        <p:spPr>
          <a:xfrm>
            <a:off x="822960" y="1266319"/>
            <a:ext cx="10312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Public-key (asymmetric) encryption uses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different keys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one key is used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message (public key) and another key is used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message (private key). The public key can be shared openly, while the private key must be kept secret.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person wants to send you a secure message, they encrypt it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public 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encrypted, the message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decrypted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public key.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your private 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decrypt the message.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ensures: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communication over insecure networks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B992C92-764C-95BD-A9A5-7E84AC8CD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14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B3A3B-938C-2B29-7CCC-6C763281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E532AA-14D8-ED63-19D8-21A3C6CB7E63}"/>
              </a:ext>
            </a:extLst>
          </p:cNvPr>
          <p:cNvSpPr txBox="1"/>
          <p:nvPr/>
        </p:nvSpPr>
        <p:spPr>
          <a:xfrm>
            <a:off x="3403600" y="323166"/>
            <a:ext cx="477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RSA Mathematics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BE5C74D-A8BE-71A7-1C59-5A8A5512B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DB5E22-F7C9-003D-A98F-061B11B3F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125220"/>
            <a:ext cx="106299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08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43FFA-6124-38AE-205B-5E5C7697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10E885-F277-F5FB-B62D-174D8389C36C}"/>
              </a:ext>
            </a:extLst>
          </p:cNvPr>
          <p:cNvSpPr txBox="1"/>
          <p:nvPr/>
        </p:nvSpPr>
        <p:spPr>
          <a:xfrm>
            <a:off x="3403600" y="323166"/>
            <a:ext cx="477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RSA Mathematics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AD75CB6-55E3-E295-6738-F490A46D8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2C7F5-A3B3-5DB9-FE26-AA5452C04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69" y="323166"/>
            <a:ext cx="10843662" cy="593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64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F66D4-C804-CF8A-8111-DFADABA9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0C2A4888-D741-CC03-DD57-E7DA53C92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E86507-68A6-D489-D2C6-62DC31996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67" y="420127"/>
            <a:ext cx="10553065" cy="617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04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865E-4433-152D-A76B-97BFA0418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2D9F7E27-E7F2-4250-30FB-03994E8BB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886A8-04AB-840D-745A-4C6CA75D6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6" y="402108"/>
            <a:ext cx="10715301" cy="605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35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E1655-B5BA-0A44-CD55-74D5B4A66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29814-F4F7-CBF6-8412-A5FF7DC66518}"/>
              </a:ext>
            </a:extLst>
          </p:cNvPr>
          <p:cNvSpPr txBox="1"/>
          <p:nvPr/>
        </p:nvSpPr>
        <p:spPr>
          <a:xfrm>
            <a:off x="2682240" y="174793"/>
            <a:ext cx="7223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DIGITAL SIGNATURE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43DA2FA-4890-B93A-4D46-17E838DF4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E4B02-4A05-ADD0-9047-D134AB7BCC57}"/>
              </a:ext>
            </a:extLst>
          </p:cNvPr>
          <p:cNvSpPr txBox="1"/>
          <p:nvPr/>
        </p:nvSpPr>
        <p:spPr>
          <a:xfrm>
            <a:off x="670560" y="1205359"/>
            <a:ext cx="103124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used to keep a message secret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it is used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 who sent the message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property is called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nonrepudiation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means the sender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deny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sending the message.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 (Simple Steps)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sender has: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(kept secret)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(shared with everyone)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 (signs)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message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private 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receiver gets the message and the signature.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receiver uses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sender’s public key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decrypt (verify)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message can be decrypted successfully, it proves: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 was sent by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sender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 was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changed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144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9D722-DADB-2C85-77E2-B1E041D3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F8D0EC-51C7-8E38-84C6-AC2299435092}"/>
              </a:ext>
            </a:extLst>
          </p:cNvPr>
          <p:cNvSpPr txBox="1"/>
          <p:nvPr/>
        </p:nvSpPr>
        <p:spPr>
          <a:xfrm>
            <a:off x="1625600" y="195113"/>
            <a:ext cx="1122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800" b="1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0B4720E-DAB9-7283-8531-249687FAC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F997AB-6228-5B77-A3DC-ED7AA8BD7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35" y="1418272"/>
            <a:ext cx="10651466" cy="49113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AF293E-8247-DC10-A1CB-430250B29108}"/>
              </a:ext>
            </a:extLst>
          </p:cNvPr>
          <p:cNvSpPr txBox="1"/>
          <p:nvPr/>
        </p:nvSpPr>
        <p:spPr>
          <a:xfrm>
            <a:off x="2484120" y="323166"/>
            <a:ext cx="7223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DIGITAL SIGNATURE</a:t>
            </a:r>
          </a:p>
        </p:txBody>
      </p:sp>
    </p:spTree>
    <p:extLst>
      <p:ext uri="{BB962C8B-B14F-4D97-AF65-F5344CB8AC3E}">
        <p14:creationId xmlns:p14="http://schemas.microsoft.com/office/powerpoint/2010/main" val="1923758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4621-DFDB-EDB6-AF69-FAB49F262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DB259B-A601-E705-7DE4-9D4063C4858A}"/>
              </a:ext>
            </a:extLst>
          </p:cNvPr>
          <p:cNvSpPr txBox="1"/>
          <p:nvPr/>
        </p:nvSpPr>
        <p:spPr>
          <a:xfrm>
            <a:off x="355928" y="323166"/>
            <a:ext cx="114801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CRYPTOGAPHY ON THE INTERNET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1367F9D-4165-7CFA-FFB2-9C9A75FDE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151AD-0C3C-0303-E8CC-8F8D4D9F05AC}"/>
              </a:ext>
            </a:extLst>
          </p:cNvPr>
          <p:cNvSpPr txBox="1"/>
          <p:nvPr/>
        </p:nvSpPr>
        <p:spPr>
          <a:xfrm>
            <a:off x="670560" y="1235839"/>
            <a:ext cx="103124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and e-commerce websites use </a:t>
            </a: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symmetric and asymmetric encryption</a:t>
            </a:r>
            <a:endParaRPr lang="en-PK" altLang="en-PK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encryption</a:t>
            </a: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fast and used to encrypt actual data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encryption</a:t>
            </a: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</a:t>
            </a: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securely exchange the symmetric key</a:t>
            </a:r>
            <a:endParaRPr lang="en-PK" altLang="en-PK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combination is called </a:t>
            </a: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encryption</a:t>
            </a:r>
            <a:endParaRPr lang="en-PK" altLang="en-PK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 with </a:t>
            </a: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secure</a:t>
            </a:r>
            <a:r>
              <a:rPr lang="en-US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HTTPS stands for </a:t>
            </a: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endParaRPr lang="en-PK" altLang="en-PK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 uses </a:t>
            </a: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 or TLS</a:t>
            </a:r>
            <a:endParaRPr lang="en-PK" altLang="en-PK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</a:t>
            </a: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older; </a:t>
            </a: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TLS</a:t>
            </a: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newer and more secure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SSL/TLS use </a:t>
            </a: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encryption</a:t>
            </a: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key exchange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key exchange, </a:t>
            </a: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encryption</a:t>
            </a: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communication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ensures </a:t>
            </a:r>
            <a:r>
              <a:rPr lang="en-PK" alt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 and security</a:t>
            </a:r>
            <a:r>
              <a:rPr lang="en-PK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online data</a:t>
            </a:r>
            <a:r>
              <a:rPr lang="en-US" alt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PK" altLang="en-PK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315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1C91D-33A8-E3B1-D4D7-3FC2FDE30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E1543F-4143-A0ED-A088-9557DA6EE286}"/>
              </a:ext>
            </a:extLst>
          </p:cNvPr>
          <p:cNvSpPr txBox="1"/>
          <p:nvPr/>
        </p:nvSpPr>
        <p:spPr>
          <a:xfrm>
            <a:off x="1625600" y="195113"/>
            <a:ext cx="1122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800" b="1" dirty="0">
              <a:solidFill>
                <a:srgbClr val="0070C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860366B-94BB-277B-7956-E8C8D4AD4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F02C46-0055-ACCF-F826-96AF2B21601D}"/>
              </a:ext>
            </a:extLst>
          </p:cNvPr>
          <p:cNvSpPr txBox="1"/>
          <p:nvPr/>
        </p:nvSpPr>
        <p:spPr>
          <a:xfrm>
            <a:off x="1056640" y="379779"/>
            <a:ext cx="10556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QUANTUM COMPUTING CRYPTOGRAPHY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312A7-5142-6866-13FA-14F15399708A}"/>
              </a:ext>
            </a:extLst>
          </p:cNvPr>
          <p:cNvSpPr txBox="1"/>
          <p:nvPr/>
        </p:nvSpPr>
        <p:spPr>
          <a:xfrm>
            <a:off x="1351280" y="3292793"/>
            <a:ext cx="96824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Sources: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indent="-342900">
              <a:buFont typeface="+mj-lt"/>
              <a:buAutoNum type="arabicPeriod"/>
            </a:pPr>
            <a:r>
              <a:rPr lang="en-PK" sz="2400" dirty="0">
                <a:solidFill>
                  <a:srgbClr val="CC99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https://medium.com/@RocketMeUpCybersecurity/quantum-computings-impact-on-cryptography-the-future-of-encryption-1f8804205d86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https://www.nist.gov/cybersecurity/what-quantum-cryptography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https://www.ibm.com/think/topics/quantum-cryptography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44008D-DE8D-90CD-BB03-E90AB5C50411}"/>
              </a:ext>
            </a:extLst>
          </p:cNvPr>
          <p:cNvSpPr txBox="1"/>
          <p:nvPr/>
        </p:nvSpPr>
        <p:spPr>
          <a:xfrm>
            <a:off x="934720" y="1626215"/>
            <a:ext cx="97942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“Will quantum computers be powerful enough to break today’s public-key cryptography within the next 10 years, or is this only a myth?”</a:t>
            </a:r>
            <a:endParaRPr 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007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328" y="142594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944880" y="3337560"/>
            <a:ext cx="1053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Quantum Computers be powerful enough to break today’s public-key cryptography </a:t>
            </a:r>
            <a:r>
              <a:rPr lang="en-US" dirty="0"/>
              <a:t>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3474</TotalTime>
  <Words>763</Words>
  <Application>Microsoft Office PowerPoint</Application>
  <PresentationFormat>Widescreen</PresentationFormat>
  <Paragraphs>104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Cyber Security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2202</cp:revision>
  <dcterms:created xsi:type="dcterms:W3CDTF">2025-10-15T06:15:30Z</dcterms:created>
  <dcterms:modified xsi:type="dcterms:W3CDTF">2026-01-18T14:57:42Z</dcterms:modified>
</cp:coreProperties>
</file>