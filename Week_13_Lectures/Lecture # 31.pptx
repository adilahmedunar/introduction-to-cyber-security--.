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notesMasterIdLst>
    <p:notesMasterId r:id="rId29"/>
  </p:notesMasterIdLst>
  <p:sldIdLst>
    <p:sldId id="256" r:id="rId2"/>
    <p:sldId id="261" r:id="rId3"/>
    <p:sldId id="540" r:id="rId4"/>
    <p:sldId id="520" r:id="rId5"/>
    <p:sldId id="541" r:id="rId6"/>
    <p:sldId id="559" r:id="rId7"/>
    <p:sldId id="560" r:id="rId8"/>
    <p:sldId id="544" r:id="rId9"/>
    <p:sldId id="543" r:id="rId10"/>
    <p:sldId id="542" r:id="rId11"/>
    <p:sldId id="521" r:id="rId12"/>
    <p:sldId id="522" r:id="rId13"/>
    <p:sldId id="545" r:id="rId14"/>
    <p:sldId id="546" r:id="rId15"/>
    <p:sldId id="547" r:id="rId16"/>
    <p:sldId id="548" r:id="rId17"/>
    <p:sldId id="549" r:id="rId18"/>
    <p:sldId id="550" r:id="rId19"/>
    <p:sldId id="551" r:id="rId20"/>
    <p:sldId id="552" r:id="rId21"/>
    <p:sldId id="553" r:id="rId22"/>
    <p:sldId id="554" r:id="rId23"/>
    <p:sldId id="556" r:id="rId24"/>
    <p:sldId id="555" r:id="rId25"/>
    <p:sldId id="557" r:id="rId26"/>
    <p:sldId id="558" r:id="rId27"/>
    <p:sldId id="266"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86" autoAdjust="0"/>
    <p:restoredTop sz="93842" autoAdjust="0"/>
  </p:normalViewPr>
  <p:slideViewPr>
    <p:cSldViewPr snapToGrid="0">
      <p:cViewPr varScale="1">
        <p:scale>
          <a:sx n="64" d="100"/>
          <a:sy n="64" d="100"/>
        </p:scale>
        <p:origin x="75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BE7D3E-4D6D-4A9E-AA24-8E11DFA8298B}" type="datetimeFigureOut">
              <a:rPr lang="en-PK" smtClean="0"/>
              <a:t>13/03/2026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A406AE-9E8D-4B19-A8A6-37C9AB1FA076}" type="slidenum">
              <a:rPr lang="en-PK" smtClean="0"/>
              <a:t>‹#›</a:t>
            </a:fld>
            <a:endParaRPr lang="en-PK"/>
          </a:p>
        </p:txBody>
      </p:sp>
    </p:spTree>
    <p:extLst>
      <p:ext uri="{BB962C8B-B14F-4D97-AF65-F5344CB8AC3E}">
        <p14:creationId xmlns:p14="http://schemas.microsoft.com/office/powerpoint/2010/main" val="2438086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39A406AE-9E8D-4B19-A8A6-37C9AB1FA076}" type="slidenum">
              <a:rPr lang="en-PK" smtClean="0"/>
              <a:t>1</a:t>
            </a:fld>
            <a:endParaRPr lang="en-PK"/>
          </a:p>
        </p:txBody>
      </p:sp>
    </p:spTree>
    <p:extLst>
      <p:ext uri="{BB962C8B-B14F-4D97-AF65-F5344CB8AC3E}">
        <p14:creationId xmlns:p14="http://schemas.microsoft.com/office/powerpoint/2010/main" val="3141284625"/>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PK"/>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PK"/>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dirty="0"/>
              <a:t>3/13/2026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dirty="0"/>
              <a:t>3/13/2026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3/13/2026</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PK"/>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PK"/>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dirty="0"/>
              <a:t>3/13/2026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dirty="0"/>
              <a:t>3/13/2026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dirty="0"/>
              <a:t>3/13/2026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3/13/2026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dirty="0"/>
              <a:t>3/13/2026</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PK"/>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a:lstStyle/>
            <a:p>
              <a:endParaRPr lang="en-PK"/>
            </a:p>
          </p:txBody>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dirty="0"/>
              <a:t>3/13/2026</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PK"/>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a:lstStyle/>
            <a:p>
              <a:endParaRPr lang="en-PK"/>
            </a:p>
          </p:txBody>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dirty="0"/>
              <a:t>3/13/2026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dirty="0"/>
              <a:t>3/13/2026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3/13/2026</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PK"/>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PK"/>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hyperlink" Target="https://www.cybersecurityintelligence.com/blog/cyber-attacks-in-modern-warfare-extract-8691.html"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www.fortinet.com/uk/resources/cyberglossary/recent-cyber-attacks" TargetMode="External"/><Relationship Id="rId2" Type="http://schemas.openxmlformats.org/officeDocument/2006/relationships/hyperlink" Target="https://www.fortinet.com/uk/resources/cyberglossary/cyber-espionage"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s://www.google.com/search?q=electronic+warfare&amp;sca_esv=66dcb8b269873eb4&amp;rlz=1C1CHBD_en-GBPK1170PK1171&amp;sxsrf=ANbL-n61dQNjQ4wePdzRujX7Z-KkOt336A:1768284240550&amp;ei=UOBlafmiIbithbIPjPPe8QU&amp;ved=2ahUKEwjm-67K74eSAxULcKQEHUh_I9sQgK4QegYIAQgAEAU&amp;uact=5&amp;oq=information+warfare&amp;gs_lp=Egxnd3Mtd2l6LXNlcnAiE2luZm9ybWF0aW9uIHdhcmZhcmUyCxAAGIAEGJECGIoFMgsQABiABBiRAhiKBTILEAAYgAQYkQIYigUyBRAAGIAEMgUQABiABDIFEAAYgAQyBRAAGIAEMgUQABiABDILEAAYgAQYkQIYigUyBRAAGIAESJ0vUABYui1wA3gBkAEAmAH5AaABlyWqAQYwLjUuMTe4AQPIAQD4AQGYAhmgArcnwgIEECMYJ8ICChAjGIAEGCcYigXCAgoQIxjwBRgnGMkCwgIQEC4YgAQYsQMYQxiDARiKBcICERAuGIAEGJECGNEDGMcBGIoFwgIKEAAYgAQYQxiKBcICCxAAGIAEGLEDGIMBwgINEAAYgAQYsQMYQxiKBcICDRAuGIAEGLEDGEMYigXCAhAQABiABBixAxhDGIMBGIoFwgIEEAAYHsICFhAuGIAEGLEDGNEDGEMYgwEYxwEYigXCAgoQABiABBgUGIcCwgIIEAAYgAQYsQOYAwCSBwYzLjAuMjKgB9aOAbIHBDItMjK4B5MnwgcGMi01LjIwyAfxAYAIAA&amp;sclient=gws-wiz-serp" TargetMode="External"/><Relationship Id="rId2" Type="http://schemas.openxmlformats.org/officeDocument/2006/relationships/hyperlink" Target="https://www.google.com/search?q=cyberwarfare&amp;sca_esv=66dcb8b269873eb4&amp;rlz=1C1CHBD_en-GBPK1170PK1171&amp;sxsrf=ANbL-n61dQNjQ4wePdzRujX7Z-KkOt336A:1768284240550&amp;ei=UOBlafmiIbithbIPjPPe8QU&amp;ved=2ahUKEwjm-67K74eSAxULcKQEHUh_I9sQgK4QegYIAQgAEAQ&amp;uact=5&amp;oq=information+warfare&amp;gs_lp=Egxnd3Mtd2l6LXNlcnAiE2luZm9ybWF0aW9uIHdhcmZhcmUyCxAAGIAEGJECGIoFMgsQABiABBiRAhiKBTILEAAYgAQYkQIYigUyBRAAGIAEMgUQABiABDIFEAAYgAQyBRAAGIAEMgUQABiABDILEAAYgAQYkQIYigUyBRAAGIAESJ0vUABYui1wA3gBkAEAmAH5AaABlyWqAQYwLjUuMTe4AQPIAQD4AQGYAhmgArcnwgIEECMYJ8ICChAjGIAEGCcYigXCAgoQIxjwBRgnGMkCwgIQEC4YgAQYsQMYQxiDARiKBcICERAuGIAEGJECGNEDGMcBGIoFwgIKEAAYgAQYQxiKBcICCxAAGIAEGLEDGIMBwgINEAAYgAQYsQMYQxiKBcICDRAuGIAEGLEDGEMYigXCAhAQABiABBixAxhDGIMBGIoFwgIEEAAYHsICFhAuGIAEGLEDGNEDGEMYgwEYxwEYigXCAgoQABiABBgUGIcCwgIIEAAYgAQYsQOYAwCSBwYzLjAuMjKgB9aOAbIHBDItMjK4B5MnwgcGMi01LjIwyAfxAYAIAA&amp;sclient=gws-wiz-serp" TargetMode="Externa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hyperlink" Target="https://www.google.com/search?q=psychological+operations&amp;sca_esv=66dcb8b269873eb4&amp;rlz=1C1CHBD_en-GBPK1170PK1171&amp;sxsrf=ANbL-n61dQNjQ4wePdzRujX7Z-KkOt336A:1768284240550&amp;ei=UOBlafmiIbithbIPjPPe8QU&amp;ved=2ahUKEwjm-67K74eSAxULcKQEHUh_I9sQgK4QegYIAQgAEAc&amp;uact=5&amp;oq=information+warfare&amp;gs_lp=Egxnd3Mtd2l6LXNlcnAiE2luZm9ybWF0aW9uIHdhcmZhcmUyCxAAGIAEGJECGIoFMgsQABiABBiRAhiKBTILEAAYgAQYkQIYigUyBRAAGIAEMgUQABiABDIFEAAYgAQyBRAAGIAEMgUQABiABDILEAAYgAQYkQIYigUyBRAAGIAESJ0vUABYui1wA3gBkAEAmAH5AaABlyWqAQYwLjUuMTe4AQPIAQD4AQGYAhmgArcnwgIEECMYJ8ICChAjGIAEGCcYigXCAgoQIxjwBRgnGMkCwgIQEC4YgAQYsQMYQxiDARiKBcICERAuGIAEGJECGNEDGMcBGIoFwgIKEAAYgAQYQxiKBcICCxAAGIAEGLEDGIMBwgINEAAYgAQYsQMYQxiKBcICDRAuGIAEGLEDGEMYigXCAhAQABiABBixAxhDGIMBGIoFwgIEEAAYHsICFhAuGIAEGLEDGNEDGEMYgwEYxwEYigXCAgoQABiABBgUGIcCwgIIEAAYgAQYsQOYAwCSBwYzLjAuMjKgB9aOAbIHBDItMjK4B5MnwgcGMi01LjIwyAfxAYAIAA&amp;sclient=gws-wiz-serp" TargetMode="External"/><Relationship Id="rId4" Type="http://schemas.openxmlformats.org/officeDocument/2006/relationships/hyperlink" Target="https://www.google.com/search?q=propaganda&amp;sca_esv=66dcb8b269873eb4&amp;rlz=1C1CHBD_en-GBPK1170PK1171&amp;sxsrf=ANbL-n61dQNjQ4wePdzRujX7Z-KkOt336A:1768284240550&amp;ei=UOBlafmiIbithbIPjPPe8QU&amp;ved=2ahUKEwjm-67K74eSAxULcKQEHUh_I9sQgK4QegYIAQgAEAY&amp;uact=5&amp;oq=information+warfare&amp;gs_lp=Egxnd3Mtd2l6LXNlcnAiE2luZm9ybWF0aW9uIHdhcmZhcmUyCxAAGIAEGJECGIoFMgsQABiABBiRAhiKBTILEAAYgAQYkQIYigUyBRAAGIAEMgUQABiABDIFEAAYgAQyBRAAGIAEMgUQABiABDILEAAYgAQYkQIYigUyBRAAGIAESJ0vUABYui1wA3gBkAEAmAH5AaABlyWqAQYwLjUuMTe4AQPIAQD4AQGYAhmgArcnwgIEECMYJ8ICChAjGIAEGCcYigXCAgoQIxjwBRgnGMkCwgIQEC4YgAQYsQMYQxiDARiKBcICERAuGIAEGJECGNEDGMcBGIoFwgIKEAAYgAQYQxiKBcICCxAAGIAEGLEDGIMBwgINEAAYgAQYsQMYQxiKBcICDRAuGIAEGLEDGEMYigXCAhAQABiABBixAxhDGIMBGIoFwgIEEAAYHsICFhAuGIAEGLEDGNEDGEMYgwEYxwEYigXCAgoQABiABBgUGIcCwgIIEAAYgAQYsQOYAwCSBwYzLjAuMjKgB9aOAbIHBDItMjK4B5MnwgcGMi01LjIwyAfxAYAIAA&amp;sclient=gws-wiz-serp"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ECB6B-98B0-7DD3-973D-99D900F05140}"/>
              </a:ext>
            </a:extLst>
          </p:cNvPr>
          <p:cNvSpPr>
            <a:spLocks noGrp="1"/>
          </p:cNvSpPr>
          <p:nvPr>
            <p:ph type="ctrTitle"/>
          </p:nvPr>
        </p:nvSpPr>
        <p:spPr/>
        <p:txBody>
          <a:bodyPr/>
          <a:lstStyle/>
          <a:p>
            <a:pPr algn="ctr"/>
            <a:r>
              <a:rPr lang="en-US" sz="8000" b="1" dirty="0">
                <a:latin typeface="Times New Roman" panose="02020603050405020304" pitchFamily="18" charset="0"/>
                <a:cs typeface="Times New Roman" panose="02020603050405020304" pitchFamily="18" charset="0"/>
              </a:rPr>
              <a:t>Cyber Security</a:t>
            </a:r>
            <a:endParaRPr lang="en-PK" sz="8000" b="1" dirty="0">
              <a:latin typeface="Times New Roman" panose="02020603050405020304" pitchFamily="18" charset="0"/>
              <a:cs typeface="Times New Roman" panose="02020603050405020304" pitchFamily="18" charset="0"/>
            </a:endParaRPr>
          </a:p>
        </p:txBody>
      </p:sp>
      <p:sp>
        <p:nvSpPr>
          <p:cNvPr id="11" name="Title 1">
            <a:extLst>
              <a:ext uri="{FF2B5EF4-FFF2-40B4-BE49-F238E27FC236}">
                <a16:creationId xmlns:a16="http://schemas.microsoft.com/office/drawing/2014/main" id="{A4B46766-25E3-5BCC-FCFC-68333EE8C7DA}"/>
              </a:ext>
            </a:extLst>
          </p:cNvPr>
          <p:cNvSpPr txBox="1">
            <a:spLocks/>
          </p:cNvSpPr>
          <p:nvPr/>
        </p:nvSpPr>
        <p:spPr>
          <a:xfrm>
            <a:off x="2069084" y="4468031"/>
            <a:ext cx="8053832" cy="1273048"/>
          </a:xfrm>
          <a:prstGeom prst="rect">
            <a:avLst/>
          </a:prstGeom>
        </p:spPr>
        <p:txBody>
          <a:bodyPr vert="horz" lIns="91440" tIns="45720" rIns="91440" bIns="45720" rtlCol="0" anchor="ctr">
            <a:normAutofit/>
          </a:bodyPr>
          <a:lstStyle>
            <a:lvl1pPr algn="l" defTabSz="914400" rtl="0" eaLnBrk="1" latinLnBrk="0" hangingPunct="1">
              <a:lnSpc>
                <a:spcPct val="80000"/>
              </a:lnSpc>
              <a:spcBef>
                <a:spcPct val="0"/>
              </a:spcBef>
              <a:buNone/>
              <a:defRPr sz="9600" kern="1200" cap="all" baseline="0">
                <a:blipFill dpi="0" rotWithShape="1">
                  <a:blip r:embed="rId3"/>
                  <a:srcRect/>
                  <a:tile tx="6350" ty="-127000" sx="65000" sy="64000" flip="none" algn="tl"/>
                </a:blipFill>
                <a:latin typeface="+mj-lt"/>
                <a:ea typeface="+mj-ea"/>
                <a:cs typeface="+mj-cs"/>
              </a:defRPr>
            </a:lvl1pPr>
          </a:lstStyle>
          <a:p>
            <a:r>
              <a:rPr lang="en-US" sz="7200" b="1" dirty="0">
                <a:latin typeface="Times New Roman" panose="02020603050405020304" pitchFamily="18" charset="0"/>
                <a:cs typeface="Times New Roman" panose="02020603050405020304" pitchFamily="18" charset="0"/>
              </a:rPr>
              <a:t>Lecture # 31</a:t>
            </a:r>
            <a:endParaRPr lang="en-PK" sz="7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7502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B506D-D8CE-6C1D-091D-252ED65791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E51294-A245-19C5-6231-4502DD714494}"/>
              </a:ext>
            </a:extLst>
          </p:cNvPr>
          <p:cNvSpPr>
            <a:spLocks noGrp="1"/>
          </p:cNvSpPr>
          <p:nvPr>
            <p:ph type="title"/>
          </p:nvPr>
        </p:nvSpPr>
        <p:spPr>
          <a:xfrm>
            <a:off x="1425448" y="372692"/>
            <a:ext cx="8053832" cy="1273048"/>
          </a:xfrm>
        </p:spPr>
        <p:txBody>
          <a:bodyPr>
            <a:normAutofit/>
          </a:bodyPr>
          <a:lstStyle/>
          <a:p>
            <a:r>
              <a:rPr lang="en-US" b="1" dirty="0">
                <a:latin typeface="Times New Roman" panose="02020603050405020304" pitchFamily="18" charset="0"/>
                <a:cs typeface="Times New Roman" panose="02020603050405020304" pitchFamily="18" charset="0"/>
              </a:rPr>
              <a:t>Lecture Overview</a:t>
            </a:r>
            <a:endParaRPr lang="en-PK"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A32F36A-3A53-922C-C868-BF2D2A9357FE}"/>
              </a:ext>
            </a:extLst>
          </p:cNvPr>
          <p:cNvSpPr txBox="1"/>
          <p:nvPr/>
        </p:nvSpPr>
        <p:spPr>
          <a:xfrm>
            <a:off x="1016000" y="1499030"/>
            <a:ext cx="9750552" cy="2862322"/>
          </a:xfrm>
          <a:prstGeom prst="rect">
            <a:avLst/>
          </a:prstGeom>
          <a:noFill/>
        </p:spPr>
        <p:txBody>
          <a:bodyPr wrap="square">
            <a:spAutoFit/>
          </a:bodyPr>
          <a:lstStyle/>
          <a:p>
            <a:pPr marL="457200" indent="-457200">
              <a:buFont typeface="Wingdings" panose="05000000000000000000" pitchFamily="2" charset="2"/>
              <a:buChar char="§"/>
            </a:pPr>
            <a:r>
              <a:rPr lang="en-US" sz="3600" dirty="0">
                <a:latin typeface="Times New Roman" panose="02020603050405020304" pitchFamily="18" charset="0"/>
                <a:cs typeface="Times New Roman" panose="02020603050405020304" pitchFamily="18" charset="0"/>
              </a:rPr>
              <a:t>Security </a:t>
            </a:r>
            <a:r>
              <a:rPr lang="en-US" sz="3600" dirty="0" smtClean="0">
                <a:latin typeface="Times New Roman" panose="02020603050405020304" pitchFamily="18" charset="0"/>
                <a:cs typeface="Times New Roman" panose="02020603050405020304" pitchFamily="18" charset="0"/>
              </a:rPr>
              <a:t>Policies</a:t>
            </a:r>
          </a:p>
          <a:p>
            <a:pPr marL="457200" indent="-457200">
              <a:buFont typeface="Wingdings" panose="05000000000000000000" pitchFamily="2" charset="2"/>
              <a:buChar char="§"/>
            </a:pPr>
            <a:r>
              <a:rPr lang="en-US" sz="3600" dirty="0" smtClean="0">
                <a:latin typeface="Times New Roman" panose="02020603050405020304" pitchFamily="18" charset="0"/>
                <a:cs typeface="Times New Roman" panose="02020603050405020304" pitchFamily="18" charset="0"/>
              </a:rPr>
              <a:t>Types of Security Policies</a:t>
            </a:r>
          </a:p>
          <a:p>
            <a:pPr marL="457200" indent="-457200">
              <a:buFont typeface="Wingdings" panose="05000000000000000000" pitchFamily="2" charset="2"/>
              <a:buChar char="§"/>
            </a:pPr>
            <a:r>
              <a:rPr lang="en-US" sz="3600" dirty="0" smtClean="0">
                <a:latin typeface="Times New Roman" panose="02020603050405020304" pitchFamily="18" charset="0"/>
                <a:cs typeface="Times New Roman" panose="02020603050405020304" pitchFamily="18" charset="0"/>
              </a:rPr>
              <a:t>Cyber Attacks in Modern Warfare</a:t>
            </a:r>
          </a:p>
          <a:p>
            <a:pPr marL="457200" indent="-457200">
              <a:buFont typeface="Wingdings" panose="05000000000000000000" pitchFamily="2" charset="2"/>
              <a:buChar char="§"/>
            </a:pPr>
            <a:r>
              <a:rPr lang="en-US" sz="3600" dirty="0" smtClean="0">
                <a:latin typeface="Times New Roman" panose="02020603050405020304" pitchFamily="18" charset="0"/>
                <a:cs typeface="Times New Roman" panose="02020603050405020304" pitchFamily="18" charset="0"/>
              </a:rPr>
              <a:t>Actual Cases in Cyber Terrorism</a:t>
            </a:r>
          </a:p>
          <a:p>
            <a:pPr marL="457200" indent="-457200">
              <a:buFont typeface="Wingdings" panose="05000000000000000000" pitchFamily="2" charset="2"/>
              <a:buChar char="§"/>
            </a:pPr>
            <a:r>
              <a:rPr lang="en-US" sz="3600" dirty="0" smtClean="0">
                <a:latin typeface="Times New Roman" panose="02020603050405020304" pitchFamily="18" charset="0"/>
                <a:cs typeface="Times New Roman" panose="02020603050405020304" pitchFamily="18" charset="0"/>
              </a:rPr>
              <a:t>Information Warfare</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2067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24BAA-0671-D02B-09CB-9F72F3BAB15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AE1698A-4A9C-40CD-74CF-7DD1F9C5D267}"/>
              </a:ext>
            </a:extLst>
          </p:cNvPr>
          <p:cNvSpPr txBox="1"/>
          <p:nvPr/>
        </p:nvSpPr>
        <p:spPr>
          <a:xfrm>
            <a:off x="3974035" y="302686"/>
            <a:ext cx="5255025" cy="707886"/>
          </a:xfrm>
          <a:prstGeom prst="rect">
            <a:avLst/>
          </a:prstGeom>
          <a:noFill/>
        </p:spPr>
        <p:txBody>
          <a:bodyPr wrap="square">
            <a:spAutoFit/>
          </a:bodyPr>
          <a:lstStyle/>
          <a:p>
            <a:r>
              <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BACKGROUND</a:t>
            </a:r>
          </a:p>
        </p:txBody>
      </p:sp>
      <p:sp>
        <p:nvSpPr>
          <p:cNvPr id="7" name="TextBox 6">
            <a:extLst>
              <a:ext uri="{FF2B5EF4-FFF2-40B4-BE49-F238E27FC236}">
                <a16:creationId xmlns:a16="http://schemas.microsoft.com/office/drawing/2014/main" id="{7EA671A6-3F2F-222C-C0A5-3F66986F6862}"/>
              </a:ext>
            </a:extLst>
          </p:cNvPr>
          <p:cNvSpPr txBox="1"/>
          <p:nvPr/>
        </p:nvSpPr>
        <p:spPr>
          <a:xfrm>
            <a:off x="1368499" y="1297471"/>
            <a:ext cx="9455002" cy="6093976"/>
          </a:xfrm>
          <a:prstGeom prst="rect">
            <a:avLst/>
          </a:prstGeom>
          <a:noFill/>
        </p:spPr>
        <p:txBody>
          <a:bodyPr wrap="square">
            <a:spAutoFit/>
          </a:bodyPr>
          <a:lstStyle/>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PK" altLang="en-PK"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Technology alone cannot secure a network</a:t>
            </a:r>
            <a:r>
              <a:rPr kumimoji="0" lang="en-US" altLang="en-PK"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PK" altLang="en-PK"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PK" altLang="en-PK"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Human behaviour is a major security risk</a:t>
            </a:r>
            <a:r>
              <a:rPr kumimoji="0" lang="en-US" altLang="en-PK"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PK" altLang="en-PK"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PK" altLang="en-PK"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Policies guide secure behaviour and proper use of technology</a:t>
            </a:r>
            <a:r>
              <a:rPr kumimoji="0" lang="en-US" altLang="en-PK"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PK" altLang="en-PK"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lvl="0" indent="-342900" algn="just" defTabSz="914400" eaLnBrk="0" fontAlgn="base" hangingPunct="0">
              <a:spcBef>
                <a:spcPct val="0"/>
              </a:spcBef>
              <a:spcAft>
                <a:spcPct val="0"/>
              </a:spcAft>
              <a:buFont typeface="Wingdings" panose="05000000000000000000" pitchFamily="2" charset="2"/>
              <a:buChar char="§"/>
            </a:pPr>
            <a:r>
              <a:rPr kumimoji="0" lang="en-PK" altLang="en-PK"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Security policies complement technical controls</a:t>
            </a:r>
            <a:r>
              <a:rPr lang="en-US" altLang="en-PK" sz="2600" dirty="0">
                <a:latin typeface="Times New Roman" panose="02020603050405020304" pitchFamily="18" charset="0"/>
                <a:cs typeface="Times New Roman" panose="02020603050405020304" pitchFamily="18" charset="0"/>
              </a:rPr>
              <a:t>.</a:t>
            </a:r>
          </a:p>
          <a:p>
            <a:pPr marL="342900" lvl="0" indent="-342900" algn="just" defTabSz="914400" eaLnBrk="0" fontAlgn="base" hangingPunct="0">
              <a:spcBef>
                <a:spcPct val="0"/>
              </a:spcBef>
              <a:spcAft>
                <a:spcPct val="0"/>
              </a:spcAft>
              <a:buFont typeface="Wingdings" panose="05000000000000000000" pitchFamily="2" charset="2"/>
              <a:buChar char="§"/>
            </a:pPr>
            <a:r>
              <a:rPr lang="en-PK" altLang="en-PK" sz="2600" dirty="0">
                <a:latin typeface="Times New Roman" panose="02020603050405020304" pitchFamily="18" charset="0"/>
                <a:cs typeface="Times New Roman" panose="02020603050405020304" pitchFamily="18" charset="0"/>
              </a:rPr>
              <a:t>Antivirus cannot stop users from opening malicious files</a:t>
            </a:r>
            <a:r>
              <a:rPr lang="en-US" altLang="en-PK" sz="2600" dirty="0">
                <a:latin typeface="Times New Roman" panose="02020603050405020304" pitchFamily="18" charset="0"/>
                <a:cs typeface="Times New Roman" panose="02020603050405020304" pitchFamily="18" charset="0"/>
              </a:rPr>
              <a:t>.</a:t>
            </a:r>
            <a:endParaRPr lang="en-PK" altLang="en-PK" sz="2600" dirty="0">
              <a:latin typeface="Times New Roman" panose="02020603050405020304" pitchFamily="18" charset="0"/>
              <a:cs typeface="Times New Roman" panose="02020603050405020304" pitchFamily="18" charset="0"/>
            </a:endParaRPr>
          </a:p>
          <a:p>
            <a:pPr marL="342900" lvl="0" indent="-342900" algn="just" defTabSz="914400" eaLnBrk="0" fontAlgn="base" hangingPunct="0">
              <a:spcBef>
                <a:spcPct val="0"/>
              </a:spcBef>
              <a:spcAft>
                <a:spcPct val="0"/>
              </a:spcAft>
              <a:buFont typeface="Wingdings" panose="05000000000000000000" pitchFamily="2" charset="2"/>
              <a:buChar char="§"/>
            </a:pPr>
            <a:r>
              <a:rPr lang="en-PK" altLang="en-PK" sz="2600" dirty="0">
                <a:latin typeface="Times New Roman" panose="02020603050405020304" pitchFamily="18" charset="0"/>
                <a:cs typeface="Times New Roman" panose="02020603050405020304" pitchFamily="18" charset="0"/>
              </a:rPr>
              <a:t>Passwords written on sticky notes weaken security</a:t>
            </a:r>
            <a:r>
              <a:rPr lang="en-US" altLang="en-PK" sz="2600" dirty="0">
                <a:latin typeface="Times New Roman" panose="02020603050405020304" pitchFamily="18" charset="0"/>
                <a:cs typeface="Times New Roman" panose="02020603050405020304" pitchFamily="18" charset="0"/>
              </a:rPr>
              <a:t>.</a:t>
            </a:r>
            <a:endParaRPr lang="en-PK" altLang="en-PK" sz="2600" dirty="0">
              <a:latin typeface="Times New Roman" panose="02020603050405020304" pitchFamily="18" charset="0"/>
              <a:cs typeface="Times New Roman" panose="02020603050405020304" pitchFamily="18" charset="0"/>
            </a:endParaRPr>
          </a:p>
          <a:p>
            <a:pPr marL="342900" lvl="0" indent="-342900" algn="just" defTabSz="914400" eaLnBrk="0" fontAlgn="base" hangingPunct="0">
              <a:spcBef>
                <a:spcPct val="0"/>
              </a:spcBef>
              <a:spcAft>
                <a:spcPct val="0"/>
              </a:spcAft>
              <a:buFont typeface="Wingdings" panose="05000000000000000000" pitchFamily="2" charset="2"/>
              <a:buChar char="§"/>
            </a:pPr>
            <a:r>
              <a:rPr lang="en-PK" altLang="en-PK" sz="2600" dirty="0">
                <a:latin typeface="Times New Roman" panose="02020603050405020304" pitchFamily="18" charset="0"/>
                <a:cs typeface="Times New Roman" panose="02020603050405020304" pitchFamily="18" charset="0"/>
              </a:rPr>
              <a:t>Physical access can compromise secure systems</a:t>
            </a:r>
            <a:r>
              <a:rPr lang="en-US" altLang="en-PK" sz="2600" dirty="0">
                <a:latin typeface="Times New Roman" panose="02020603050405020304" pitchFamily="18" charset="0"/>
                <a:cs typeface="Times New Roman" panose="02020603050405020304" pitchFamily="18" charset="0"/>
              </a:rPr>
              <a:t>.</a:t>
            </a:r>
            <a:endParaRPr lang="en-PK" altLang="en-PK" sz="2600" dirty="0">
              <a:latin typeface="Times New Roman" panose="02020603050405020304" pitchFamily="18" charset="0"/>
              <a:cs typeface="Times New Roman" panose="02020603050405020304" pitchFamily="18" charset="0"/>
            </a:endParaRPr>
          </a:p>
          <a:p>
            <a:pPr marL="342900" lvl="0" indent="-342900" algn="just" defTabSz="914400" eaLnBrk="0" fontAlgn="base" hangingPunct="0">
              <a:spcBef>
                <a:spcPct val="0"/>
              </a:spcBef>
              <a:spcAft>
                <a:spcPct val="0"/>
              </a:spcAft>
              <a:buFont typeface="Wingdings" panose="05000000000000000000" pitchFamily="2" charset="2"/>
              <a:buChar char="§"/>
            </a:pPr>
            <a:r>
              <a:rPr lang="en-PK" altLang="en-PK" sz="2600" dirty="0">
                <a:latin typeface="Times New Roman" panose="02020603050405020304" pitchFamily="18" charset="0"/>
                <a:cs typeface="Times New Roman" panose="02020603050405020304" pitchFamily="18" charset="0"/>
              </a:rPr>
              <a:t>Social engineering bypasses technical </a:t>
            </a:r>
            <a:r>
              <a:rPr lang="en-PK" altLang="en-PK" sz="2600" dirty="0" err="1">
                <a:latin typeface="Times New Roman" panose="02020603050405020304" pitchFamily="18" charset="0"/>
                <a:cs typeface="Times New Roman" panose="02020603050405020304" pitchFamily="18" charset="0"/>
              </a:rPr>
              <a:t>defenses</a:t>
            </a:r>
            <a:r>
              <a:rPr lang="en-US" altLang="en-PK" sz="2600" dirty="0">
                <a:latin typeface="Times New Roman" panose="02020603050405020304" pitchFamily="18" charset="0"/>
                <a:cs typeface="Times New Roman" panose="02020603050405020304" pitchFamily="18" charset="0"/>
              </a:rPr>
              <a:t>.</a:t>
            </a:r>
            <a:endParaRPr lang="en-PK" altLang="en-PK" sz="26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
            </a:pPr>
            <a:r>
              <a:rPr lang="en-US" sz="2600" dirty="0">
                <a:latin typeface="Times New Roman" panose="02020603050405020304" pitchFamily="18" charset="0"/>
                <a:cs typeface="Times New Roman" panose="02020603050405020304" pitchFamily="18" charset="0"/>
              </a:rPr>
              <a:t>Role of Security Policies: define acceptable and unacceptable behavior, guide implementation of security technologies, reduce human error and misuse and ensure consistency across the organization.</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PK"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PK"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PK" altLang="en-PK"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11794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37611-89DA-71AF-D10C-3E4D9813BE2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06BF05B-1DBD-955A-C7B0-99B2E0DADCFF}"/>
              </a:ext>
            </a:extLst>
          </p:cNvPr>
          <p:cNvPicPr>
            <a:picLocks noChangeAspect="1"/>
          </p:cNvPicPr>
          <p:nvPr/>
        </p:nvPicPr>
        <p:blipFill>
          <a:blip r:embed="rId2"/>
          <a:stretch>
            <a:fillRect/>
          </a:stretch>
        </p:blipFill>
        <p:spPr>
          <a:xfrm>
            <a:off x="7296150" y="3652014"/>
            <a:ext cx="4895850" cy="3162300"/>
          </a:xfrm>
          <a:prstGeom prst="rect">
            <a:avLst/>
          </a:prstGeom>
        </p:spPr>
      </p:pic>
      <p:sp>
        <p:nvSpPr>
          <p:cNvPr id="5" name="TextBox 4">
            <a:extLst>
              <a:ext uri="{FF2B5EF4-FFF2-40B4-BE49-F238E27FC236}">
                <a16:creationId xmlns:a16="http://schemas.microsoft.com/office/drawing/2014/main" id="{98071136-3A72-C05B-08F1-95736B920059}"/>
              </a:ext>
            </a:extLst>
          </p:cNvPr>
          <p:cNvSpPr txBox="1"/>
          <p:nvPr/>
        </p:nvSpPr>
        <p:spPr>
          <a:xfrm>
            <a:off x="594122" y="446904"/>
            <a:ext cx="10312400" cy="4154984"/>
          </a:xfrm>
          <a:prstGeom prst="rect">
            <a:avLst/>
          </a:prstGeom>
          <a:noFill/>
        </p:spPr>
        <p:txBody>
          <a:bodyPr wrap="square">
            <a:spAutoFit/>
          </a:bodyPr>
          <a:lstStyle/>
          <a:p>
            <a:pPr marL="342900" indent="-3429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A </a:t>
            </a:r>
            <a:r>
              <a:rPr lang="en-US" sz="2400" b="1" dirty="0">
                <a:latin typeface="Times New Roman" panose="02020603050405020304" pitchFamily="18" charset="0"/>
                <a:cs typeface="Times New Roman" panose="02020603050405020304" pitchFamily="18" charset="0"/>
              </a:rPr>
              <a:t>security policy</a:t>
            </a:r>
            <a:r>
              <a:rPr lang="en-US" sz="2400" dirty="0">
                <a:latin typeface="Times New Roman" panose="02020603050405020304" pitchFamily="18" charset="0"/>
                <a:cs typeface="Times New Roman" panose="02020603050405020304" pitchFamily="18" charset="0"/>
              </a:rPr>
              <a:t> is a formal document that explains how an organization manages and protects its information and systems. It defines rules and guidelines for areas such as user behavior, incident response, and handling security-related issues.</a:t>
            </a:r>
          </a:p>
          <a:p>
            <a:pPr marL="342900" indent="-3429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A </a:t>
            </a:r>
            <a:r>
              <a:rPr lang="en-US" sz="2400" b="1" dirty="0">
                <a:latin typeface="Times New Roman" panose="02020603050405020304" pitchFamily="18" charset="0"/>
                <a:cs typeface="Times New Roman" panose="02020603050405020304" pitchFamily="18" charset="0"/>
              </a:rPr>
              <a:t>policy</a:t>
            </a:r>
            <a:r>
              <a:rPr lang="en-US" sz="2400" dirty="0">
                <a:latin typeface="Times New Roman" panose="02020603050405020304" pitchFamily="18" charset="0"/>
                <a:cs typeface="Times New Roman" panose="02020603050405020304" pitchFamily="18" charset="0"/>
              </a:rPr>
              <a:t> is a formal, written document that defines rules, guidelines, and expectations within an organization. In the context of </a:t>
            </a:r>
            <a:r>
              <a:rPr lang="en-US" sz="2400" b="1" dirty="0">
                <a:latin typeface="Times New Roman" panose="02020603050405020304" pitchFamily="18" charset="0"/>
                <a:cs typeface="Times New Roman" panose="02020603050405020304" pitchFamily="18" charset="0"/>
              </a:rPr>
              <a:t>information security</a:t>
            </a:r>
            <a:r>
              <a:rPr lang="en-US" sz="2400" dirty="0">
                <a:latin typeface="Times New Roman" panose="02020603050405020304" pitchFamily="18" charset="0"/>
                <a:cs typeface="Times New Roman" panose="02020603050405020304" pitchFamily="18" charset="0"/>
              </a:rPr>
              <a:t>, a policy specifies how an organization protects its information assets and how users are expected to behave to maintain security.</a:t>
            </a:r>
          </a:p>
          <a:p>
            <a:pPr marL="342900" indent="-3429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A policy serves as a </a:t>
            </a:r>
            <a:r>
              <a:rPr lang="en-US" sz="2400" b="1" dirty="0">
                <a:latin typeface="Times New Roman" panose="02020603050405020304" pitchFamily="18" charset="0"/>
                <a:cs typeface="Times New Roman" panose="02020603050405020304" pitchFamily="18" charset="0"/>
              </a:rPr>
              <a:t>management directive</a:t>
            </a:r>
            <a:r>
              <a:rPr lang="en-US" sz="2400" dirty="0">
                <a:latin typeface="Times New Roman" panose="02020603050405020304" pitchFamily="18" charset="0"/>
                <a:cs typeface="Times New Roman" panose="02020603050405020304" pitchFamily="18" charset="0"/>
              </a:rPr>
              <a:t> and provides a foundation for standards, procedures, and guidelines.</a:t>
            </a:r>
          </a:p>
          <a:p>
            <a:pPr marL="342900" indent="-342900" algn="just">
              <a:buFont typeface="Wingdings" panose="05000000000000000000" pitchFamily="2" charset="2"/>
              <a:buChar char="ü"/>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47404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2803C-026A-4E13-621D-6C4B66C517B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6C79BD0-A47E-960B-C800-D2F94E10DF90}"/>
              </a:ext>
            </a:extLst>
          </p:cNvPr>
          <p:cNvSpPr txBox="1"/>
          <p:nvPr/>
        </p:nvSpPr>
        <p:spPr>
          <a:xfrm>
            <a:off x="939800" y="1103756"/>
            <a:ext cx="10312400" cy="6001643"/>
          </a:xfrm>
          <a:prstGeom prst="rect">
            <a:avLst/>
          </a:prstGeom>
          <a:noFill/>
        </p:spPr>
        <p:txBody>
          <a:bodyPr wrap="square">
            <a:spAutoFit/>
          </a:bodyPr>
          <a:lstStyle/>
          <a:p>
            <a:pPr marL="457200" indent="-457200"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Security policies can be classified based on </a:t>
            </a:r>
            <a:r>
              <a:rPr lang="en-US" sz="2400" b="1" dirty="0">
                <a:latin typeface="Times New Roman" panose="02020603050405020304" pitchFamily="18" charset="0"/>
                <a:cs typeface="Times New Roman" panose="02020603050405020304" pitchFamily="18" charset="0"/>
              </a:rPr>
              <a:t>enforcement level and purpose</a:t>
            </a:r>
            <a:r>
              <a:rPr lang="en-US" sz="2400" dirty="0">
                <a:latin typeface="Times New Roman" panose="02020603050405020304" pitchFamily="18" charset="0"/>
                <a:cs typeface="Times New Roman" panose="02020603050405020304" pitchFamily="18" charset="0"/>
              </a:rPr>
              <a:t>. The three main types are </a:t>
            </a:r>
            <a:r>
              <a:rPr lang="en-US" sz="2400" b="1" dirty="0">
                <a:latin typeface="Times New Roman" panose="02020603050405020304" pitchFamily="18" charset="0"/>
                <a:cs typeface="Times New Roman" panose="02020603050405020304" pitchFamily="18" charset="0"/>
              </a:rPr>
              <a:t>Mandatory</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Regulatory</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Advisory</a:t>
            </a:r>
            <a:r>
              <a:rPr lang="en-US" sz="2400" dirty="0">
                <a:latin typeface="Times New Roman" panose="02020603050405020304" pitchFamily="18" charset="0"/>
                <a:cs typeface="Times New Roman" panose="02020603050405020304" pitchFamily="18" charset="0"/>
              </a:rPr>
              <a:t> policies.</a:t>
            </a:r>
          </a:p>
          <a:p>
            <a:pPr marL="457200" indent="-457200" algn="just">
              <a:buAutoNum type="arabicPeriod"/>
            </a:pPr>
            <a:r>
              <a:rPr lang="en-US" sz="2400" dirty="0">
                <a:highlight>
                  <a:srgbClr val="FFFF00"/>
                </a:highlight>
                <a:latin typeface="Times New Roman" panose="02020603050405020304" pitchFamily="18" charset="0"/>
                <a:cs typeface="Times New Roman" panose="02020603050405020304" pitchFamily="18" charset="0"/>
              </a:rPr>
              <a:t>Mandatory Policies (Required / Enforced)</a:t>
            </a:r>
          </a:p>
          <a:p>
            <a:pPr lvl="1" algn="just"/>
            <a:r>
              <a:rPr lang="en-US" sz="2400" dirty="0">
                <a:latin typeface="Times New Roman" panose="02020603050405020304" pitchFamily="18" charset="0"/>
                <a:cs typeface="Times New Roman" panose="02020603050405020304" pitchFamily="18" charset="0"/>
              </a:rPr>
              <a:t>Mandatory policies are </a:t>
            </a:r>
            <a:r>
              <a:rPr lang="en-US" sz="2400" b="1" dirty="0">
                <a:latin typeface="Times New Roman" panose="02020603050405020304" pitchFamily="18" charset="0"/>
                <a:cs typeface="Times New Roman" panose="02020603050405020304" pitchFamily="18" charset="0"/>
              </a:rPr>
              <a:t>strictly enforced rules</a:t>
            </a:r>
            <a:r>
              <a:rPr lang="en-US" sz="2400" dirty="0">
                <a:latin typeface="Times New Roman" panose="02020603050405020304" pitchFamily="18" charset="0"/>
                <a:cs typeface="Times New Roman" panose="02020603050405020304" pitchFamily="18" charset="0"/>
              </a:rPr>
              <a:t> that </a:t>
            </a:r>
            <a:r>
              <a:rPr lang="en-US" sz="2400" b="1" dirty="0">
                <a:latin typeface="Times New Roman" panose="02020603050405020304" pitchFamily="18" charset="0"/>
                <a:cs typeface="Times New Roman" panose="02020603050405020304" pitchFamily="18" charset="0"/>
              </a:rPr>
              <a:t>must be followed</a:t>
            </a:r>
            <a:r>
              <a:rPr lang="en-US" sz="2400" dirty="0">
                <a:latin typeface="Times New Roman" panose="02020603050405020304" pitchFamily="18" charset="0"/>
                <a:cs typeface="Times New Roman" panose="02020603050405020304" pitchFamily="18" charset="0"/>
              </a:rPr>
              <a:t> by all users within the organization. Non-compliance may result in disciplinary action.</a:t>
            </a:r>
          </a:p>
          <a:p>
            <a:pPr lvl="1" algn="just"/>
            <a:r>
              <a:rPr lang="en-US" sz="2400" b="1" dirty="0">
                <a:latin typeface="Times New Roman" panose="02020603050405020304" pitchFamily="18" charset="0"/>
                <a:cs typeface="Times New Roman" panose="02020603050405020304" pitchFamily="18" charset="0"/>
              </a:rPr>
              <a:t>Key Characteristics:</a:t>
            </a:r>
            <a:endParaRPr lang="en-US" sz="2400" dirty="0">
              <a:latin typeface="Times New Roman" panose="02020603050405020304" pitchFamily="18" charset="0"/>
              <a:cs typeface="Times New Roman" panose="02020603050405020304" pitchFamily="18" charset="0"/>
            </a:endParaRPr>
          </a:p>
          <a:p>
            <a:pPr marL="800100" lvl="1"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Enforced by management</a:t>
            </a:r>
          </a:p>
          <a:p>
            <a:pPr marL="800100" lvl="1"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Compliance is compulsory</a:t>
            </a:r>
          </a:p>
          <a:p>
            <a:pPr marL="800100" lvl="1"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Violations lead to penalties or corrective action</a:t>
            </a:r>
          </a:p>
          <a:p>
            <a:pPr marL="800100" lvl="1"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Common in high-security environments</a:t>
            </a:r>
          </a:p>
          <a:p>
            <a:pPr lvl="1" algn="just"/>
            <a:r>
              <a:rPr lang="en-US" sz="2400" b="1" dirty="0">
                <a:latin typeface="Times New Roman" panose="02020603050405020304" pitchFamily="18" charset="0"/>
                <a:cs typeface="Times New Roman" panose="02020603050405020304" pitchFamily="18" charset="0"/>
              </a:rPr>
              <a:t>Examples:</a:t>
            </a:r>
            <a:endParaRPr lang="en-US" sz="2400" dirty="0">
              <a:latin typeface="Times New Roman" panose="02020603050405020304" pitchFamily="18" charset="0"/>
              <a:cs typeface="Times New Roman" panose="02020603050405020304" pitchFamily="18" charset="0"/>
            </a:endParaRPr>
          </a:p>
          <a:p>
            <a:pPr marL="800100" lvl="1"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Mandatory password complexity and change policies</a:t>
            </a:r>
          </a:p>
          <a:p>
            <a:pPr marL="800100" lvl="1"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Access control policies (role-based access)</a:t>
            </a:r>
          </a:p>
          <a:p>
            <a:pPr marL="800100" lvl="1"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Data classification and handling rules</a:t>
            </a:r>
          </a:p>
          <a:p>
            <a:pPr algn="just"/>
            <a:endParaRPr lang="en-US" sz="24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21540BD-9815-C2CA-3985-85066A84ECDC}"/>
              </a:ext>
            </a:extLst>
          </p:cNvPr>
          <p:cNvSpPr txBox="1"/>
          <p:nvPr/>
        </p:nvSpPr>
        <p:spPr>
          <a:xfrm>
            <a:off x="2974576" y="79402"/>
            <a:ext cx="7902532" cy="769441"/>
          </a:xfrm>
          <a:prstGeom prst="rect">
            <a:avLst/>
          </a:prstGeom>
          <a:noFill/>
        </p:spPr>
        <p:txBody>
          <a:bodyPr wrap="square">
            <a:spAutoFit/>
          </a:bodyPr>
          <a:lstStyle/>
          <a:p>
            <a:r>
              <a:rPr lang="en-US" sz="44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Types of Security Policies</a:t>
            </a:r>
          </a:p>
        </p:txBody>
      </p:sp>
    </p:spTree>
    <p:extLst>
      <p:ext uri="{BB962C8B-B14F-4D97-AF65-F5344CB8AC3E}">
        <p14:creationId xmlns:p14="http://schemas.microsoft.com/office/powerpoint/2010/main" val="40310059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22695-5F34-7303-1393-AA9F9705064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749045C-689B-6BC3-2A5D-5122CE465397}"/>
              </a:ext>
            </a:extLst>
          </p:cNvPr>
          <p:cNvSpPr txBox="1"/>
          <p:nvPr/>
        </p:nvSpPr>
        <p:spPr>
          <a:xfrm>
            <a:off x="939800" y="992399"/>
            <a:ext cx="10312400" cy="5786199"/>
          </a:xfrm>
          <a:prstGeom prst="rect">
            <a:avLst/>
          </a:prstGeom>
          <a:noFill/>
        </p:spPr>
        <p:txBody>
          <a:bodyPr wrap="square">
            <a:spAutoFit/>
          </a:bodyPr>
          <a:lstStyle/>
          <a:p>
            <a:pPr algn="just"/>
            <a:r>
              <a:rPr lang="en-US" sz="2600" b="1" dirty="0">
                <a:latin typeface="Times New Roman" panose="02020603050405020304" pitchFamily="18" charset="0"/>
                <a:cs typeface="Times New Roman" panose="02020603050405020304" pitchFamily="18" charset="0"/>
              </a:rPr>
              <a:t>2. </a:t>
            </a:r>
            <a:r>
              <a:rPr lang="en-US" sz="2600" dirty="0">
                <a:highlight>
                  <a:srgbClr val="FFFF00"/>
                </a:highlight>
                <a:latin typeface="Times New Roman" panose="02020603050405020304" pitchFamily="18" charset="0"/>
                <a:cs typeface="Times New Roman" panose="02020603050405020304" pitchFamily="18" charset="0"/>
              </a:rPr>
              <a:t>Regulatory Policies (Legal / Compliance-Based)</a:t>
            </a:r>
          </a:p>
          <a:p>
            <a:pPr algn="just"/>
            <a:r>
              <a:rPr lang="en-US" sz="2600" dirty="0">
                <a:latin typeface="Times New Roman" panose="02020603050405020304" pitchFamily="18" charset="0"/>
                <a:cs typeface="Times New Roman" panose="02020603050405020304" pitchFamily="18" charset="0"/>
              </a:rPr>
              <a:t>Regulatory policies are designed to ensure the organization </a:t>
            </a:r>
            <a:r>
              <a:rPr lang="en-US" sz="2600" b="1" dirty="0">
                <a:latin typeface="Times New Roman" panose="02020603050405020304" pitchFamily="18" charset="0"/>
                <a:cs typeface="Times New Roman" panose="02020603050405020304" pitchFamily="18" charset="0"/>
              </a:rPr>
              <a:t>complies with laws, regulations, and industry standards</a:t>
            </a:r>
            <a:r>
              <a:rPr lang="en-US" sz="2600" dirty="0">
                <a:latin typeface="Times New Roman" panose="02020603050405020304" pitchFamily="18" charset="0"/>
                <a:cs typeface="Times New Roman" panose="02020603050405020304" pitchFamily="18" charset="0"/>
              </a:rPr>
              <a:t>.</a:t>
            </a:r>
          </a:p>
          <a:p>
            <a:pPr algn="just"/>
            <a:r>
              <a:rPr lang="en-US" sz="2600" b="1" dirty="0">
                <a:latin typeface="Times New Roman" panose="02020603050405020304" pitchFamily="18" charset="0"/>
                <a:cs typeface="Times New Roman" panose="02020603050405020304" pitchFamily="18" charset="0"/>
              </a:rPr>
              <a:t>Key Characteristics:</a:t>
            </a:r>
            <a:endParaRPr lang="en-US" sz="26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Driven by external legal requirements</a:t>
            </a:r>
          </a:p>
          <a:p>
            <a:pPr marL="457200"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Non-compliance can result in fines, lawsuits, or legal action</a:t>
            </a:r>
          </a:p>
          <a:p>
            <a:pPr marL="457200"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Often audited by regulatory bodies</a:t>
            </a:r>
          </a:p>
          <a:p>
            <a:pPr algn="just"/>
            <a:r>
              <a:rPr lang="en-US" sz="2600" b="1" dirty="0">
                <a:latin typeface="Times New Roman" panose="02020603050405020304" pitchFamily="18" charset="0"/>
                <a:cs typeface="Times New Roman" panose="02020603050405020304" pitchFamily="18" charset="0"/>
              </a:rPr>
              <a:t>Examples:</a:t>
            </a:r>
            <a:endParaRPr lang="en-US" sz="26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Health Insurance Portability and Accountability Act (</a:t>
            </a:r>
            <a:r>
              <a:rPr lang="en-US" sz="2600" b="1" dirty="0">
                <a:latin typeface="Times New Roman" panose="02020603050405020304" pitchFamily="18" charset="0"/>
                <a:cs typeface="Times New Roman" panose="02020603050405020304" pitchFamily="18" charset="0"/>
              </a:rPr>
              <a:t>HIPAA)</a:t>
            </a:r>
            <a:r>
              <a:rPr lang="en-US" sz="2600" dirty="0">
                <a:latin typeface="Times New Roman" panose="02020603050405020304" pitchFamily="18" charset="0"/>
                <a:cs typeface="Times New Roman" panose="02020603050405020304" pitchFamily="18" charset="0"/>
              </a:rPr>
              <a:t> – protects healthcare patient data.</a:t>
            </a:r>
          </a:p>
          <a:p>
            <a:pPr marL="457200"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General Data Protection Regulation </a:t>
            </a:r>
            <a:r>
              <a:rPr lang="en-US" sz="2600" b="1" dirty="0">
                <a:latin typeface="Times New Roman" panose="02020603050405020304" pitchFamily="18" charset="0"/>
                <a:cs typeface="Times New Roman" panose="02020603050405020304" pitchFamily="18" charset="0"/>
              </a:rPr>
              <a:t>(GDPR)</a:t>
            </a:r>
            <a:r>
              <a:rPr lang="en-US" sz="2600" dirty="0">
                <a:latin typeface="Times New Roman" panose="02020603050405020304" pitchFamily="18" charset="0"/>
                <a:cs typeface="Times New Roman" panose="02020603050405020304" pitchFamily="18" charset="0"/>
              </a:rPr>
              <a:t> – governs personal data protection in the EU.</a:t>
            </a:r>
          </a:p>
          <a:p>
            <a:pPr marL="457200"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Payment Card Industry Data Security Standard </a:t>
            </a:r>
            <a:r>
              <a:rPr lang="en-US" sz="2600" b="1" dirty="0">
                <a:latin typeface="Times New Roman" panose="02020603050405020304" pitchFamily="18" charset="0"/>
                <a:cs typeface="Times New Roman" panose="02020603050405020304" pitchFamily="18" charset="0"/>
              </a:rPr>
              <a:t>(PCI-DSS)</a:t>
            </a:r>
            <a:r>
              <a:rPr lang="en-US" sz="2600" dirty="0">
                <a:latin typeface="Times New Roman" panose="02020603050405020304" pitchFamily="18" charset="0"/>
                <a:cs typeface="Times New Roman" panose="02020603050405020304" pitchFamily="18" charset="0"/>
              </a:rPr>
              <a:t> – secures credit and debit card transactions.</a:t>
            </a:r>
          </a:p>
        </p:txBody>
      </p:sp>
      <p:sp>
        <p:nvSpPr>
          <p:cNvPr id="3" name="TextBox 2">
            <a:extLst>
              <a:ext uri="{FF2B5EF4-FFF2-40B4-BE49-F238E27FC236}">
                <a16:creationId xmlns:a16="http://schemas.microsoft.com/office/drawing/2014/main" id="{89680639-92D9-05F8-8F56-8844CE726959}"/>
              </a:ext>
            </a:extLst>
          </p:cNvPr>
          <p:cNvSpPr txBox="1"/>
          <p:nvPr/>
        </p:nvSpPr>
        <p:spPr>
          <a:xfrm>
            <a:off x="2974576" y="79402"/>
            <a:ext cx="7902532" cy="769441"/>
          </a:xfrm>
          <a:prstGeom prst="rect">
            <a:avLst/>
          </a:prstGeom>
          <a:noFill/>
        </p:spPr>
        <p:txBody>
          <a:bodyPr wrap="square">
            <a:spAutoFit/>
          </a:bodyPr>
          <a:lstStyle/>
          <a:p>
            <a:r>
              <a:rPr lang="en-US" sz="44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Types of Security Policies</a:t>
            </a:r>
          </a:p>
        </p:txBody>
      </p:sp>
    </p:spTree>
    <p:extLst>
      <p:ext uri="{BB962C8B-B14F-4D97-AF65-F5344CB8AC3E}">
        <p14:creationId xmlns:p14="http://schemas.microsoft.com/office/powerpoint/2010/main" val="7508397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D07C2-EC1B-D075-5D14-D1EC25D6101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2B5DD21-20BB-D650-FAAA-03D7ACCC3795}"/>
              </a:ext>
            </a:extLst>
          </p:cNvPr>
          <p:cNvSpPr txBox="1"/>
          <p:nvPr/>
        </p:nvSpPr>
        <p:spPr>
          <a:xfrm>
            <a:off x="939800" y="992399"/>
            <a:ext cx="10312400" cy="4493538"/>
          </a:xfrm>
          <a:prstGeom prst="rect">
            <a:avLst/>
          </a:prstGeom>
          <a:noFill/>
        </p:spPr>
        <p:txBody>
          <a:bodyPr wrap="square">
            <a:spAutoFit/>
          </a:bodyPr>
          <a:lstStyle/>
          <a:p>
            <a:r>
              <a:rPr lang="en-US" sz="2600" b="1" dirty="0">
                <a:latin typeface="Times New Roman" panose="02020603050405020304" pitchFamily="18" charset="0"/>
                <a:cs typeface="Times New Roman" panose="02020603050405020304" pitchFamily="18" charset="0"/>
              </a:rPr>
              <a:t>3. </a:t>
            </a:r>
            <a:r>
              <a:rPr lang="en-US" sz="2600" dirty="0">
                <a:highlight>
                  <a:srgbClr val="FFFF00"/>
                </a:highlight>
                <a:latin typeface="Times New Roman" panose="02020603050405020304" pitchFamily="18" charset="0"/>
                <a:cs typeface="Times New Roman" panose="02020603050405020304" pitchFamily="18" charset="0"/>
              </a:rPr>
              <a:t>Advisory Policies (Recommended / Best Practices)</a:t>
            </a:r>
            <a:r>
              <a:rPr lang="en-US" sz="2600" dirty="0">
                <a:latin typeface="Times New Roman" panose="02020603050405020304" pitchFamily="18" charset="0"/>
                <a:cs typeface="Times New Roman" panose="02020603050405020304" pitchFamily="18" charset="0"/>
              </a:rPr>
              <a:t/>
            </a:r>
            <a:br>
              <a:rPr lang="en-US" sz="2600" dirty="0">
                <a:latin typeface="Times New Roman" panose="02020603050405020304" pitchFamily="18" charset="0"/>
                <a:cs typeface="Times New Roman" panose="02020603050405020304" pitchFamily="18" charset="0"/>
              </a:rPr>
            </a:br>
            <a:r>
              <a:rPr lang="en-US" sz="2600" dirty="0">
                <a:latin typeface="Times New Roman" panose="02020603050405020304" pitchFamily="18" charset="0"/>
                <a:cs typeface="Times New Roman" panose="02020603050405020304" pitchFamily="18" charset="0"/>
              </a:rPr>
              <a:t>Advisory policies provide </a:t>
            </a:r>
            <a:r>
              <a:rPr lang="en-US" sz="2600" b="1" dirty="0">
                <a:latin typeface="Times New Roman" panose="02020603050405020304" pitchFamily="18" charset="0"/>
                <a:cs typeface="Times New Roman" panose="02020603050405020304" pitchFamily="18" charset="0"/>
              </a:rPr>
              <a:t>guidelines and recommendations</a:t>
            </a:r>
            <a:r>
              <a:rPr lang="en-US" sz="2600" dirty="0">
                <a:latin typeface="Times New Roman" panose="02020603050405020304" pitchFamily="18" charset="0"/>
                <a:cs typeface="Times New Roman" panose="02020603050405020304" pitchFamily="18" charset="0"/>
              </a:rPr>
              <a:t> but do </a:t>
            </a:r>
            <a:r>
              <a:rPr lang="en-US" sz="2600" b="1" dirty="0">
                <a:latin typeface="Times New Roman" panose="02020603050405020304" pitchFamily="18" charset="0"/>
                <a:cs typeface="Times New Roman" panose="02020603050405020304" pitchFamily="18" charset="0"/>
              </a:rPr>
              <a:t>not require mandatory compliance</a:t>
            </a:r>
            <a:r>
              <a:rPr lang="en-US" sz="2600" dirty="0">
                <a:latin typeface="Times New Roman" panose="02020603050405020304" pitchFamily="18" charset="0"/>
                <a:cs typeface="Times New Roman" panose="02020603050405020304" pitchFamily="18" charset="0"/>
              </a:rPr>
              <a:t>.</a:t>
            </a:r>
          </a:p>
          <a:p>
            <a:r>
              <a:rPr lang="en-US" sz="2600" b="1" dirty="0">
                <a:latin typeface="Times New Roman" panose="02020603050405020304" pitchFamily="18" charset="0"/>
                <a:cs typeface="Times New Roman" panose="02020603050405020304" pitchFamily="18" charset="0"/>
              </a:rPr>
              <a:t>Key Characteristics:</a:t>
            </a:r>
            <a:endParaRPr lang="en-US" sz="26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Optional to follow</a:t>
            </a:r>
          </a:p>
          <a:p>
            <a:pPr marL="457200" indent="-4572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Focus on awareness and best practices</a:t>
            </a:r>
          </a:p>
          <a:p>
            <a:pPr marL="457200" indent="-4572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No formal penalties for non-compliance</a:t>
            </a:r>
          </a:p>
          <a:p>
            <a:r>
              <a:rPr lang="en-US" sz="2600" b="1" dirty="0">
                <a:latin typeface="Times New Roman" panose="02020603050405020304" pitchFamily="18" charset="0"/>
                <a:cs typeface="Times New Roman" panose="02020603050405020304" pitchFamily="18" charset="0"/>
              </a:rPr>
              <a:t>Examples:</a:t>
            </a:r>
            <a:endParaRPr lang="en-US" sz="26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Advising users to avoid public Wi-Fi for official work</a:t>
            </a:r>
          </a:p>
          <a:p>
            <a:pPr marL="457200"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Recommendations for securing personal devices</a:t>
            </a:r>
          </a:p>
          <a:p>
            <a:pPr marL="457200"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Suggested cybersecurity hygiene practices</a:t>
            </a:r>
          </a:p>
        </p:txBody>
      </p:sp>
      <p:sp>
        <p:nvSpPr>
          <p:cNvPr id="3" name="TextBox 2">
            <a:extLst>
              <a:ext uri="{FF2B5EF4-FFF2-40B4-BE49-F238E27FC236}">
                <a16:creationId xmlns:a16="http://schemas.microsoft.com/office/drawing/2014/main" id="{3943BB8E-9609-8518-9B1D-69E125AB9F77}"/>
              </a:ext>
            </a:extLst>
          </p:cNvPr>
          <p:cNvSpPr txBox="1"/>
          <p:nvPr/>
        </p:nvSpPr>
        <p:spPr>
          <a:xfrm>
            <a:off x="2974576" y="79402"/>
            <a:ext cx="7902532" cy="769441"/>
          </a:xfrm>
          <a:prstGeom prst="rect">
            <a:avLst/>
          </a:prstGeom>
          <a:noFill/>
        </p:spPr>
        <p:txBody>
          <a:bodyPr wrap="square">
            <a:spAutoFit/>
          </a:bodyPr>
          <a:lstStyle/>
          <a:p>
            <a:r>
              <a:rPr lang="en-US" sz="44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Types of Security Policies</a:t>
            </a:r>
          </a:p>
        </p:txBody>
      </p:sp>
    </p:spTree>
    <p:extLst>
      <p:ext uri="{BB962C8B-B14F-4D97-AF65-F5344CB8AC3E}">
        <p14:creationId xmlns:p14="http://schemas.microsoft.com/office/powerpoint/2010/main" val="30316574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43655-634E-C23D-3F70-208855818DA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7506D1C-C617-6377-4C7B-FEA640E6860A}"/>
              </a:ext>
            </a:extLst>
          </p:cNvPr>
          <p:cNvSpPr txBox="1"/>
          <p:nvPr/>
        </p:nvSpPr>
        <p:spPr>
          <a:xfrm>
            <a:off x="854740" y="1465264"/>
            <a:ext cx="10312400" cy="3416320"/>
          </a:xfrm>
          <a:prstGeom prst="rect">
            <a:avLst/>
          </a:prstGeom>
          <a:noFill/>
        </p:spPr>
        <p:txBody>
          <a:bodyPr wrap="square">
            <a:spAutoFit/>
          </a:bodyPr>
          <a:lstStyle/>
          <a:p>
            <a:pPr marL="457200" indent="-457200"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On 27 August 2025, fourteen people, including three children, were killed by cyber drones and dozens more wounded in a heavy overnight Russian bombardment of Kyiv, Ukraine. Ukrainian forces said Russia had fired almost 600 drones and more than 30 ballistic and cruise missiles on the capital in August.</a:t>
            </a:r>
          </a:p>
          <a:p>
            <a:pPr marL="457200" indent="-457200"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wave of missiles came after more than 100,000 Ukrainian homes were left without power by Russian drone attacks on energy infrastructure on Wednesday, 27 August 2025. Another 60,000 consumers were left without power in the central Vinnytsia region in the latest attacks</a:t>
            </a:r>
            <a:endParaRPr lang="en-US" sz="32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9523E9A-D54C-7A86-04B6-9FD0E083FEC3}"/>
              </a:ext>
            </a:extLst>
          </p:cNvPr>
          <p:cNvSpPr txBox="1"/>
          <p:nvPr/>
        </p:nvSpPr>
        <p:spPr>
          <a:xfrm>
            <a:off x="1879421" y="206993"/>
            <a:ext cx="11059161" cy="769441"/>
          </a:xfrm>
          <a:prstGeom prst="rect">
            <a:avLst/>
          </a:prstGeom>
          <a:noFill/>
        </p:spPr>
        <p:txBody>
          <a:bodyPr wrap="square">
            <a:spAutoFit/>
          </a:bodyPr>
          <a:lstStyle/>
          <a:p>
            <a:r>
              <a:rPr lang="en-US" sz="44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Cyber Attacks in Modern Warfare</a:t>
            </a:r>
          </a:p>
        </p:txBody>
      </p:sp>
      <p:sp>
        <p:nvSpPr>
          <p:cNvPr id="4" name="TextBox 3">
            <a:extLst>
              <a:ext uri="{FF2B5EF4-FFF2-40B4-BE49-F238E27FC236}">
                <a16:creationId xmlns:a16="http://schemas.microsoft.com/office/drawing/2014/main" id="{C265F4B8-A56D-ED0E-3B3B-B4BE34B8DFE9}"/>
              </a:ext>
            </a:extLst>
          </p:cNvPr>
          <p:cNvSpPr txBox="1"/>
          <p:nvPr/>
        </p:nvSpPr>
        <p:spPr>
          <a:xfrm>
            <a:off x="566419" y="5657671"/>
            <a:ext cx="11059161" cy="1200329"/>
          </a:xfrm>
          <a:prstGeom prst="rect">
            <a:avLst/>
          </a:prstGeom>
          <a:noFill/>
        </p:spPr>
        <p:txBody>
          <a:bodyPr wrap="square">
            <a:spAutoFit/>
          </a:bodyPr>
          <a:lstStyle/>
          <a:p>
            <a:pPr algn="ctr"/>
            <a:r>
              <a:rPr lang="en-US" b="1" dirty="0"/>
              <a:t>Source</a:t>
            </a:r>
          </a:p>
          <a:p>
            <a:pPr algn="ctr"/>
            <a:r>
              <a:rPr lang="en-PK" b="1" dirty="0">
                <a:solidFill>
                  <a:srgbClr val="00B050"/>
                </a:solidFill>
                <a:hlinkClick r:id="rId2">
                  <a:extLst>
                    <a:ext uri="{A12FA001-AC4F-418D-AE19-62706E023703}">
                      <ahyp:hlinkClr xmlns:ahyp="http://schemas.microsoft.com/office/drawing/2018/hyperlinkcolor" xmlns="" val="tx"/>
                    </a:ext>
                  </a:extLst>
                </a:hlinkClick>
              </a:rPr>
              <a:t>https://www.cybersecurityintelligence.com/blog/cyber-attacks-in-modern-warfare-extract-8691.html</a:t>
            </a:r>
            <a:endParaRPr lang="en-US" b="1" dirty="0">
              <a:solidFill>
                <a:srgbClr val="00B050"/>
              </a:solidFill>
            </a:endParaRPr>
          </a:p>
          <a:p>
            <a:pPr algn="ctr"/>
            <a:endParaRPr lang="en-PK" b="1" dirty="0">
              <a:solidFill>
                <a:srgbClr val="00B050"/>
              </a:solidFill>
            </a:endParaRPr>
          </a:p>
        </p:txBody>
      </p:sp>
    </p:spTree>
    <p:extLst>
      <p:ext uri="{BB962C8B-B14F-4D97-AF65-F5344CB8AC3E}">
        <p14:creationId xmlns:p14="http://schemas.microsoft.com/office/powerpoint/2010/main" val="2983043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5D4F3-15BF-9170-6280-131106ED0CF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9698DC8-7DBB-17F9-03BD-B8A426E912BF}"/>
              </a:ext>
            </a:extLst>
          </p:cNvPr>
          <p:cNvSpPr txBox="1"/>
          <p:nvPr/>
        </p:nvSpPr>
        <p:spPr>
          <a:xfrm>
            <a:off x="849303" y="1348305"/>
            <a:ext cx="10312400" cy="5847755"/>
          </a:xfrm>
          <a:prstGeom prst="rect">
            <a:avLst/>
          </a:prstGeom>
          <a:noFill/>
        </p:spPr>
        <p:txBody>
          <a:bodyPr wrap="square">
            <a:spAutoFit/>
          </a:bodyPr>
          <a:lstStyle/>
          <a:p>
            <a:pPr marL="342900" indent="-342900" algn="just">
              <a:buAutoNum type="arabicPeriod"/>
            </a:pPr>
            <a:r>
              <a:rPr lang="en-US" sz="2200" b="1" dirty="0">
                <a:latin typeface="Times New Roman" panose="02020603050405020304" pitchFamily="18" charset="0"/>
                <a:cs typeface="Times New Roman" panose="02020603050405020304" pitchFamily="18" charset="0"/>
              </a:rPr>
              <a:t>North Korean crypto exchange hacks: </a:t>
            </a:r>
            <a:r>
              <a:rPr lang="en-US" sz="2200" dirty="0">
                <a:latin typeface="Times New Roman" panose="02020603050405020304" pitchFamily="18" charset="0"/>
                <a:cs typeface="Times New Roman" panose="02020603050405020304" pitchFamily="18" charset="0"/>
              </a:rPr>
              <a:t>North Korean hackers stole millions of dollars from crypto platforms in January 2024. The funds were moved through mixing services. The stolen funds were laundered through crypto mixing services to hide their origin. This activity helped finance North Korea’s weapons programs and impacted trust in cryptocurrency platforms.</a:t>
            </a:r>
          </a:p>
          <a:p>
            <a:pPr marL="342900" indent="-342900" algn="just">
              <a:buFontTx/>
              <a:buAutoNum type="arabicPeriod"/>
            </a:pPr>
            <a:r>
              <a:rPr lang="en-US" sz="2200" b="1" dirty="0">
                <a:latin typeface="Times New Roman" panose="02020603050405020304" pitchFamily="18" charset="0"/>
                <a:cs typeface="Times New Roman" panose="02020603050405020304" pitchFamily="18" charset="0"/>
              </a:rPr>
              <a:t>Romania election cyber targeting: </a:t>
            </a:r>
            <a:r>
              <a:rPr lang="en-US" sz="2200" dirty="0">
                <a:latin typeface="Times New Roman" panose="02020603050405020304" pitchFamily="18" charset="0"/>
                <a:cs typeface="Times New Roman" panose="02020603050405020304" pitchFamily="18" charset="0"/>
              </a:rPr>
              <a:t>The attack occurred in December 2024, ahead of Romania’s presidential election. The Russian hackers launched more than 85,000 attacks against election-related systems. The credentials they stole were later leaked on Russian hacker forums. This activity threatened election integrity and public confidence.</a:t>
            </a:r>
          </a:p>
          <a:p>
            <a:pPr marL="342900" indent="-342900" algn="just">
              <a:buFontTx/>
              <a:buAutoNum type="arabicPeriod"/>
            </a:pPr>
            <a:r>
              <a:rPr lang="en-US" sz="2200" b="1" dirty="0">
                <a:latin typeface="Times New Roman" panose="02020603050405020304" pitchFamily="18" charset="0"/>
                <a:cs typeface="Times New Roman" panose="02020603050405020304" pitchFamily="18" charset="0"/>
              </a:rPr>
              <a:t>Salt Typhoon global telecom espionage: </a:t>
            </a:r>
            <a:r>
              <a:rPr lang="en-US" sz="2200" dirty="0">
                <a:latin typeface="Times New Roman" panose="02020603050405020304" pitchFamily="18" charset="0"/>
                <a:cs typeface="Times New Roman" panose="02020603050405020304" pitchFamily="18" charset="0"/>
              </a:rPr>
              <a:t>Chinese hackers infiltrated telecom providers in the U.S. and more than twenty other countries. They gain unauthorized access to call data, surveillance requests, and private communications. The breach enabled long-term intelligence collection on political figures. The campaign was revealed publicly in November 2024.</a:t>
            </a:r>
            <a:endParaRPr lang="en-US" sz="2400" b="1" dirty="0">
              <a:latin typeface="Times New Roman" panose="02020603050405020304" pitchFamily="18" charset="0"/>
              <a:cs typeface="Times New Roman" panose="02020603050405020304" pitchFamily="18" charset="0"/>
            </a:endParaRPr>
          </a:p>
          <a:p>
            <a:pPr algn="just"/>
            <a:endParaRPr lang="en-US" sz="2000" b="1" dirty="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
            </a:pPr>
            <a:endParaRPr lang="en-US" sz="24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E89F9BC-1F0F-9AD5-69ED-AD65C3B43B5E}"/>
              </a:ext>
            </a:extLst>
          </p:cNvPr>
          <p:cNvSpPr txBox="1"/>
          <p:nvPr/>
        </p:nvSpPr>
        <p:spPr>
          <a:xfrm>
            <a:off x="475923" y="206993"/>
            <a:ext cx="11059161" cy="769441"/>
          </a:xfrm>
          <a:prstGeom prst="rect">
            <a:avLst/>
          </a:prstGeom>
          <a:noFill/>
        </p:spPr>
        <p:txBody>
          <a:bodyPr wrap="square">
            <a:spAutoFit/>
          </a:bodyPr>
          <a:lstStyle/>
          <a:p>
            <a:r>
              <a:rPr lang="en-US" sz="44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ACTUAL CASES OF CYBER TERRORISM</a:t>
            </a:r>
          </a:p>
        </p:txBody>
      </p:sp>
    </p:spTree>
    <p:extLst>
      <p:ext uri="{BB962C8B-B14F-4D97-AF65-F5344CB8AC3E}">
        <p14:creationId xmlns:p14="http://schemas.microsoft.com/office/powerpoint/2010/main" val="23378969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D4E8B-C5A8-4388-C8F5-2B61BBD900D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CAA52FB-BBA0-56C0-73E4-D79053FBCE6B}"/>
              </a:ext>
            </a:extLst>
          </p:cNvPr>
          <p:cNvSpPr txBox="1"/>
          <p:nvPr/>
        </p:nvSpPr>
        <p:spPr>
          <a:xfrm>
            <a:off x="849303" y="976434"/>
            <a:ext cx="10312400" cy="6678751"/>
          </a:xfrm>
          <a:prstGeom prst="rect">
            <a:avLst/>
          </a:prstGeom>
          <a:noFill/>
        </p:spPr>
        <p:txBody>
          <a:bodyPr wrap="square">
            <a:spAutoFit/>
          </a:bodyPr>
          <a:lstStyle/>
          <a:p>
            <a:pPr algn="just"/>
            <a:r>
              <a:rPr lang="en-US" sz="2400" b="1" dirty="0">
                <a:latin typeface="Times New Roman" panose="02020603050405020304" pitchFamily="18" charset="0"/>
                <a:cs typeface="Times New Roman" panose="02020603050405020304" pitchFamily="18" charset="0"/>
              </a:rPr>
              <a:t>4. Iranian hack of Israeli Nuclear IT: </a:t>
            </a:r>
            <a:r>
              <a:rPr lang="en-US" sz="2400" dirty="0">
                <a:latin typeface="Times New Roman" panose="02020603050405020304" pitchFamily="18" charset="0"/>
                <a:cs typeface="Times New Roman" panose="02020603050405020304" pitchFamily="18" charset="0"/>
              </a:rPr>
              <a:t>Iranian hackers breached a connected IT network. They leaked sensitive documents online. This incident took place in March 2024. The operational systems remained secure, but the incident heightened regional security and geopolitical tensions.</a:t>
            </a:r>
          </a:p>
          <a:p>
            <a:pPr algn="just"/>
            <a:r>
              <a:rPr lang="en-US" sz="2400" b="1" dirty="0">
                <a:latin typeface="Times New Roman" panose="02020603050405020304" pitchFamily="18" charset="0"/>
                <a:cs typeface="Times New Roman" panose="02020603050405020304" pitchFamily="18" charset="0"/>
              </a:rPr>
              <a:t>5. Russian hijacking of Pakistani hacker infrastructure:</a:t>
            </a:r>
            <a:r>
              <a:rPr lang="en-US" sz="2400" dirty="0">
                <a:latin typeface="Times New Roman" panose="02020603050405020304" pitchFamily="18" charset="0"/>
                <a:cs typeface="Times New Roman" panose="02020603050405020304" pitchFamily="18" charset="0"/>
              </a:rPr>
              <a:t> Russian hackers secretly took control of systems used by a Pakistani hacking group in December 2024. They viewed sensitive data stolen from South Asian government and military targets. The case showed how state actors exploit other cybercriminal groups for intelligence.</a:t>
            </a:r>
          </a:p>
          <a:p>
            <a:pPr algn="just"/>
            <a:r>
              <a:rPr lang="en-US" sz="2400" b="1" dirty="0">
                <a:latin typeface="Times New Roman" panose="02020603050405020304" pitchFamily="18" charset="0"/>
                <a:cs typeface="Times New Roman" panose="02020603050405020304" pitchFamily="18" charset="0"/>
              </a:rPr>
              <a:t>6. Kazakhstan diplomatic </a:t>
            </a:r>
            <a:r>
              <a:rPr lang="en-US" sz="2400" b="1" dirty="0" err="1">
                <a:latin typeface="Times New Roman" panose="02020603050405020304" pitchFamily="18" charset="0"/>
                <a:cs typeface="Times New Roman" panose="02020603050405020304" pitchFamily="18" charset="0"/>
              </a:rPr>
              <a:t>spearphishing</a:t>
            </a:r>
            <a:r>
              <a:rPr lang="en-US" sz="2400" b="1" dirty="0">
                <a:latin typeface="Times New Roman" panose="02020603050405020304" pitchFamily="18" charset="0"/>
                <a:cs typeface="Times New Roman" panose="02020603050405020304" pitchFamily="18" charset="0"/>
              </a:rPr>
              <a:t> attack:</a:t>
            </a:r>
            <a:r>
              <a:rPr lang="en-US" sz="2400" dirty="0">
                <a:latin typeface="Times New Roman" panose="02020603050405020304" pitchFamily="18" charset="0"/>
                <a:cs typeface="Times New Roman" panose="02020603050405020304" pitchFamily="18" charset="0"/>
              </a:rPr>
              <a:t> In January 2025, suspected Russian-linked hackers launched phishing attacks against Kazakhstan’s diplomatic institutions. The hackers embedded malicious code inside fake official-looking diplomatic documents. Their goal was </a:t>
            </a:r>
            <a:r>
              <a:rPr lang="en-US" sz="2400" b="1" dirty="0">
                <a:latin typeface="Times New Roman" panose="02020603050405020304" pitchFamily="18" charset="0"/>
                <a:cs typeface="Times New Roman" panose="02020603050405020304" pitchFamily="18" charset="0"/>
                <a:hlinkClick r:id="rId2"/>
              </a:rPr>
              <a:t>cyber espionage</a:t>
            </a:r>
            <a:r>
              <a:rPr lang="en-US" sz="2400" dirty="0">
                <a:latin typeface="Times New Roman" panose="02020603050405020304" pitchFamily="18" charset="0"/>
                <a:cs typeface="Times New Roman" panose="02020603050405020304" pitchFamily="18" charset="0"/>
              </a:rPr>
              <a:t>, focusing on sensitive foreign policy communications.</a:t>
            </a:r>
          </a:p>
          <a:p>
            <a:pPr algn="ctr"/>
            <a:r>
              <a:rPr lang="en-US" sz="2000" b="1" dirty="0">
                <a:solidFill>
                  <a:srgbClr val="00B050"/>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xmlns="" val="tx"/>
                    </a:ext>
                  </a:extLst>
                </a:hlinkClick>
              </a:rPr>
              <a:t>https://www.fortinet.com/uk/resources/cyberglossary/recent-cyber-attacks</a:t>
            </a:r>
            <a:endParaRPr lang="en-US" sz="2000" b="1" dirty="0">
              <a:solidFill>
                <a:srgbClr val="00B050"/>
              </a:solidFill>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marL="342900" indent="-342900" algn="just">
              <a:buAutoNum type="arabicPeriod"/>
            </a:pPr>
            <a:endParaRPr lang="en-US" sz="2400" b="1" dirty="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
            </a:pPr>
            <a:endParaRPr lang="en-US" sz="24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21CA32D-D291-73E2-E157-0E4767F2FC0D}"/>
              </a:ext>
            </a:extLst>
          </p:cNvPr>
          <p:cNvSpPr txBox="1"/>
          <p:nvPr/>
        </p:nvSpPr>
        <p:spPr>
          <a:xfrm>
            <a:off x="475923" y="206993"/>
            <a:ext cx="11059161" cy="769441"/>
          </a:xfrm>
          <a:prstGeom prst="rect">
            <a:avLst/>
          </a:prstGeom>
          <a:noFill/>
        </p:spPr>
        <p:txBody>
          <a:bodyPr wrap="square">
            <a:spAutoFit/>
          </a:bodyPr>
          <a:lstStyle/>
          <a:p>
            <a:r>
              <a:rPr lang="en-US" sz="44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ACTUAL CASES OF CYBER TERRORISM</a:t>
            </a:r>
          </a:p>
        </p:txBody>
      </p:sp>
    </p:spTree>
    <p:extLst>
      <p:ext uri="{BB962C8B-B14F-4D97-AF65-F5344CB8AC3E}">
        <p14:creationId xmlns:p14="http://schemas.microsoft.com/office/powerpoint/2010/main" val="12466409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26FE4-95E9-ACCE-BEDF-DD72D895351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28A98AD-D2EE-9F08-F4C2-FB562D58C105}"/>
              </a:ext>
            </a:extLst>
          </p:cNvPr>
          <p:cNvSpPr txBox="1"/>
          <p:nvPr/>
        </p:nvSpPr>
        <p:spPr>
          <a:xfrm>
            <a:off x="899160" y="1685950"/>
            <a:ext cx="10312400" cy="3970318"/>
          </a:xfrm>
          <a:prstGeom prst="rect">
            <a:avLst/>
          </a:prstGeom>
          <a:noFill/>
        </p:spPr>
        <p:txBody>
          <a:bodyPr wrap="square">
            <a:spAutoFit/>
          </a:bodyPr>
          <a:lstStyle/>
          <a:p>
            <a:pPr algn="ctr"/>
            <a:r>
              <a:rPr lang="en-US" sz="2800" dirty="0">
                <a:latin typeface="Times New Roman" panose="02020603050405020304" pitchFamily="18" charset="0"/>
                <a:cs typeface="Times New Roman" panose="02020603050405020304" pitchFamily="18" charset="0"/>
              </a:rPr>
              <a:t>Cyber warfare allegations are often based on intelligence assessments, technical indicators, and geopolitical analysis. Attribution is difficult, and examples below are </a:t>
            </a:r>
            <a:r>
              <a:rPr lang="en-US" sz="2800" b="1" dirty="0">
                <a:latin typeface="Times New Roman" panose="02020603050405020304" pitchFamily="18" charset="0"/>
                <a:cs typeface="Times New Roman" panose="02020603050405020304" pitchFamily="18" charset="0"/>
              </a:rPr>
              <a:t>for academic understanding</a:t>
            </a:r>
            <a:r>
              <a:rPr lang="en-US" sz="2800" dirty="0">
                <a:latin typeface="Times New Roman" panose="02020603050405020304" pitchFamily="18" charset="0"/>
                <a:cs typeface="Times New Roman" panose="02020603050405020304" pitchFamily="18" charset="0"/>
              </a:rPr>
              <a:t>, not legal judgments.</a:t>
            </a:r>
          </a:p>
          <a:p>
            <a:pPr marL="457200" indent="-457200">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Pakistan and India - South Asia</a:t>
            </a:r>
          </a:p>
          <a:p>
            <a:pPr marL="457200" indent="-457200">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China and North Korea - East Asia</a:t>
            </a:r>
          </a:p>
          <a:p>
            <a:pPr marL="457200" indent="-457200">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Russia and Ukraine- Eastern Europe / Eurasia</a:t>
            </a:r>
          </a:p>
          <a:p>
            <a:pPr marL="457200" indent="-457200">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Iran and Israel – Middle East</a:t>
            </a:r>
          </a:p>
          <a:p>
            <a:pPr marL="457200" indent="-457200">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USA and UK - West</a:t>
            </a:r>
          </a:p>
        </p:txBody>
      </p:sp>
      <p:sp>
        <p:nvSpPr>
          <p:cNvPr id="3" name="TextBox 2">
            <a:extLst>
              <a:ext uri="{FF2B5EF4-FFF2-40B4-BE49-F238E27FC236}">
                <a16:creationId xmlns:a16="http://schemas.microsoft.com/office/drawing/2014/main" id="{9E20C66A-25B4-50FD-06AF-B31C7DFDA500}"/>
              </a:ext>
            </a:extLst>
          </p:cNvPr>
          <p:cNvSpPr txBox="1"/>
          <p:nvPr/>
        </p:nvSpPr>
        <p:spPr>
          <a:xfrm>
            <a:off x="1168282" y="472807"/>
            <a:ext cx="10454640" cy="830997"/>
          </a:xfrm>
          <a:prstGeom prst="rect">
            <a:avLst/>
          </a:prstGeom>
          <a:noFill/>
        </p:spPr>
        <p:txBody>
          <a:bodyPr wrap="square">
            <a:spAutoFit/>
          </a:bodyPr>
          <a:lstStyle/>
          <a:p>
            <a:r>
              <a:rPr lang="en-US" sz="44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Emerging</a:t>
            </a:r>
            <a:r>
              <a:rPr lang="en-US" sz="4800" dirty="0"/>
              <a:t> </a:t>
            </a:r>
            <a:r>
              <a:rPr lang="en-US" sz="44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Threats in Cyber Warfare</a:t>
            </a:r>
          </a:p>
        </p:txBody>
      </p:sp>
    </p:spTree>
    <p:extLst>
      <p:ext uri="{BB962C8B-B14F-4D97-AF65-F5344CB8AC3E}">
        <p14:creationId xmlns:p14="http://schemas.microsoft.com/office/powerpoint/2010/main" val="15674257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18B20-5961-9592-8C59-E79E43A0C10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8EC1E86-C978-D3B6-9FB7-4C435A42BD31}"/>
              </a:ext>
            </a:extLst>
          </p:cNvPr>
          <p:cNvSpPr txBox="1"/>
          <p:nvPr/>
        </p:nvSpPr>
        <p:spPr>
          <a:xfrm>
            <a:off x="851490" y="1443841"/>
            <a:ext cx="10312400" cy="4832092"/>
          </a:xfrm>
          <a:prstGeom prst="rect">
            <a:avLst/>
          </a:prstGeom>
          <a:noFill/>
        </p:spPr>
        <p:txBody>
          <a:bodyPr wrap="square">
            <a:spAutoFit/>
          </a:bodyPr>
          <a:lstStyle/>
          <a:p>
            <a:pPr marL="342900" indent="-3429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 cyber warfare and cyber terrorism, malware is still the primary weapon. Whether it is spyware, a virus, a Trojan horse, a logic bomb, or some other sort of malware, it is still the malware that is the essential vehicle for conducting a cyber conflict. </a:t>
            </a:r>
          </a:p>
          <a:p>
            <a:pPr marL="457200" indent="-457200" algn="just">
              <a:buAutoNum type="arabicPeriod"/>
            </a:pPr>
            <a:r>
              <a:rPr lang="en-US" sz="2800" b="1" dirty="0">
                <a:latin typeface="Times New Roman" panose="02020603050405020304" pitchFamily="18" charset="0"/>
                <a:cs typeface="Times New Roman" panose="02020603050405020304" pitchFamily="18" charset="0"/>
              </a:rPr>
              <a:t>Stuxnet </a:t>
            </a:r>
            <a:r>
              <a:rPr lang="en-US" sz="2800" dirty="0">
                <a:latin typeface="Times New Roman" panose="02020603050405020304" pitchFamily="18" charset="0"/>
                <a:cs typeface="Times New Roman" panose="02020603050405020304" pitchFamily="18" charset="0"/>
              </a:rPr>
              <a:t>– Weaponized Malware for Sabotage - </a:t>
            </a:r>
            <a:r>
              <a:rPr lang="en-US" sz="2800" b="1" dirty="0">
                <a:latin typeface="Times New Roman" panose="02020603050405020304" pitchFamily="18" charset="0"/>
                <a:cs typeface="Times New Roman" panose="02020603050405020304" pitchFamily="18" charset="0"/>
              </a:rPr>
              <a:t>Sabotage Iran’s Uranium 2009/10</a:t>
            </a:r>
          </a:p>
          <a:p>
            <a:pPr marL="457200" indent="-457200" algn="just">
              <a:buAutoNum type="arabicPeriod"/>
            </a:pPr>
            <a:r>
              <a:rPr lang="en-US" sz="2800" b="1" dirty="0">
                <a:latin typeface="Times New Roman" panose="02020603050405020304" pitchFamily="18" charset="0"/>
                <a:cs typeface="Times New Roman" panose="02020603050405020304" pitchFamily="18" charset="0"/>
              </a:rPr>
              <a:t>Flame</a:t>
            </a:r>
            <a:r>
              <a:rPr lang="en-US" sz="2800" dirty="0">
                <a:latin typeface="Times New Roman" panose="02020603050405020304" pitchFamily="18" charset="0"/>
                <a:cs typeface="Times New Roman" panose="02020603050405020304" pitchFamily="18" charset="0"/>
              </a:rPr>
              <a:t> – Cyber Espionage Tool</a:t>
            </a:r>
          </a:p>
          <a:p>
            <a:pPr marL="457200" indent="-457200" algn="just">
              <a:buAutoNum type="arabicPeriod"/>
            </a:pPr>
            <a:r>
              <a:rPr lang="en-US" sz="2800" b="1" dirty="0">
                <a:latin typeface="Times New Roman" panose="02020603050405020304" pitchFamily="18" charset="0"/>
                <a:cs typeface="Times New Roman" panose="02020603050405020304" pitchFamily="18" charset="0"/>
              </a:rPr>
              <a:t>StopGeorgia.ru Malware </a:t>
            </a:r>
            <a:r>
              <a:rPr lang="en-US" sz="2800" dirty="0">
                <a:latin typeface="Times New Roman" panose="02020603050405020304" pitchFamily="18" charset="0"/>
                <a:cs typeface="Times New Roman" panose="02020603050405020304" pitchFamily="18" charset="0"/>
              </a:rPr>
              <a:t>– Crowd-Sourced Cyber Attacks</a:t>
            </a:r>
          </a:p>
          <a:p>
            <a:pPr marL="457200" indent="-457200" algn="just">
              <a:buAutoNum type="arabicPeriod"/>
            </a:pPr>
            <a:r>
              <a:rPr lang="en-US" sz="2800" b="1" dirty="0" err="1">
                <a:latin typeface="Times New Roman" panose="02020603050405020304" pitchFamily="18" charset="0"/>
                <a:cs typeface="Times New Roman" panose="02020603050405020304" pitchFamily="18" charset="0"/>
              </a:rPr>
              <a:t>FinFisher</a:t>
            </a:r>
            <a:r>
              <a:rPr lang="en-US" sz="2800" dirty="0">
                <a:latin typeface="Times New Roman" panose="02020603050405020304" pitchFamily="18" charset="0"/>
                <a:cs typeface="Times New Roman" panose="02020603050405020304" pitchFamily="18" charset="0"/>
              </a:rPr>
              <a:t> – Surveillance Malware Turned Weapon</a:t>
            </a:r>
          </a:p>
          <a:p>
            <a:pPr marL="457200" indent="-457200" algn="just">
              <a:buAutoNum type="arabicPeriod"/>
            </a:pPr>
            <a:r>
              <a:rPr lang="en-US" sz="2800" b="1" dirty="0" err="1">
                <a:latin typeface="Times New Roman" panose="02020603050405020304" pitchFamily="18" charset="0"/>
                <a:cs typeface="Times New Roman" panose="02020603050405020304" pitchFamily="18" charset="0"/>
              </a:rPr>
              <a:t>BlackEnergy</a:t>
            </a:r>
            <a:r>
              <a:rPr lang="en-US" sz="2800" dirty="0">
                <a:latin typeface="Times New Roman" panose="02020603050405020304" pitchFamily="18" charset="0"/>
                <a:cs typeface="Times New Roman" panose="02020603050405020304" pitchFamily="18" charset="0"/>
              </a:rPr>
              <a:t> – Infrastructure Disruption Malware - Linked to </a:t>
            </a:r>
            <a:r>
              <a:rPr lang="en-US" sz="2800" b="1" dirty="0">
                <a:latin typeface="Times New Roman" panose="02020603050405020304" pitchFamily="18" charset="0"/>
                <a:cs typeface="Times New Roman" panose="02020603050405020304" pitchFamily="18" charset="0"/>
              </a:rPr>
              <a:t>Ukraine power outage 2016.</a:t>
            </a:r>
            <a:endParaRPr lang="en-US" sz="28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04A938E-F010-EFE4-9452-F6F737A87344}"/>
              </a:ext>
            </a:extLst>
          </p:cNvPr>
          <p:cNvSpPr txBox="1"/>
          <p:nvPr/>
        </p:nvSpPr>
        <p:spPr>
          <a:xfrm>
            <a:off x="115777" y="446728"/>
            <a:ext cx="11252200" cy="707886"/>
          </a:xfrm>
          <a:prstGeom prst="rect">
            <a:avLst/>
          </a:prstGeom>
          <a:noFill/>
        </p:spPr>
        <p:txBody>
          <a:bodyPr wrap="square">
            <a:spAutoFit/>
          </a:bodyPr>
          <a:lstStyle/>
          <a:p>
            <a:pPr algn="ctr"/>
            <a:r>
              <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WEAPONS OF CYBER WARFARE</a:t>
            </a:r>
          </a:p>
        </p:txBody>
      </p:sp>
    </p:spTree>
    <p:extLst>
      <p:ext uri="{BB962C8B-B14F-4D97-AF65-F5344CB8AC3E}">
        <p14:creationId xmlns:p14="http://schemas.microsoft.com/office/powerpoint/2010/main" val="33288139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9E167-D409-F183-A47F-ABF557562AD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E7F2E6C-5217-89E0-1F9B-9D53FE48CB59}"/>
              </a:ext>
            </a:extLst>
          </p:cNvPr>
          <p:cNvSpPr txBox="1"/>
          <p:nvPr/>
        </p:nvSpPr>
        <p:spPr>
          <a:xfrm>
            <a:off x="830225" y="1323031"/>
            <a:ext cx="10312400" cy="5262979"/>
          </a:xfrm>
          <a:prstGeom prst="rect">
            <a:avLst/>
          </a:prstGeom>
          <a:noFill/>
        </p:spPr>
        <p:txBody>
          <a:bodyPr wrap="square">
            <a:spAutoFit/>
          </a:bodyPr>
          <a:lstStyle/>
          <a:p>
            <a:pPr marL="457200" indent="-457200">
              <a:buFont typeface="Wingdings" panose="05000000000000000000" pitchFamily="2" charset="2"/>
              <a:buChar char="§"/>
            </a:pPr>
            <a:r>
              <a:rPr lang="en-US" sz="2800" b="1" dirty="0">
                <a:latin typeface="Times New Roman" panose="02020603050405020304" pitchFamily="18" charset="0"/>
                <a:cs typeface="Times New Roman" panose="02020603050405020304" pitchFamily="18" charset="0"/>
              </a:rPr>
              <a:t>Nature</a:t>
            </a:r>
            <a:endParaRPr lang="en-US" sz="2800"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State-sponsored cyber weapon</a:t>
            </a:r>
          </a:p>
          <a:p>
            <a:pPr marL="914400" lvl="1"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First known malware to cause </a:t>
            </a:r>
            <a:r>
              <a:rPr lang="en-US" sz="2800" b="1" dirty="0">
                <a:latin typeface="Times New Roman" panose="02020603050405020304" pitchFamily="18" charset="0"/>
                <a:cs typeface="Times New Roman" panose="02020603050405020304" pitchFamily="18" charset="0"/>
              </a:rPr>
              <a:t>physical damage</a:t>
            </a:r>
            <a:endParaRPr lang="en-US"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
            </a:pPr>
            <a:r>
              <a:rPr lang="en-US" sz="2800" b="1" dirty="0">
                <a:latin typeface="Times New Roman" panose="02020603050405020304" pitchFamily="18" charset="0"/>
                <a:cs typeface="Times New Roman" panose="02020603050405020304" pitchFamily="18" charset="0"/>
              </a:rPr>
              <a:t>Functionality</a:t>
            </a:r>
            <a:endParaRPr lang="en-US" sz="2800"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Spread via USB drives and networks</a:t>
            </a:r>
          </a:p>
          <a:p>
            <a:pPr marL="914400" lvl="1"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Specifically targeted </a:t>
            </a:r>
            <a:r>
              <a:rPr lang="en-US" sz="2800" b="1" dirty="0">
                <a:latin typeface="Times New Roman" panose="02020603050405020304" pitchFamily="18" charset="0"/>
                <a:cs typeface="Times New Roman" panose="02020603050405020304" pitchFamily="18" charset="0"/>
              </a:rPr>
              <a:t>Siemens Step7 PLCs</a:t>
            </a:r>
            <a:endParaRPr lang="en-US" sz="2800"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Altered PLC behavior while hiding changes via a rootkit</a:t>
            </a:r>
          </a:p>
          <a:p>
            <a:pPr marL="457200" indent="-457200">
              <a:buFont typeface="Wingdings" panose="05000000000000000000" pitchFamily="2" charset="2"/>
              <a:buChar char="§"/>
            </a:pPr>
            <a:r>
              <a:rPr lang="en-US" sz="2800" b="1" dirty="0">
                <a:latin typeface="Times New Roman" panose="02020603050405020304" pitchFamily="18" charset="0"/>
                <a:cs typeface="Times New Roman" panose="02020603050405020304" pitchFamily="18" charset="0"/>
              </a:rPr>
              <a:t>Purpose</a:t>
            </a:r>
            <a:endParaRPr lang="en-US" sz="2800"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Sabotage Iran’s uranium enrichment centrifuges</a:t>
            </a:r>
          </a:p>
          <a:p>
            <a:pPr marL="457200" indent="-457200">
              <a:buFont typeface="Wingdings" panose="05000000000000000000" pitchFamily="2" charset="2"/>
              <a:buChar char="§"/>
            </a:pPr>
            <a:r>
              <a:rPr lang="en-US" sz="2800" b="1" dirty="0">
                <a:latin typeface="Times New Roman" panose="02020603050405020304" pitchFamily="18" charset="0"/>
                <a:cs typeface="Times New Roman" panose="02020603050405020304" pitchFamily="18" charset="0"/>
              </a:rPr>
              <a:t>Significance</a:t>
            </a:r>
            <a:endParaRPr lang="en-US" sz="2800"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Demonstrated that malware can destroy </a:t>
            </a:r>
            <a:r>
              <a:rPr lang="en-US" sz="2800" b="1" dirty="0">
                <a:latin typeface="Times New Roman" panose="02020603050405020304" pitchFamily="18" charset="0"/>
                <a:cs typeface="Times New Roman" panose="02020603050405020304" pitchFamily="18" charset="0"/>
              </a:rPr>
              <a:t>industrial systems</a:t>
            </a:r>
            <a:endParaRPr lang="en-US" sz="2800"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Marked the beginning of </a:t>
            </a:r>
            <a:r>
              <a:rPr lang="en-US" sz="2800" b="1" dirty="0">
                <a:latin typeface="Times New Roman" panose="02020603050405020304" pitchFamily="18" charset="0"/>
                <a:cs typeface="Times New Roman" panose="02020603050405020304" pitchFamily="18" charset="0"/>
              </a:rPr>
              <a:t>cyber weapons</a:t>
            </a:r>
            <a:r>
              <a:rPr lang="en-US" sz="2800" dirty="0">
                <a:latin typeface="Times New Roman" panose="02020603050405020304" pitchFamily="18" charset="0"/>
                <a:cs typeface="Times New Roman" panose="02020603050405020304" pitchFamily="18" charset="0"/>
              </a:rPr>
              <a:t> in warfare</a:t>
            </a:r>
          </a:p>
        </p:txBody>
      </p:sp>
      <p:sp>
        <p:nvSpPr>
          <p:cNvPr id="3" name="TextBox 2">
            <a:extLst>
              <a:ext uri="{FF2B5EF4-FFF2-40B4-BE49-F238E27FC236}">
                <a16:creationId xmlns:a16="http://schemas.microsoft.com/office/drawing/2014/main" id="{5696D967-1D3B-8D09-6C13-82AC53F42245}"/>
              </a:ext>
            </a:extLst>
          </p:cNvPr>
          <p:cNvSpPr txBox="1"/>
          <p:nvPr/>
        </p:nvSpPr>
        <p:spPr>
          <a:xfrm>
            <a:off x="606055" y="193710"/>
            <a:ext cx="11252200" cy="707886"/>
          </a:xfrm>
          <a:prstGeom prst="rect">
            <a:avLst/>
          </a:prstGeom>
          <a:noFill/>
        </p:spPr>
        <p:txBody>
          <a:bodyPr wrap="square">
            <a:spAutoFit/>
          </a:bodyPr>
          <a:lstStyle/>
          <a:p>
            <a:pPr algn="ctr"/>
            <a:r>
              <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Stuxnet – Weaponized Malware for Sabotage</a:t>
            </a:r>
          </a:p>
        </p:txBody>
      </p:sp>
      <p:pic>
        <p:nvPicPr>
          <p:cNvPr id="4" name="Picture 3">
            <a:extLst>
              <a:ext uri="{FF2B5EF4-FFF2-40B4-BE49-F238E27FC236}">
                <a16:creationId xmlns:a16="http://schemas.microsoft.com/office/drawing/2014/main" id="{807414ED-E321-ED9B-7EFB-C8EB1D11845F}"/>
              </a:ext>
            </a:extLst>
          </p:cNvPr>
          <p:cNvPicPr>
            <a:picLocks noChangeAspect="1"/>
          </p:cNvPicPr>
          <p:nvPr/>
        </p:nvPicPr>
        <p:blipFill>
          <a:blip r:embed="rId2"/>
          <a:stretch>
            <a:fillRect/>
          </a:stretch>
        </p:blipFill>
        <p:spPr>
          <a:xfrm>
            <a:off x="503866" y="0"/>
            <a:ext cx="2505148" cy="1323031"/>
          </a:xfrm>
          <a:prstGeom prst="rect">
            <a:avLst/>
          </a:prstGeom>
        </p:spPr>
      </p:pic>
    </p:spTree>
    <p:extLst>
      <p:ext uri="{BB962C8B-B14F-4D97-AF65-F5344CB8AC3E}">
        <p14:creationId xmlns:p14="http://schemas.microsoft.com/office/powerpoint/2010/main" val="30012328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C61E3-D233-2606-8D90-D8C7FA480EA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0C6E75A-A76F-1AA0-4D88-79C5BE5EC979}"/>
              </a:ext>
            </a:extLst>
          </p:cNvPr>
          <p:cNvSpPr txBox="1"/>
          <p:nvPr/>
        </p:nvSpPr>
        <p:spPr>
          <a:xfrm>
            <a:off x="798328" y="901596"/>
            <a:ext cx="10312400" cy="5632311"/>
          </a:xfrm>
          <a:prstGeom prst="rect">
            <a:avLst/>
          </a:prstGeom>
          <a:noFill/>
        </p:spPr>
        <p:txBody>
          <a:bodyPr wrap="square">
            <a:spAutoFit/>
          </a:bodyPr>
          <a:lstStyle/>
          <a:p>
            <a:pPr marL="342900" indent="-342900">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Nature</a:t>
            </a:r>
            <a:endParaRPr lang="en-US" sz="2400"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Advanced spyware</a:t>
            </a:r>
          </a:p>
          <a:p>
            <a:pPr marL="800100" lvl="1"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Designed for </a:t>
            </a:r>
            <a:r>
              <a:rPr lang="en-US" sz="2400" b="1" dirty="0">
                <a:latin typeface="Times New Roman" panose="02020603050405020304" pitchFamily="18" charset="0"/>
                <a:cs typeface="Times New Roman" panose="02020603050405020304" pitchFamily="18" charset="0"/>
              </a:rPr>
              <a:t>intelligence gathering</a:t>
            </a:r>
            <a:r>
              <a:rPr lang="en-US" sz="2400" dirty="0">
                <a:latin typeface="Times New Roman" panose="02020603050405020304" pitchFamily="18" charset="0"/>
                <a:cs typeface="Times New Roman" panose="02020603050405020304" pitchFamily="18" charset="0"/>
              </a:rPr>
              <a:t>, not destruction</a:t>
            </a:r>
          </a:p>
          <a:p>
            <a:pPr marL="342900" indent="-342900">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Capabilities</a:t>
            </a:r>
            <a:endParaRPr lang="en-US" sz="2400"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Keylogging</a:t>
            </a:r>
          </a:p>
          <a:p>
            <a:pPr marL="800100" lvl="1"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Network traffic monitoring</a:t>
            </a:r>
          </a:p>
          <a:p>
            <a:pPr marL="800100" lvl="1"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Screenshot capture</a:t>
            </a:r>
          </a:p>
          <a:p>
            <a:pPr marL="800100" lvl="1"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Skype audio recording</a:t>
            </a:r>
          </a:p>
          <a:p>
            <a:pPr marL="800100" lvl="1"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Bluetooth data harvesting</a:t>
            </a:r>
          </a:p>
          <a:p>
            <a:pPr marL="342900" indent="-342900">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Targeting</a:t>
            </a:r>
            <a:endParaRPr lang="en-US" sz="2400"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Concentrated in the Middle East</a:t>
            </a:r>
          </a:p>
          <a:p>
            <a:pPr marL="800100" lvl="1"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Included a remote </a:t>
            </a:r>
            <a:r>
              <a:rPr lang="en-US" sz="2400" b="1" dirty="0">
                <a:latin typeface="Times New Roman" panose="02020603050405020304" pitchFamily="18" charset="0"/>
                <a:cs typeface="Times New Roman" panose="02020603050405020304" pitchFamily="18" charset="0"/>
              </a:rPr>
              <a:t>self-destruct (kill switch)</a:t>
            </a:r>
            <a:endParaRPr lang="en-US"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en-US" sz="2400" b="1" dirty="0">
                <a:latin typeface="Times New Roman" panose="02020603050405020304" pitchFamily="18" charset="0"/>
                <a:cs typeface="Times New Roman" panose="02020603050405020304" pitchFamily="18" charset="0"/>
              </a:rPr>
              <a:t>Significance</a:t>
            </a:r>
            <a:endParaRPr lang="en-US" sz="2400"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Example of </a:t>
            </a:r>
            <a:r>
              <a:rPr lang="en-US" sz="2400" b="1" dirty="0">
                <a:latin typeface="Times New Roman" panose="02020603050405020304" pitchFamily="18" charset="0"/>
                <a:cs typeface="Times New Roman" panose="02020603050405020304" pitchFamily="18" charset="0"/>
              </a:rPr>
              <a:t>covert cyber espionage</a:t>
            </a:r>
            <a:endParaRPr lang="en-US" sz="2400" dirty="0">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Indicates sophisticated, state-level development</a:t>
            </a:r>
          </a:p>
        </p:txBody>
      </p:sp>
      <p:sp>
        <p:nvSpPr>
          <p:cNvPr id="3" name="TextBox 2">
            <a:extLst>
              <a:ext uri="{FF2B5EF4-FFF2-40B4-BE49-F238E27FC236}">
                <a16:creationId xmlns:a16="http://schemas.microsoft.com/office/drawing/2014/main" id="{105EABF0-2856-FBA2-DD81-0137F43A6B22}"/>
              </a:ext>
            </a:extLst>
          </p:cNvPr>
          <p:cNvSpPr txBox="1"/>
          <p:nvPr/>
        </p:nvSpPr>
        <p:spPr>
          <a:xfrm>
            <a:off x="606055" y="193710"/>
            <a:ext cx="11252200" cy="707886"/>
          </a:xfrm>
          <a:prstGeom prst="rect">
            <a:avLst/>
          </a:prstGeom>
          <a:noFill/>
        </p:spPr>
        <p:txBody>
          <a:bodyPr wrap="square">
            <a:spAutoFit/>
          </a:bodyPr>
          <a:lstStyle/>
          <a:p>
            <a:pPr algn="ctr"/>
            <a:r>
              <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Flame – Cyber Espionage Tool</a:t>
            </a:r>
          </a:p>
        </p:txBody>
      </p:sp>
    </p:spTree>
    <p:extLst>
      <p:ext uri="{BB962C8B-B14F-4D97-AF65-F5344CB8AC3E}">
        <p14:creationId xmlns:p14="http://schemas.microsoft.com/office/powerpoint/2010/main" val="35062153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072F4-ABEA-324A-2FCF-865D9992B29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380BD32-E2A2-6A54-D0DE-8709ED26EDB6}"/>
              </a:ext>
            </a:extLst>
          </p:cNvPr>
          <p:cNvSpPr txBox="1"/>
          <p:nvPr/>
        </p:nvSpPr>
        <p:spPr>
          <a:xfrm>
            <a:off x="939800" y="1517149"/>
            <a:ext cx="10312400" cy="4832092"/>
          </a:xfrm>
          <a:prstGeom prst="rect">
            <a:avLst/>
          </a:prstGeom>
          <a:noFill/>
        </p:spPr>
        <p:txBody>
          <a:bodyPr wrap="square">
            <a:spAutoFit/>
          </a:bodyPr>
          <a:lstStyle/>
          <a:p>
            <a:pPr marL="457200" indent="-457200">
              <a:buFont typeface="Wingdings" panose="05000000000000000000" pitchFamily="2" charset="2"/>
              <a:buChar char="§"/>
            </a:pPr>
            <a:r>
              <a:rPr lang="en-US" sz="2800" b="1" dirty="0">
                <a:latin typeface="Times New Roman" panose="02020603050405020304" pitchFamily="18" charset="0"/>
                <a:cs typeface="Times New Roman" panose="02020603050405020304" pitchFamily="18" charset="0"/>
              </a:rPr>
              <a:t>Nature</a:t>
            </a:r>
            <a:endParaRPr lang="en-US" sz="2800" dirty="0">
              <a:latin typeface="Times New Roman" panose="02020603050405020304" pitchFamily="18" charset="0"/>
              <a:cs typeface="Times New Roman" panose="02020603050405020304" pitchFamily="18" charset="0"/>
            </a:endParaRP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Not a single malware, but an </a:t>
            </a:r>
            <a:r>
              <a:rPr lang="en-US" sz="2800" b="1" dirty="0">
                <a:latin typeface="Times New Roman" panose="02020603050405020304" pitchFamily="18" charset="0"/>
                <a:cs typeface="Times New Roman" panose="02020603050405020304" pitchFamily="18" charset="0"/>
              </a:rPr>
              <a:t>attack facilitation platform</a:t>
            </a:r>
            <a:endParaRPr lang="en-US"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
            </a:pPr>
            <a:r>
              <a:rPr lang="en-US" sz="2800" b="1" dirty="0">
                <a:latin typeface="Times New Roman" panose="02020603050405020304" pitchFamily="18" charset="0"/>
                <a:cs typeface="Times New Roman" panose="02020603050405020304" pitchFamily="18" charset="0"/>
              </a:rPr>
              <a:t>Functionality</a:t>
            </a:r>
            <a:endParaRPr lang="en-US" sz="2800" dirty="0">
              <a:latin typeface="Times New Roman" panose="02020603050405020304" pitchFamily="18" charset="0"/>
              <a:cs typeface="Times New Roman" panose="02020603050405020304" pitchFamily="18" charset="0"/>
            </a:endParaRP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Provided tools (e.g., </a:t>
            </a:r>
            <a:r>
              <a:rPr lang="en-US" sz="2800" dirty="0" err="1">
                <a:latin typeface="Times New Roman" panose="02020603050405020304" pitchFamily="18" charset="0"/>
                <a:cs typeface="Times New Roman" panose="02020603050405020304" pitchFamily="18" charset="0"/>
              </a:rPr>
              <a:t>DoSHTTP</a:t>
            </a:r>
            <a:r>
              <a:rPr lang="en-US" sz="2800" dirty="0">
                <a:latin typeface="Times New Roman" panose="02020603050405020304" pitchFamily="18" charset="0"/>
                <a:cs typeface="Times New Roman" panose="02020603050405020304" pitchFamily="18" charset="0"/>
              </a:rPr>
              <a:t>)</a:t>
            </a: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Listed Georgian targets</a:t>
            </a: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Offered proxy servers for anonymity</a:t>
            </a:r>
          </a:p>
          <a:p>
            <a:pPr marL="457200" indent="-457200">
              <a:buFont typeface="Wingdings" panose="05000000000000000000" pitchFamily="2" charset="2"/>
              <a:buChar char="§"/>
            </a:pPr>
            <a:r>
              <a:rPr lang="en-US" sz="2800" b="1" dirty="0">
                <a:latin typeface="Times New Roman" panose="02020603050405020304" pitchFamily="18" charset="0"/>
                <a:cs typeface="Times New Roman" panose="02020603050405020304" pitchFamily="18" charset="0"/>
              </a:rPr>
              <a:t>Purpose</a:t>
            </a:r>
            <a:endParaRPr lang="en-US" sz="2800" dirty="0">
              <a:latin typeface="Times New Roman" panose="02020603050405020304" pitchFamily="18" charset="0"/>
              <a:cs typeface="Times New Roman" panose="02020603050405020304" pitchFamily="18" charset="0"/>
            </a:endParaRP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Enable </a:t>
            </a:r>
            <a:r>
              <a:rPr lang="en-US" sz="2800" b="1" dirty="0">
                <a:latin typeface="Times New Roman" panose="02020603050405020304" pitchFamily="18" charset="0"/>
                <a:cs typeface="Times New Roman" panose="02020603050405020304" pitchFamily="18" charset="0"/>
              </a:rPr>
              <a:t>low-skill attackers</a:t>
            </a:r>
            <a:r>
              <a:rPr lang="en-US" sz="2800" dirty="0">
                <a:latin typeface="Times New Roman" panose="02020603050405020304" pitchFamily="18" charset="0"/>
                <a:cs typeface="Times New Roman" panose="02020603050405020304" pitchFamily="18" charset="0"/>
              </a:rPr>
              <a:t> to participate in cyber attacks</a:t>
            </a:r>
          </a:p>
          <a:p>
            <a:pPr marL="457200" indent="-457200">
              <a:buFont typeface="Wingdings" panose="05000000000000000000" pitchFamily="2" charset="2"/>
              <a:buChar char="§"/>
            </a:pPr>
            <a:r>
              <a:rPr lang="en-US" sz="2800" b="1" dirty="0">
                <a:latin typeface="Times New Roman" panose="02020603050405020304" pitchFamily="18" charset="0"/>
                <a:cs typeface="Times New Roman" panose="02020603050405020304" pitchFamily="18" charset="0"/>
              </a:rPr>
              <a:t>Significance</a:t>
            </a:r>
            <a:endParaRPr lang="en-US" sz="2800" dirty="0">
              <a:latin typeface="Times New Roman" panose="02020603050405020304" pitchFamily="18" charset="0"/>
              <a:cs typeface="Times New Roman" panose="02020603050405020304" pitchFamily="18" charset="0"/>
            </a:endParaRP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Example of </a:t>
            </a:r>
            <a:r>
              <a:rPr lang="en-US" sz="2800" b="1" dirty="0">
                <a:latin typeface="Times New Roman" panose="02020603050405020304" pitchFamily="18" charset="0"/>
                <a:cs typeface="Times New Roman" panose="02020603050405020304" pitchFamily="18" charset="0"/>
              </a:rPr>
              <a:t>patriotic hacking</a:t>
            </a:r>
            <a:endParaRPr lang="en-US" sz="2800" dirty="0">
              <a:latin typeface="Times New Roman" panose="02020603050405020304" pitchFamily="18" charset="0"/>
              <a:cs typeface="Times New Roman" panose="02020603050405020304" pitchFamily="18" charset="0"/>
            </a:endParaRP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Blurs line between civilians and combatants in cyber warfare</a:t>
            </a:r>
          </a:p>
        </p:txBody>
      </p:sp>
      <p:sp>
        <p:nvSpPr>
          <p:cNvPr id="3" name="TextBox 2">
            <a:extLst>
              <a:ext uri="{FF2B5EF4-FFF2-40B4-BE49-F238E27FC236}">
                <a16:creationId xmlns:a16="http://schemas.microsoft.com/office/drawing/2014/main" id="{D975898C-9361-F1A8-E2E7-C3F6B7167FD4}"/>
              </a:ext>
            </a:extLst>
          </p:cNvPr>
          <p:cNvSpPr txBox="1"/>
          <p:nvPr/>
        </p:nvSpPr>
        <p:spPr>
          <a:xfrm>
            <a:off x="606055" y="193710"/>
            <a:ext cx="11252200" cy="1323439"/>
          </a:xfrm>
          <a:prstGeom prst="rect">
            <a:avLst/>
          </a:prstGeom>
          <a:noFill/>
        </p:spPr>
        <p:txBody>
          <a:bodyPr wrap="square">
            <a:spAutoFit/>
          </a:bodyPr>
          <a:lstStyle/>
          <a:p>
            <a:pPr algn="ctr"/>
            <a:r>
              <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StopGeorgia.ru Malware – Crowd-Sourced Cyber Attacks</a:t>
            </a:r>
          </a:p>
        </p:txBody>
      </p:sp>
    </p:spTree>
    <p:extLst>
      <p:ext uri="{BB962C8B-B14F-4D97-AF65-F5344CB8AC3E}">
        <p14:creationId xmlns:p14="http://schemas.microsoft.com/office/powerpoint/2010/main" val="36530047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06021-8A2F-0A95-1275-CF7E8931100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6B28C8A-D8FB-5307-530A-A02A87480F17}"/>
              </a:ext>
            </a:extLst>
          </p:cNvPr>
          <p:cNvSpPr txBox="1"/>
          <p:nvPr/>
        </p:nvSpPr>
        <p:spPr>
          <a:xfrm>
            <a:off x="769679" y="1050451"/>
            <a:ext cx="10312400" cy="5693866"/>
          </a:xfrm>
          <a:prstGeom prst="rect">
            <a:avLst/>
          </a:prstGeom>
          <a:noFill/>
        </p:spPr>
        <p:txBody>
          <a:bodyPr wrap="square">
            <a:spAutoFit/>
          </a:bodyPr>
          <a:lstStyle/>
          <a:p>
            <a:pPr marL="457200" indent="-457200">
              <a:buFont typeface="Wingdings" panose="05000000000000000000" pitchFamily="2" charset="2"/>
              <a:buChar char="§"/>
            </a:pPr>
            <a:r>
              <a:rPr lang="en-US" sz="2800" b="1" dirty="0">
                <a:latin typeface="Times New Roman" panose="02020603050405020304" pitchFamily="18" charset="0"/>
                <a:cs typeface="Times New Roman" panose="02020603050405020304" pitchFamily="18" charset="0"/>
              </a:rPr>
              <a:t>Nature</a:t>
            </a:r>
            <a:endParaRPr lang="en-US" sz="2800" dirty="0">
              <a:latin typeface="Times New Roman" panose="02020603050405020304" pitchFamily="18" charset="0"/>
              <a:cs typeface="Times New Roman" panose="02020603050405020304" pitchFamily="18" charset="0"/>
            </a:endParaRP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Industrial control system (ICS) malware</a:t>
            </a: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Linked to Russian group </a:t>
            </a:r>
            <a:r>
              <a:rPr lang="en-US" sz="2800" b="1" dirty="0" err="1">
                <a:latin typeface="Times New Roman" panose="02020603050405020304" pitchFamily="18" charset="0"/>
                <a:cs typeface="Times New Roman" panose="02020603050405020304" pitchFamily="18" charset="0"/>
              </a:rPr>
              <a:t>SandWorm</a:t>
            </a:r>
            <a:endParaRPr lang="en-US" sz="28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
            </a:pPr>
            <a:r>
              <a:rPr lang="en-US" sz="2800" b="1" dirty="0">
                <a:latin typeface="Times New Roman" panose="02020603050405020304" pitchFamily="18" charset="0"/>
                <a:cs typeface="Times New Roman" panose="02020603050405020304" pitchFamily="18" charset="0"/>
              </a:rPr>
              <a:t>Capabilities</a:t>
            </a:r>
            <a:endParaRPr lang="en-US" sz="2800" dirty="0">
              <a:latin typeface="Times New Roman" panose="02020603050405020304" pitchFamily="18" charset="0"/>
              <a:cs typeface="Times New Roman" panose="02020603050405020304" pitchFamily="18" charset="0"/>
            </a:endParaRP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Power grid disruption</a:t>
            </a: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DDoS attacks</a:t>
            </a: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KillDisk module to permanently damage systems</a:t>
            </a:r>
          </a:p>
          <a:p>
            <a:pPr marL="457200" indent="-457200">
              <a:buFont typeface="Wingdings" panose="05000000000000000000" pitchFamily="2" charset="2"/>
              <a:buChar char="§"/>
            </a:pPr>
            <a:r>
              <a:rPr lang="en-US" sz="2800" b="1" dirty="0">
                <a:latin typeface="Times New Roman" panose="02020603050405020304" pitchFamily="18" charset="0"/>
                <a:cs typeface="Times New Roman" panose="02020603050405020304" pitchFamily="18" charset="0"/>
              </a:rPr>
              <a:t>Real-World Impact</a:t>
            </a:r>
            <a:endParaRPr lang="en-US" sz="2800" dirty="0">
              <a:latin typeface="Times New Roman" panose="02020603050405020304" pitchFamily="18" charset="0"/>
              <a:cs typeface="Times New Roman" panose="02020603050405020304" pitchFamily="18" charset="0"/>
            </a:endParaRP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Linked to </a:t>
            </a:r>
            <a:r>
              <a:rPr lang="en-US" sz="2800" b="1" dirty="0">
                <a:latin typeface="Times New Roman" panose="02020603050405020304" pitchFamily="18" charset="0"/>
                <a:cs typeface="Times New Roman" panose="02020603050405020304" pitchFamily="18" charset="0"/>
              </a:rPr>
              <a:t>Ukraine power outages</a:t>
            </a:r>
            <a:endParaRPr lang="en-US" sz="2800" dirty="0">
              <a:latin typeface="Times New Roman" panose="02020603050405020304" pitchFamily="18" charset="0"/>
              <a:cs typeface="Times New Roman" panose="02020603050405020304" pitchFamily="18" charset="0"/>
            </a:endParaRP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Affected Kiev airport in 2016</a:t>
            </a:r>
          </a:p>
          <a:p>
            <a:pPr marL="457200" indent="-457200">
              <a:buFont typeface="Wingdings" panose="05000000000000000000" pitchFamily="2" charset="2"/>
              <a:buChar char="§"/>
            </a:pPr>
            <a:r>
              <a:rPr lang="en-US" sz="2800" b="1" dirty="0">
                <a:latin typeface="Times New Roman" panose="02020603050405020304" pitchFamily="18" charset="0"/>
                <a:cs typeface="Times New Roman" panose="02020603050405020304" pitchFamily="18" charset="0"/>
              </a:rPr>
              <a:t>Significance</a:t>
            </a:r>
            <a:endParaRPr lang="en-US" sz="2800" dirty="0">
              <a:latin typeface="Times New Roman" panose="02020603050405020304" pitchFamily="18" charset="0"/>
              <a:cs typeface="Times New Roman" panose="02020603050405020304" pitchFamily="18" charset="0"/>
            </a:endParaRP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Clear example of </a:t>
            </a:r>
            <a:r>
              <a:rPr lang="en-US" sz="2800" b="1" dirty="0">
                <a:latin typeface="Times New Roman" panose="02020603050405020304" pitchFamily="18" charset="0"/>
                <a:cs typeface="Times New Roman" panose="02020603050405020304" pitchFamily="18" charset="0"/>
              </a:rPr>
              <a:t>cyber warfare targeting civilians</a:t>
            </a:r>
            <a:endParaRPr lang="en-US" sz="2800" dirty="0">
              <a:latin typeface="Times New Roman" panose="02020603050405020304" pitchFamily="18" charset="0"/>
              <a:cs typeface="Times New Roman" panose="02020603050405020304" pitchFamily="18" charset="0"/>
            </a:endParaRPr>
          </a:p>
          <a:p>
            <a:pPr marL="914400" lvl="1" indent="-4572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Shows malware can cause </a:t>
            </a:r>
            <a:r>
              <a:rPr lang="en-US" sz="2800" b="1" dirty="0">
                <a:latin typeface="Times New Roman" panose="02020603050405020304" pitchFamily="18" charset="0"/>
                <a:cs typeface="Times New Roman" panose="02020603050405020304" pitchFamily="18" charset="0"/>
              </a:rPr>
              <a:t>national-level disruption</a:t>
            </a:r>
            <a:endParaRPr lang="en-US" sz="28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886CD5F-A0B4-7655-C965-C2CCA119419E}"/>
              </a:ext>
            </a:extLst>
          </p:cNvPr>
          <p:cNvSpPr txBox="1"/>
          <p:nvPr/>
        </p:nvSpPr>
        <p:spPr>
          <a:xfrm>
            <a:off x="563525" y="342565"/>
            <a:ext cx="11252200" cy="707886"/>
          </a:xfrm>
          <a:prstGeom prst="rect">
            <a:avLst/>
          </a:prstGeom>
          <a:noFill/>
        </p:spPr>
        <p:txBody>
          <a:bodyPr wrap="square">
            <a:spAutoFit/>
          </a:bodyPr>
          <a:lstStyle/>
          <a:p>
            <a:pPr algn="ctr"/>
            <a:r>
              <a:rPr lang="en-US" sz="4000" b="1" dirty="0" err="1">
                <a:solidFill>
                  <a:srgbClr val="0070C0"/>
                </a:solidFill>
                <a:latin typeface="Times New Roman" panose="02020603050405020304" pitchFamily="18" charset="0"/>
                <a:ea typeface="Tahoma" panose="020B0604030504040204" pitchFamily="34" charset="0"/>
                <a:cs typeface="Times New Roman" panose="02020603050405020304" pitchFamily="18" charset="0"/>
              </a:rPr>
              <a:t>BlackEnergy</a:t>
            </a:r>
            <a:r>
              <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 – Infrastructure Disruption Malware</a:t>
            </a:r>
          </a:p>
        </p:txBody>
      </p:sp>
    </p:spTree>
    <p:extLst>
      <p:ext uri="{BB962C8B-B14F-4D97-AF65-F5344CB8AC3E}">
        <p14:creationId xmlns:p14="http://schemas.microsoft.com/office/powerpoint/2010/main" val="10869304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69B15-E68F-36EA-5C95-A9EBD098983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A307DA4-55ED-CA50-73C2-6ECA56A40F73}"/>
              </a:ext>
            </a:extLst>
          </p:cNvPr>
          <p:cNvSpPr txBox="1"/>
          <p:nvPr/>
        </p:nvSpPr>
        <p:spPr>
          <a:xfrm>
            <a:off x="799509" y="1390693"/>
            <a:ext cx="10312400" cy="3046988"/>
          </a:xfrm>
          <a:prstGeom prst="rect">
            <a:avLst/>
          </a:prstGeom>
          <a:noFill/>
        </p:spPr>
        <p:txBody>
          <a:bodyPr wrap="square">
            <a:spAutoFit/>
          </a:bodyPr>
          <a:lstStyle/>
          <a:p>
            <a:pPr algn="ctr"/>
            <a:r>
              <a:rPr lang="en-US" sz="2400" dirty="0">
                <a:latin typeface="Times New Roman" panose="02020603050405020304" pitchFamily="18" charset="0"/>
                <a:cs typeface="Times New Roman" panose="02020603050405020304" pitchFamily="18" charset="0"/>
              </a:rPr>
              <a:t>Information warfare (IW) is the strategic use of information and communication technologies (ICTs) to gain an advantage, involving </a:t>
            </a:r>
            <a:r>
              <a:rPr lang="en-US" sz="2400" b="1" dirty="0">
                <a:latin typeface="Times New Roman" panose="02020603050405020304" pitchFamily="18" charset="0"/>
                <a:cs typeface="Times New Roman" panose="02020603050405020304" pitchFamily="18" charset="0"/>
              </a:rPr>
              <a:t>offensive actions</a:t>
            </a:r>
            <a:r>
              <a:rPr lang="en-US" sz="2400" dirty="0">
                <a:latin typeface="Times New Roman" panose="02020603050405020304" pitchFamily="18" charset="0"/>
                <a:cs typeface="Times New Roman" panose="02020603050405020304" pitchFamily="18" charset="0"/>
              </a:rPr>
              <a:t> (like cyberattacks, disinformation) and </a:t>
            </a:r>
            <a:r>
              <a:rPr lang="en-US" sz="2400" b="1" dirty="0">
                <a:latin typeface="Times New Roman" panose="02020603050405020304" pitchFamily="18" charset="0"/>
                <a:cs typeface="Times New Roman" panose="02020603050405020304" pitchFamily="18" charset="0"/>
              </a:rPr>
              <a:t>defensive measures</a:t>
            </a:r>
            <a:r>
              <a:rPr lang="en-US" sz="2400" dirty="0">
                <a:latin typeface="Times New Roman" panose="02020603050405020304" pitchFamily="18" charset="0"/>
                <a:cs typeface="Times New Roman" panose="02020603050405020304" pitchFamily="18" charset="0"/>
              </a:rPr>
              <a:t> (like protecting systems) to influence perceptions, disrupt opponents, and control information flow, encompassing </a:t>
            </a:r>
            <a:r>
              <a:rPr lang="en-US" sz="2400" b="1"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xmlns="" val="tx"/>
                    </a:ext>
                  </a:extLst>
                </a:hlinkClick>
              </a:rPr>
              <a:t>cyberwarfare</a:t>
            </a:r>
            <a:r>
              <a:rPr lang="en-US" sz="2400" b="1"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xmlns="" val="tx"/>
                    </a:ext>
                  </a:extLst>
                </a:hlinkClick>
              </a:rPr>
              <a:t>electronic warfare</a:t>
            </a:r>
            <a:r>
              <a:rPr lang="en-US" sz="2400" b="1"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xmlns="" val="tx"/>
                    </a:ext>
                  </a:extLst>
                </a:hlinkClick>
              </a:rPr>
              <a:t>propaganda</a:t>
            </a:r>
            <a:r>
              <a:rPr lang="en-US" sz="2400" b="1"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xmlns="" val="tx"/>
                    </a:ext>
                  </a:extLst>
                </a:hlinkClick>
              </a:rPr>
              <a:t>psychological operations</a:t>
            </a:r>
            <a:r>
              <a:rPr lang="en-US" sz="2400" dirty="0">
                <a:latin typeface="Times New Roman" panose="02020603050405020304" pitchFamily="18" charset="0"/>
                <a:cs typeface="Times New Roman" panose="02020603050405020304" pitchFamily="18" charset="0"/>
              </a:rPr>
              <a:t>. It targets an adversary's decision-making by compromising their information systems, data, or public trust, aiming to manipulate outcomes without direct physical force.</a:t>
            </a:r>
          </a:p>
        </p:txBody>
      </p:sp>
      <p:sp>
        <p:nvSpPr>
          <p:cNvPr id="3" name="TextBox 2">
            <a:extLst>
              <a:ext uri="{FF2B5EF4-FFF2-40B4-BE49-F238E27FC236}">
                <a16:creationId xmlns:a16="http://schemas.microsoft.com/office/drawing/2014/main" id="{62E380CC-A3AC-8C88-0B33-C0525F13121A}"/>
              </a:ext>
            </a:extLst>
          </p:cNvPr>
          <p:cNvSpPr txBox="1"/>
          <p:nvPr/>
        </p:nvSpPr>
        <p:spPr>
          <a:xfrm>
            <a:off x="563525" y="342565"/>
            <a:ext cx="11252200" cy="707886"/>
          </a:xfrm>
          <a:prstGeom prst="rect">
            <a:avLst/>
          </a:prstGeom>
          <a:noFill/>
        </p:spPr>
        <p:txBody>
          <a:bodyPr wrap="square">
            <a:spAutoFit/>
          </a:bodyPr>
          <a:lstStyle/>
          <a:p>
            <a:pPr algn="ctr"/>
            <a:r>
              <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INFORMATION WARFARE</a:t>
            </a:r>
          </a:p>
        </p:txBody>
      </p:sp>
      <p:pic>
        <p:nvPicPr>
          <p:cNvPr id="4" name="Picture 3">
            <a:extLst>
              <a:ext uri="{FF2B5EF4-FFF2-40B4-BE49-F238E27FC236}">
                <a16:creationId xmlns:a16="http://schemas.microsoft.com/office/drawing/2014/main" id="{A4EC26BF-22FB-0D4E-2C99-F49897255506}"/>
              </a:ext>
            </a:extLst>
          </p:cNvPr>
          <p:cNvPicPr>
            <a:picLocks noChangeAspect="1"/>
          </p:cNvPicPr>
          <p:nvPr/>
        </p:nvPicPr>
        <p:blipFill>
          <a:blip r:embed="rId6"/>
          <a:stretch>
            <a:fillRect/>
          </a:stretch>
        </p:blipFill>
        <p:spPr>
          <a:xfrm>
            <a:off x="9050854" y="4437681"/>
            <a:ext cx="3000375" cy="2266950"/>
          </a:xfrm>
          <a:prstGeom prst="rect">
            <a:avLst/>
          </a:prstGeom>
        </p:spPr>
      </p:pic>
    </p:spTree>
    <p:extLst>
      <p:ext uri="{BB962C8B-B14F-4D97-AF65-F5344CB8AC3E}">
        <p14:creationId xmlns:p14="http://schemas.microsoft.com/office/powerpoint/2010/main" val="19099611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68931-4220-BB99-F3F9-EDBA686F7DF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233208E-41AE-2CA1-7D92-AF4C5435CD37}"/>
              </a:ext>
            </a:extLst>
          </p:cNvPr>
          <p:cNvSpPr txBox="1"/>
          <p:nvPr/>
        </p:nvSpPr>
        <p:spPr>
          <a:xfrm>
            <a:off x="1033425" y="1225689"/>
            <a:ext cx="10312400" cy="5632311"/>
          </a:xfrm>
          <a:prstGeom prst="rect">
            <a:avLst/>
          </a:prstGeom>
          <a:noFill/>
        </p:spPr>
        <p:txBody>
          <a:bodyPr wrap="square">
            <a:spAutoFit/>
          </a:bodyPr>
          <a:lstStyle/>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Information warfare refers to </a:t>
            </a:r>
            <a:r>
              <a:rPr lang="en-US" sz="2400" b="1" dirty="0">
                <a:latin typeface="Times New Roman" panose="02020603050405020304" pitchFamily="18" charset="0"/>
                <a:cs typeface="Times New Roman" panose="02020603050405020304" pitchFamily="18" charset="0"/>
              </a:rPr>
              <a:t>any deliberate attempt to manipulate, control, disrupt, or exploit information</a:t>
            </a:r>
            <a:r>
              <a:rPr lang="en-US" sz="2400" dirty="0">
                <a:latin typeface="Times New Roman" panose="02020603050405020304" pitchFamily="18" charset="0"/>
                <a:cs typeface="Times New Roman" panose="02020603050405020304" pitchFamily="18" charset="0"/>
              </a:rPr>
              <a:t> to achieve </a:t>
            </a:r>
            <a:r>
              <a:rPr lang="en-US" sz="2400" b="1" dirty="0">
                <a:latin typeface="Times New Roman" panose="02020603050405020304" pitchFamily="18" charset="0"/>
                <a:cs typeface="Times New Roman" panose="02020603050405020304" pitchFamily="18" charset="0"/>
              </a:rPr>
              <a:t>military, political, or strategic objectives</a:t>
            </a:r>
            <a:r>
              <a:rPr lang="en-US" sz="2400" dirty="0">
                <a:latin typeface="Times New Roman" panose="02020603050405020304" pitchFamily="18" charset="0"/>
                <a:cs typeface="Times New Roman" panose="02020603050405020304" pitchFamily="18" charset="0"/>
              </a:rPr>
              <a:t>. </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Unlike cyber warfare, which targets systems and infrastructure, information warfare targets </a:t>
            </a:r>
            <a:r>
              <a:rPr lang="en-US" sz="2400" b="1" dirty="0">
                <a:latin typeface="Times New Roman" panose="02020603050405020304" pitchFamily="18" charset="0"/>
                <a:cs typeface="Times New Roman" panose="02020603050405020304" pitchFamily="18" charset="0"/>
              </a:rPr>
              <a:t>perception, belief, morale, and decision-making</a:t>
            </a:r>
            <a:r>
              <a:rPr lang="en-US" sz="2400" dirty="0">
                <a:latin typeface="Times New Roman" panose="02020603050405020304" pitchFamily="18" charset="0"/>
                <a:cs typeface="Times New Roman" panose="02020603050405020304" pitchFamily="18" charset="0"/>
              </a:rPr>
              <a:t>.</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Importantly, information warfare </a:t>
            </a:r>
            <a:r>
              <a:rPr lang="en-US" sz="2400" b="1" dirty="0">
                <a:latin typeface="Times New Roman" panose="02020603050405020304" pitchFamily="18" charset="0"/>
                <a:cs typeface="Times New Roman" panose="02020603050405020304" pitchFamily="18" charset="0"/>
              </a:rPr>
              <a:t>predates computers</a:t>
            </a:r>
            <a:r>
              <a:rPr lang="en-US" sz="2400" dirty="0">
                <a:latin typeface="Times New Roman" panose="02020603050405020304" pitchFamily="18" charset="0"/>
                <a:cs typeface="Times New Roman" panose="02020603050405020304" pitchFamily="18" charset="0"/>
              </a:rPr>
              <a:t> and has existed as long as conventional warfare itself. Modern technology has merely </a:t>
            </a:r>
            <a:r>
              <a:rPr lang="en-US" sz="2400" b="1" dirty="0">
                <a:latin typeface="Times New Roman" panose="02020603050405020304" pitchFamily="18" charset="0"/>
                <a:cs typeface="Times New Roman" panose="02020603050405020304" pitchFamily="18" charset="0"/>
              </a:rPr>
              <a:t>amplified its reach, speed, and impact</a:t>
            </a:r>
            <a:r>
              <a:rPr lang="en-US" sz="2400" dirty="0">
                <a:latin typeface="Times New Roman" panose="02020603050405020304" pitchFamily="18" charset="0"/>
                <a:cs typeface="Times New Roman" panose="02020603050405020304" pitchFamily="18" charset="0"/>
              </a:rPr>
              <a:t>.</a:t>
            </a:r>
          </a:p>
          <a:p>
            <a:pPr algn="just"/>
            <a:endParaRPr lang="en-US" sz="2400" b="1"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Core Components of Information Warfare</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Information warfare typically consists of </a:t>
            </a:r>
            <a:r>
              <a:rPr lang="en-US" sz="2400" b="1" dirty="0">
                <a:latin typeface="Times New Roman" panose="02020603050405020304" pitchFamily="18" charset="0"/>
                <a:cs typeface="Times New Roman" panose="02020603050405020304" pitchFamily="18" charset="0"/>
              </a:rPr>
              <a:t>three interrelated components</a:t>
            </a:r>
            <a:r>
              <a:rPr lang="en-US" sz="2400" dirty="0">
                <a:latin typeface="Times New Roman" panose="02020603050405020304" pitchFamily="18" charset="0"/>
                <a:cs typeface="Times New Roman" panose="02020603050405020304" pitchFamily="18" charset="0"/>
              </a:rPr>
              <a:t>:</a:t>
            </a:r>
          </a:p>
          <a:p>
            <a:pPr marL="914400" lvl="1" indent="-457200" algn="just">
              <a:buFont typeface="+mj-lt"/>
              <a:buAutoNum type="arabicPeriod"/>
            </a:pPr>
            <a:r>
              <a:rPr lang="en-US" sz="2400" b="1" dirty="0">
                <a:latin typeface="Times New Roman" panose="02020603050405020304" pitchFamily="18" charset="0"/>
                <a:cs typeface="Times New Roman" panose="02020603050405020304" pitchFamily="18" charset="0"/>
              </a:rPr>
              <a:t>Information Gathering (Espionage)</a:t>
            </a:r>
            <a:endParaRPr lang="en-US" sz="2400" dirty="0">
              <a:latin typeface="Times New Roman" panose="02020603050405020304" pitchFamily="18" charset="0"/>
              <a:cs typeface="Times New Roman" panose="02020603050405020304" pitchFamily="18" charset="0"/>
            </a:endParaRPr>
          </a:p>
          <a:p>
            <a:pPr marL="914400" lvl="1" indent="-457200" algn="just">
              <a:buFont typeface="+mj-lt"/>
              <a:buAutoNum type="arabicPeriod"/>
            </a:pPr>
            <a:r>
              <a:rPr lang="en-US" sz="2400" b="1" dirty="0">
                <a:latin typeface="Times New Roman" panose="02020603050405020304" pitchFamily="18" charset="0"/>
                <a:cs typeface="Times New Roman" panose="02020603050405020304" pitchFamily="18" charset="0"/>
              </a:rPr>
              <a:t>Propaganda</a:t>
            </a:r>
            <a:endParaRPr lang="en-US" sz="2400" dirty="0">
              <a:latin typeface="Times New Roman" panose="02020603050405020304" pitchFamily="18" charset="0"/>
              <a:cs typeface="Times New Roman" panose="02020603050405020304" pitchFamily="18" charset="0"/>
            </a:endParaRPr>
          </a:p>
          <a:p>
            <a:pPr marL="914400" lvl="1" indent="-457200" algn="just">
              <a:buFont typeface="+mj-lt"/>
              <a:buAutoNum type="arabicPeriod"/>
            </a:pPr>
            <a:r>
              <a:rPr lang="en-US" sz="2400" b="1" dirty="0">
                <a:latin typeface="Times New Roman" panose="02020603050405020304" pitchFamily="18" charset="0"/>
                <a:cs typeface="Times New Roman" panose="02020603050405020304" pitchFamily="18" charset="0"/>
              </a:rPr>
              <a:t>Disinformation and Information Control</a:t>
            </a: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93BD40D-A751-0CD0-C065-B0C6338F69B1}"/>
              </a:ext>
            </a:extLst>
          </p:cNvPr>
          <p:cNvSpPr txBox="1"/>
          <p:nvPr/>
        </p:nvSpPr>
        <p:spPr>
          <a:xfrm>
            <a:off x="563525" y="342565"/>
            <a:ext cx="11252200" cy="707886"/>
          </a:xfrm>
          <a:prstGeom prst="rect">
            <a:avLst/>
          </a:prstGeom>
          <a:noFill/>
        </p:spPr>
        <p:txBody>
          <a:bodyPr wrap="square">
            <a:spAutoFit/>
          </a:bodyPr>
          <a:lstStyle/>
          <a:p>
            <a:pPr algn="ctr"/>
            <a:r>
              <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INFORMATION WARFARE</a:t>
            </a:r>
          </a:p>
        </p:txBody>
      </p:sp>
    </p:spTree>
    <p:extLst>
      <p:ext uri="{BB962C8B-B14F-4D97-AF65-F5344CB8AC3E}">
        <p14:creationId xmlns:p14="http://schemas.microsoft.com/office/powerpoint/2010/main" val="5199088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71A7E-A261-0A8C-CEF9-10BD38481A4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EAED1E2-4879-7164-371F-DC3960C4B247}"/>
              </a:ext>
            </a:extLst>
          </p:cNvPr>
          <p:cNvSpPr txBox="1"/>
          <p:nvPr/>
        </p:nvSpPr>
        <p:spPr>
          <a:xfrm>
            <a:off x="1033425" y="1225689"/>
            <a:ext cx="10312400" cy="5293757"/>
          </a:xfrm>
          <a:prstGeom prst="rect">
            <a:avLst/>
          </a:prstGeom>
          <a:noFill/>
        </p:spPr>
        <p:txBody>
          <a:bodyPr wrap="square">
            <a:spAutoFit/>
          </a:bodyPr>
          <a:lstStyle/>
          <a:p>
            <a:r>
              <a:rPr lang="en-US" sz="2600" b="1" dirty="0">
                <a:latin typeface="Times New Roman" panose="02020603050405020304" pitchFamily="18" charset="0"/>
                <a:cs typeface="Times New Roman" panose="02020603050405020304" pitchFamily="18" charset="0"/>
              </a:rPr>
              <a:t>1. Information Gathering (Espionage)</a:t>
            </a:r>
          </a:p>
          <a:p>
            <a:r>
              <a:rPr lang="en-US" sz="2600" dirty="0">
                <a:latin typeface="Times New Roman" panose="02020603050405020304" pitchFamily="18" charset="0"/>
                <a:cs typeface="Times New Roman" panose="02020603050405020304" pitchFamily="18" charset="0"/>
              </a:rPr>
              <a:t>Information gathering involves collecting intelligence about an adversary’s:</a:t>
            </a:r>
          </a:p>
          <a:p>
            <a:pPr marL="800100" lvl="1" indent="-3429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Military capabilities</a:t>
            </a:r>
          </a:p>
          <a:p>
            <a:pPr marL="800100" lvl="1" indent="-3429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Political intentions</a:t>
            </a:r>
          </a:p>
          <a:p>
            <a:pPr marL="800100" lvl="1" indent="-3429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Economic stability</a:t>
            </a:r>
          </a:p>
          <a:p>
            <a:pPr marL="800100" lvl="1" indent="-342900">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Public sentiment</a:t>
            </a:r>
          </a:p>
          <a:p>
            <a:r>
              <a:rPr lang="en-US" sz="2600" dirty="0">
                <a:latin typeface="Times New Roman" panose="02020603050405020304" pitchFamily="18" charset="0"/>
                <a:cs typeface="Times New Roman" panose="02020603050405020304" pitchFamily="18" charset="0"/>
              </a:rPr>
              <a:t>In the cyber era, </a:t>
            </a:r>
            <a:r>
              <a:rPr lang="en-US" sz="2600" b="1" dirty="0">
                <a:latin typeface="Times New Roman" panose="02020603050405020304" pitchFamily="18" charset="0"/>
                <a:cs typeface="Times New Roman" panose="02020603050405020304" pitchFamily="18" charset="0"/>
              </a:rPr>
              <a:t>computers and networks are primary tools</a:t>
            </a:r>
            <a:r>
              <a:rPr lang="en-US" sz="2600" dirty="0">
                <a:latin typeface="Times New Roman" panose="02020603050405020304" pitchFamily="18" charset="0"/>
                <a:cs typeface="Times New Roman" panose="02020603050405020304" pitchFamily="18" charset="0"/>
              </a:rPr>
              <a:t> for espionage. Techniques originally used in </a:t>
            </a:r>
            <a:r>
              <a:rPr lang="en-US" sz="2600" b="1" dirty="0">
                <a:latin typeface="Times New Roman" panose="02020603050405020304" pitchFamily="18" charset="0"/>
                <a:cs typeface="Times New Roman" panose="02020603050405020304" pitchFamily="18" charset="0"/>
              </a:rPr>
              <a:t>corporate and industrial espionage</a:t>
            </a:r>
            <a:r>
              <a:rPr lang="en-US" sz="2600" dirty="0">
                <a:latin typeface="Times New Roman" panose="02020603050405020304" pitchFamily="18" charset="0"/>
                <a:cs typeface="Times New Roman" panose="02020603050405020304" pitchFamily="18" charset="0"/>
              </a:rPr>
              <a:t> (as discussed in cyberspace security) are equally applicable in </a:t>
            </a:r>
            <a:r>
              <a:rPr lang="en-US" sz="2600" b="1" dirty="0">
                <a:latin typeface="Times New Roman" panose="02020603050405020304" pitchFamily="18" charset="0"/>
                <a:cs typeface="Times New Roman" panose="02020603050405020304" pitchFamily="18" charset="0"/>
              </a:rPr>
              <a:t>military conflicts</a:t>
            </a:r>
            <a:r>
              <a:rPr lang="en-US" sz="2600" dirty="0">
                <a:latin typeface="Times New Roman" panose="02020603050405020304" pitchFamily="18" charset="0"/>
                <a:cs typeface="Times New Roman" panose="02020603050405020304" pitchFamily="18" charset="0"/>
              </a:rPr>
              <a:t>.</a:t>
            </a:r>
          </a:p>
          <a:p>
            <a:endParaRPr lang="en-US" sz="2600" dirty="0">
              <a:latin typeface="Times New Roman" panose="02020603050405020304" pitchFamily="18" charset="0"/>
              <a:cs typeface="Times New Roman" panose="02020603050405020304" pitchFamily="18" charset="0"/>
            </a:endParaRPr>
          </a:p>
          <a:p>
            <a:pPr algn="ctr"/>
            <a:r>
              <a:rPr lang="en-US" sz="2600" dirty="0">
                <a:latin typeface="Times New Roman" panose="02020603050405020304" pitchFamily="18" charset="0"/>
                <a:cs typeface="Times New Roman" panose="02020603050405020304" pitchFamily="18" charset="0"/>
              </a:rPr>
              <a:t>Espionage is silent by design—the ideal outcome is that the target never realizes information was stolen.</a:t>
            </a:r>
          </a:p>
        </p:txBody>
      </p:sp>
      <p:sp>
        <p:nvSpPr>
          <p:cNvPr id="3" name="TextBox 2">
            <a:extLst>
              <a:ext uri="{FF2B5EF4-FFF2-40B4-BE49-F238E27FC236}">
                <a16:creationId xmlns:a16="http://schemas.microsoft.com/office/drawing/2014/main" id="{DBB2E5FB-26D3-D6E3-253A-A25CA515BA76}"/>
              </a:ext>
            </a:extLst>
          </p:cNvPr>
          <p:cNvSpPr txBox="1"/>
          <p:nvPr/>
        </p:nvSpPr>
        <p:spPr>
          <a:xfrm>
            <a:off x="563525" y="342565"/>
            <a:ext cx="11252200" cy="707886"/>
          </a:xfrm>
          <a:prstGeom prst="rect">
            <a:avLst/>
          </a:prstGeom>
          <a:noFill/>
        </p:spPr>
        <p:txBody>
          <a:bodyPr wrap="square">
            <a:spAutoFit/>
          </a:bodyPr>
          <a:lstStyle/>
          <a:p>
            <a:pPr algn="ctr"/>
            <a:r>
              <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INFORMATION WARFARE</a:t>
            </a:r>
          </a:p>
        </p:txBody>
      </p:sp>
    </p:spTree>
    <p:extLst>
      <p:ext uri="{BB962C8B-B14F-4D97-AF65-F5344CB8AC3E}">
        <p14:creationId xmlns:p14="http://schemas.microsoft.com/office/powerpoint/2010/main" val="39060201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007BF3-4A27-BA83-2384-CD8B4F9854A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9E35063-EEEA-58C6-3AE6-112C7D3BA683}"/>
              </a:ext>
            </a:extLst>
          </p:cNvPr>
          <p:cNvSpPr txBox="1"/>
          <p:nvPr/>
        </p:nvSpPr>
        <p:spPr>
          <a:xfrm>
            <a:off x="1033425" y="1225689"/>
            <a:ext cx="10312400" cy="4893647"/>
          </a:xfrm>
          <a:prstGeom prst="rect">
            <a:avLst/>
          </a:prstGeom>
          <a:noFill/>
        </p:spPr>
        <p:txBody>
          <a:bodyPr wrap="square">
            <a:spAutoFit/>
          </a:bodyPr>
          <a:lstStyle/>
          <a:p>
            <a:pPr algn="just"/>
            <a:r>
              <a:rPr lang="en-US" sz="2600" b="1" dirty="0">
                <a:latin typeface="Times New Roman" panose="02020603050405020304" pitchFamily="18" charset="0"/>
                <a:cs typeface="Times New Roman" panose="02020603050405020304" pitchFamily="18" charset="0"/>
              </a:rPr>
              <a:t>2. Propaganda</a:t>
            </a:r>
          </a:p>
          <a:p>
            <a:pPr marL="914400" lvl="1"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Propaganda is the </a:t>
            </a:r>
            <a:r>
              <a:rPr lang="en-US" sz="2600" b="1" dirty="0">
                <a:latin typeface="Times New Roman" panose="02020603050405020304" pitchFamily="18" charset="0"/>
                <a:cs typeface="Times New Roman" panose="02020603050405020304" pitchFamily="18" charset="0"/>
              </a:rPr>
              <a:t>deliberate dissemination of biased or selective information</a:t>
            </a:r>
            <a:r>
              <a:rPr lang="en-US" sz="2600" dirty="0">
                <a:latin typeface="Times New Roman" panose="02020603050405020304" pitchFamily="18" charset="0"/>
                <a:cs typeface="Times New Roman" panose="02020603050405020304" pitchFamily="18" charset="0"/>
              </a:rPr>
              <a:t> to influence opinions, attitudes, and behaviors during a conflict.</a:t>
            </a:r>
          </a:p>
          <a:p>
            <a:pPr algn="just"/>
            <a:r>
              <a:rPr lang="en-US" sz="2600" b="1" dirty="0">
                <a:latin typeface="Times New Roman" panose="02020603050405020304" pitchFamily="18" charset="0"/>
                <a:cs typeface="Times New Roman" panose="02020603050405020304" pitchFamily="18" charset="0"/>
              </a:rPr>
              <a:t>Role of the Internet</a:t>
            </a:r>
          </a:p>
          <a:p>
            <a:pPr algn="just"/>
            <a:r>
              <a:rPr lang="en-US" sz="2600" dirty="0">
                <a:latin typeface="Times New Roman" panose="02020603050405020304" pitchFamily="18" charset="0"/>
                <a:cs typeface="Times New Roman" panose="02020603050405020304" pitchFamily="18" charset="0"/>
              </a:rPr>
              <a:t>The Internet is a highly effective propaganda platform because:</a:t>
            </a:r>
          </a:p>
          <a:p>
            <a:pPr marL="914400" lvl="1"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It is low-cost</a:t>
            </a:r>
          </a:p>
          <a:p>
            <a:pPr marL="914400" lvl="1"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It has global reach</a:t>
            </a:r>
          </a:p>
          <a:p>
            <a:pPr marL="914400" lvl="1"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Many users treat online sources as primary or secondary news</a:t>
            </a:r>
          </a:p>
          <a:p>
            <a:pPr algn="just"/>
            <a:r>
              <a:rPr lang="en-US" sz="2600" dirty="0">
                <a:latin typeface="Times New Roman" panose="02020603050405020304" pitchFamily="18" charset="0"/>
                <a:cs typeface="Times New Roman" panose="02020603050405020304" pitchFamily="18" charset="0"/>
              </a:rPr>
              <a:t>A government, terrorist organization, political party, or activist group can operate </a:t>
            </a:r>
            <a:r>
              <a:rPr lang="en-US" sz="2600" b="1" dirty="0">
                <a:latin typeface="Times New Roman" panose="02020603050405020304" pitchFamily="18" charset="0"/>
                <a:cs typeface="Times New Roman" panose="02020603050405020304" pitchFamily="18" charset="0"/>
              </a:rPr>
              <a:t>apparently independent “news” websites</a:t>
            </a:r>
            <a:r>
              <a:rPr lang="en-US" sz="2600" dirty="0">
                <a:latin typeface="Times New Roman" panose="02020603050405020304" pitchFamily="18" charset="0"/>
                <a:cs typeface="Times New Roman" panose="02020603050405020304" pitchFamily="18" charset="0"/>
              </a:rPr>
              <a:t> to shape narratives without appearing directly involved.</a:t>
            </a:r>
          </a:p>
        </p:txBody>
      </p:sp>
      <p:sp>
        <p:nvSpPr>
          <p:cNvPr id="3" name="TextBox 2">
            <a:extLst>
              <a:ext uri="{FF2B5EF4-FFF2-40B4-BE49-F238E27FC236}">
                <a16:creationId xmlns:a16="http://schemas.microsoft.com/office/drawing/2014/main" id="{13708156-CCB3-3B71-46A0-3C20FEA35018}"/>
              </a:ext>
            </a:extLst>
          </p:cNvPr>
          <p:cNvSpPr txBox="1"/>
          <p:nvPr/>
        </p:nvSpPr>
        <p:spPr>
          <a:xfrm>
            <a:off x="563525" y="342565"/>
            <a:ext cx="11252200" cy="707886"/>
          </a:xfrm>
          <a:prstGeom prst="rect">
            <a:avLst/>
          </a:prstGeom>
          <a:noFill/>
        </p:spPr>
        <p:txBody>
          <a:bodyPr wrap="square">
            <a:spAutoFit/>
          </a:bodyPr>
          <a:lstStyle/>
          <a:p>
            <a:pPr algn="ctr"/>
            <a:r>
              <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INFORMATION WARFARE</a:t>
            </a:r>
          </a:p>
        </p:txBody>
      </p:sp>
    </p:spTree>
    <p:extLst>
      <p:ext uri="{BB962C8B-B14F-4D97-AF65-F5344CB8AC3E}">
        <p14:creationId xmlns:p14="http://schemas.microsoft.com/office/powerpoint/2010/main" val="29064747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97CFB-8512-9796-185C-88E41D55EC9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946E3D1-1E32-4BD2-05B7-5C5760C122BF}"/>
              </a:ext>
            </a:extLst>
          </p:cNvPr>
          <p:cNvSpPr txBox="1"/>
          <p:nvPr/>
        </p:nvSpPr>
        <p:spPr>
          <a:xfrm>
            <a:off x="1033425" y="1135498"/>
            <a:ext cx="10312400" cy="5262979"/>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3. Information Control</a:t>
            </a:r>
          </a:p>
          <a:p>
            <a:r>
              <a:rPr lang="en-US" sz="2400" dirty="0">
                <a:latin typeface="Times New Roman" panose="02020603050405020304" pitchFamily="18" charset="0"/>
                <a:cs typeface="Times New Roman" panose="02020603050405020304" pitchFamily="18" charset="0"/>
              </a:rPr>
              <a:t>Since World War II, controlling information has been recognized as a </a:t>
            </a:r>
            <a:r>
              <a:rPr lang="en-US" sz="2400" b="1" dirty="0">
                <a:latin typeface="Times New Roman" panose="02020603050405020304" pitchFamily="18" charset="0"/>
                <a:cs typeface="Times New Roman" panose="02020603050405020304" pitchFamily="18" charset="0"/>
              </a:rPr>
              <a:t>strategic necessity</a:t>
            </a:r>
            <a:r>
              <a:rPr lang="en-US" sz="2400" dirty="0">
                <a:latin typeface="Times New Roman" panose="02020603050405020304" pitchFamily="18" charset="0"/>
                <a:cs typeface="Times New Roman" panose="02020603050405020304" pitchFamily="18" charset="0"/>
              </a:rPr>
              <a:t> in warfare. Public perception directly affects:</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Troop morale</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Civilian support</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Political legitimacy</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International alliances</a:t>
            </a:r>
          </a:p>
          <a:p>
            <a:r>
              <a:rPr lang="en-US" sz="2400" b="1" dirty="0">
                <a:latin typeface="Times New Roman" panose="02020603050405020304" pitchFamily="18" charset="0"/>
                <a:cs typeface="Times New Roman" panose="02020603050405020304" pitchFamily="18" charset="0"/>
              </a:rPr>
              <a:t>Historical Examples</a:t>
            </a:r>
          </a:p>
          <a:p>
            <a:r>
              <a:rPr lang="en-US" sz="2400" b="1" dirty="0">
                <a:latin typeface="Times New Roman" panose="02020603050405020304" pitchFamily="18" charset="0"/>
                <a:cs typeface="Times New Roman" panose="02020603050405020304" pitchFamily="18" charset="0"/>
              </a:rPr>
              <a:t>1. Cold War – Radio Free Europe</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Western nations broadcast messages into communist countries to encourage dissent and dissatisfaction. Most historians agree this campaign was effective.</a:t>
            </a:r>
          </a:p>
          <a:p>
            <a:r>
              <a:rPr lang="en-US" sz="2400" b="1" dirty="0">
                <a:latin typeface="Times New Roman" panose="02020603050405020304" pitchFamily="18" charset="0"/>
                <a:cs typeface="Times New Roman" panose="02020603050405020304" pitchFamily="18" charset="0"/>
              </a:rPr>
              <a:t>2. Vietnam War</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Graphic television coverage significantly influenced public opinion and contributed to domestic opposition.</a:t>
            </a:r>
          </a:p>
        </p:txBody>
      </p:sp>
      <p:sp>
        <p:nvSpPr>
          <p:cNvPr id="3" name="TextBox 2">
            <a:extLst>
              <a:ext uri="{FF2B5EF4-FFF2-40B4-BE49-F238E27FC236}">
                <a16:creationId xmlns:a16="http://schemas.microsoft.com/office/drawing/2014/main" id="{2B5723CE-D638-51E0-615F-172FBCFE14F1}"/>
              </a:ext>
            </a:extLst>
          </p:cNvPr>
          <p:cNvSpPr txBox="1"/>
          <p:nvPr/>
        </p:nvSpPr>
        <p:spPr>
          <a:xfrm>
            <a:off x="563525" y="342565"/>
            <a:ext cx="11252200" cy="707886"/>
          </a:xfrm>
          <a:prstGeom prst="rect">
            <a:avLst/>
          </a:prstGeom>
          <a:noFill/>
        </p:spPr>
        <p:txBody>
          <a:bodyPr wrap="square">
            <a:spAutoFit/>
          </a:bodyPr>
          <a:lstStyle/>
          <a:p>
            <a:pPr algn="ctr"/>
            <a:r>
              <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INFORMATION WARFARE</a:t>
            </a:r>
          </a:p>
        </p:txBody>
      </p:sp>
    </p:spTree>
    <p:extLst>
      <p:ext uri="{BB962C8B-B14F-4D97-AF65-F5344CB8AC3E}">
        <p14:creationId xmlns:p14="http://schemas.microsoft.com/office/powerpoint/2010/main" val="40805151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B07BE-EEAD-B4DE-CADE-9DE967A18E9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1C30678-FB51-09CF-BAB1-83F60ECF234C}"/>
              </a:ext>
            </a:extLst>
          </p:cNvPr>
          <p:cNvSpPr txBox="1"/>
          <p:nvPr/>
        </p:nvSpPr>
        <p:spPr>
          <a:xfrm>
            <a:off x="916467" y="1411390"/>
            <a:ext cx="10312400" cy="4524315"/>
          </a:xfrm>
          <a:prstGeom prst="rect">
            <a:avLst/>
          </a:prstGeom>
          <a:noFill/>
        </p:spPr>
        <p:txBody>
          <a:bodyPr wrap="square">
            <a:spAutoFit/>
          </a:bodyPr>
          <a:lstStyle/>
          <a:p>
            <a:pPr algn="just"/>
            <a:r>
              <a:rPr lang="en-US" sz="2400" b="1" dirty="0">
                <a:latin typeface="Times New Roman" panose="02020603050405020304" pitchFamily="18" charset="0"/>
                <a:cs typeface="Times New Roman" panose="02020603050405020304" pitchFamily="18" charset="0"/>
              </a:rPr>
              <a:t>1. Machine Learning (ML) and Artificial Intelligence (AI) in Cybersecurity</a:t>
            </a: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ML and AI are </a:t>
            </a:r>
            <a:r>
              <a:rPr lang="en-US" sz="2400" b="1" dirty="0">
                <a:latin typeface="Times New Roman" panose="02020603050405020304" pitchFamily="18" charset="0"/>
                <a:cs typeface="Times New Roman" panose="02020603050405020304" pitchFamily="18" charset="0"/>
              </a:rPr>
              <a:t>increasingly being used in offensive cyber operations</a:t>
            </a:r>
            <a:r>
              <a:rPr lang="en-US" sz="2400" dirty="0">
                <a:latin typeface="Times New Roman" panose="02020603050405020304" pitchFamily="18" charset="0"/>
                <a:cs typeface="Times New Roman" panose="02020603050405020304" pitchFamily="18" charset="0"/>
              </a:rPr>
              <a:t>.</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Applications in cyber warfare</a:t>
            </a:r>
            <a:r>
              <a:rPr lang="en-US" sz="2400" dirty="0">
                <a:latin typeface="Times New Roman" panose="02020603050405020304" pitchFamily="18" charset="0"/>
                <a:cs typeface="Times New Roman" panose="02020603050405020304" pitchFamily="18" charset="0"/>
              </a:rPr>
              <a:t>:</a:t>
            </a:r>
          </a:p>
          <a:p>
            <a:pPr marL="800100" lvl="1" indent="-3429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AI-generated phishing attacks that are </a:t>
            </a:r>
            <a:r>
              <a:rPr lang="en-US" sz="2400" b="1" dirty="0">
                <a:latin typeface="Times New Roman" panose="02020603050405020304" pitchFamily="18" charset="0"/>
                <a:cs typeface="Times New Roman" panose="02020603050405020304" pitchFamily="18" charset="0"/>
              </a:rPr>
              <a:t>more convincing than human-written emails</a:t>
            </a:r>
            <a:r>
              <a:rPr lang="en-US" sz="2400" dirty="0">
                <a:latin typeface="Times New Roman" panose="02020603050405020304" pitchFamily="18" charset="0"/>
                <a:cs typeface="Times New Roman" panose="02020603050405020304" pitchFamily="18" charset="0"/>
              </a:rPr>
              <a:t>.</a:t>
            </a:r>
          </a:p>
          <a:p>
            <a:pPr marL="800100" lvl="1" indent="-3429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Adversarial AI capable of </a:t>
            </a:r>
            <a:r>
              <a:rPr lang="en-US" sz="2400" b="1" dirty="0">
                <a:latin typeface="Times New Roman" panose="02020603050405020304" pitchFamily="18" charset="0"/>
                <a:cs typeface="Times New Roman" panose="02020603050405020304" pitchFamily="18" charset="0"/>
              </a:rPr>
              <a:t>planning and executing cyber attacks autonomously</a:t>
            </a:r>
            <a:r>
              <a:rPr lang="en-US" sz="2400" dirty="0">
                <a:latin typeface="Times New Roman" panose="02020603050405020304" pitchFamily="18" charset="0"/>
                <a:cs typeface="Times New Roman" panose="02020603050405020304" pitchFamily="18" charset="0"/>
              </a:rPr>
              <a:t>.</a:t>
            </a:r>
          </a:p>
          <a:p>
            <a:pPr marL="800100" lvl="1" indent="-3429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Using ML to </a:t>
            </a:r>
            <a:r>
              <a:rPr lang="en-US" sz="2400" b="1" dirty="0">
                <a:latin typeface="Times New Roman" panose="02020603050405020304" pitchFamily="18" charset="0"/>
                <a:cs typeface="Times New Roman" panose="02020603050405020304" pitchFamily="18" charset="0"/>
              </a:rPr>
              <a:t>improve malware efficiency</a:t>
            </a:r>
            <a:r>
              <a:rPr lang="en-US" sz="2400" dirty="0">
                <a:latin typeface="Times New Roman" panose="02020603050405020304" pitchFamily="18" charset="0"/>
                <a:cs typeface="Times New Roman" panose="02020603050405020304" pitchFamily="18" charset="0"/>
              </a:rPr>
              <a:t>, target vulnerabilities, and adapt attack strategies.</a:t>
            </a:r>
          </a:p>
          <a:p>
            <a:pPr algn="just"/>
            <a:r>
              <a:rPr lang="en-US" sz="2400" b="1" dirty="0">
                <a:latin typeface="Times New Roman" panose="02020603050405020304" pitchFamily="18" charset="0"/>
                <a:cs typeface="Times New Roman" panose="02020603050405020304" pitchFamily="18" charset="0"/>
              </a:rPr>
              <a:t>Example:</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Malware instances can report data to a </a:t>
            </a:r>
            <a:r>
              <a:rPr lang="en-US" sz="2400" b="1" dirty="0">
                <a:latin typeface="Times New Roman" panose="02020603050405020304" pitchFamily="18" charset="0"/>
                <a:cs typeface="Times New Roman" panose="02020603050405020304" pitchFamily="18" charset="0"/>
              </a:rPr>
              <a:t>command and control (C2) server</a:t>
            </a:r>
            <a:r>
              <a:rPr lang="en-US" sz="2400" dirty="0">
                <a:latin typeface="Times New Roman" panose="02020603050405020304" pitchFamily="18" charset="0"/>
                <a:cs typeface="Times New Roman" panose="02020603050405020304" pitchFamily="18" charset="0"/>
              </a:rPr>
              <a:t>, where ML algorithms analyze the data to </a:t>
            </a:r>
            <a:r>
              <a:rPr lang="en-US" sz="2400" b="1" dirty="0">
                <a:latin typeface="Times New Roman" panose="02020603050405020304" pitchFamily="18" charset="0"/>
                <a:cs typeface="Times New Roman" panose="02020603050405020304" pitchFamily="18" charset="0"/>
              </a:rPr>
              <a:t>optimize future attacks</a:t>
            </a:r>
            <a:r>
              <a:rPr lang="en-US" sz="2400" dirty="0">
                <a:latin typeface="Times New Roman" panose="02020603050405020304" pitchFamily="18" charset="0"/>
                <a:cs typeface="Times New Roman" panose="02020603050405020304" pitchFamily="18" charset="0"/>
              </a:rPr>
              <a:t>.</a:t>
            </a:r>
          </a:p>
        </p:txBody>
      </p:sp>
      <p:sp>
        <p:nvSpPr>
          <p:cNvPr id="3" name="TextBox 2">
            <a:extLst>
              <a:ext uri="{FF2B5EF4-FFF2-40B4-BE49-F238E27FC236}">
                <a16:creationId xmlns:a16="http://schemas.microsoft.com/office/drawing/2014/main" id="{58638AAD-74D0-9FB1-EBEC-AC08F34EBC8A}"/>
              </a:ext>
            </a:extLst>
          </p:cNvPr>
          <p:cNvSpPr txBox="1"/>
          <p:nvPr/>
        </p:nvSpPr>
        <p:spPr>
          <a:xfrm>
            <a:off x="329609" y="342565"/>
            <a:ext cx="11486116" cy="707886"/>
          </a:xfrm>
          <a:prstGeom prst="rect">
            <a:avLst/>
          </a:prstGeom>
          <a:noFill/>
        </p:spPr>
        <p:txBody>
          <a:bodyPr wrap="square">
            <a:spAutoFit/>
          </a:bodyPr>
          <a:lstStyle/>
          <a:p>
            <a:pPr algn="ctr"/>
            <a:r>
              <a:rPr lang="en-US" sz="40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Future Trends in Cybersecurity and Cyber Warfare</a:t>
            </a:r>
          </a:p>
        </p:txBody>
      </p:sp>
    </p:spTree>
    <p:extLst>
      <p:ext uri="{BB962C8B-B14F-4D97-AF65-F5344CB8AC3E}">
        <p14:creationId xmlns:p14="http://schemas.microsoft.com/office/powerpoint/2010/main" val="33319196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0F685-92A1-2A7F-4D85-D4B9F745941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BFA1A62-15E5-4D70-85C8-C0587AFC0A71}"/>
              </a:ext>
            </a:extLst>
          </p:cNvPr>
          <p:cNvSpPr txBox="1"/>
          <p:nvPr/>
        </p:nvSpPr>
        <p:spPr>
          <a:xfrm>
            <a:off x="596900" y="979368"/>
            <a:ext cx="10738882" cy="5632311"/>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Governments worldwide are taking proactive steps against cyber threats. Pakistan has likewise initiated multiple efforts to strengthen its </a:t>
            </a:r>
            <a:r>
              <a:rPr lang="en-US" sz="2400" b="1" dirty="0">
                <a:latin typeface="Times New Roman" panose="02020603050405020304" pitchFamily="18" charset="0"/>
                <a:cs typeface="Times New Roman" panose="02020603050405020304" pitchFamily="18" charset="0"/>
              </a:rPr>
              <a:t>cybersecurity posture</a:t>
            </a:r>
            <a:r>
              <a:rPr lang="en-US" sz="2400" dirty="0">
                <a:latin typeface="Times New Roman" panose="02020603050405020304" pitchFamily="18" charset="0"/>
                <a:cs typeface="Times New Roman" panose="02020603050405020304" pitchFamily="18" charset="0"/>
              </a:rPr>
              <a:t>, enhance capacity building, and improve coordination across public and private sectors.</a:t>
            </a:r>
          </a:p>
          <a:p>
            <a:pPr algn="just"/>
            <a:r>
              <a:rPr lang="en-US" sz="2400" b="1" dirty="0">
                <a:latin typeface="Times New Roman" panose="02020603050405020304" pitchFamily="18" charset="0"/>
                <a:cs typeface="Times New Roman" panose="02020603050405020304" pitchFamily="18" charset="0"/>
              </a:rPr>
              <a:t>National Policies &amp; Legal Frameworks</a:t>
            </a: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National Cyber Security Policy (2021)</a:t>
            </a:r>
            <a:r>
              <a:rPr lang="en-US" sz="2400" dirty="0">
                <a:latin typeface="Times New Roman" panose="02020603050405020304" pitchFamily="18" charset="0"/>
                <a:cs typeface="Times New Roman" panose="02020603050405020304" pitchFamily="18" charset="0"/>
              </a:rPr>
              <a:t>: Strategic framework to protect critical infrastructure, promote research, and develop skilled workforce.</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Prevention of Electronic Crimes Act (PECA, 2016)</a:t>
            </a:r>
            <a:r>
              <a:rPr lang="en-US" sz="2400" dirty="0">
                <a:latin typeface="Times New Roman" panose="02020603050405020304" pitchFamily="18" charset="0"/>
                <a:cs typeface="Times New Roman" panose="02020603050405020304" pitchFamily="18" charset="0"/>
              </a:rPr>
              <a:t>: Criminalizes cybercrime &amp; cyber terrorism; enables digital forensics and prosecution.</a:t>
            </a:r>
          </a:p>
          <a:p>
            <a:pPr algn="just"/>
            <a:r>
              <a:rPr lang="en-US" sz="2400" b="1" dirty="0">
                <a:latin typeface="Times New Roman" panose="02020603050405020304" pitchFamily="18" charset="0"/>
                <a:cs typeface="Times New Roman" panose="02020603050405020304" pitchFamily="18" charset="0"/>
              </a:rPr>
              <a:t>Cyber Defense &amp; Response Units</a:t>
            </a: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PakCERT</a:t>
            </a:r>
            <a:r>
              <a:rPr lang="en-US" sz="2400" dirty="0">
                <a:latin typeface="Times New Roman" panose="02020603050405020304" pitchFamily="18" charset="0"/>
                <a:cs typeface="Times New Roman" panose="02020603050405020304" pitchFamily="18" charset="0"/>
              </a:rPr>
              <a:t>: National Computer Emergency Response Team for early warning, incident response, and threat intelligence.</a:t>
            </a:r>
          </a:p>
          <a:p>
            <a:pPr marL="342900" indent="-34290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FIA Cyber Crime Wing</a:t>
            </a:r>
            <a:r>
              <a:rPr lang="en-US" sz="2400" dirty="0">
                <a:latin typeface="Times New Roman" panose="02020603050405020304" pitchFamily="18" charset="0"/>
                <a:cs typeface="Times New Roman" panose="02020603050405020304" pitchFamily="18" charset="0"/>
              </a:rPr>
              <a:t>: Investigates cybercrime, cyber terrorism, and conducts digital forensics.</a:t>
            </a:r>
          </a:p>
          <a:p>
            <a:pPr marL="342900" indent="-342900" algn="just">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MoITT</a:t>
            </a:r>
            <a:r>
              <a:rPr lang="en-US" sz="2400" dirty="0">
                <a:latin typeface="Times New Roman" panose="02020603050405020304" pitchFamily="18" charset="0"/>
                <a:cs typeface="Times New Roman" panose="02020603050405020304" pitchFamily="18" charset="0"/>
              </a:rPr>
              <a:t>: Coordinates national cybersecurity initiatives and strategies.</a:t>
            </a:r>
          </a:p>
          <a:p>
            <a:pPr algn="just"/>
            <a:endParaRPr lang="en-US" sz="24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5556FC8-88FA-2FA9-0693-0D23E40AA8E1}"/>
              </a:ext>
            </a:extLst>
          </p:cNvPr>
          <p:cNvSpPr txBox="1"/>
          <p:nvPr/>
        </p:nvSpPr>
        <p:spPr>
          <a:xfrm>
            <a:off x="223283" y="151179"/>
            <a:ext cx="11486116" cy="646331"/>
          </a:xfrm>
          <a:prstGeom prst="rect">
            <a:avLst/>
          </a:prstGeom>
          <a:noFill/>
        </p:spPr>
        <p:txBody>
          <a:bodyPr wrap="square">
            <a:spAutoFit/>
          </a:bodyPr>
          <a:lstStyle/>
          <a:p>
            <a:pPr algn="ctr"/>
            <a:r>
              <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Positive Trends - Cybersecurity Legislation &amp; Strategy</a:t>
            </a:r>
          </a:p>
        </p:txBody>
      </p:sp>
    </p:spTree>
    <p:extLst>
      <p:ext uri="{BB962C8B-B14F-4D97-AF65-F5344CB8AC3E}">
        <p14:creationId xmlns:p14="http://schemas.microsoft.com/office/powerpoint/2010/main" val="36726595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C1FB5-ADBD-0F67-7C29-482A8ED8901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35C961A-3772-2730-5B60-185A2B73427B}"/>
              </a:ext>
            </a:extLst>
          </p:cNvPr>
          <p:cNvSpPr txBox="1"/>
          <p:nvPr/>
        </p:nvSpPr>
        <p:spPr>
          <a:xfrm>
            <a:off x="873347" y="1075061"/>
            <a:ext cx="10556653" cy="5293757"/>
          </a:xfrm>
          <a:prstGeom prst="rect">
            <a:avLst/>
          </a:prstGeom>
          <a:noFill/>
        </p:spPr>
        <p:txBody>
          <a:bodyPr wrap="square">
            <a:spAutoFit/>
          </a:bodyPr>
          <a:lstStyle/>
          <a:p>
            <a:pPr algn="just"/>
            <a:r>
              <a:rPr lang="en-US" sz="2600" b="1" dirty="0">
                <a:latin typeface="Times New Roman" panose="02020603050405020304" pitchFamily="18" charset="0"/>
                <a:cs typeface="Times New Roman" panose="02020603050405020304" pitchFamily="18" charset="0"/>
              </a:rPr>
              <a:t>Capacity Building &amp; Education</a:t>
            </a:r>
            <a:endParaRPr lang="en-US" sz="26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600" b="1" dirty="0">
                <a:latin typeface="Times New Roman" panose="02020603050405020304" pitchFamily="18" charset="0"/>
                <a:cs typeface="Times New Roman" panose="02020603050405020304" pitchFamily="18" charset="0"/>
              </a:rPr>
              <a:t>National Center of Cyber Security (NCCS)</a:t>
            </a:r>
            <a:r>
              <a:rPr lang="en-US" sz="2600" dirty="0">
                <a:latin typeface="Times New Roman" panose="02020603050405020304" pitchFamily="18" charset="0"/>
                <a:cs typeface="Times New Roman" panose="02020603050405020304" pitchFamily="18" charset="0"/>
              </a:rPr>
              <a:t>: R&amp;D, academic programs, and industry collaboration.</a:t>
            </a:r>
          </a:p>
          <a:p>
            <a:pPr marL="457200"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Universities offer </a:t>
            </a:r>
            <a:r>
              <a:rPr lang="en-US" sz="2600" b="1" dirty="0">
                <a:latin typeface="Times New Roman" panose="02020603050405020304" pitchFamily="18" charset="0"/>
                <a:cs typeface="Times New Roman" panose="02020603050405020304" pitchFamily="18" charset="0"/>
              </a:rPr>
              <a:t>BS/MS degrees, certifications, and ethical hacking courses</a:t>
            </a:r>
            <a:r>
              <a:rPr lang="en-US" sz="2600" dirty="0">
                <a:latin typeface="Times New Roman" panose="02020603050405020304" pitchFamily="18" charset="0"/>
                <a:cs typeface="Times New Roman" panose="02020603050405020304" pitchFamily="18" charset="0"/>
              </a:rPr>
              <a:t>.</a:t>
            </a:r>
          </a:p>
          <a:p>
            <a:pPr algn="just"/>
            <a:r>
              <a:rPr lang="en-US" sz="2600" b="1" dirty="0">
                <a:latin typeface="Times New Roman" panose="02020603050405020304" pitchFamily="18" charset="0"/>
                <a:cs typeface="Times New Roman" panose="02020603050405020304" pitchFamily="18" charset="0"/>
              </a:rPr>
              <a:t>Law Enforcement &amp; Task Forces</a:t>
            </a:r>
            <a:endParaRPr lang="en-US" sz="26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600" b="1" dirty="0">
                <a:latin typeface="Times New Roman" panose="02020603050405020304" pitchFamily="18" charset="0"/>
                <a:cs typeface="Times New Roman" panose="02020603050405020304" pitchFamily="18" charset="0"/>
              </a:rPr>
              <a:t>Digital Forensics Labs</a:t>
            </a:r>
            <a:r>
              <a:rPr lang="en-US" sz="2600" dirty="0">
                <a:latin typeface="Times New Roman" panose="02020603050405020304" pitchFamily="18" charset="0"/>
                <a:cs typeface="Times New Roman" panose="02020603050405020304" pitchFamily="18" charset="0"/>
              </a:rPr>
              <a:t> in FIA and provincial agencies.</a:t>
            </a:r>
          </a:p>
          <a:p>
            <a:pPr marL="457200" indent="-457200" algn="just">
              <a:buFont typeface="Arial" panose="020B0604020202020204" pitchFamily="34" charset="0"/>
              <a:buChar char="•"/>
            </a:pPr>
            <a:r>
              <a:rPr lang="en-US" sz="2600" b="1" dirty="0">
                <a:latin typeface="Times New Roman" panose="02020603050405020304" pitchFamily="18" charset="0"/>
                <a:cs typeface="Times New Roman" panose="02020603050405020304" pitchFamily="18" charset="0"/>
              </a:rPr>
              <a:t>Joint Cybercrime Task Forces</a:t>
            </a:r>
            <a:r>
              <a:rPr lang="en-US" sz="2600" dirty="0">
                <a:latin typeface="Times New Roman" panose="02020603050405020304" pitchFamily="18" charset="0"/>
                <a:cs typeface="Times New Roman" panose="02020603050405020304" pitchFamily="18" charset="0"/>
              </a:rPr>
              <a:t>: Multi-agency coordination for incident response and evidence collection.</a:t>
            </a:r>
          </a:p>
          <a:p>
            <a:pPr algn="just"/>
            <a:r>
              <a:rPr lang="en-US" sz="2600" b="1" dirty="0">
                <a:latin typeface="Times New Roman" panose="02020603050405020304" pitchFamily="18" charset="0"/>
                <a:cs typeface="Times New Roman" panose="02020603050405020304" pitchFamily="18" charset="0"/>
              </a:rPr>
              <a:t>Public Awareness &amp; Outreach</a:t>
            </a:r>
            <a:endParaRPr lang="en-US" sz="26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Safe Internet usage campaigns.</a:t>
            </a:r>
          </a:p>
          <a:p>
            <a:pPr marL="457200"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Training programs for schools, universities, and general public.</a:t>
            </a:r>
          </a:p>
          <a:p>
            <a:pPr algn="just"/>
            <a:endParaRPr lang="en-US" sz="26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FC682C1-2952-69DE-242F-5396419BFA86}"/>
              </a:ext>
            </a:extLst>
          </p:cNvPr>
          <p:cNvSpPr txBox="1"/>
          <p:nvPr/>
        </p:nvSpPr>
        <p:spPr>
          <a:xfrm>
            <a:off x="223283" y="151179"/>
            <a:ext cx="11486116" cy="646331"/>
          </a:xfrm>
          <a:prstGeom prst="rect">
            <a:avLst/>
          </a:prstGeom>
          <a:noFill/>
        </p:spPr>
        <p:txBody>
          <a:bodyPr wrap="square">
            <a:spAutoFit/>
          </a:bodyPr>
          <a:lstStyle/>
          <a:p>
            <a:pPr algn="ctr"/>
            <a:r>
              <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Positive Trends - Cyber Defense &amp; Awareness</a:t>
            </a:r>
          </a:p>
        </p:txBody>
      </p:sp>
    </p:spTree>
    <p:extLst>
      <p:ext uri="{BB962C8B-B14F-4D97-AF65-F5344CB8AC3E}">
        <p14:creationId xmlns:p14="http://schemas.microsoft.com/office/powerpoint/2010/main" val="17376474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AD123-1ED6-80A3-5A8B-977EA8BE4B7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C78DFFC-34B0-C4E2-5C29-D4E8230C54A5}"/>
              </a:ext>
            </a:extLst>
          </p:cNvPr>
          <p:cNvSpPr txBox="1"/>
          <p:nvPr/>
        </p:nvSpPr>
        <p:spPr>
          <a:xfrm>
            <a:off x="990305" y="1521629"/>
            <a:ext cx="10556653" cy="4401205"/>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Threats continue to grow</a:t>
            </a:r>
            <a:r>
              <a:rPr lang="en-US" sz="2800" dirty="0">
                <a:latin typeface="Times New Roman" panose="02020603050405020304" pitchFamily="18" charset="0"/>
                <a:cs typeface="Times New Roman" panose="02020603050405020304" pitchFamily="18" charset="0"/>
              </a:rPr>
              <a:t> as attackers become more sophisticated.</a:t>
            </a:r>
          </a:p>
          <a:p>
            <a:pPr algn="just"/>
            <a:r>
              <a:rPr lang="en-US" sz="2800" dirty="0">
                <a:latin typeface="Times New Roman" panose="02020603050405020304" pitchFamily="18" charset="0"/>
                <a:cs typeface="Times New Roman" panose="02020603050405020304" pitchFamily="18" charset="0"/>
              </a:rPr>
              <a:t>Even groups that </a:t>
            </a:r>
            <a:r>
              <a:rPr lang="en-US" sz="2800" b="1" dirty="0">
                <a:latin typeface="Times New Roman" panose="02020603050405020304" pitchFamily="18" charset="0"/>
                <a:cs typeface="Times New Roman" panose="02020603050405020304" pitchFamily="18" charset="0"/>
              </a:rPr>
              <a:t>haven’t used cyber terrorism directly</a:t>
            </a:r>
            <a:r>
              <a:rPr lang="en-US" sz="2800" dirty="0">
                <a:latin typeface="Times New Roman" panose="02020603050405020304" pitchFamily="18" charset="0"/>
                <a:cs typeface="Times New Roman" panose="02020603050405020304" pitchFamily="18" charset="0"/>
              </a:rPr>
              <a:t> (e.g., Al-Qaeda) exploit the Internet for planning and coordination.</a:t>
            </a:r>
          </a:p>
          <a:p>
            <a:pPr algn="just"/>
            <a:r>
              <a:rPr lang="en-US" sz="2800" b="1" dirty="0">
                <a:latin typeface="Times New Roman" panose="02020603050405020304" pitchFamily="18" charset="0"/>
                <a:cs typeface="Times New Roman" panose="02020603050405020304" pitchFamily="18" charset="0"/>
              </a:rPr>
              <a:t>High-risk attack scenarios</a:t>
            </a:r>
            <a:r>
              <a:rPr lang="en-US" sz="2800" dirty="0">
                <a:latin typeface="Times New Roman" panose="02020603050405020304" pitchFamily="18" charset="0"/>
                <a:cs typeface="Times New Roman" panose="02020603050405020304" pitchFamily="18" charset="0"/>
              </a:rPr>
              <a:t> include:</a:t>
            </a:r>
          </a:p>
          <a:p>
            <a:pPr marL="800100" lvl="1" indent="-3429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Disruption or sabotage of critical infrastructure (power plants, water systems, chemical plants).</a:t>
            </a:r>
          </a:p>
          <a:p>
            <a:pPr marL="800100" lvl="1" indent="-3429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Manipulation of computer-controlled machinery to cause </a:t>
            </a:r>
            <a:r>
              <a:rPr lang="en-US" sz="2800" b="1" dirty="0">
                <a:latin typeface="Times New Roman" panose="02020603050405020304" pitchFamily="18" charset="0"/>
                <a:cs typeface="Times New Roman" panose="02020603050405020304" pitchFamily="18" charset="0"/>
              </a:rPr>
              <a:t>physical harm or environmental damage</a:t>
            </a:r>
            <a:r>
              <a:rPr lang="en-US" sz="2800" dirty="0">
                <a:latin typeface="Times New Roman" panose="02020603050405020304" pitchFamily="18" charset="0"/>
                <a:cs typeface="Times New Roman" panose="02020603050405020304" pitchFamily="18" charset="0"/>
              </a:rPr>
              <a:t>.</a:t>
            </a:r>
          </a:p>
          <a:p>
            <a:pPr algn="just"/>
            <a:r>
              <a:rPr lang="en-US" sz="2800" b="1" dirty="0">
                <a:latin typeface="Times New Roman" panose="02020603050405020304" pitchFamily="18" charset="0"/>
                <a:cs typeface="Times New Roman" panose="02020603050405020304" pitchFamily="18" charset="0"/>
              </a:rPr>
              <a:t>Mass casualties or economic damage</a:t>
            </a:r>
            <a:r>
              <a:rPr lang="en-US" sz="2800" dirty="0">
                <a:latin typeface="Times New Roman" panose="02020603050405020304" pitchFamily="18" charset="0"/>
                <a:cs typeface="Times New Roman" panose="02020603050405020304" pitchFamily="18" charset="0"/>
              </a:rPr>
              <a:t> could result from targeted cyber attacks on critical infrastructure</a:t>
            </a:r>
          </a:p>
        </p:txBody>
      </p:sp>
      <p:sp>
        <p:nvSpPr>
          <p:cNvPr id="3" name="TextBox 2">
            <a:extLst>
              <a:ext uri="{FF2B5EF4-FFF2-40B4-BE49-F238E27FC236}">
                <a16:creationId xmlns:a16="http://schemas.microsoft.com/office/drawing/2014/main" id="{E2CA0072-5462-2E5D-22FE-BABC5EA7CF03}"/>
              </a:ext>
            </a:extLst>
          </p:cNvPr>
          <p:cNvSpPr txBox="1"/>
          <p:nvPr/>
        </p:nvSpPr>
        <p:spPr>
          <a:xfrm>
            <a:off x="352942" y="438258"/>
            <a:ext cx="11486116" cy="646331"/>
          </a:xfrm>
          <a:prstGeom prst="rect">
            <a:avLst/>
          </a:prstGeom>
          <a:noFill/>
        </p:spPr>
        <p:txBody>
          <a:bodyPr wrap="square">
            <a:spAutoFit/>
          </a:bodyPr>
          <a:lstStyle/>
          <a:p>
            <a:pPr algn="ctr"/>
            <a:r>
              <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Negative Trends - Cybersecurity and Cyber Warfare</a:t>
            </a:r>
          </a:p>
        </p:txBody>
      </p:sp>
    </p:spTree>
    <p:extLst>
      <p:ext uri="{BB962C8B-B14F-4D97-AF65-F5344CB8AC3E}">
        <p14:creationId xmlns:p14="http://schemas.microsoft.com/office/powerpoint/2010/main" val="5785543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9B549-4AF5-71C1-C8DF-C6306DDC807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D8BDB5B-A467-E4A4-3D04-7C9A85A1FFA0}"/>
              </a:ext>
            </a:extLst>
          </p:cNvPr>
          <p:cNvSpPr txBox="1"/>
          <p:nvPr/>
        </p:nvSpPr>
        <p:spPr>
          <a:xfrm>
            <a:off x="1149793" y="1010716"/>
            <a:ext cx="10950057" cy="5632311"/>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1. Strengthening Academic &amp; Research Programs</a:t>
            </a: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Dedicated academic programs in computer security.</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Encourage research focused on cyber threats and countermeasures.</a:t>
            </a:r>
          </a:p>
          <a:p>
            <a:r>
              <a:rPr lang="en-US" sz="2400" b="1" dirty="0">
                <a:latin typeface="Times New Roman" panose="02020603050405020304" pitchFamily="18" charset="0"/>
                <a:cs typeface="Times New Roman" panose="02020603050405020304" pitchFamily="18" charset="0"/>
              </a:rPr>
              <a:t>2. Law Enforcement &amp; Skilled Professionals</a:t>
            </a: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Treat cyber crime more seriously with stricter punishments.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Train highly skilled computer experts in law enforcement.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Basic IT knowledge is insufficient; specialized cybersecurity expertise is essential.</a:t>
            </a:r>
          </a:p>
          <a:p>
            <a:r>
              <a:rPr lang="en-US" sz="2400" b="1" dirty="0">
                <a:latin typeface="Times New Roman" panose="02020603050405020304" pitchFamily="18" charset="0"/>
                <a:cs typeface="Times New Roman" panose="02020603050405020304" pitchFamily="18" charset="0"/>
              </a:rPr>
              <a:t>3. Coordination &amp; Emergency Reporting</a:t>
            </a: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Implement centralized reporting systems for attacks.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Enable real-time information sharing among security professionals.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Helps detect coordinated cyber attacks early.</a:t>
            </a:r>
          </a:p>
          <a:p>
            <a:r>
              <a:rPr lang="en-US" sz="2400" b="1" dirty="0">
                <a:latin typeface="Times New Roman" panose="02020603050405020304" pitchFamily="18" charset="0"/>
                <a:cs typeface="Times New Roman" panose="02020603050405020304" pitchFamily="18" charset="0"/>
              </a:rPr>
              <a:t>4. Enhanced Security Measures</a:t>
            </a: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Maintain recovery processes for critical data.</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Prioritize protection of high-value and sensitive data.</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Understand that even low-value data can reveal critical information.</a:t>
            </a:r>
          </a:p>
        </p:txBody>
      </p:sp>
      <p:sp>
        <p:nvSpPr>
          <p:cNvPr id="3" name="TextBox 2">
            <a:extLst>
              <a:ext uri="{FF2B5EF4-FFF2-40B4-BE49-F238E27FC236}">
                <a16:creationId xmlns:a16="http://schemas.microsoft.com/office/drawing/2014/main" id="{51BEDF05-2D61-1ABC-FFB3-2F3A9673E6C7}"/>
              </a:ext>
            </a:extLst>
          </p:cNvPr>
          <p:cNvSpPr txBox="1"/>
          <p:nvPr/>
        </p:nvSpPr>
        <p:spPr>
          <a:xfrm>
            <a:off x="161556" y="214973"/>
            <a:ext cx="11486116" cy="646331"/>
          </a:xfrm>
          <a:prstGeom prst="rect">
            <a:avLst/>
          </a:prstGeom>
          <a:noFill/>
        </p:spPr>
        <p:txBody>
          <a:bodyPr wrap="square">
            <a:spAutoFit/>
          </a:bodyPr>
          <a:lstStyle/>
          <a:p>
            <a:pPr algn="ctr"/>
            <a:r>
              <a:rPr lang="en-US" sz="3600" b="1" dirty="0">
                <a:solidFill>
                  <a:srgbClr val="0070C0"/>
                </a:solidFill>
                <a:latin typeface="Times New Roman" panose="02020603050405020304" pitchFamily="18" charset="0"/>
                <a:ea typeface="Tahoma" panose="020B0604030504040204" pitchFamily="34" charset="0"/>
                <a:cs typeface="Times New Roman" panose="02020603050405020304" pitchFamily="18" charset="0"/>
              </a:rPr>
              <a:t>Defense Against Cyber Terrorism</a:t>
            </a:r>
          </a:p>
        </p:txBody>
      </p:sp>
    </p:spTree>
    <p:extLst>
      <p:ext uri="{BB962C8B-B14F-4D97-AF65-F5344CB8AC3E}">
        <p14:creationId xmlns:p14="http://schemas.microsoft.com/office/powerpoint/2010/main" val="24289867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24840-87B7-5C2F-E6CB-CE9BD61D278B}"/>
              </a:ext>
            </a:extLst>
          </p:cNvPr>
          <p:cNvSpPr>
            <a:spLocks noGrp="1"/>
          </p:cNvSpPr>
          <p:nvPr>
            <p:ph type="title"/>
          </p:nvPr>
        </p:nvSpPr>
        <p:spPr>
          <a:xfrm>
            <a:off x="4148328" y="1425940"/>
            <a:ext cx="6194552" cy="2807208"/>
          </a:xfrm>
        </p:spPr>
        <p:txBody>
          <a:bodyPr>
            <a:normAutofit/>
          </a:bodyPr>
          <a:lstStyle/>
          <a:p>
            <a:r>
              <a:rPr lang="en-US" sz="8000" dirty="0"/>
              <a:t>Thank you!</a:t>
            </a:r>
            <a:endParaRPr lang="en-PK" sz="8000" dirty="0"/>
          </a:p>
        </p:txBody>
      </p:sp>
      <p:sp>
        <p:nvSpPr>
          <p:cNvPr id="4" name="TextBox 3">
            <a:extLst>
              <a:ext uri="{FF2B5EF4-FFF2-40B4-BE49-F238E27FC236}">
                <a16:creationId xmlns:a16="http://schemas.microsoft.com/office/drawing/2014/main" id="{7119812F-AABC-0688-A538-8A303FE5DAE1}"/>
              </a:ext>
            </a:extLst>
          </p:cNvPr>
          <p:cNvSpPr txBox="1"/>
          <p:nvPr/>
        </p:nvSpPr>
        <p:spPr>
          <a:xfrm>
            <a:off x="944880" y="3337560"/>
            <a:ext cx="10535920" cy="369332"/>
          </a:xfrm>
          <a:prstGeom prst="rect">
            <a:avLst/>
          </a:prstGeom>
          <a:noFill/>
        </p:spPr>
        <p:txBody>
          <a:bodyPr wrap="square">
            <a:spAutoFit/>
          </a:bodyPr>
          <a:lstStyle/>
          <a:p>
            <a:pPr algn="ctr"/>
            <a:r>
              <a:rPr lang="en-US" dirty="0"/>
              <a:t>“Cyber Terrorism is more dangerous than </a:t>
            </a:r>
            <a:r>
              <a:rPr lang="en-US" dirty="0" err="1"/>
              <a:t>Terorism</a:t>
            </a:r>
            <a:r>
              <a:rPr lang="en-US" dirty="0"/>
              <a:t>”</a:t>
            </a:r>
            <a:endParaRPr lang="en-PK" dirty="0"/>
          </a:p>
        </p:txBody>
      </p:sp>
    </p:spTree>
    <p:extLst>
      <p:ext uri="{BB962C8B-B14F-4D97-AF65-F5344CB8AC3E}">
        <p14:creationId xmlns:p14="http://schemas.microsoft.com/office/powerpoint/2010/main" val="119586899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{45F63935-1AF4-4F8C-991F-4D25D3E9C223}TF2ec419c9-97c3-4958-b02a-0886397d33afcfe10e4b-d68909c4b1b0</Template>
  <TotalTime>4032</TotalTime>
  <Words>1774</Words>
  <Application>Microsoft Office PowerPoint</Application>
  <PresentationFormat>Widescreen</PresentationFormat>
  <Paragraphs>235</Paragraphs>
  <Slides>27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Arial</vt:lpstr>
      <vt:lpstr>Calibri</vt:lpstr>
      <vt:lpstr>Rockwell</vt:lpstr>
      <vt:lpstr>Rockwell Condensed</vt:lpstr>
      <vt:lpstr>Tahoma</vt:lpstr>
      <vt:lpstr>Times New Roman</vt:lpstr>
      <vt:lpstr>Wingdings</vt:lpstr>
      <vt:lpstr>Wood Type</vt:lpstr>
      <vt:lpstr>Cyber Security</vt:lpstr>
      <vt:lpstr>Lecture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Security</dc:title>
  <dc:creator>Dell</dc:creator>
  <cp:lastModifiedBy>Dell</cp:lastModifiedBy>
  <cp:revision>2790</cp:revision>
  <dcterms:created xsi:type="dcterms:W3CDTF">2025-10-15T06:15:30Z</dcterms:created>
  <dcterms:modified xsi:type="dcterms:W3CDTF">2026-03-13T11:41:55Z</dcterms:modified>
</cp:coreProperties>
</file>