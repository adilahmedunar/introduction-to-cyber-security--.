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3"/>
  </p:notesMasterIdLst>
  <p:sldIdLst>
    <p:sldId id="256" r:id="rId2"/>
    <p:sldId id="261" r:id="rId3"/>
    <p:sldId id="401" r:id="rId4"/>
    <p:sldId id="422" r:id="rId5"/>
    <p:sldId id="450" r:id="rId6"/>
    <p:sldId id="451" r:id="rId7"/>
    <p:sldId id="452" r:id="rId8"/>
    <p:sldId id="453" r:id="rId9"/>
    <p:sldId id="454" r:id="rId10"/>
    <p:sldId id="424" r:id="rId11"/>
    <p:sldId id="423" r:id="rId12"/>
    <p:sldId id="468" r:id="rId13"/>
    <p:sldId id="425" r:id="rId14"/>
    <p:sldId id="426" r:id="rId15"/>
    <p:sldId id="457" r:id="rId16"/>
    <p:sldId id="458" r:id="rId17"/>
    <p:sldId id="459" r:id="rId18"/>
    <p:sldId id="460" r:id="rId19"/>
    <p:sldId id="461" r:id="rId20"/>
    <p:sldId id="462"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42" autoAdjust="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18/01/2026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2148474" y="4343158"/>
            <a:ext cx="8053832" cy="127304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 18</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425448" y="1765005"/>
            <a:ext cx="8760543" cy="6494085"/>
          </a:xfrm>
          <a:prstGeom prst="rect">
            <a:avLst/>
          </a:prstGeom>
          <a:noFill/>
        </p:spPr>
        <p:txBody>
          <a:bodyPr wrap="square">
            <a:spAutoFit/>
          </a:bodyPr>
          <a:lstStyle/>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CIA Properties</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Encryption</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Cryptography Overview</a:t>
            </a:r>
          </a:p>
          <a:p>
            <a:pPr marL="914400" lvl="1"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  The Caesar Cipher</a:t>
            </a:r>
          </a:p>
          <a:p>
            <a:pPr marL="1143000" lvl="1" indent="-685800">
              <a:buFont typeface="Wingdings" panose="05000000000000000000" pitchFamily="2" charset="2"/>
              <a:buChar char="§"/>
            </a:pPr>
            <a:r>
              <a:rPr lang="en-US" sz="3200" b="1" dirty="0">
                <a:latin typeface="Times New Roman" panose="02020603050405020304" pitchFamily="18" charset="0"/>
                <a:ea typeface="Tahoma" panose="020B0604030504040204" pitchFamily="34" charset="0"/>
                <a:cs typeface="Times New Roman" panose="02020603050405020304" pitchFamily="18" charset="0"/>
              </a:rPr>
              <a:t>Atbash – Hebrew Code</a:t>
            </a:r>
          </a:p>
          <a:p>
            <a:pPr marL="1143000" lvl="1" indent="-685800">
              <a:buFont typeface="Wingdings" panose="05000000000000000000" pitchFamily="2" charset="2"/>
              <a:buChar char="§"/>
            </a:pPr>
            <a:r>
              <a:rPr lang="en-US" sz="3200" b="1" dirty="0">
                <a:latin typeface="Times New Roman" panose="02020603050405020304" pitchFamily="18" charset="0"/>
                <a:ea typeface="Tahoma" panose="020B0604030504040204" pitchFamily="34" charset="0"/>
                <a:cs typeface="Times New Roman" panose="02020603050405020304" pitchFamily="18" charset="0"/>
              </a:rPr>
              <a:t>Rail Fence Cipher</a:t>
            </a:r>
          </a:p>
          <a:p>
            <a:pPr marL="1143000" lvl="1" indent="-685800">
              <a:buFont typeface="Wingdings" panose="05000000000000000000" pitchFamily="2" charset="2"/>
              <a:buChar char="§"/>
            </a:pPr>
            <a:r>
              <a:rPr lang="en-US" sz="3200" b="1" dirty="0">
                <a:latin typeface="Times New Roman" panose="02020603050405020304" pitchFamily="18" charset="0"/>
                <a:ea typeface="Tahoma" panose="020B0604030504040204" pitchFamily="34" charset="0"/>
                <a:cs typeface="Times New Roman" panose="02020603050405020304" pitchFamily="18" charset="0"/>
              </a:rPr>
              <a:t>Binary Operations</a:t>
            </a:r>
          </a:p>
          <a:p>
            <a:pPr marL="1143000" lvl="1" indent="-685800">
              <a:buFont typeface="Wingdings" panose="05000000000000000000" pitchFamily="2" charset="2"/>
              <a:buChar char="§"/>
            </a:pPr>
            <a:endParaRPr lang="en-US" sz="3200" b="1" dirty="0">
              <a:latin typeface="Times New Roman" panose="02020603050405020304" pitchFamily="18" charset="0"/>
              <a:ea typeface="Tahoma" panose="020B0604030504040204" pitchFamily="34" charset="0"/>
              <a:cs typeface="Times New Roman" panose="02020603050405020304" pitchFamily="18" charset="0"/>
            </a:endParaRPr>
          </a:p>
          <a:p>
            <a:pPr marL="1143000" lvl="1" indent="-685800">
              <a:buFont typeface="Wingdings" panose="05000000000000000000" pitchFamily="2" charset="2"/>
              <a:buChar char="§"/>
            </a:pPr>
            <a:endParaRPr lang="en-US" sz="3200" b="1" dirty="0">
              <a:latin typeface="Times New Roman" panose="02020603050405020304" pitchFamily="18" charset="0"/>
              <a:ea typeface="Tahoma" panose="020B0604030504040204" pitchFamily="34" charset="0"/>
              <a:cs typeface="Times New Roman" panose="02020603050405020304" pitchFamily="18" charset="0"/>
            </a:endParaRPr>
          </a:p>
          <a:p>
            <a:endParaRPr lang="en-US" sz="3200" b="1" dirty="0">
              <a:latin typeface="Times New Roman" panose="02020603050405020304" pitchFamily="18" charset="0"/>
              <a:ea typeface="Tahoma" panose="020B0604030504040204" pitchFamily="34" charset="0"/>
              <a:cs typeface="Times New Roman" panose="02020603050405020304" pitchFamily="18" charset="0"/>
            </a:endParaRPr>
          </a:p>
          <a:p>
            <a:pPr marL="914400" lvl="1" indent="-457200">
              <a:buFont typeface="Wingdings" panose="05000000000000000000" pitchFamily="2" charset="2"/>
              <a:buChar char="§"/>
            </a:pPr>
            <a:endParaRPr lang="en-US" sz="32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US" sz="32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45CAF-403C-69C5-2A65-204909667E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CC200A-0BA4-9400-CD30-3792106888DA}"/>
              </a:ext>
            </a:extLst>
          </p:cNvPr>
          <p:cNvSpPr txBox="1"/>
          <p:nvPr/>
        </p:nvSpPr>
        <p:spPr>
          <a:xfrm>
            <a:off x="1010920" y="4873277"/>
            <a:ext cx="10535920" cy="954107"/>
          </a:xfrm>
          <a:prstGeom prst="rect">
            <a:avLst/>
          </a:prstGeom>
          <a:noFill/>
        </p:spPr>
        <p:txBody>
          <a:bodyPr wrap="square">
            <a:spAutoFit/>
          </a:bodyPr>
          <a:lstStyle/>
          <a:p>
            <a:pPr algn="ctr">
              <a:buNone/>
            </a:pPr>
            <a:r>
              <a:rPr lang="en-US" sz="2800" dirty="0">
                <a:latin typeface="Times New Roman" panose="02020603050405020304" pitchFamily="18" charset="0"/>
                <a:ea typeface="Tahoma" panose="020B0604030504040204" pitchFamily="34" charset="0"/>
                <a:cs typeface="Times New Roman" panose="02020603050405020304" pitchFamily="18" charset="0"/>
              </a:rPr>
              <a:t>Confidentiality ensures that </a:t>
            </a:r>
            <a:r>
              <a:rPr lang="en-US" sz="2800" b="1" dirty="0">
                <a:latin typeface="Times New Roman" panose="02020603050405020304" pitchFamily="18" charset="0"/>
                <a:ea typeface="Tahoma" panose="020B0604030504040204" pitchFamily="34" charset="0"/>
                <a:cs typeface="Times New Roman" panose="02020603050405020304" pitchFamily="18" charset="0"/>
              </a:rPr>
              <a:t>data is accessible only to authorized users</a:t>
            </a:r>
            <a:r>
              <a:rPr lang="en-US" sz="2800" dirty="0">
                <a:latin typeface="Times New Roman" panose="02020603050405020304" pitchFamily="18" charset="0"/>
                <a:ea typeface="Tahoma" panose="020B0604030504040204" pitchFamily="34" charset="0"/>
                <a:cs typeface="Times New Roman" panose="02020603050405020304" pitchFamily="18" charset="0"/>
              </a:rPr>
              <a:t> and is protected from unauthorized access and disclosure.</a:t>
            </a:r>
          </a:p>
        </p:txBody>
      </p:sp>
      <p:pic>
        <p:nvPicPr>
          <p:cNvPr id="4" name="Picture 3">
            <a:extLst>
              <a:ext uri="{FF2B5EF4-FFF2-40B4-BE49-F238E27FC236}">
                <a16:creationId xmlns:a16="http://schemas.microsoft.com/office/drawing/2014/main" id="{93378BB4-6D8C-0AEC-4D2E-54D6A4DDA528}"/>
              </a:ext>
            </a:extLst>
          </p:cNvPr>
          <p:cNvPicPr>
            <a:picLocks noChangeAspect="1"/>
          </p:cNvPicPr>
          <p:nvPr/>
        </p:nvPicPr>
        <p:blipFill>
          <a:blip r:embed="rId2"/>
          <a:stretch>
            <a:fillRect/>
          </a:stretch>
        </p:blipFill>
        <p:spPr>
          <a:xfrm>
            <a:off x="2919729" y="1292225"/>
            <a:ext cx="6046471" cy="3490858"/>
          </a:xfrm>
          <a:prstGeom prst="rect">
            <a:avLst/>
          </a:prstGeom>
        </p:spPr>
      </p:pic>
      <p:sp>
        <p:nvSpPr>
          <p:cNvPr id="7" name="TextBox 6">
            <a:extLst>
              <a:ext uri="{FF2B5EF4-FFF2-40B4-BE49-F238E27FC236}">
                <a16:creationId xmlns:a16="http://schemas.microsoft.com/office/drawing/2014/main" id="{FAE4B854-213B-F892-BB54-FC067262C97B}"/>
              </a:ext>
            </a:extLst>
          </p:cNvPr>
          <p:cNvSpPr txBox="1"/>
          <p:nvPr/>
        </p:nvSpPr>
        <p:spPr>
          <a:xfrm>
            <a:off x="3723640" y="217388"/>
            <a:ext cx="51104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CIA Properties</a:t>
            </a:r>
          </a:p>
        </p:txBody>
      </p:sp>
    </p:spTree>
    <p:extLst>
      <p:ext uri="{BB962C8B-B14F-4D97-AF65-F5344CB8AC3E}">
        <p14:creationId xmlns:p14="http://schemas.microsoft.com/office/powerpoint/2010/main" val="3664232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13F3-9929-EC27-D262-A9F9D23FC73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6F734C7-5BCB-8F24-66EC-C72416986CD3}"/>
              </a:ext>
            </a:extLst>
          </p:cNvPr>
          <p:cNvSpPr txBox="1"/>
          <p:nvPr/>
        </p:nvSpPr>
        <p:spPr>
          <a:xfrm>
            <a:off x="3860800" y="356671"/>
            <a:ext cx="51104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CIA Properties</a:t>
            </a:r>
          </a:p>
        </p:txBody>
      </p:sp>
      <p:sp>
        <p:nvSpPr>
          <p:cNvPr id="4" name="TextBox 3">
            <a:extLst>
              <a:ext uri="{FF2B5EF4-FFF2-40B4-BE49-F238E27FC236}">
                <a16:creationId xmlns:a16="http://schemas.microsoft.com/office/drawing/2014/main" id="{6C43F27E-6495-4793-6B13-DC9325F2D0CE}"/>
              </a:ext>
            </a:extLst>
          </p:cNvPr>
          <p:cNvSpPr txBox="1"/>
          <p:nvPr/>
        </p:nvSpPr>
        <p:spPr>
          <a:xfrm>
            <a:off x="929640" y="933668"/>
            <a:ext cx="10972800" cy="6124754"/>
          </a:xfrm>
          <a:prstGeom prst="rect">
            <a:avLst/>
          </a:prstGeom>
          <a:noFill/>
        </p:spPr>
        <p:txBody>
          <a:bodyPr wrap="square">
            <a:spAutoFit/>
          </a:bodyPr>
          <a:lstStyle/>
          <a:p>
            <a:pPr>
              <a:buNone/>
            </a:pPr>
            <a:endParaRPr lang="en-US" sz="2800" dirty="0">
              <a:latin typeface="Times New Roman" panose="02020603050405020304" pitchFamily="18" charset="0"/>
              <a:cs typeface="Times New Roman" panose="02020603050405020304" pitchFamily="18" charset="0"/>
            </a:endParaRPr>
          </a:p>
          <a:p>
            <a:pPr>
              <a:buNone/>
            </a:pPr>
            <a:r>
              <a:rPr lang="en-US" sz="2800" b="1" dirty="0">
                <a:latin typeface="Times New Roman" panose="02020603050405020304" pitchFamily="18" charset="0"/>
                <a:cs typeface="Times New Roman" panose="02020603050405020304" pitchFamily="18" charset="0"/>
              </a:rPr>
              <a:t>- How Confidentiality Can Be Breached</a:t>
            </a:r>
          </a:p>
          <a:p>
            <a:pPr>
              <a:buNone/>
            </a:pPr>
            <a:endParaRPr lang="en-US" sz="2800" b="1" dirty="0">
              <a:latin typeface="Times New Roman" panose="02020603050405020304" pitchFamily="18" charset="0"/>
              <a:cs typeface="Times New Roman" panose="02020603050405020304" pitchFamily="18" charset="0"/>
            </a:endParaRPr>
          </a:p>
          <a:p>
            <a:pPr>
              <a:buNone/>
            </a:pPr>
            <a:r>
              <a:rPr lang="en-US" sz="2800" dirty="0">
                <a:latin typeface="Times New Roman" panose="02020603050405020304" pitchFamily="18" charset="0"/>
                <a:cs typeface="Times New Roman" panose="02020603050405020304" pitchFamily="18" charset="0"/>
              </a:rPr>
              <a:t>Common methods attackers use to violate confidentiality include:</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Social engineering</a:t>
            </a:r>
            <a:r>
              <a:rPr lang="en-US" sz="2800" dirty="0">
                <a:latin typeface="Times New Roman" panose="02020603050405020304" pitchFamily="18" charset="0"/>
                <a:cs typeface="Times New Roman" panose="02020603050405020304" pitchFamily="18" charset="0"/>
              </a:rPr>
              <a:t> – manipulating people to reveal confidential information.</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Password cracking</a:t>
            </a:r>
            <a:r>
              <a:rPr lang="en-US" sz="2800" dirty="0">
                <a:latin typeface="Times New Roman" panose="02020603050405020304" pitchFamily="18" charset="0"/>
                <a:cs typeface="Times New Roman" panose="02020603050405020304" pitchFamily="18" charset="0"/>
              </a:rPr>
              <a:t> – stealing or guessing passwords to gain access.</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Phishing scams</a:t>
            </a:r>
            <a:r>
              <a:rPr lang="en-US" sz="2800" dirty="0">
                <a:latin typeface="Times New Roman" panose="02020603050405020304" pitchFamily="18" charset="0"/>
                <a:cs typeface="Times New Roman" panose="02020603050405020304" pitchFamily="18" charset="0"/>
              </a:rPr>
              <a:t> – fraudulent attempts to obtain sensitive data.</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Malware attacks</a:t>
            </a:r>
            <a:r>
              <a:rPr lang="en-US" sz="2800" dirty="0">
                <a:latin typeface="Times New Roman" panose="02020603050405020304" pitchFamily="18" charset="0"/>
                <a:cs typeface="Times New Roman" panose="02020603050405020304" pitchFamily="18" charset="0"/>
              </a:rPr>
              <a:t> – harmful software used to steal or capture data.</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Unsecured networks and systems</a:t>
            </a:r>
            <a:r>
              <a:rPr lang="en-US" sz="2800" dirty="0">
                <a:latin typeface="Times New Roman" panose="02020603050405020304" pitchFamily="18" charset="0"/>
                <a:cs typeface="Times New Roman" panose="02020603050405020304" pitchFamily="18" charset="0"/>
              </a:rPr>
              <a:t> – weak security makes data easy to access.</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Insider threats</a:t>
            </a:r>
            <a:r>
              <a:rPr lang="en-US" sz="2800" dirty="0">
                <a:latin typeface="Times New Roman" panose="02020603050405020304" pitchFamily="18" charset="0"/>
                <a:cs typeface="Times New Roman" panose="02020603050405020304" pitchFamily="18" charset="0"/>
              </a:rPr>
              <a:t> – employees or trusted individuals misusing access.</a:t>
            </a:r>
          </a:p>
          <a:p>
            <a:endParaRPr lang="en-US" sz="2800" dirty="0">
              <a:latin typeface="Times New Roman" panose="02020603050405020304" pitchFamily="18" charset="0"/>
              <a:cs typeface="Times New Roman" panose="02020603050405020304" pitchFamily="18" charset="0"/>
            </a:endParaRPr>
          </a:p>
          <a:p>
            <a:pPr>
              <a:buNone/>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28527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3F18-CEF2-2447-61EF-17D1AB36CDA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D320DEA-488F-8DCF-C639-47D1F390627F}"/>
              </a:ext>
            </a:extLst>
          </p:cNvPr>
          <p:cNvSpPr txBox="1"/>
          <p:nvPr/>
        </p:nvSpPr>
        <p:spPr>
          <a:xfrm>
            <a:off x="3860800" y="356671"/>
            <a:ext cx="51104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CIA Properties</a:t>
            </a:r>
          </a:p>
        </p:txBody>
      </p:sp>
      <p:sp>
        <p:nvSpPr>
          <p:cNvPr id="4" name="TextBox 3">
            <a:extLst>
              <a:ext uri="{FF2B5EF4-FFF2-40B4-BE49-F238E27FC236}">
                <a16:creationId xmlns:a16="http://schemas.microsoft.com/office/drawing/2014/main" id="{BA0CD75B-2D3E-67A7-8976-7EB9D4469BB8}"/>
              </a:ext>
            </a:extLst>
          </p:cNvPr>
          <p:cNvSpPr txBox="1"/>
          <p:nvPr/>
        </p:nvSpPr>
        <p:spPr>
          <a:xfrm>
            <a:off x="802640" y="1415445"/>
            <a:ext cx="10972800" cy="4401205"/>
          </a:xfrm>
          <a:prstGeom prst="rect">
            <a:avLst/>
          </a:prstGeom>
          <a:noFill/>
        </p:spPr>
        <p:txBody>
          <a:bodyPr wrap="square">
            <a:spAutoFit/>
          </a:bodyPr>
          <a:lstStyle/>
          <a:p>
            <a:pPr marL="457200" indent="-457200">
              <a:buFontTx/>
              <a:buChar char="-"/>
            </a:pPr>
            <a:r>
              <a:rPr lang="en-US" sz="2800" b="1" dirty="0">
                <a:latin typeface="Times New Roman" panose="02020603050405020304" pitchFamily="18" charset="0"/>
                <a:cs typeface="Times New Roman" panose="02020603050405020304" pitchFamily="18" charset="0"/>
              </a:rPr>
              <a:t>Tools to Ensure Confidentiality</a:t>
            </a:r>
          </a:p>
          <a:p>
            <a:pPr marL="457200" indent="-457200">
              <a:buFontTx/>
              <a:buChar char="-"/>
            </a:pPr>
            <a:endParaRPr lang="en-US" sz="28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Technologies used to protect data from unauthorized access include:</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VeraCrypt</a:t>
            </a:r>
            <a:r>
              <a:rPr lang="en-US" sz="2800" dirty="0">
                <a:latin typeface="Times New Roman" panose="02020603050405020304" pitchFamily="18" charset="0"/>
                <a:cs typeface="Times New Roman" panose="02020603050405020304" pitchFamily="18" charset="0"/>
              </a:rPr>
              <a:t> – encryption for files and disks.</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TrueCrypt</a:t>
            </a:r>
            <a:r>
              <a:rPr lang="en-US" sz="2800" dirty="0">
                <a:latin typeface="Times New Roman" panose="02020603050405020304" pitchFamily="18" charset="0"/>
                <a:cs typeface="Times New Roman" panose="02020603050405020304" pitchFamily="18" charset="0"/>
              </a:rPr>
              <a:t> – open-source disk encryption tool.</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GnuPG (GPG)</a:t>
            </a:r>
            <a:r>
              <a:rPr lang="en-US" sz="2800" dirty="0">
                <a:latin typeface="Times New Roman" panose="02020603050405020304" pitchFamily="18" charset="0"/>
                <a:cs typeface="Times New Roman" panose="02020603050405020304" pitchFamily="18" charset="0"/>
              </a:rPr>
              <a:t> – encrypting emails, files, and communications.</a:t>
            </a:r>
          </a:p>
          <a:p>
            <a:pPr marL="914400" lvl="1" indent="-457200">
              <a:buFont typeface="Wingdings" panose="05000000000000000000" pitchFamily="2" charset="2"/>
              <a:buChar char="ü"/>
            </a:pPr>
            <a:r>
              <a:rPr lang="en-US" sz="2800" b="1" dirty="0" err="1">
                <a:latin typeface="Times New Roman" panose="02020603050405020304" pitchFamily="18" charset="0"/>
                <a:cs typeface="Times New Roman" panose="02020603050405020304" pitchFamily="18" charset="0"/>
              </a:rPr>
              <a:t>xCrypt</a:t>
            </a:r>
            <a:r>
              <a:rPr lang="en-US" sz="2800" dirty="0">
                <a:latin typeface="Times New Roman" panose="02020603050405020304" pitchFamily="18" charset="0"/>
                <a:cs typeface="Times New Roman" panose="02020603050405020304" pitchFamily="18" charset="0"/>
              </a:rPr>
              <a:t> – encryption software for secure data storage.</a:t>
            </a:r>
          </a:p>
          <a:p>
            <a:pPr marL="914400" lvl="1" indent="-457200">
              <a:buFont typeface="Wingdings" panose="05000000000000000000" pitchFamily="2" charset="2"/>
              <a:buChar char="ü"/>
            </a:pPr>
            <a:r>
              <a:rPr lang="en-US" sz="2800" b="1" dirty="0" err="1">
                <a:latin typeface="Times New Roman" panose="02020603050405020304" pitchFamily="18" charset="0"/>
                <a:cs typeface="Times New Roman" panose="02020603050405020304" pitchFamily="18" charset="0"/>
              </a:rPr>
              <a:t>CipherShed</a:t>
            </a:r>
            <a:r>
              <a:rPr lang="en-US" sz="2800" dirty="0">
                <a:latin typeface="Times New Roman" panose="02020603050405020304" pitchFamily="18" charset="0"/>
                <a:cs typeface="Times New Roman" panose="02020603050405020304" pitchFamily="18" charset="0"/>
              </a:rPr>
              <a:t> – open-source encryption utility designed to secure files.</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BitLocker</a:t>
            </a:r>
            <a:r>
              <a:rPr lang="en-US" sz="2800" dirty="0">
                <a:latin typeface="Times New Roman" panose="02020603050405020304" pitchFamily="18" charset="0"/>
                <a:cs typeface="Times New Roman" panose="02020603050405020304" pitchFamily="18" charset="0"/>
              </a:rPr>
              <a:t> – full-disk encryption tool by Microsoft.</a:t>
            </a:r>
          </a:p>
        </p:txBody>
      </p:sp>
    </p:spTree>
    <p:extLst>
      <p:ext uri="{BB962C8B-B14F-4D97-AF65-F5344CB8AC3E}">
        <p14:creationId xmlns:p14="http://schemas.microsoft.com/office/powerpoint/2010/main" val="2349129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4D6AE-1E1D-D6CC-CC98-5D4263484E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755F44B-A7F9-8152-FCE0-62027E532224}"/>
              </a:ext>
            </a:extLst>
          </p:cNvPr>
          <p:cNvSpPr txBox="1"/>
          <p:nvPr/>
        </p:nvSpPr>
        <p:spPr>
          <a:xfrm>
            <a:off x="3860800" y="356671"/>
            <a:ext cx="51104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CIA Properties</a:t>
            </a:r>
          </a:p>
        </p:txBody>
      </p:sp>
      <p:sp>
        <p:nvSpPr>
          <p:cNvPr id="4" name="TextBox 3">
            <a:extLst>
              <a:ext uri="{FF2B5EF4-FFF2-40B4-BE49-F238E27FC236}">
                <a16:creationId xmlns:a16="http://schemas.microsoft.com/office/drawing/2014/main" id="{FE94C125-1E5C-C4DD-8FC1-85ED339F47EB}"/>
              </a:ext>
            </a:extLst>
          </p:cNvPr>
          <p:cNvSpPr txBox="1"/>
          <p:nvPr/>
        </p:nvSpPr>
        <p:spPr>
          <a:xfrm>
            <a:off x="772160" y="1289150"/>
            <a:ext cx="10972800"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Integrity</a:t>
            </a:r>
            <a:r>
              <a:rPr lang="en-US" sz="2800" dirty="0">
                <a:latin typeface="Times New Roman" panose="02020603050405020304" pitchFamily="18" charset="0"/>
                <a:cs typeface="Times New Roman" panose="02020603050405020304" pitchFamily="18" charset="0"/>
              </a:rPr>
              <a:t> ensures that </a:t>
            </a:r>
            <a:r>
              <a:rPr lang="en-US" sz="2800" b="1" dirty="0">
                <a:latin typeface="Times New Roman" panose="02020603050405020304" pitchFamily="18" charset="0"/>
                <a:cs typeface="Times New Roman" panose="02020603050405020304" pitchFamily="18" charset="0"/>
              </a:rPr>
              <a:t>data remains accurate, unaltered, and trustworthy</a:t>
            </a:r>
            <a:r>
              <a:rPr lang="en-US" sz="2800" dirty="0">
                <a:latin typeface="Times New Roman" panose="02020603050405020304" pitchFamily="18" charset="0"/>
                <a:cs typeface="Times New Roman" panose="02020603050405020304" pitchFamily="18" charset="0"/>
              </a:rPr>
              <a:t>, unless changed by authorized users.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How Integrity Can Be Breached</a:t>
            </a:r>
          </a:p>
          <a:p>
            <a:pPr algn="just"/>
            <a:r>
              <a:rPr lang="en-US" sz="2800" dirty="0">
                <a:latin typeface="Times New Roman" panose="02020603050405020304" pitchFamily="18" charset="0"/>
                <a:cs typeface="Times New Roman" panose="02020603050405020304" pitchFamily="18" charset="0"/>
              </a:rPr>
              <a:t>Attackers often compromise integrity using:</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SQL injection</a:t>
            </a:r>
            <a:r>
              <a:rPr lang="en-US" sz="2800" dirty="0">
                <a:latin typeface="Times New Roman" panose="02020603050405020304" pitchFamily="18" charset="0"/>
                <a:cs typeface="Times New Roman" panose="02020603050405020304" pitchFamily="18" charset="0"/>
              </a:rPr>
              <a:t> – injecting malicious queries to modify database content.</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Malware attacks</a:t>
            </a:r>
            <a:r>
              <a:rPr lang="en-US" sz="2800" dirty="0">
                <a:latin typeface="Times New Roman" panose="02020603050405020304" pitchFamily="18" charset="0"/>
                <a:cs typeface="Times New Roman" panose="02020603050405020304" pitchFamily="18" charset="0"/>
              </a:rPr>
              <a:t> – modifying, corrupting, or deleting data.</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Man-in-the-middle attacks</a:t>
            </a:r>
            <a:r>
              <a:rPr lang="en-US" sz="2800" dirty="0">
                <a:latin typeface="Times New Roman" panose="02020603050405020304" pitchFamily="18" charset="0"/>
                <a:cs typeface="Times New Roman" panose="02020603050405020304" pitchFamily="18" charset="0"/>
              </a:rPr>
              <a:t> – intercepting and altering data in transit.</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Data tampering</a:t>
            </a:r>
            <a:r>
              <a:rPr lang="en-US" sz="2800" dirty="0">
                <a:latin typeface="Times New Roman" panose="02020603050405020304" pitchFamily="18" charset="0"/>
                <a:cs typeface="Times New Roman" panose="02020603050405020304" pitchFamily="18" charset="0"/>
              </a:rPr>
              <a:t> – unauthorized changes to files, logs, or databases.</a:t>
            </a:r>
          </a:p>
        </p:txBody>
      </p:sp>
    </p:spTree>
    <p:extLst>
      <p:ext uri="{BB962C8B-B14F-4D97-AF65-F5344CB8AC3E}">
        <p14:creationId xmlns:p14="http://schemas.microsoft.com/office/powerpoint/2010/main" val="1250496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22DF0-7ECF-EC0A-1546-38327A1D394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87FE44-0BC8-68A7-085E-6A57120B2A0D}"/>
              </a:ext>
            </a:extLst>
          </p:cNvPr>
          <p:cNvSpPr txBox="1"/>
          <p:nvPr/>
        </p:nvSpPr>
        <p:spPr>
          <a:xfrm>
            <a:off x="3860800" y="356671"/>
            <a:ext cx="51104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CIA Properties</a:t>
            </a:r>
          </a:p>
        </p:txBody>
      </p:sp>
      <p:sp>
        <p:nvSpPr>
          <p:cNvPr id="4" name="TextBox 3">
            <a:extLst>
              <a:ext uri="{FF2B5EF4-FFF2-40B4-BE49-F238E27FC236}">
                <a16:creationId xmlns:a16="http://schemas.microsoft.com/office/drawing/2014/main" id="{E252881D-FA4A-5B29-BE2E-B38E891ABD7C}"/>
              </a:ext>
            </a:extLst>
          </p:cNvPr>
          <p:cNvSpPr txBox="1"/>
          <p:nvPr/>
        </p:nvSpPr>
        <p:spPr>
          <a:xfrm>
            <a:off x="822960" y="1618645"/>
            <a:ext cx="10972800" cy="4401205"/>
          </a:xfrm>
          <a:prstGeom prst="rect">
            <a:avLst/>
          </a:prstGeom>
          <a:noFill/>
        </p:spPr>
        <p:txBody>
          <a:bodyPr wrap="square">
            <a:spAutoFit/>
          </a:bodyPr>
          <a:lstStyle/>
          <a:p>
            <a:pPr marL="457200" indent="-457200">
              <a:buFontTx/>
              <a:buChar char="-"/>
            </a:pPr>
            <a:r>
              <a:rPr lang="en-US" sz="2800" b="1" dirty="0">
                <a:latin typeface="Times New Roman" panose="02020603050405020304" pitchFamily="18" charset="0"/>
                <a:cs typeface="Times New Roman" panose="02020603050405020304" pitchFamily="18" charset="0"/>
              </a:rPr>
              <a:t>Tools to Ensure Data Integrity</a:t>
            </a:r>
          </a:p>
          <a:p>
            <a:r>
              <a:rPr lang="en-US" sz="2800" dirty="0">
                <a:latin typeface="Times New Roman" panose="02020603050405020304" pitchFamily="18" charset="0"/>
                <a:cs typeface="Times New Roman" panose="02020603050405020304" pitchFamily="18" charset="0"/>
              </a:rPr>
              <a:t>Tools that verify data accuracy and detect any modifications include:</a:t>
            </a:r>
          </a:p>
          <a:p>
            <a:pPr marL="914400" lvl="1" indent="-457200">
              <a:buFont typeface="Wingdings" panose="05000000000000000000" pitchFamily="2" charset="2"/>
              <a:buChar char="ü"/>
            </a:pPr>
            <a:r>
              <a:rPr lang="en-US" sz="2800" b="1" dirty="0" err="1">
                <a:latin typeface="Times New Roman" panose="02020603050405020304" pitchFamily="18" charset="0"/>
                <a:cs typeface="Times New Roman" panose="02020603050405020304" pitchFamily="18" charset="0"/>
              </a:rPr>
              <a:t>HashCheck</a:t>
            </a:r>
            <a:r>
              <a:rPr lang="en-US" sz="2800" dirty="0">
                <a:latin typeface="Times New Roman" panose="02020603050405020304" pitchFamily="18" charset="0"/>
                <a:cs typeface="Times New Roman" panose="02020603050405020304" pitchFamily="18" charset="0"/>
              </a:rPr>
              <a:t> – helps verify file integrity through checksum values.</a:t>
            </a:r>
          </a:p>
          <a:p>
            <a:pPr marL="914400" lvl="1" indent="-457200">
              <a:buFont typeface="Wingdings" panose="05000000000000000000" pitchFamily="2" charset="2"/>
              <a:buChar char="ü"/>
            </a:pPr>
            <a:r>
              <a:rPr lang="en-US" sz="2800" b="1" dirty="0" err="1">
                <a:latin typeface="Times New Roman" panose="02020603050405020304" pitchFamily="18" charset="0"/>
                <a:cs typeface="Times New Roman" panose="02020603050405020304" pitchFamily="18" charset="0"/>
              </a:rPr>
              <a:t>astSum</a:t>
            </a:r>
            <a:r>
              <a:rPr lang="en-US" sz="2800" dirty="0">
                <a:latin typeface="Times New Roman" panose="02020603050405020304" pitchFamily="18" charset="0"/>
                <a:cs typeface="Times New Roman" panose="02020603050405020304" pitchFamily="18" charset="0"/>
              </a:rPr>
              <a:t> – computes checksums for validation.</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md5sum</a:t>
            </a:r>
            <a:r>
              <a:rPr lang="en-US" sz="2800" dirty="0">
                <a:latin typeface="Times New Roman" panose="02020603050405020304" pitchFamily="18" charset="0"/>
                <a:cs typeface="Times New Roman" panose="02020603050405020304" pitchFamily="18" charset="0"/>
              </a:rPr>
              <a:t> – generates MD5 hashes to check file consistency.</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sha1sum</a:t>
            </a:r>
            <a:r>
              <a:rPr lang="en-US" sz="2800" dirty="0">
                <a:latin typeface="Times New Roman" panose="02020603050405020304" pitchFamily="18" charset="0"/>
                <a:cs typeface="Times New Roman" panose="02020603050405020304" pitchFamily="18" charset="0"/>
              </a:rPr>
              <a:t> – generates SHA-1 hashes to validate files.</a:t>
            </a:r>
          </a:p>
          <a:p>
            <a:pPr marL="914400" lvl="1" indent="-457200">
              <a:buFont typeface="Wingdings" panose="05000000000000000000" pitchFamily="2" charset="2"/>
              <a:buChar char="ü"/>
            </a:pPr>
            <a:r>
              <a:rPr lang="en-US" sz="2800" b="1" dirty="0" err="1">
                <a:latin typeface="Times New Roman" panose="02020603050405020304" pitchFamily="18" charset="0"/>
                <a:cs typeface="Times New Roman" panose="02020603050405020304" pitchFamily="18" charset="0"/>
              </a:rPr>
              <a:t>SFVChecker</a:t>
            </a:r>
            <a:r>
              <a:rPr lang="en-US" sz="2800" dirty="0">
                <a:latin typeface="Times New Roman" panose="02020603050405020304" pitchFamily="18" charset="0"/>
                <a:cs typeface="Times New Roman" panose="02020603050405020304" pitchFamily="18" charset="0"/>
              </a:rPr>
              <a:t> – verifies files against Simple File Verification (SFV) values.</a:t>
            </a:r>
          </a:p>
          <a:p>
            <a:pPr marL="914400" lvl="1" indent="-457200">
              <a:buFont typeface="Wingdings" panose="05000000000000000000" pitchFamily="2" charset="2"/>
              <a:buChar char="ü"/>
            </a:pPr>
            <a:r>
              <a:rPr lang="en-US" sz="2800" b="1" dirty="0" err="1">
                <a:latin typeface="Times New Roman" panose="02020603050405020304" pitchFamily="18" charset="0"/>
                <a:cs typeface="Times New Roman" panose="02020603050405020304" pitchFamily="18" charset="0"/>
              </a:rPr>
              <a:t>QuickSFV</a:t>
            </a:r>
            <a:r>
              <a:rPr lang="en-US" sz="2800" dirty="0">
                <a:latin typeface="Times New Roman" panose="02020603050405020304" pitchFamily="18" charset="0"/>
                <a:cs typeface="Times New Roman" panose="02020603050405020304" pitchFamily="18" charset="0"/>
              </a:rPr>
              <a:t> – quickly checks file integrity using SFV files.</a:t>
            </a:r>
          </a:p>
          <a:p>
            <a:pPr marL="457200" indent="-457200">
              <a:buFontTx/>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79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26A4A-6EFE-B2D3-E42C-99150201BE8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F0791A7-8119-9DDC-125E-527B40A53346}"/>
              </a:ext>
            </a:extLst>
          </p:cNvPr>
          <p:cNvSpPr txBox="1"/>
          <p:nvPr/>
        </p:nvSpPr>
        <p:spPr>
          <a:xfrm>
            <a:off x="3860800" y="356671"/>
            <a:ext cx="51104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CIA Properties</a:t>
            </a:r>
          </a:p>
        </p:txBody>
      </p:sp>
      <p:sp>
        <p:nvSpPr>
          <p:cNvPr id="4" name="TextBox 3">
            <a:extLst>
              <a:ext uri="{FF2B5EF4-FFF2-40B4-BE49-F238E27FC236}">
                <a16:creationId xmlns:a16="http://schemas.microsoft.com/office/drawing/2014/main" id="{42D37324-19F1-18AB-1236-FD553CA39B8B}"/>
              </a:ext>
            </a:extLst>
          </p:cNvPr>
          <p:cNvSpPr txBox="1"/>
          <p:nvPr/>
        </p:nvSpPr>
        <p:spPr>
          <a:xfrm>
            <a:off x="762000" y="1364645"/>
            <a:ext cx="10972800" cy="5693866"/>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Availability</a:t>
            </a:r>
            <a:r>
              <a:rPr lang="en-US" sz="2800" dirty="0">
                <a:latin typeface="Times New Roman" panose="02020603050405020304" pitchFamily="18" charset="0"/>
                <a:cs typeface="Times New Roman" panose="02020603050405020304" pitchFamily="18" charset="0"/>
              </a:rPr>
              <a:t> ensures that </a:t>
            </a:r>
            <a:r>
              <a:rPr lang="en-US" sz="2800" b="1" dirty="0">
                <a:latin typeface="Times New Roman" panose="02020603050405020304" pitchFamily="18" charset="0"/>
                <a:cs typeface="Times New Roman" panose="02020603050405020304" pitchFamily="18" charset="0"/>
              </a:rPr>
              <a:t>data and services are accessible when needed</a:t>
            </a:r>
            <a:r>
              <a:rPr lang="en-US" sz="2800" dirty="0">
                <a:latin typeface="Times New Roman" panose="02020603050405020304" pitchFamily="18" charset="0"/>
                <a:cs typeface="Times New Roman" panose="02020603050405020304" pitchFamily="18" charset="0"/>
              </a:rPr>
              <a:t>, without interruption.</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How Availability Can Be Breached</a:t>
            </a:r>
          </a:p>
          <a:p>
            <a:pPr algn="just"/>
            <a:r>
              <a:rPr lang="en-US" sz="2800" dirty="0">
                <a:latin typeface="Times New Roman" panose="02020603050405020304" pitchFamily="18" charset="0"/>
                <a:cs typeface="Times New Roman" panose="02020603050405020304" pitchFamily="18" charset="0"/>
              </a:rPr>
              <a:t>Availability can be disrupted through:</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DDoS attacks</a:t>
            </a:r>
            <a:r>
              <a:rPr lang="en-US" sz="2800" dirty="0">
                <a:latin typeface="Times New Roman" panose="02020603050405020304" pitchFamily="18" charset="0"/>
                <a:cs typeface="Times New Roman" panose="02020603050405020304" pitchFamily="18" charset="0"/>
              </a:rPr>
              <a:t> – overwhelming systems with traffic to cause shutdowns.</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Malware attacks</a:t>
            </a:r>
            <a:r>
              <a:rPr lang="en-US" sz="2800" dirty="0">
                <a:latin typeface="Times New Roman" panose="02020603050405020304" pitchFamily="18" charset="0"/>
                <a:cs typeface="Times New Roman" panose="02020603050405020304" pitchFamily="18" charset="0"/>
              </a:rPr>
              <a:t> – destroying data or disrupting functionality.</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Power outages or failures</a:t>
            </a:r>
            <a:r>
              <a:rPr lang="en-US" sz="2800" dirty="0">
                <a:latin typeface="Times New Roman" panose="02020603050405020304" pitchFamily="18" charset="0"/>
                <a:cs typeface="Times New Roman" panose="02020603050405020304" pitchFamily="18" charset="0"/>
              </a:rPr>
              <a:t> – causing downtime of systems.</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Natural disasters</a:t>
            </a:r>
            <a:r>
              <a:rPr lang="en-US" sz="2800" dirty="0">
                <a:latin typeface="Times New Roman" panose="02020603050405020304" pitchFamily="18" charset="0"/>
                <a:cs typeface="Times New Roman" panose="02020603050405020304" pitchFamily="18" charset="0"/>
              </a:rPr>
              <a:t> – floods, earthquakes, fires, etc.</a:t>
            </a:r>
          </a:p>
          <a:p>
            <a:pPr marL="914400" lvl="1" indent="-457200" algn="just">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Human error or system failures</a:t>
            </a:r>
            <a:r>
              <a:rPr lang="en-US" sz="2800" dirty="0">
                <a:latin typeface="Times New Roman" panose="02020603050405020304" pitchFamily="18" charset="0"/>
                <a:cs typeface="Times New Roman" panose="02020603050405020304" pitchFamily="18" charset="0"/>
              </a:rPr>
              <a:t> – accidental deletion or configuration errors.</a:t>
            </a:r>
          </a:p>
          <a:p>
            <a:pPr marL="457200" indent="-457200" algn="just">
              <a:buFontTx/>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575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FF3AD-4486-34AF-0B2F-C852AA21E3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37731BB-3537-25C0-B9DB-2BE83D4B70AC}"/>
              </a:ext>
            </a:extLst>
          </p:cNvPr>
          <p:cNvSpPr txBox="1"/>
          <p:nvPr/>
        </p:nvSpPr>
        <p:spPr>
          <a:xfrm>
            <a:off x="3860800" y="356671"/>
            <a:ext cx="51104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CIA Properties</a:t>
            </a:r>
          </a:p>
        </p:txBody>
      </p:sp>
      <p:sp>
        <p:nvSpPr>
          <p:cNvPr id="4" name="TextBox 3">
            <a:extLst>
              <a:ext uri="{FF2B5EF4-FFF2-40B4-BE49-F238E27FC236}">
                <a16:creationId xmlns:a16="http://schemas.microsoft.com/office/drawing/2014/main" id="{E0DFE68C-1EF1-9B3D-7072-E8F3E0B3604F}"/>
              </a:ext>
            </a:extLst>
          </p:cNvPr>
          <p:cNvSpPr txBox="1"/>
          <p:nvPr/>
        </p:nvSpPr>
        <p:spPr>
          <a:xfrm>
            <a:off x="762000" y="1578005"/>
            <a:ext cx="10972800" cy="3539430"/>
          </a:xfrm>
          <a:prstGeom prst="rect">
            <a:avLst/>
          </a:prstGeom>
          <a:noFill/>
        </p:spPr>
        <p:txBody>
          <a:bodyPr wrap="square">
            <a:spAutoFit/>
          </a:bodyPr>
          <a:lstStyle/>
          <a:p>
            <a:pPr marL="457200" indent="-457200">
              <a:buFontTx/>
              <a:buChar char="-"/>
            </a:pPr>
            <a:r>
              <a:rPr lang="en-US" sz="2800" b="1" dirty="0">
                <a:latin typeface="Times New Roman" panose="02020603050405020304" pitchFamily="18" charset="0"/>
                <a:cs typeface="Times New Roman" panose="02020603050405020304" pitchFamily="18" charset="0"/>
              </a:rPr>
              <a:t>Tools to Ensure Availability </a:t>
            </a:r>
          </a:p>
          <a:p>
            <a:r>
              <a:rPr lang="en-US" sz="2800" dirty="0">
                <a:latin typeface="Times New Roman" panose="02020603050405020304" pitchFamily="18" charset="0"/>
                <a:cs typeface="Times New Roman" panose="02020603050405020304" pitchFamily="18" charset="0"/>
              </a:rPr>
              <a:t>Technologies and practices used to maintain uninterrupted operations:</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Firewalls</a:t>
            </a:r>
            <a:r>
              <a:rPr lang="en-US" sz="2800" dirty="0">
                <a:latin typeface="Times New Roman" panose="02020603050405020304" pitchFamily="18" charset="0"/>
                <a:cs typeface="Times New Roman" panose="02020603050405020304" pitchFamily="18" charset="0"/>
              </a:rPr>
              <a:t> – filter malicious traffic and block unauthorized access.</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IDS/IPS</a:t>
            </a:r>
            <a:r>
              <a:rPr lang="en-US" sz="2800" dirty="0">
                <a:latin typeface="Times New Roman" panose="02020603050405020304" pitchFamily="18" charset="0"/>
                <a:cs typeface="Times New Roman" panose="02020603050405020304" pitchFamily="18" charset="0"/>
              </a:rPr>
              <a:t> – detect and prevent attacks targeting system availability.</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Regular backups</a:t>
            </a:r>
            <a:r>
              <a:rPr lang="en-US" sz="2800" dirty="0">
                <a:latin typeface="Times New Roman" panose="02020603050405020304" pitchFamily="18" charset="0"/>
                <a:cs typeface="Times New Roman" panose="02020603050405020304" pitchFamily="18" charset="0"/>
              </a:rPr>
              <a:t> – enable recovery from data loss or corruption.</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Cloud-based solutions</a:t>
            </a:r>
            <a:r>
              <a:rPr lang="en-US" sz="2800" dirty="0">
                <a:latin typeface="Times New Roman" panose="02020603050405020304" pitchFamily="18" charset="0"/>
                <a:cs typeface="Times New Roman" panose="02020603050405020304" pitchFamily="18" charset="0"/>
              </a:rPr>
              <a:t> – provide redundancy, scalability, and uptime.</a:t>
            </a:r>
          </a:p>
          <a:p>
            <a:pPr marL="457200" indent="-457200" algn="just">
              <a:buFontTx/>
              <a:buChar char="-"/>
            </a:pPr>
            <a:endParaRPr lang="en-US"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D537C0A-7E47-2461-C981-8671ABCB97A7}"/>
              </a:ext>
            </a:extLst>
          </p:cNvPr>
          <p:cNvPicPr>
            <a:picLocks noChangeAspect="1"/>
          </p:cNvPicPr>
          <p:nvPr/>
        </p:nvPicPr>
        <p:blipFill>
          <a:blip r:embed="rId2"/>
          <a:stretch>
            <a:fillRect/>
          </a:stretch>
        </p:blipFill>
        <p:spPr>
          <a:xfrm>
            <a:off x="8052435" y="4478042"/>
            <a:ext cx="4139565" cy="2303758"/>
          </a:xfrm>
          <a:prstGeom prst="rect">
            <a:avLst/>
          </a:prstGeom>
        </p:spPr>
      </p:pic>
    </p:spTree>
    <p:extLst>
      <p:ext uri="{BB962C8B-B14F-4D97-AF65-F5344CB8AC3E}">
        <p14:creationId xmlns:p14="http://schemas.microsoft.com/office/powerpoint/2010/main" val="2063065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F80A-94C9-F1C5-7C11-36A089CA5E4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63D731B-4363-2435-0785-528C39E36287}"/>
              </a:ext>
            </a:extLst>
          </p:cNvPr>
          <p:cNvSpPr txBox="1"/>
          <p:nvPr/>
        </p:nvSpPr>
        <p:spPr>
          <a:xfrm>
            <a:off x="3281680" y="192247"/>
            <a:ext cx="622808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ENCRYPTION</a:t>
            </a:r>
          </a:p>
        </p:txBody>
      </p:sp>
      <p:sp>
        <p:nvSpPr>
          <p:cNvPr id="7" name="TextBox 6">
            <a:extLst>
              <a:ext uri="{FF2B5EF4-FFF2-40B4-BE49-F238E27FC236}">
                <a16:creationId xmlns:a16="http://schemas.microsoft.com/office/drawing/2014/main" id="{07BD921C-1528-ED12-6D7A-C212E249C65D}"/>
              </a:ext>
            </a:extLst>
          </p:cNvPr>
          <p:cNvSpPr txBox="1"/>
          <p:nvPr/>
        </p:nvSpPr>
        <p:spPr>
          <a:xfrm>
            <a:off x="1083310" y="1659285"/>
            <a:ext cx="9432290" cy="353943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Encryption, the process of scrambling a message or other information so that it cannot be easily read by someone intercepting the message, is one of the most critical parts to the security puzzle. If you have the best firewall, very tight security policies, hardened operating systems, virus scanners, intrusion detection software, antispyware, and every other computer security angle covered but send your data in raw plain text, then you simply are not secure.</a:t>
            </a:r>
            <a:endParaRPr lang="en-P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588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3ECE-FECD-7568-B8B2-BA365893AE7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5B1CAB-B9A3-2F45-2A16-88E6593DBE87}"/>
              </a:ext>
            </a:extLst>
          </p:cNvPr>
          <p:cNvSpPr txBox="1"/>
          <p:nvPr/>
        </p:nvSpPr>
        <p:spPr>
          <a:xfrm>
            <a:off x="904240" y="3586430"/>
            <a:ext cx="10535920" cy="2677656"/>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Cryptography aims not to hide a message’s existence but to hide its meaning through </a:t>
            </a:r>
            <a:r>
              <a:rPr lang="en-US" sz="2800" b="1" dirty="0">
                <a:latin typeface="Times New Roman" panose="02020603050405020304" pitchFamily="18" charset="0"/>
                <a:cs typeface="Times New Roman" panose="02020603050405020304" pitchFamily="18" charset="0"/>
              </a:rPr>
              <a:t>encryption</a:t>
            </a:r>
            <a:r>
              <a:rPr lang="en-US" sz="2800" dirty="0">
                <a:latin typeface="Times New Roman" panose="02020603050405020304" pitchFamily="18" charset="0"/>
                <a:cs typeface="Times New Roman" panose="02020603050405020304" pitchFamily="18" charset="0"/>
              </a:rPr>
              <a:t>. The message is scrambled using a pre-agreed algorithm so only the intended receiver can </a:t>
            </a:r>
            <a:r>
              <a:rPr lang="en-US" sz="2800" b="1" dirty="0">
                <a:latin typeface="Times New Roman" panose="02020603050405020304" pitchFamily="18" charset="0"/>
                <a:cs typeface="Times New Roman" panose="02020603050405020304" pitchFamily="18" charset="0"/>
              </a:rPr>
              <a:t>decrypt</a:t>
            </a:r>
            <a:r>
              <a:rPr lang="en-US" sz="2800" dirty="0">
                <a:latin typeface="Times New Roman" panose="02020603050405020304" pitchFamily="18" charset="0"/>
                <a:cs typeface="Times New Roman" panose="02020603050405020304" pitchFamily="18" charset="0"/>
              </a:rPr>
              <a:t> it and restore its original form. Without knowing the </a:t>
            </a:r>
            <a:r>
              <a:rPr lang="en-US" sz="2800" b="1" dirty="0">
                <a:latin typeface="Times New Roman" panose="02020603050405020304" pitchFamily="18" charset="0"/>
                <a:cs typeface="Times New Roman" panose="02020603050405020304" pitchFamily="18" charset="0"/>
              </a:rPr>
              <a:t>scrambling method</a:t>
            </a:r>
            <a:r>
              <a:rPr lang="en-US" sz="2800" dirty="0">
                <a:latin typeface="Times New Roman" panose="02020603050405020304" pitchFamily="18" charset="0"/>
                <a:cs typeface="Times New Roman" panose="02020603050405020304" pitchFamily="18" charset="0"/>
              </a:rPr>
              <a:t>, it becomes extremely difficult for an unauthorized person to understand or reconstruct the message.</a:t>
            </a:r>
          </a:p>
        </p:txBody>
      </p:sp>
      <p:pic>
        <p:nvPicPr>
          <p:cNvPr id="7" name="Picture 6">
            <a:extLst>
              <a:ext uri="{FF2B5EF4-FFF2-40B4-BE49-F238E27FC236}">
                <a16:creationId xmlns:a16="http://schemas.microsoft.com/office/drawing/2014/main" id="{1BC96967-312E-5BD4-AEDE-0FD8BE5A8CE1}"/>
              </a:ext>
            </a:extLst>
          </p:cNvPr>
          <p:cNvPicPr>
            <a:picLocks noChangeAspect="1"/>
          </p:cNvPicPr>
          <p:nvPr/>
        </p:nvPicPr>
        <p:blipFill>
          <a:blip r:embed="rId2"/>
          <a:stretch>
            <a:fillRect/>
          </a:stretch>
        </p:blipFill>
        <p:spPr>
          <a:xfrm>
            <a:off x="3126587" y="159752"/>
            <a:ext cx="5938826" cy="3111818"/>
          </a:xfrm>
          <a:prstGeom prst="rect">
            <a:avLst/>
          </a:prstGeom>
        </p:spPr>
      </p:pic>
    </p:spTree>
    <p:extLst>
      <p:ext uri="{BB962C8B-B14F-4D97-AF65-F5344CB8AC3E}">
        <p14:creationId xmlns:p14="http://schemas.microsoft.com/office/powerpoint/2010/main" val="1420566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4672EF-9F28-FD9A-9DBD-5F374F319D8B}"/>
              </a:ext>
            </a:extLst>
          </p:cNvPr>
          <p:cNvPicPr>
            <a:picLocks noChangeAspect="1"/>
          </p:cNvPicPr>
          <p:nvPr/>
        </p:nvPicPr>
        <p:blipFill>
          <a:blip r:embed="rId2"/>
          <a:stretch>
            <a:fillRect/>
          </a:stretch>
        </p:blipFill>
        <p:spPr>
          <a:xfrm>
            <a:off x="215855" y="146804"/>
            <a:ext cx="11760289" cy="6195060"/>
          </a:xfrm>
          <a:prstGeom prst="rect">
            <a:avLst/>
          </a:prstGeom>
        </p:spPr>
      </p:pic>
      <p:sp>
        <p:nvSpPr>
          <p:cNvPr id="7" name="TextBox 6">
            <a:extLst>
              <a:ext uri="{FF2B5EF4-FFF2-40B4-BE49-F238E27FC236}">
                <a16:creationId xmlns:a16="http://schemas.microsoft.com/office/drawing/2014/main" id="{BF6399BC-53AB-7074-C9F3-92F976A61AEE}"/>
              </a:ext>
            </a:extLst>
          </p:cNvPr>
          <p:cNvSpPr txBox="1"/>
          <p:nvPr/>
        </p:nvSpPr>
        <p:spPr>
          <a:xfrm>
            <a:off x="9001760" y="6341864"/>
            <a:ext cx="27533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Pc: Neso Academy</a:t>
            </a:r>
            <a:endParaRPr lang="en-PK" dirty="0"/>
          </a:p>
        </p:txBody>
      </p:sp>
    </p:spTree>
    <p:extLst>
      <p:ext uri="{BB962C8B-B14F-4D97-AF65-F5344CB8AC3E}">
        <p14:creationId xmlns:p14="http://schemas.microsoft.com/office/powerpoint/2010/main" val="2428597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E9C65-CC2E-BFCF-0F60-A2DCEE2BFBE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1011606-4F6F-B51E-77BC-12C1E5E61248}"/>
              </a:ext>
            </a:extLst>
          </p:cNvPr>
          <p:cNvSpPr txBox="1"/>
          <p:nvPr/>
        </p:nvSpPr>
        <p:spPr>
          <a:xfrm>
            <a:off x="3068320" y="405228"/>
            <a:ext cx="77825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CRYPTOGRAPHY</a:t>
            </a:r>
          </a:p>
        </p:txBody>
      </p:sp>
      <p:sp>
        <p:nvSpPr>
          <p:cNvPr id="3" name="TextBox 2">
            <a:extLst>
              <a:ext uri="{FF2B5EF4-FFF2-40B4-BE49-F238E27FC236}">
                <a16:creationId xmlns:a16="http://schemas.microsoft.com/office/drawing/2014/main" id="{C7DBB9A1-6978-D554-BB15-8C6A083095D6}"/>
              </a:ext>
            </a:extLst>
          </p:cNvPr>
          <p:cNvSpPr txBox="1"/>
          <p:nvPr/>
        </p:nvSpPr>
        <p:spPr>
          <a:xfrm>
            <a:off x="833120" y="1501616"/>
            <a:ext cx="10474960" cy="1384995"/>
          </a:xfrm>
          <a:prstGeom prst="rect">
            <a:avLst/>
          </a:prstGeom>
          <a:noFill/>
        </p:spPr>
        <p:txBody>
          <a:bodyPr wrap="square">
            <a:spAutoFit/>
          </a:bodyPr>
          <a:lstStyle/>
          <a:p>
            <a:pPr algn="ctr">
              <a:buNone/>
            </a:pP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Scrambling Protocol</a:t>
            </a:r>
            <a:r>
              <a:rPr lang="en-US" sz="2800" dirty="0">
                <a:latin typeface="Times New Roman" panose="02020603050405020304" pitchFamily="18" charset="0"/>
                <a:cs typeface="Times New Roman" panose="02020603050405020304" pitchFamily="18" charset="0"/>
              </a:rPr>
              <a:t>” simply means </a:t>
            </a:r>
            <a:r>
              <a:rPr lang="en-US" sz="2800" b="1" dirty="0">
                <a:latin typeface="Times New Roman" panose="02020603050405020304" pitchFamily="18" charset="0"/>
                <a:cs typeface="Times New Roman" panose="02020603050405020304" pitchFamily="18" charset="0"/>
              </a:rPr>
              <a:t>the method or algorithm used to scramble (encrypt) a message</a:t>
            </a:r>
            <a:r>
              <a:rPr lang="en-US" sz="2800" dirty="0">
                <a:latin typeface="Times New Roman" panose="02020603050405020304" pitchFamily="18" charset="0"/>
                <a:cs typeface="Times New Roman" panose="02020603050405020304" pitchFamily="18" charset="0"/>
              </a:rPr>
              <a:t> so that it becomes unreadable to anyone who does not have the key.</a:t>
            </a:r>
          </a:p>
        </p:txBody>
      </p:sp>
      <p:sp>
        <p:nvSpPr>
          <p:cNvPr id="7" name="TextBox 6">
            <a:extLst>
              <a:ext uri="{FF2B5EF4-FFF2-40B4-BE49-F238E27FC236}">
                <a16:creationId xmlns:a16="http://schemas.microsoft.com/office/drawing/2014/main" id="{E97B30A1-1BF5-7FB6-20B2-316B734D8EAE}"/>
              </a:ext>
            </a:extLst>
          </p:cNvPr>
          <p:cNvSpPr txBox="1"/>
          <p:nvPr/>
        </p:nvSpPr>
        <p:spPr>
          <a:xfrm>
            <a:off x="833120" y="3417392"/>
            <a:ext cx="10952480" cy="1938992"/>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Example: Caesar Cipher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Original message: </a:t>
            </a:r>
            <a:r>
              <a:rPr lang="en-US" sz="2400" b="1" dirty="0">
                <a:latin typeface="Times New Roman" panose="02020603050405020304" pitchFamily="18" charset="0"/>
                <a:cs typeface="Times New Roman" panose="02020603050405020304" pitchFamily="18" charset="0"/>
              </a:rPr>
              <a:t>HELLO</a:t>
            </a:r>
            <a:endParaRPr lang="en-US" sz="24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Scrambling protocol: </a:t>
            </a:r>
            <a:r>
              <a:rPr lang="en-US" sz="2400" i="1" dirty="0">
                <a:latin typeface="Times New Roman" panose="02020603050405020304" pitchFamily="18" charset="0"/>
                <a:cs typeface="Times New Roman" panose="02020603050405020304" pitchFamily="18" charset="0"/>
              </a:rPr>
              <a:t>Shift each letter by +3</a:t>
            </a:r>
            <a:endParaRPr lang="en-US" sz="24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Scrambled message: </a:t>
            </a:r>
            <a:r>
              <a:rPr lang="en-US" sz="2400" b="1" dirty="0">
                <a:latin typeface="Times New Roman" panose="02020603050405020304" pitchFamily="18" charset="0"/>
                <a:cs typeface="Times New Roman" panose="02020603050405020304" pitchFamily="18" charset="0"/>
              </a:rPr>
              <a:t>KHOOR</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Only someone who knows the protocol (</a:t>
            </a:r>
            <a:r>
              <a:rPr lang="en-US" sz="2400" i="1" dirty="0">
                <a:latin typeface="Times New Roman" panose="02020603050405020304" pitchFamily="18" charset="0"/>
                <a:cs typeface="Times New Roman" panose="02020603050405020304" pitchFamily="18" charset="0"/>
              </a:rPr>
              <a:t>shift by −3</a:t>
            </a:r>
            <a:r>
              <a:rPr lang="en-US" sz="2400" dirty="0">
                <a:latin typeface="Times New Roman" panose="02020603050405020304" pitchFamily="18" charset="0"/>
                <a:cs typeface="Times New Roman" panose="02020603050405020304" pitchFamily="18" charset="0"/>
              </a:rPr>
              <a:t>) can decrypt it back to HELLO</a:t>
            </a:r>
          </a:p>
        </p:txBody>
      </p:sp>
    </p:spTree>
    <p:extLst>
      <p:ext uri="{BB962C8B-B14F-4D97-AF65-F5344CB8AC3E}">
        <p14:creationId xmlns:p14="http://schemas.microsoft.com/office/powerpoint/2010/main" val="2217986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CA746-670D-17F8-9F2E-B09F841F4B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B54E66-9B57-E474-B5EE-A6C21DAE3D1A}"/>
              </a:ext>
            </a:extLst>
          </p:cNvPr>
          <p:cNvPicPr>
            <a:picLocks noChangeAspect="1"/>
          </p:cNvPicPr>
          <p:nvPr/>
        </p:nvPicPr>
        <p:blipFill>
          <a:blip r:embed="rId2"/>
          <a:stretch>
            <a:fillRect/>
          </a:stretch>
        </p:blipFill>
        <p:spPr>
          <a:xfrm>
            <a:off x="1817211" y="344487"/>
            <a:ext cx="8557578" cy="5862459"/>
          </a:xfrm>
          <a:prstGeom prst="rect">
            <a:avLst/>
          </a:prstGeom>
        </p:spPr>
      </p:pic>
    </p:spTree>
    <p:extLst>
      <p:ext uri="{BB962C8B-B14F-4D97-AF65-F5344CB8AC3E}">
        <p14:creationId xmlns:p14="http://schemas.microsoft.com/office/powerpoint/2010/main" val="3640255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F1FE-A7A1-33DA-FE93-D533442C405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F0E83BA-F016-F5BF-488B-68E1D2B283DE}"/>
              </a:ext>
            </a:extLst>
          </p:cNvPr>
          <p:cNvSpPr txBox="1"/>
          <p:nvPr/>
        </p:nvSpPr>
        <p:spPr>
          <a:xfrm>
            <a:off x="828040" y="2265630"/>
            <a:ext cx="10535920" cy="3508653"/>
          </a:xfrm>
          <a:prstGeom prst="rect">
            <a:avLst/>
          </a:prstGeom>
          <a:noFill/>
        </p:spPr>
        <p:txBody>
          <a:bodyPr wrap="square">
            <a:spAutoFit/>
          </a:bodyPr>
          <a:lstStyle/>
          <a:p>
            <a:pPr marL="457200" indent="-457200" algn="just">
              <a:buFont typeface="Wingdings" panose="05000000000000000000" pitchFamily="2" charset="2"/>
              <a:buChar char="§"/>
            </a:pPr>
            <a:r>
              <a:rPr lang="en-US" sz="3200" dirty="0"/>
              <a:t>The Caesar Cipher</a:t>
            </a:r>
          </a:p>
          <a:p>
            <a:pPr marL="457200" indent="-457200" algn="just">
              <a:buFont typeface="Wingdings" panose="05000000000000000000" pitchFamily="2" charset="2"/>
              <a:buChar char="§"/>
            </a:pPr>
            <a:r>
              <a:rPr lang="en-US" sz="3200" dirty="0"/>
              <a:t>Atbash – </a:t>
            </a:r>
            <a:r>
              <a:rPr lang="en-US" sz="3200" b="1" dirty="0"/>
              <a:t>Hebrew Code</a:t>
            </a:r>
          </a:p>
          <a:p>
            <a:pPr marL="457200" indent="-457200" algn="just">
              <a:buFont typeface="Wingdings" panose="05000000000000000000" pitchFamily="2" charset="2"/>
              <a:buChar char="§"/>
            </a:pPr>
            <a:r>
              <a:rPr lang="en-US" sz="3200" dirty="0"/>
              <a:t>Multi-Alphabet Substitution</a:t>
            </a:r>
          </a:p>
          <a:p>
            <a:pPr marL="457200" indent="-457200" algn="just">
              <a:buFont typeface="Wingdings" panose="05000000000000000000" pitchFamily="2" charset="2"/>
              <a:buChar char="§"/>
            </a:pPr>
            <a:r>
              <a:rPr lang="en-US" sz="3200" dirty="0"/>
              <a:t>Rail Fence</a:t>
            </a:r>
          </a:p>
          <a:p>
            <a:pPr marL="457200" indent="-457200" algn="just">
              <a:buFont typeface="Wingdings" panose="05000000000000000000" pitchFamily="2" charset="2"/>
              <a:buChar char="§"/>
            </a:pPr>
            <a:r>
              <a:rPr lang="en-US" sz="3200" dirty="0"/>
              <a:t>Scytale</a:t>
            </a:r>
          </a:p>
          <a:p>
            <a:pPr marL="457200" indent="-457200" algn="just">
              <a:buFont typeface="Wingdings" panose="05000000000000000000" pitchFamily="2" charset="2"/>
              <a:buChar char="§"/>
            </a:pPr>
            <a:r>
              <a:rPr lang="en-US" sz="3200" dirty="0"/>
              <a:t>Enigma</a:t>
            </a:r>
            <a:endParaRPr lang="en-US" sz="3200" b="1" dirty="0"/>
          </a:p>
          <a:p>
            <a:pPr marL="457200" indent="-457200" algn="just">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Binary Operations: </a:t>
            </a:r>
            <a:r>
              <a:rPr lang="en-US" sz="3200" b="1" dirty="0"/>
              <a:t>AND, OR, and XOR Operators</a:t>
            </a:r>
            <a:r>
              <a:rPr lang="en-US" sz="3200" dirty="0"/>
              <a:t>.</a:t>
            </a:r>
            <a:endParaRPr lang="en-US"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9813E4-6882-1A2C-D8D0-1B6709B984C9}"/>
              </a:ext>
            </a:extLst>
          </p:cNvPr>
          <p:cNvSpPr txBox="1"/>
          <p:nvPr/>
        </p:nvSpPr>
        <p:spPr>
          <a:xfrm>
            <a:off x="2184400" y="865673"/>
            <a:ext cx="81889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History - Encryption Method</a:t>
            </a:r>
          </a:p>
        </p:txBody>
      </p:sp>
    </p:spTree>
    <p:extLst>
      <p:ext uri="{BB962C8B-B14F-4D97-AF65-F5344CB8AC3E}">
        <p14:creationId xmlns:p14="http://schemas.microsoft.com/office/powerpoint/2010/main" val="817590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D2E26-83F1-06DD-7307-0774077A9C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33A303-192B-F477-9CE6-62E64C4C2D09}"/>
              </a:ext>
            </a:extLst>
          </p:cNvPr>
          <p:cNvSpPr txBox="1"/>
          <p:nvPr/>
        </p:nvSpPr>
        <p:spPr>
          <a:xfrm>
            <a:off x="1031240" y="1574750"/>
            <a:ext cx="10535920" cy="4493538"/>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Concept:</a:t>
            </a:r>
            <a:r>
              <a:rPr lang="en-US" sz="3200" dirty="0">
                <a:latin typeface="Times New Roman" panose="02020603050405020304" pitchFamily="18" charset="0"/>
                <a:cs typeface="Times New Roman" panose="02020603050405020304" pitchFamily="18" charset="0"/>
              </a:rPr>
              <a:t> Shift each letter by a fixed number in the alphabet.</a:t>
            </a:r>
          </a:p>
          <a:p>
            <a:r>
              <a:rPr lang="en-US" sz="3200" b="1" dirty="0">
                <a:latin typeface="Times New Roman" panose="02020603050405020304" pitchFamily="18" charset="0"/>
                <a:cs typeface="Times New Roman" panose="02020603050405020304" pitchFamily="18" charset="0"/>
              </a:rPr>
              <a:t>Shift:</a:t>
            </a:r>
            <a:r>
              <a:rPr lang="en-US" sz="3200" dirty="0">
                <a:latin typeface="Times New Roman" panose="02020603050405020304" pitchFamily="18" charset="0"/>
                <a:cs typeface="Times New Roman" panose="02020603050405020304" pitchFamily="18" charset="0"/>
              </a:rPr>
              <a:t> 3</a:t>
            </a:r>
          </a:p>
          <a:p>
            <a:r>
              <a:rPr lang="en-US" sz="3200" b="1" dirty="0">
                <a:latin typeface="Times New Roman" panose="02020603050405020304" pitchFamily="18" charset="0"/>
                <a:cs typeface="Times New Roman" panose="02020603050405020304" pitchFamily="18" charset="0"/>
              </a:rPr>
              <a:t>Message:</a:t>
            </a:r>
            <a:r>
              <a:rPr lang="en-US" sz="32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HELLO</a:t>
            </a: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Encryption:</a:t>
            </a:r>
            <a:r>
              <a:rPr lang="en-US" sz="3200" dirty="0">
                <a:latin typeface="Times New Roman" panose="02020603050405020304" pitchFamily="18" charset="0"/>
                <a:cs typeface="Times New Roman" panose="02020603050405020304" pitchFamily="18" charset="0"/>
              </a:rPr>
              <a:t> H→K, E→H, L→O, L→O, O→R → </a:t>
            </a:r>
            <a:r>
              <a:rPr lang="en-US" dirty="0">
                <a:latin typeface="Times New Roman" panose="02020603050405020304" pitchFamily="18" charset="0"/>
                <a:cs typeface="Times New Roman" panose="02020603050405020304" pitchFamily="18" charset="0"/>
              </a:rPr>
              <a:t>KHOOR</a:t>
            </a: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Decryption:</a:t>
            </a:r>
            <a:r>
              <a:rPr lang="en-US" sz="3200" dirty="0">
                <a:latin typeface="Times New Roman" panose="02020603050405020304" pitchFamily="18" charset="0"/>
                <a:cs typeface="Times New Roman" panose="02020603050405020304" pitchFamily="18" charset="0"/>
              </a:rPr>
              <a:t> Shift back 3 → </a:t>
            </a:r>
            <a:r>
              <a:rPr lang="en-US" dirty="0">
                <a:latin typeface="Times New Roman" panose="02020603050405020304" pitchFamily="18" charset="0"/>
                <a:cs typeface="Times New Roman" panose="02020603050405020304" pitchFamily="18" charset="0"/>
              </a:rPr>
              <a:t>HELLO</a:t>
            </a:r>
            <a:endParaRPr lang="en-US" sz="3200" dirty="0">
              <a:latin typeface="Times New Roman" panose="02020603050405020304" pitchFamily="18" charset="0"/>
              <a:cs typeface="Times New Roman" panose="02020603050405020304" pitchFamily="18" charset="0"/>
            </a:endParaRPr>
          </a:p>
          <a:p>
            <a:endParaRPr lang="en-US" sz="3200" b="1" dirty="0">
              <a:latin typeface="Times New Roman" panose="02020603050405020304" pitchFamily="18" charset="0"/>
              <a:cs typeface="Times New Roman" panose="02020603050405020304" pitchFamily="18" charset="0"/>
            </a:endParaRPr>
          </a:p>
          <a:p>
            <a:pPr algn="ctr"/>
            <a:r>
              <a:rPr lang="en-US" sz="3200" b="1" dirty="0">
                <a:latin typeface="Times New Roman" panose="02020603050405020304" pitchFamily="18" charset="0"/>
                <a:cs typeface="Times New Roman" panose="02020603050405020304" pitchFamily="18" charset="0"/>
              </a:rPr>
              <a:t>Activity:</a:t>
            </a:r>
            <a:r>
              <a:rPr lang="en-US" sz="3200" dirty="0">
                <a:latin typeface="Times New Roman" panose="02020603050405020304" pitchFamily="18" charset="0"/>
                <a:cs typeface="Times New Roman" panose="02020603050405020304" pitchFamily="18" charset="0"/>
              </a:rPr>
              <a:t> Encode your name with shift 2 and swap with a neighbor to decode.</a:t>
            </a:r>
          </a:p>
          <a:p>
            <a:pPr marL="457200" indent="-457200" algn="just">
              <a:buFont typeface="Wingdings" panose="05000000000000000000" pitchFamily="2" charset="2"/>
              <a:buChar char="§"/>
            </a:pPr>
            <a:endParaRPr lang="en-US"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0751F54-1D0C-54C2-C6A3-670FF6B02795}"/>
              </a:ext>
            </a:extLst>
          </p:cNvPr>
          <p:cNvSpPr txBox="1"/>
          <p:nvPr/>
        </p:nvSpPr>
        <p:spPr>
          <a:xfrm>
            <a:off x="3627120" y="252720"/>
            <a:ext cx="614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The Caesar Cipher</a:t>
            </a:r>
          </a:p>
        </p:txBody>
      </p:sp>
    </p:spTree>
    <p:extLst>
      <p:ext uri="{BB962C8B-B14F-4D97-AF65-F5344CB8AC3E}">
        <p14:creationId xmlns:p14="http://schemas.microsoft.com/office/powerpoint/2010/main" val="1861541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D37F0-455A-E198-1037-8A139DBC9B6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C0CBDD-CB02-F81E-1B13-A571F2501A87}"/>
              </a:ext>
            </a:extLst>
          </p:cNvPr>
          <p:cNvSpPr txBox="1"/>
          <p:nvPr/>
        </p:nvSpPr>
        <p:spPr>
          <a:xfrm>
            <a:off x="1087120" y="1659285"/>
            <a:ext cx="10535920" cy="3539430"/>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Concept:</a:t>
            </a:r>
            <a:r>
              <a:rPr lang="en-US" sz="3200" dirty="0">
                <a:latin typeface="Times New Roman" panose="02020603050405020304" pitchFamily="18" charset="0"/>
                <a:cs typeface="Times New Roman" panose="02020603050405020304" pitchFamily="18" charset="0"/>
              </a:rPr>
              <a:t> Reverse the alphabet (A↔Z, B↔Y, …)</a:t>
            </a:r>
          </a:p>
          <a:p>
            <a:r>
              <a:rPr lang="en-US" sz="3200" b="1" dirty="0">
                <a:latin typeface="Times New Roman" panose="02020603050405020304" pitchFamily="18" charset="0"/>
                <a:cs typeface="Times New Roman" panose="02020603050405020304" pitchFamily="18" charset="0"/>
              </a:rPr>
              <a:t>Message:</a:t>
            </a:r>
            <a:r>
              <a:rPr lang="en-US" sz="3200" dirty="0">
                <a:latin typeface="Times New Roman" panose="02020603050405020304" pitchFamily="18" charset="0"/>
                <a:cs typeface="Times New Roman" panose="02020603050405020304" pitchFamily="18" charset="0"/>
              </a:rPr>
              <a:t> HELLO</a:t>
            </a:r>
          </a:p>
          <a:p>
            <a:r>
              <a:rPr lang="en-US" sz="3200" b="1" dirty="0">
                <a:latin typeface="Times New Roman" panose="02020603050405020304" pitchFamily="18" charset="0"/>
                <a:cs typeface="Times New Roman" panose="02020603050405020304" pitchFamily="18" charset="0"/>
              </a:rPr>
              <a:t>Encryption:</a:t>
            </a:r>
            <a:r>
              <a:rPr lang="en-US" sz="3200" dirty="0">
                <a:latin typeface="Times New Roman" panose="02020603050405020304" pitchFamily="18" charset="0"/>
                <a:cs typeface="Times New Roman" panose="02020603050405020304" pitchFamily="18" charset="0"/>
              </a:rPr>
              <a:t> H→S, E→V, L→O, L→O, O→L → SVOOL</a:t>
            </a:r>
          </a:p>
          <a:p>
            <a:r>
              <a:rPr lang="en-US" sz="3200" b="1" dirty="0">
                <a:latin typeface="Times New Roman" panose="02020603050405020304" pitchFamily="18" charset="0"/>
                <a:cs typeface="Times New Roman" panose="02020603050405020304" pitchFamily="18" charset="0"/>
              </a:rPr>
              <a:t>Decryption:</a:t>
            </a:r>
            <a:r>
              <a:rPr lang="en-US" sz="3200" dirty="0">
                <a:latin typeface="Times New Roman" panose="02020603050405020304" pitchFamily="18" charset="0"/>
                <a:cs typeface="Times New Roman" panose="02020603050405020304" pitchFamily="18" charset="0"/>
              </a:rPr>
              <a:t> Reverse again → HELLO</a:t>
            </a:r>
          </a:p>
          <a:p>
            <a:endParaRPr lang="en-US" sz="3200" dirty="0">
              <a:latin typeface="Times New Roman" panose="02020603050405020304" pitchFamily="18" charset="0"/>
              <a:cs typeface="Times New Roman" panose="02020603050405020304" pitchFamily="18" charset="0"/>
            </a:endParaRPr>
          </a:p>
          <a:p>
            <a:pPr algn="ctr"/>
            <a:r>
              <a:rPr lang="en-US" sz="3200" b="1" dirty="0">
                <a:latin typeface="Times New Roman" panose="02020603050405020304" pitchFamily="18" charset="0"/>
                <a:cs typeface="Times New Roman" panose="02020603050405020304" pitchFamily="18" charset="0"/>
              </a:rPr>
              <a:t>Activity:</a:t>
            </a:r>
            <a:r>
              <a:rPr lang="en-US" sz="3200" dirty="0">
                <a:latin typeface="Times New Roman" panose="02020603050405020304" pitchFamily="18" charset="0"/>
                <a:cs typeface="Times New Roman" panose="02020603050405020304" pitchFamily="18" charset="0"/>
              </a:rPr>
              <a:t> Try encoding the word “MATH” or “CODE” and decode each other’s messages.</a:t>
            </a:r>
          </a:p>
        </p:txBody>
      </p:sp>
      <p:sp>
        <p:nvSpPr>
          <p:cNvPr id="6" name="TextBox 5">
            <a:extLst>
              <a:ext uri="{FF2B5EF4-FFF2-40B4-BE49-F238E27FC236}">
                <a16:creationId xmlns:a16="http://schemas.microsoft.com/office/drawing/2014/main" id="{D45ADEB3-755A-E6B2-76CB-B3110394B8A6}"/>
              </a:ext>
            </a:extLst>
          </p:cNvPr>
          <p:cNvSpPr txBox="1"/>
          <p:nvPr/>
        </p:nvSpPr>
        <p:spPr>
          <a:xfrm>
            <a:off x="2296160" y="252720"/>
            <a:ext cx="8117840" cy="1569660"/>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Atbash – Hebrew Code</a:t>
            </a:r>
          </a:p>
          <a:p>
            <a:endPar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097949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3870D-D11B-9681-12D1-343BB007074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FA24FF-E67C-58EE-381F-BB37B845AF28}"/>
              </a:ext>
            </a:extLst>
          </p:cNvPr>
          <p:cNvSpPr txBox="1"/>
          <p:nvPr/>
        </p:nvSpPr>
        <p:spPr>
          <a:xfrm>
            <a:off x="1031240" y="1574750"/>
            <a:ext cx="10535920" cy="5016758"/>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Concept:</a:t>
            </a:r>
            <a:r>
              <a:rPr lang="en-US" sz="3200" dirty="0">
                <a:latin typeface="Times New Roman" panose="02020603050405020304" pitchFamily="18" charset="0"/>
                <a:cs typeface="Times New Roman" panose="02020603050405020304" pitchFamily="18" charset="0"/>
              </a:rPr>
              <a:t> Write letters in a zigzag across rows, then read row by row.</a:t>
            </a:r>
          </a:p>
          <a:p>
            <a:r>
              <a:rPr lang="en-US" sz="3200" b="1" dirty="0">
                <a:latin typeface="Times New Roman" panose="02020603050405020304" pitchFamily="18" charset="0"/>
                <a:cs typeface="Times New Roman" panose="02020603050405020304" pitchFamily="18" charset="0"/>
              </a:rPr>
              <a:t>Message:</a:t>
            </a:r>
            <a:r>
              <a:rPr lang="en-US" sz="32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Attack at dawn</a:t>
            </a: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Rails:</a:t>
            </a:r>
            <a:r>
              <a:rPr lang="en-US" sz="3200" dirty="0">
                <a:latin typeface="Times New Roman" panose="02020603050405020304" pitchFamily="18" charset="0"/>
                <a:cs typeface="Times New Roman" panose="02020603050405020304" pitchFamily="18" charset="0"/>
              </a:rPr>
              <a:t> 2</a:t>
            </a:r>
          </a:p>
          <a:p>
            <a:r>
              <a:rPr lang="en-US" sz="3200" dirty="0">
                <a:latin typeface="Times New Roman" panose="02020603050405020304" pitchFamily="18" charset="0"/>
                <a:cs typeface="Times New Roman" panose="02020603050405020304" pitchFamily="18" charset="0"/>
              </a:rPr>
              <a:t>Row 1: A t c a d w</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Row 2: t a k t a n</a:t>
            </a:r>
          </a:p>
          <a:p>
            <a:endParaRPr lang="en-US" sz="3200" dirty="0"/>
          </a:p>
          <a:p>
            <a:r>
              <a:rPr lang="en-US" sz="3200" b="1" dirty="0">
                <a:latin typeface="Times New Roman" panose="02020603050405020304" pitchFamily="18" charset="0"/>
                <a:cs typeface="Times New Roman" panose="02020603050405020304" pitchFamily="18" charset="0"/>
              </a:rPr>
              <a:t>Activity: </a:t>
            </a:r>
            <a:r>
              <a:rPr lang="en-US" sz="3200" dirty="0">
                <a:latin typeface="Times New Roman" panose="02020603050405020304" pitchFamily="18" charset="0"/>
                <a:cs typeface="Times New Roman" panose="02020603050405020304" pitchFamily="18" charset="0"/>
              </a:rPr>
              <a:t>Write your department in a zigzag with 2–3 rows and read the encrypted version.</a:t>
            </a:r>
            <a:endParaRPr lang="en-PK"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805C92B-5BC5-2C5A-5D06-E1D682F9F5BE}"/>
              </a:ext>
            </a:extLst>
          </p:cNvPr>
          <p:cNvSpPr txBox="1"/>
          <p:nvPr/>
        </p:nvSpPr>
        <p:spPr>
          <a:xfrm>
            <a:off x="3627120" y="252720"/>
            <a:ext cx="614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Rail Fence Cipher</a:t>
            </a:r>
          </a:p>
        </p:txBody>
      </p:sp>
      <p:pic>
        <p:nvPicPr>
          <p:cNvPr id="7" name="Picture 6">
            <a:extLst>
              <a:ext uri="{FF2B5EF4-FFF2-40B4-BE49-F238E27FC236}">
                <a16:creationId xmlns:a16="http://schemas.microsoft.com/office/drawing/2014/main" id="{E8FB1EAA-0F73-C057-A9A6-B8E3E671C033}"/>
              </a:ext>
            </a:extLst>
          </p:cNvPr>
          <p:cNvPicPr>
            <a:picLocks noChangeAspect="1"/>
          </p:cNvPicPr>
          <p:nvPr/>
        </p:nvPicPr>
        <p:blipFill>
          <a:blip r:embed="rId2"/>
          <a:stretch>
            <a:fillRect/>
          </a:stretch>
        </p:blipFill>
        <p:spPr>
          <a:xfrm>
            <a:off x="4446250" y="3078481"/>
            <a:ext cx="7745750" cy="1616392"/>
          </a:xfrm>
          <a:prstGeom prst="rect">
            <a:avLst/>
          </a:prstGeom>
        </p:spPr>
      </p:pic>
    </p:spTree>
    <p:extLst>
      <p:ext uri="{BB962C8B-B14F-4D97-AF65-F5344CB8AC3E}">
        <p14:creationId xmlns:p14="http://schemas.microsoft.com/office/powerpoint/2010/main" val="1331633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04A2-EF47-F5C4-79A1-79160ACB78F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680AB46-0DD1-624E-1AE9-8143D368BE0B}"/>
              </a:ext>
            </a:extLst>
          </p:cNvPr>
          <p:cNvSpPr txBox="1"/>
          <p:nvPr/>
        </p:nvSpPr>
        <p:spPr>
          <a:xfrm>
            <a:off x="3281680" y="364480"/>
            <a:ext cx="614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Binary Operations</a:t>
            </a:r>
          </a:p>
        </p:txBody>
      </p:sp>
      <p:sp>
        <p:nvSpPr>
          <p:cNvPr id="3" name="TextBox 2">
            <a:extLst>
              <a:ext uri="{FF2B5EF4-FFF2-40B4-BE49-F238E27FC236}">
                <a16:creationId xmlns:a16="http://schemas.microsoft.com/office/drawing/2014/main" id="{78DDD0DD-71B2-5DA8-5ECA-047DA5610E6E}"/>
              </a:ext>
            </a:extLst>
          </p:cNvPr>
          <p:cNvSpPr txBox="1"/>
          <p:nvPr/>
        </p:nvSpPr>
        <p:spPr>
          <a:xfrm>
            <a:off x="894080" y="1314440"/>
            <a:ext cx="10698480" cy="5001369"/>
          </a:xfrm>
          <a:prstGeom prst="rect">
            <a:avLst/>
          </a:prstGeom>
          <a:noFill/>
        </p:spPr>
        <p:txBody>
          <a:bodyPr wrap="square">
            <a:spAutoFit/>
          </a:bodyPr>
          <a:lstStyle/>
          <a:p>
            <a:pPr algn="just">
              <a:buNone/>
            </a:pPr>
            <a:r>
              <a:rPr lang="en-US" sz="2900" b="1" dirty="0">
                <a:latin typeface="Times New Roman" panose="02020603050405020304" pitchFamily="18" charset="0"/>
                <a:cs typeface="Times New Roman" panose="02020603050405020304" pitchFamily="18" charset="0"/>
              </a:rPr>
              <a:t>Concept</a:t>
            </a:r>
          </a:p>
          <a:p>
            <a:pPr algn="just">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 Computers store everything in </a:t>
            </a:r>
            <a:r>
              <a:rPr lang="en-US" sz="2900" b="1" dirty="0">
                <a:latin typeface="Times New Roman" panose="02020603050405020304" pitchFamily="18" charset="0"/>
                <a:cs typeface="Times New Roman" panose="02020603050405020304" pitchFamily="18" charset="0"/>
              </a:rPr>
              <a:t>binary</a:t>
            </a:r>
            <a:r>
              <a:rPr lang="en-US" sz="2900" dirty="0">
                <a:latin typeface="Times New Roman" panose="02020603050405020304" pitchFamily="18" charset="0"/>
                <a:cs typeface="Times New Roman" panose="02020603050405020304" pitchFamily="18" charset="0"/>
              </a:rPr>
              <a:t> (0s and 1s).</a:t>
            </a:r>
          </a:p>
          <a:p>
            <a:pPr algn="just">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 Each character has a </a:t>
            </a:r>
            <a:r>
              <a:rPr lang="en-US" sz="2900" b="1" dirty="0">
                <a:latin typeface="Times New Roman" panose="02020603050405020304" pitchFamily="18" charset="0"/>
                <a:cs typeface="Times New Roman" panose="02020603050405020304" pitchFamily="18" charset="0"/>
              </a:rPr>
              <a:t>binary code</a:t>
            </a:r>
            <a:r>
              <a:rPr lang="en-US" sz="2900" dirty="0">
                <a:latin typeface="Times New Roman" panose="02020603050405020304" pitchFamily="18" charset="0"/>
                <a:cs typeface="Times New Roman" panose="02020603050405020304" pitchFamily="18" charset="0"/>
              </a:rPr>
              <a:t> called </a:t>
            </a:r>
            <a:r>
              <a:rPr lang="en-US" sz="2900" b="1" dirty="0">
                <a:latin typeface="Times New Roman" panose="02020603050405020304" pitchFamily="18" charset="0"/>
                <a:cs typeface="Times New Roman" panose="02020603050405020304" pitchFamily="18" charset="0"/>
              </a:rPr>
              <a:t>ASCII</a:t>
            </a:r>
            <a:r>
              <a:rPr lang="en-US" sz="2900" dirty="0">
                <a:latin typeface="Times New Roman" panose="02020603050405020304" pitchFamily="18" charset="0"/>
                <a:cs typeface="Times New Roman" panose="02020603050405020304" pitchFamily="18" charset="0"/>
              </a:rPr>
              <a:t>. For example:</a:t>
            </a:r>
          </a:p>
          <a:p>
            <a:pPr marL="742950" lvl="1" indent="-285750" algn="just">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A → 65 → 01000001</a:t>
            </a:r>
          </a:p>
          <a:p>
            <a:pPr marL="742950" lvl="1" indent="-285750" algn="just">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B → 66 → 01000010</a:t>
            </a:r>
          </a:p>
          <a:p>
            <a:pPr algn="just">
              <a:buFont typeface="Arial" panose="020B0604020202020204" pitchFamily="34" charset="0"/>
              <a:buChar char="•"/>
            </a:pPr>
            <a:r>
              <a:rPr lang="en-US" sz="2900" b="1" dirty="0">
                <a:latin typeface="Times New Roman" panose="02020603050405020304" pitchFamily="18" charset="0"/>
                <a:cs typeface="Times New Roman" panose="02020603050405020304" pitchFamily="18" charset="0"/>
              </a:rPr>
              <a:t> Encryption using binary operations</a:t>
            </a:r>
            <a:r>
              <a:rPr lang="en-US" sz="2900" dirty="0">
                <a:latin typeface="Times New Roman" panose="02020603050405020304" pitchFamily="18" charset="0"/>
                <a:cs typeface="Times New Roman" panose="02020603050405020304" pitchFamily="18" charset="0"/>
              </a:rPr>
              <a:t> involves taking this binary representation and combining it with a </a:t>
            </a:r>
            <a:r>
              <a:rPr lang="en-US" sz="2900" b="1" dirty="0">
                <a:latin typeface="Times New Roman" panose="02020603050405020304" pitchFamily="18" charset="0"/>
                <a:cs typeface="Times New Roman" panose="02020603050405020304" pitchFamily="18" charset="0"/>
              </a:rPr>
              <a:t>key</a:t>
            </a:r>
            <a:r>
              <a:rPr lang="en-US" sz="2900" dirty="0">
                <a:latin typeface="Times New Roman" panose="02020603050405020304" pitchFamily="18" charset="0"/>
                <a:cs typeface="Times New Roman" panose="02020603050405020304" pitchFamily="18" charset="0"/>
              </a:rPr>
              <a:t> using </a:t>
            </a:r>
            <a:r>
              <a:rPr lang="en-US" sz="2900" b="1" dirty="0">
                <a:latin typeface="Times New Roman" panose="02020603050405020304" pitchFamily="18" charset="0"/>
                <a:cs typeface="Times New Roman" panose="02020603050405020304" pitchFamily="18" charset="0"/>
              </a:rPr>
              <a:t>logical operations</a:t>
            </a:r>
            <a:r>
              <a:rPr lang="en-US" sz="2900" dirty="0">
                <a:latin typeface="Times New Roman" panose="02020603050405020304" pitchFamily="18" charset="0"/>
                <a:cs typeface="Times New Roman" panose="02020603050405020304" pitchFamily="18" charset="0"/>
              </a:rPr>
              <a:t>: AND, OR, XOR.</a:t>
            </a:r>
          </a:p>
          <a:p>
            <a:pPr algn="just">
              <a:buFont typeface="Arial" panose="020B0604020202020204" pitchFamily="34" charset="0"/>
              <a:buChar char="•"/>
            </a:pPr>
            <a:r>
              <a:rPr lang="en-US" sz="2900" b="1" dirty="0">
                <a:latin typeface="Times New Roman" panose="02020603050405020304" pitchFamily="18" charset="0"/>
                <a:cs typeface="Times New Roman" panose="02020603050405020304" pitchFamily="18" charset="0"/>
              </a:rPr>
              <a:t> XOR (exclusive OR)</a:t>
            </a:r>
            <a:r>
              <a:rPr lang="en-US" sz="2900" dirty="0">
                <a:latin typeface="Times New Roman" panose="02020603050405020304" pitchFamily="18" charset="0"/>
                <a:cs typeface="Times New Roman" panose="02020603050405020304" pitchFamily="18" charset="0"/>
              </a:rPr>
              <a:t> is most commonly used because it is </a:t>
            </a:r>
            <a:r>
              <a:rPr lang="en-US" sz="2900" b="1" dirty="0">
                <a:latin typeface="Times New Roman" panose="02020603050405020304" pitchFamily="18" charset="0"/>
                <a:cs typeface="Times New Roman" panose="02020603050405020304" pitchFamily="18" charset="0"/>
              </a:rPr>
              <a:t>reversible</a:t>
            </a:r>
            <a:r>
              <a:rPr lang="en-US" sz="2900" dirty="0">
                <a:latin typeface="Times New Roman" panose="02020603050405020304" pitchFamily="18" charset="0"/>
                <a:cs typeface="Times New Roman" panose="02020603050405020304" pitchFamily="18" charset="0"/>
              </a:rPr>
              <a:t>: applying XOR twice with the same key restores the original message.</a:t>
            </a:r>
          </a:p>
        </p:txBody>
      </p:sp>
    </p:spTree>
    <p:extLst>
      <p:ext uri="{BB962C8B-B14F-4D97-AF65-F5344CB8AC3E}">
        <p14:creationId xmlns:p14="http://schemas.microsoft.com/office/powerpoint/2010/main" val="481732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11490-17E0-D2A1-69C9-6E8A483ABC1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3D989DE-F272-4512-F6EF-F0083EBF324C}"/>
              </a:ext>
            </a:extLst>
          </p:cNvPr>
          <p:cNvSpPr txBox="1"/>
          <p:nvPr/>
        </p:nvSpPr>
        <p:spPr>
          <a:xfrm>
            <a:off x="3627120" y="252720"/>
            <a:ext cx="614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Binary Operation</a:t>
            </a:r>
          </a:p>
        </p:txBody>
      </p:sp>
      <p:sp>
        <p:nvSpPr>
          <p:cNvPr id="3" name="Rectangle 2">
            <a:extLst>
              <a:ext uri="{FF2B5EF4-FFF2-40B4-BE49-F238E27FC236}">
                <a16:creationId xmlns:a16="http://schemas.microsoft.com/office/drawing/2014/main" id="{B28864EC-A146-086D-7321-A768E6B60BB6}"/>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41D24C30-FB49-F12F-1690-D46397FFBD51}"/>
              </a:ext>
            </a:extLst>
          </p:cNvPr>
          <p:cNvSpPr txBox="1"/>
          <p:nvPr/>
        </p:nvSpPr>
        <p:spPr>
          <a:xfrm>
            <a:off x="1239520" y="1635036"/>
            <a:ext cx="9631680"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PK" sz="2400" b="1" dirty="0">
                <a:latin typeface="Times New Roman" panose="02020603050405020304" pitchFamily="18" charset="0"/>
                <a:cs typeface="Times New Roman" panose="02020603050405020304" pitchFamily="18" charset="0"/>
              </a:rPr>
              <a:t>Activity</a:t>
            </a:r>
          </a:p>
          <a:p>
            <a:pPr marL="0" marR="0" lvl="0" indent="0" algn="l" defTabSz="914400" rtl="0" eaLnBrk="0" fontAlgn="base" latinLnBrk="0" hangingPunct="0">
              <a:lnSpc>
                <a:spcPct val="100000"/>
              </a:lnSpc>
              <a:spcBef>
                <a:spcPct val="0"/>
              </a:spcBef>
              <a:spcAft>
                <a:spcPct val="0"/>
              </a:spcAft>
              <a:buClrTx/>
              <a:buSzTx/>
              <a:tabLst/>
            </a:pPr>
            <a:endParaRPr kumimoji="0" lang="en-US" altLang="en-PK"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PK" sz="2400" dirty="0">
                <a:latin typeface="Times New Roman" panose="02020603050405020304" pitchFamily="18" charset="0"/>
                <a:cs typeface="Times New Roman" panose="02020603050405020304" pitchFamily="18" charset="0"/>
              </a:rPr>
              <a:t> </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Pick a </a:t>
            </a:r>
            <a:r>
              <a:rPr kumimoji="0" lang="en-PK" altLang="en-PK"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letter</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 it to binary using ASCII: B → 66 → 01000010.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Choose a key: 10101010.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PK"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XOR to encrypt</a:t>
            </a:r>
            <a:endParaRPr kumimoji="0" lang="en-US" altLang="en-PK"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sz="2400"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 Now Decrypt it using the same key : </a:t>
            </a:r>
            <a:r>
              <a:rPr lang="en-PK" altLang="en-PK" sz="2400" dirty="0">
                <a:latin typeface="Times New Roman" panose="02020603050405020304" pitchFamily="18" charset="0"/>
                <a:cs typeface="Times New Roman" panose="02020603050405020304" pitchFamily="18" charset="0"/>
              </a:rPr>
              <a:t>10101010.</a:t>
            </a:r>
          </a:p>
          <a:p>
            <a:pPr marL="0" marR="0" lvl="0" indent="0" algn="l" defTabSz="914400" rtl="0" eaLnBrk="0" fontAlgn="base" latinLnBrk="0" hangingPunct="0">
              <a:lnSpc>
                <a:spcPct val="100000"/>
              </a:lnSpc>
              <a:spcBef>
                <a:spcPct val="0"/>
              </a:spcBef>
              <a:spcAft>
                <a:spcPct val="0"/>
              </a:spcAft>
              <a:buClrTx/>
              <a:buSzTx/>
              <a:buFontTx/>
              <a:buChar char="•"/>
              <a:tabLst/>
            </a:pPr>
            <a:endParaRPr lang="en-PK"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462BD43-2C4F-18FB-2EC8-F57417CB0A64}"/>
              </a:ext>
            </a:extLst>
          </p:cNvPr>
          <p:cNvPicPr>
            <a:picLocks noChangeAspect="1"/>
          </p:cNvPicPr>
          <p:nvPr/>
        </p:nvPicPr>
        <p:blipFill>
          <a:blip r:embed="rId2"/>
          <a:stretch>
            <a:fillRect/>
          </a:stretch>
        </p:blipFill>
        <p:spPr>
          <a:xfrm>
            <a:off x="4077970" y="3999320"/>
            <a:ext cx="7639050" cy="942975"/>
          </a:xfrm>
          <a:prstGeom prst="rect">
            <a:avLst/>
          </a:prstGeom>
        </p:spPr>
      </p:pic>
      <p:pic>
        <p:nvPicPr>
          <p:cNvPr id="11" name="Picture 10">
            <a:extLst>
              <a:ext uri="{FF2B5EF4-FFF2-40B4-BE49-F238E27FC236}">
                <a16:creationId xmlns:a16="http://schemas.microsoft.com/office/drawing/2014/main" id="{9C09EBC3-D0B3-09FF-9E02-20A54147B850}"/>
              </a:ext>
            </a:extLst>
          </p:cNvPr>
          <p:cNvPicPr>
            <a:picLocks noChangeAspect="1"/>
          </p:cNvPicPr>
          <p:nvPr/>
        </p:nvPicPr>
        <p:blipFill>
          <a:blip r:embed="rId3"/>
          <a:stretch>
            <a:fillRect/>
          </a:stretch>
        </p:blipFill>
        <p:spPr>
          <a:xfrm>
            <a:off x="4077970" y="5548144"/>
            <a:ext cx="7839075" cy="847725"/>
          </a:xfrm>
          <a:prstGeom prst="rect">
            <a:avLst/>
          </a:prstGeom>
        </p:spPr>
      </p:pic>
    </p:spTree>
    <p:extLst>
      <p:ext uri="{BB962C8B-B14F-4D97-AF65-F5344CB8AC3E}">
        <p14:creationId xmlns:p14="http://schemas.microsoft.com/office/powerpoint/2010/main" val="1056512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4148328" y="142594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944880" y="3337560"/>
            <a:ext cx="10535920" cy="369332"/>
          </a:xfrm>
          <a:prstGeom prst="rect">
            <a:avLst/>
          </a:prstGeom>
          <a:noFill/>
        </p:spPr>
        <p:txBody>
          <a:bodyPr wrap="square">
            <a:spAutoFit/>
          </a:bodyPr>
          <a:lstStyle/>
          <a:p>
            <a:pPr algn="ctr"/>
            <a:r>
              <a:rPr lang="en-US" dirty="0"/>
              <a:t>“</a:t>
            </a:r>
            <a:r>
              <a:rPr lang="en-US" dirty="0">
                <a:latin typeface="Times New Roman" panose="02020603050405020304" pitchFamily="18" charset="0"/>
                <a:cs typeface="Times New Roman" panose="02020603050405020304" pitchFamily="18" charset="0"/>
              </a:rPr>
              <a:t>Computers store everything in </a:t>
            </a:r>
            <a:r>
              <a:rPr lang="en-US" b="1" dirty="0">
                <a:latin typeface="Times New Roman" panose="02020603050405020304" pitchFamily="18" charset="0"/>
                <a:cs typeface="Times New Roman" panose="02020603050405020304" pitchFamily="18" charset="0"/>
              </a:rPr>
              <a:t>binary</a:t>
            </a:r>
            <a:r>
              <a:rPr lang="en-US" dirty="0">
                <a:latin typeface="Times New Roman" panose="02020603050405020304" pitchFamily="18" charset="0"/>
                <a:cs typeface="Times New Roman" panose="02020603050405020304" pitchFamily="18" charset="0"/>
              </a:rPr>
              <a:t> </a:t>
            </a:r>
            <a:r>
              <a:rPr lang="en-US" dirty="0"/>
              <a:t>”</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3359</TotalTime>
  <Words>1097</Words>
  <Application>Microsoft Office PowerPoint</Application>
  <PresentationFormat>Widescreen</PresentationFormat>
  <Paragraphs>138</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Rockwell</vt:lpstr>
      <vt:lpstr>Rockwell Condensed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2107</cp:revision>
  <dcterms:created xsi:type="dcterms:W3CDTF">2025-10-15T06:15:30Z</dcterms:created>
  <dcterms:modified xsi:type="dcterms:W3CDTF">2026-01-18T14:44:34Z</dcterms:modified>
</cp:coreProperties>
</file>