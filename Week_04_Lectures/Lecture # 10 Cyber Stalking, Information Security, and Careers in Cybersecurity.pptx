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3"/>
  </p:notesMasterIdLst>
  <p:sldIdLst>
    <p:sldId id="256" r:id="rId2"/>
    <p:sldId id="261" r:id="rId3"/>
    <p:sldId id="349" r:id="rId4"/>
    <p:sldId id="350" r:id="rId5"/>
    <p:sldId id="351" r:id="rId6"/>
    <p:sldId id="352" r:id="rId7"/>
    <p:sldId id="353" r:id="rId8"/>
    <p:sldId id="354" r:id="rId9"/>
    <p:sldId id="355" r:id="rId10"/>
    <p:sldId id="356" r:id="rId11"/>
    <p:sldId id="357" r:id="rId12"/>
    <p:sldId id="358" r:id="rId13"/>
    <p:sldId id="359" r:id="rId14"/>
    <p:sldId id="360" r:id="rId15"/>
    <p:sldId id="361" r:id="rId16"/>
    <p:sldId id="366" r:id="rId17"/>
    <p:sldId id="364" r:id="rId18"/>
    <p:sldId id="365" r:id="rId19"/>
    <p:sldId id="362" r:id="rId20"/>
    <p:sldId id="363" r:id="rId21"/>
    <p:sldId id="2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15/11/2025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11/15/2025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11/15/2025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11/15/2025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samaa.tv/2087330981-first-major-conviction-under-peca-11-year-sentence-for-online-harassment" TargetMode="External"/><Relationship Id="rId2" Type="http://schemas.openxmlformats.org/officeDocument/2006/relationships/hyperlink" Target="https://www.dawn.com/news/1929530"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nr3c.gov.pk/"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2373884" y="4616533"/>
            <a:ext cx="8053832" cy="127304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 10</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354328" y="33223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1220724" y="1737261"/>
            <a:ext cx="9750552" cy="4401205"/>
          </a:xfrm>
          <a:prstGeom prst="rect">
            <a:avLst/>
          </a:prstGeom>
          <a:noFill/>
        </p:spPr>
        <p:txBody>
          <a:bodyPr wrap="square">
            <a:spAutoFit/>
          </a:bodyPr>
          <a:lstStyle/>
          <a:p>
            <a:pPr marL="457200" lvl="0" indent="-457200" defTabSz="914400" eaLnBrk="0" fontAlgn="base" hangingPunct="0">
              <a:spcBef>
                <a:spcPct val="0"/>
              </a:spcBef>
              <a:spcAft>
                <a:spcPct val="0"/>
              </a:spcAft>
              <a:buFont typeface="Wingdings" panose="05000000000000000000" pitchFamily="2" charset="2"/>
              <a:buChar char="§"/>
            </a:pPr>
            <a:r>
              <a:rPr lang="en-PK" altLang="en-PK" sz="2800" b="1" dirty="0">
                <a:latin typeface="Times New Roman" panose="02020603050405020304" pitchFamily="18" charset="0"/>
                <a:ea typeface="Tahoma" panose="020B0604030504040204" pitchFamily="34" charset="0"/>
                <a:cs typeface="Times New Roman" panose="02020603050405020304" pitchFamily="18" charset="0"/>
              </a:rPr>
              <a:t>Cyber Crimes &amp; Cybersecurity Fundamentals</a:t>
            </a:r>
            <a:endParaRPr lang="en-PK" altLang="en-PK" sz="2800" dirty="0">
              <a:latin typeface="Times New Roman" panose="02020603050405020304" pitchFamily="18" charset="0"/>
              <a:ea typeface="Tahoma" panose="020B0604030504040204" pitchFamily="34"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2800" b="1" dirty="0">
                <a:latin typeface="Times New Roman" panose="02020603050405020304" pitchFamily="18" charset="0"/>
                <a:ea typeface="Tahoma" panose="020B0604030504040204" pitchFamily="34" charset="0"/>
                <a:cs typeface="Times New Roman" panose="02020603050405020304" pitchFamily="18" charset="0"/>
              </a:rPr>
              <a:t>Cyber Stalking and Information Security Essentials</a:t>
            </a:r>
            <a:endParaRPr lang="en-PK" altLang="en-PK" sz="2800" dirty="0">
              <a:latin typeface="Times New Roman" panose="02020603050405020304" pitchFamily="18" charset="0"/>
              <a:ea typeface="Tahoma" panose="020B0604030504040204" pitchFamily="34"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2800" b="1" dirty="0">
                <a:latin typeface="Times New Roman" panose="02020603050405020304" pitchFamily="18" charset="0"/>
                <a:ea typeface="Tahoma" panose="020B0604030504040204" pitchFamily="34" charset="0"/>
                <a:cs typeface="Times New Roman" panose="02020603050405020304" pitchFamily="18" charset="0"/>
              </a:rPr>
              <a:t>Understanding Cyber Stalking, PECA Laws, and Cybersecurity Careers</a:t>
            </a:r>
            <a:endParaRPr lang="en-PK" altLang="en-PK" sz="2800" dirty="0">
              <a:latin typeface="Times New Roman" panose="02020603050405020304" pitchFamily="18" charset="0"/>
              <a:ea typeface="Tahoma" panose="020B0604030504040204" pitchFamily="34"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2800" b="1" dirty="0">
                <a:latin typeface="Times New Roman" panose="02020603050405020304" pitchFamily="18" charset="0"/>
                <a:ea typeface="Tahoma" panose="020B0604030504040204" pitchFamily="34" charset="0"/>
                <a:cs typeface="Times New Roman" panose="02020603050405020304" pitchFamily="18" charset="0"/>
              </a:rPr>
              <a:t>Cyber Stalking in Pakistan: Laws, Cases &amp; Security Awareness</a:t>
            </a:r>
            <a:endParaRPr lang="en-PK" altLang="en-PK" sz="2800" dirty="0">
              <a:latin typeface="Times New Roman" panose="02020603050405020304" pitchFamily="18" charset="0"/>
              <a:ea typeface="Tahoma" panose="020B0604030504040204" pitchFamily="34"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2800" b="1" dirty="0">
                <a:latin typeface="Times New Roman" panose="02020603050405020304" pitchFamily="18" charset="0"/>
                <a:ea typeface="Tahoma" panose="020B0604030504040204" pitchFamily="34" charset="0"/>
                <a:cs typeface="Times New Roman" panose="02020603050405020304" pitchFamily="18" charset="0"/>
              </a:rPr>
              <a:t>Introduction to Cyber Threats and Cybersecurity Roles</a:t>
            </a:r>
            <a:endParaRPr lang="en-PK" altLang="en-PK" sz="2800" dirty="0">
              <a:latin typeface="Times New Roman" panose="02020603050405020304" pitchFamily="18" charset="0"/>
              <a:ea typeface="Tahoma" panose="020B0604030504040204" pitchFamily="34"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2800" b="1" dirty="0">
                <a:latin typeface="Times New Roman" panose="02020603050405020304" pitchFamily="18" charset="0"/>
                <a:ea typeface="Tahoma" panose="020B0604030504040204" pitchFamily="34" charset="0"/>
                <a:cs typeface="Times New Roman" panose="02020603050405020304" pitchFamily="18" charset="0"/>
              </a:rPr>
              <a:t>Cyber Stalking, Attackers, and Careers in Cybersecurity</a:t>
            </a:r>
            <a:endParaRPr lang="en-PK" altLang="en-PK" sz="2800" dirty="0">
              <a:latin typeface="Times New Roman" panose="02020603050405020304" pitchFamily="18" charset="0"/>
              <a:ea typeface="Tahoma" panose="020B0604030504040204" pitchFamily="34" charset="0"/>
              <a:cs typeface="Times New Roman" panose="02020603050405020304" pitchFamily="18" charset="0"/>
            </a:endParaRPr>
          </a:p>
          <a:p>
            <a:pPr marL="457200" lvl="0" indent="-457200" defTabSz="914400" eaLnBrk="0" fontAlgn="base" hangingPunct="0">
              <a:spcBef>
                <a:spcPct val="0"/>
              </a:spcBef>
              <a:spcAft>
                <a:spcPct val="0"/>
              </a:spcAft>
              <a:buFont typeface="Wingdings" panose="05000000000000000000" pitchFamily="2" charset="2"/>
              <a:buChar char="§"/>
            </a:pPr>
            <a:r>
              <a:rPr lang="en-PK" altLang="en-PK" sz="2800" b="1" dirty="0">
                <a:latin typeface="Times New Roman" panose="02020603050405020304" pitchFamily="18" charset="0"/>
                <a:ea typeface="Tahoma" panose="020B0604030504040204" pitchFamily="34" charset="0"/>
                <a:cs typeface="Times New Roman" panose="02020603050405020304" pitchFamily="18" charset="0"/>
              </a:rPr>
              <a:t>Cybersecurity Basics: Attackers, Laws, and Career Paths</a:t>
            </a:r>
            <a:endParaRPr lang="en-PK" altLang="en-PK" sz="28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Font typeface="Wingdings" panose="05000000000000000000" pitchFamily="2" charset="2"/>
              <a:buChar char="§"/>
            </a:pPr>
            <a:endParaRPr lang="en-US" sz="2800" b="1"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10B2F0-00F2-490A-BDAC-0BCB912C36EF}"/>
              </a:ext>
            </a:extLst>
          </p:cNvPr>
          <p:cNvSpPr txBox="1"/>
          <p:nvPr/>
        </p:nvSpPr>
        <p:spPr>
          <a:xfrm>
            <a:off x="2631440" y="389717"/>
            <a:ext cx="60960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Cyber Stalking</a:t>
            </a:r>
          </a:p>
        </p:txBody>
      </p:sp>
      <p:sp>
        <p:nvSpPr>
          <p:cNvPr id="3" name="Rectangle 1">
            <a:extLst>
              <a:ext uri="{FF2B5EF4-FFF2-40B4-BE49-F238E27FC236}">
                <a16:creationId xmlns:a16="http://schemas.microsoft.com/office/drawing/2014/main" id="{BA14DCA8-C30D-FBF2-C808-43ECA7E91C4C}"/>
              </a:ext>
            </a:extLst>
          </p:cNvPr>
          <p:cNvSpPr>
            <a:spLocks noChangeArrowheads="1"/>
          </p:cNvSpPr>
          <p:nvPr/>
        </p:nvSpPr>
        <p:spPr bwMode="auto">
          <a:xfrm>
            <a:off x="386080" y="1359654"/>
            <a:ext cx="11033760" cy="2633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F4543C1-C4BB-FB03-9702-E88A84B7D31C}"/>
              </a:ext>
            </a:extLst>
          </p:cNvPr>
          <p:cNvSpPr txBox="1"/>
          <p:nvPr/>
        </p:nvSpPr>
        <p:spPr>
          <a:xfrm>
            <a:off x="772160" y="1543437"/>
            <a:ext cx="10535920" cy="4401205"/>
          </a:xfrm>
          <a:prstGeom prst="rect">
            <a:avLst/>
          </a:prstGeom>
          <a:noFill/>
        </p:spPr>
        <p:txBody>
          <a:bodyPr wrap="square">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Cyber-stalking </a:t>
            </a:r>
            <a:r>
              <a:rPr kumimoji="0" lang="en-PK" altLang="en-PK"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involves repeatedly using the internet, social media, email or other electronic means to harass, intimidate, or threaten someone.</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may include </a:t>
            </a: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surveillance, persistent unwanted contact, threats, misuse of personal data/photos/videos </a:t>
            </a:r>
            <a:r>
              <a:rPr kumimoji="0" lang="en-PK" altLang="en-PK"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cause fear or distress.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differs from one‐off harassment in that there is a repeated pattern, intent to intimidate, and often </a:t>
            </a:r>
            <a:r>
              <a:rPr kumimoji="0" lang="en-PK" altLang="en-PK"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stalker uses digital means to intrude on someone’s life.</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jurisdictions recognise it as a specific offence because of its capacity to cause serious psychological harm and invade privacy.</a:t>
            </a:r>
          </a:p>
        </p:txBody>
      </p:sp>
    </p:spTree>
    <p:extLst>
      <p:ext uri="{BB962C8B-B14F-4D97-AF65-F5344CB8AC3E}">
        <p14:creationId xmlns:p14="http://schemas.microsoft.com/office/powerpoint/2010/main" val="2967516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5DE69A-4807-3AAC-5FFE-73D978A2D7E8}"/>
              </a:ext>
            </a:extLst>
          </p:cNvPr>
          <p:cNvPicPr>
            <a:picLocks noChangeAspect="1"/>
          </p:cNvPicPr>
          <p:nvPr/>
        </p:nvPicPr>
        <p:blipFill>
          <a:blip r:embed="rId2"/>
          <a:stretch>
            <a:fillRect/>
          </a:stretch>
        </p:blipFill>
        <p:spPr>
          <a:xfrm>
            <a:off x="661987" y="666750"/>
            <a:ext cx="10910253" cy="5545966"/>
          </a:xfrm>
          <a:prstGeom prst="rect">
            <a:avLst/>
          </a:prstGeom>
        </p:spPr>
      </p:pic>
    </p:spTree>
    <p:extLst>
      <p:ext uri="{BB962C8B-B14F-4D97-AF65-F5344CB8AC3E}">
        <p14:creationId xmlns:p14="http://schemas.microsoft.com/office/powerpoint/2010/main" val="686004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01AAD3-5D36-717B-ABEA-0927840D49CB}"/>
              </a:ext>
            </a:extLst>
          </p:cNvPr>
          <p:cNvSpPr txBox="1"/>
          <p:nvPr/>
        </p:nvSpPr>
        <p:spPr>
          <a:xfrm>
            <a:off x="1158240" y="24713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Cyber Stalking - Classroom-Friendly Examples</a:t>
            </a:r>
          </a:p>
        </p:txBody>
      </p:sp>
      <p:sp>
        <p:nvSpPr>
          <p:cNvPr id="7" name="TextBox 6">
            <a:extLst>
              <a:ext uri="{FF2B5EF4-FFF2-40B4-BE49-F238E27FC236}">
                <a16:creationId xmlns:a16="http://schemas.microsoft.com/office/drawing/2014/main" id="{5991F033-62EB-898A-9826-BAEDA52C7579}"/>
              </a:ext>
            </a:extLst>
          </p:cNvPr>
          <p:cNvSpPr txBox="1"/>
          <p:nvPr/>
        </p:nvSpPr>
        <p:spPr>
          <a:xfrm>
            <a:off x="965200" y="1125696"/>
            <a:ext cx="10109200" cy="5478423"/>
          </a:xfrm>
          <a:prstGeom prst="rect">
            <a:avLst/>
          </a:prstGeom>
          <a:noFill/>
        </p:spPr>
        <p:txBody>
          <a:bodyPr wrap="square">
            <a:spAutoFit/>
          </a:bodyPr>
          <a:lstStyle/>
          <a:p>
            <a:pPr algn="just"/>
            <a:r>
              <a:rPr lang="en-US" sz="2500" b="1" dirty="0">
                <a:latin typeface="Times New Roman" panose="02020603050405020304" pitchFamily="18" charset="0"/>
                <a:cs typeface="Times New Roman" panose="02020603050405020304" pitchFamily="18" charset="0"/>
              </a:rPr>
              <a:t>Ex 01: </a:t>
            </a:r>
            <a:r>
              <a:rPr lang="en-US" sz="2500" dirty="0">
                <a:latin typeface="Times New Roman" panose="02020603050405020304" pitchFamily="18" charset="0"/>
                <a:cs typeface="Times New Roman" panose="02020603050405020304" pitchFamily="18" charset="0"/>
              </a:rPr>
              <a:t>If someone keeps sending you “good morning” messages every day after you’ve asked them to stop, it may feel uncomfortable — but is it a crime? It depends on whether their intent is harassment or simply poor boundaries.</a:t>
            </a:r>
          </a:p>
          <a:p>
            <a:pPr algn="just"/>
            <a:endParaRPr lang="en-US" sz="2500" dirty="0">
              <a:latin typeface="Times New Roman" panose="02020603050405020304" pitchFamily="18" charset="0"/>
              <a:cs typeface="Times New Roman" panose="02020603050405020304" pitchFamily="18" charset="0"/>
            </a:endParaRPr>
          </a:p>
          <a:p>
            <a:pPr algn="just"/>
            <a:r>
              <a:rPr lang="en-US" sz="2500" b="1" dirty="0">
                <a:latin typeface="Times New Roman" panose="02020603050405020304" pitchFamily="18" charset="0"/>
                <a:cs typeface="Times New Roman" panose="02020603050405020304" pitchFamily="18" charset="0"/>
              </a:rPr>
              <a:t>Ex 02: </a:t>
            </a:r>
            <a:r>
              <a:rPr lang="en-US" sz="2500" dirty="0">
                <a:latin typeface="Times New Roman" panose="02020603050405020304" pitchFamily="18" charset="0"/>
                <a:cs typeface="Times New Roman" panose="02020603050405020304" pitchFamily="18" charset="0"/>
              </a:rPr>
              <a:t>Suppose a classmate repeatedly comments on all your social-media posts and tracks your online activity. If you ask them to stop and they ignore you, this could become cyber-stalking — especially if it causes fear or distress.</a:t>
            </a:r>
          </a:p>
          <a:p>
            <a:pPr algn="just"/>
            <a:endParaRPr lang="en-US" sz="2500" dirty="0">
              <a:latin typeface="Times New Roman" panose="02020603050405020304" pitchFamily="18" charset="0"/>
              <a:cs typeface="Times New Roman" panose="02020603050405020304" pitchFamily="18" charset="0"/>
            </a:endParaRPr>
          </a:p>
          <a:p>
            <a:pPr algn="just"/>
            <a:r>
              <a:rPr lang="en-US" sz="2500" b="1" dirty="0">
                <a:latin typeface="Times New Roman" panose="02020603050405020304" pitchFamily="18" charset="0"/>
                <a:cs typeface="Times New Roman" panose="02020603050405020304" pitchFamily="18" charset="0"/>
              </a:rPr>
              <a:t>Ex 03: </a:t>
            </a:r>
            <a:r>
              <a:rPr lang="en-US" sz="2500" dirty="0">
                <a:latin typeface="Times New Roman" panose="02020603050405020304" pitchFamily="18" charset="0"/>
                <a:cs typeface="Times New Roman" panose="02020603050405020304" pitchFamily="18" charset="0"/>
              </a:rPr>
              <a:t>Imagine someone uses fake profiles to monitor where you “check in” online or who you’re with. Even without direct threats, that surveillance behavior can still be cyber-stalking if it violates your privacy and makes you feel unsafe.</a:t>
            </a:r>
            <a:endParaRPr lang="en-PK"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9635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B5FCBF-6A06-3973-9D7E-640080F63146}"/>
              </a:ext>
            </a:extLst>
          </p:cNvPr>
          <p:cNvPicPr>
            <a:picLocks noChangeAspect="1"/>
          </p:cNvPicPr>
          <p:nvPr/>
        </p:nvPicPr>
        <p:blipFill>
          <a:blip r:embed="rId2"/>
          <a:stretch>
            <a:fillRect/>
          </a:stretch>
        </p:blipFill>
        <p:spPr>
          <a:xfrm>
            <a:off x="7752080" y="3444006"/>
            <a:ext cx="4338320" cy="3292073"/>
          </a:xfrm>
          <a:prstGeom prst="rect">
            <a:avLst/>
          </a:prstGeom>
        </p:spPr>
      </p:pic>
      <p:sp>
        <p:nvSpPr>
          <p:cNvPr id="4" name="Rectangle 1">
            <a:extLst>
              <a:ext uri="{FF2B5EF4-FFF2-40B4-BE49-F238E27FC236}">
                <a16:creationId xmlns:a16="http://schemas.microsoft.com/office/drawing/2014/main" id="{0D2169B2-566D-7F14-D450-B11294AC1CC4}"/>
              </a:ext>
            </a:extLst>
          </p:cNvPr>
          <p:cNvSpPr>
            <a:spLocks noChangeArrowheads="1"/>
          </p:cNvSpPr>
          <p:nvPr/>
        </p:nvSpPr>
        <p:spPr bwMode="auto">
          <a:xfrm>
            <a:off x="274320" y="260432"/>
            <a:ext cx="1144016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PK" altLang="en-PK" sz="2400" b="1" dirty="0">
                <a:latin typeface="Times New Roman" panose="02020603050405020304" pitchFamily="18" charset="0"/>
                <a:cs typeface="Times New Roman" panose="02020603050405020304" pitchFamily="18" charset="0"/>
              </a:rPr>
              <a:t>Under PECA:</a:t>
            </a:r>
            <a:endParaRPr lang="en-US" altLang="en-PK" sz="2400" b="1" dirty="0">
              <a:latin typeface="Times New Roman" panose="02020603050405020304" pitchFamily="18" charset="0"/>
              <a:cs typeface="Times New Roman" panose="02020603050405020304" pitchFamily="18" charset="0"/>
            </a:endParaRPr>
          </a:p>
          <a:p>
            <a:pPr lvl="0" defTabSz="914400" eaLnBrk="0" fontAlgn="base" hangingPunct="0">
              <a:spcBef>
                <a:spcPct val="0"/>
              </a:spcBef>
              <a:spcAft>
                <a:spcPct val="0"/>
              </a:spcAft>
            </a:pPr>
            <a:endParaRPr lang="en-PK" altLang="en-PK" sz="2400" b="1" dirty="0">
              <a:latin typeface="Times New Roman" panose="02020603050405020304" pitchFamily="18" charset="0"/>
              <a:cs typeface="Times New Roman" panose="02020603050405020304" pitchFamily="18" charset="0"/>
            </a:endParaRPr>
          </a:p>
          <a:p>
            <a:pPr marL="800100" lvl="1"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Section 24</a:t>
            </a:r>
            <a:r>
              <a:rPr lang="en-PK" altLang="en-PK" sz="2400" dirty="0">
                <a:latin typeface="Times New Roman" panose="02020603050405020304" pitchFamily="18" charset="0"/>
                <a:cs typeface="Times New Roman" panose="02020603050405020304" pitchFamily="18" charset="0"/>
              </a:rPr>
              <a:t> deals with cyber-stalking</a:t>
            </a:r>
            <a:r>
              <a:rPr lang="en-US" altLang="en-PK" sz="2400" dirty="0">
                <a:latin typeface="Times New Roman" panose="02020603050405020304" pitchFamily="18" charset="0"/>
                <a:cs typeface="Times New Roman" panose="02020603050405020304" pitchFamily="18" charset="0"/>
              </a:rPr>
              <a:t>.</a:t>
            </a:r>
          </a:p>
          <a:p>
            <a:pPr marL="800100" lvl="1"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Section 20 </a:t>
            </a:r>
            <a:r>
              <a:rPr lang="en-PK" altLang="en-PK" sz="2400" dirty="0">
                <a:latin typeface="Times New Roman" panose="02020603050405020304" pitchFamily="18" charset="0"/>
                <a:cs typeface="Times New Roman" panose="02020603050405020304" pitchFamily="18" charset="0"/>
              </a:rPr>
              <a:t>(Offences against dignity of a person)</a:t>
            </a:r>
            <a:r>
              <a:rPr lang="en-US" altLang="en-PK" sz="2400" dirty="0">
                <a:latin typeface="Times New Roman" panose="02020603050405020304" pitchFamily="18" charset="0"/>
                <a:cs typeface="Times New Roman" panose="02020603050405020304" pitchFamily="18" charset="0"/>
              </a:rPr>
              <a:t>.</a:t>
            </a:r>
          </a:p>
          <a:p>
            <a:pPr marL="800100" lvl="1"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Section 16</a:t>
            </a:r>
            <a:r>
              <a:rPr lang="en-PK" altLang="en-PK" sz="2400" dirty="0">
                <a:latin typeface="Times New Roman" panose="02020603050405020304" pitchFamily="18" charset="0"/>
                <a:cs typeface="Times New Roman" panose="02020603050405020304" pitchFamily="18" charset="0"/>
              </a:rPr>
              <a:t> (Unauthorized use of identity information) among others.</a:t>
            </a:r>
            <a:endParaRPr lang="en-US" altLang="en-PK" sz="2400" dirty="0">
              <a:latin typeface="Times New Roman" panose="02020603050405020304" pitchFamily="18" charset="0"/>
              <a:cs typeface="Times New Roman" panose="02020603050405020304" pitchFamily="18" charset="0"/>
            </a:endParaRPr>
          </a:p>
          <a:p>
            <a:pPr marL="800100" lvl="1"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Punishments </a:t>
            </a:r>
            <a:r>
              <a:rPr lang="en-PK" altLang="en-PK" sz="2400" dirty="0">
                <a:latin typeface="Times New Roman" panose="02020603050405020304" pitchFamily="18" charset="0"/>
                <a:cs typeface="Times New Roman" panose="02020603050405020304" pitchFamily="18" charset="0"/>
              </a:rPr>
              <a:t>for cyberstalking up to </a:t>
            </a:r>
            <a:r>
              <a:rPr lang="en-PK" altLang="en-PK" sz="2400" b="1" dirty="0">
                <a:latin typeface="Times New Roman" panose="02020603050405020304" pitchFamily="18" charset="0"/>
                <a:cs typeface="Times New Roman" panose="02020603050405020304" pitchFamily="18" charset="0"/>
              </a:rPr>
              <a:t>3 years imprisonment</a:t>
            </a:r>
            <a:r>
              <a:rPr lang="en-PK" altLang="en-PK" sz="2400" dirty="0">
                <a:latin typeface="Times New Roman" panose="02020603050405020304" pitchFamily="18" charset="0"/>
                <a:cs typeface="Times New Roman" panose="02020603050405020304" pitchFamily="18" charset="0"/>
              </a:rPr>
              <a:t> and fine up to ~PKR 1,000,000 (or both). </a:t>
            </a:r>
            <a:endParaRPr lang="en-US" altLang="en-PK" sz="2400" dirty="0">
              <a:latin typeface="Times New Roman" panose="02020603050405020304" pitchFamily="18" charset="0"/>
              <a:cs typeface="Times New Roman" panose="02020603050405020304" pitchFamily="18" charset="0"/>
            </a:endParaRPr>
          </a:p>
          <a:p>
            <a:pPr marL="800100" lvl="1"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Note: </a:t>
            </a:r>
            <a:r>
              <a:rPr lang="en-PK" altLang="en-PK" sz="2400" dirty="0">
                <a:latin typeface="Times New Roman" panose="02020603050405020304" pitchFamily="18" charset="0"/>
                <a:cs typeface="Times New Roman" panose="02020603050405020304" pitchFamily="18" charset="0"/>
              </a:rPr>
              <a:t>In practice, there are amendments and serious cases that result in heavier sentences.</a:t>
            </a:r>
          </a:p>
          <a:p>
            <a:pPr marL="800100" lvl="1" indent="-342900" defTabSz="914400" eaLnBrk="0" fontAlgn="base" hangingPunct="0">
              <a:spcBef>
                <a:spcPct val="0"/>
              </a:spcBef>
              <a:spcAft>
                <a:spcPct val="0"/>
              </a:spcAft>
              <a:buFont typeface="Wingdings" panose="05000000000000000000" pitchFamily="2" charset="2"/>
              <a:buChar char="ü"/>
            </a:pPr>
            <a:r>
              <a:rPr lang="en-PK" altLang="en-PK" sz="2400" dirty="0">
                <a:latin typeface="Times New Roman" panose="02020603050405020304" pitchFamily="18" charset="0"/>
                <a:cs typeface="Times New Roman" panose="02020603050405020304" pitchFamily="18" charset="0"/>
              </a:rPr>
              <a:t>The enforcement agency is the (FIA) </a:t>
            </a:r>
            <a:r>
              <a:rPr lang="en-US" altLang="en-PK" sz="2400" dirty="0">
                <a:latin typeface="Times New Roman" panose="02020603050405020304" pitchFamily="18" charset="0"/>
                <a:cs typeface="Times New Roman" panose="02020603050405020304" pitchFamily="18" charset="0"/>
              </a:rPr>
              <a:t>CCW </a:t>
            </a:r>
            <a:r>
              <a:rPr lang="en-PK" altLang="en-PK" sz="2400" dirty="0">
                <a:latin typeface="Times New Roman" panose="02020603050405020304" pitchFamily="18" charset="0"/>
                <a:cs typeface="Times New Roman" panose="02020603050405020304" pitchFamily="18" charset="0"/>
              </a:rPr>
              <a:t>and the </a:t>
            </a:r>
            <a:endParaRPr lang="en-US" altLang="en-PK" sz="2400" dirty="0">
              <a:latin typeface="Times New Roman" panose="02020603050405020304" pitchFamily="18" charset="0"/>
              <a:cs typeface="Times New Roman" panose="02020603050405020304" pitchFamily="18" charset="0"/>
            </a:endParaRPr>
          </a:p>
          <a:p>
            <a:pPr lvl="1" defTabSz="914400" eaLnBrk="0" fontAlgn="base" hangingPunct="0">
              <a:spcBef>
                <a:spcPct val="0"/>
              </a:spcBef>
              <a:spcAft>
                <a:spcPct val="0"/>
              </a:spcAft>
            </a:pPr>
            <a:r>
              <a:rPr lang="en-US" altLang="en-PK" sz="2400" dirty="0">
                <a:latin typeface="Times New Roman" panose="02020603050405020304" pitchFamily="18" charset="0"/>
                <a:cs typeface="Times New Roman" panose="02020603050405020304" pitchFamily="18" charset="0"/>
              </a:rPr>
              <a:t>     </a:t>
            </a:r>
            <a:r>
              <a:rPr lang="en-PK" altLang="en-PK" sz="2400" dirty="0">
                <a:latin typeface="Times New Roman" panose="02020603050405020304" pitchFamily="18" charset="0"/>
                <a:cs typeface="Times New Roman" panose="02020603050405020304" pitchFamily="18" charset="0"/>
              </a:rPr>
              <a:t>NCCIA for more recent investigations. </a:t>
            </a:r>
            <a:endParaRPr lang="en-US" altLang="en-PK" sz="2400" dirty="0">
              <a:latin typeface="Times New Roman" panose="02020603050405020304" pitchFamily="18" charset="0"/>
              <a:cs typeface="Times New Roman" panose="02020603050405020304" pitchFamily="18" charset="0"/>
            </a:endParaRPr>
          </a:p>
          <a:p>
            <a:pPr marL="800100" lvl="1" indent="-342900" defTabSz="914400" eaLnBrk="0" fontAlgn="base" hangingPunct="0">
              <a:spcBef>
                <a:spcPct val="0"/>
              </a:spcBef>
              <a:spcAft>
                <a:spcPct val="0"/>
              </a:spcAft>
              <a:buFont typeface="Wingdings" panose="05000000000000000000" pitchFamily="2" charset="2"/>
              <a:buChar char="ü"/>
            </a:pPr>
            <a:r>
              <a:rPr lang="en-PK" altLang="en-PK" sz="2400" b="1" dirty="0">
                <a:latin typeface="Times New Roman" panose="02020603050405020304" pitchFamily="18" charset="0"/>
                <a:cs typeface="Times New Roman" panose="02020603050405020304" pitchFamily="18" charset="0"/>
              </a:rPr>
              <a:t>Important to mention: </a:t>
            </a:r>
            <a:r>
              <a:rPr lang="en-PK" altLang="en-PK" sz="2400" dirty="0">
                <a:latin typeface="Times New Roman" panose="02020603050405020304" pitchFamily="18" charset="0"/>
                <a:cs typeface="Times New Roman" panose="02020603050405020304" pitchFamily="18" charset="0"/>
              </a:rPr>
              <a:t>Legal awareness is still low,</a:t>
            </a:r>
            <a:endParaRPr lang="en-US" altLang="en-PK" sz="2400" dirty="0">
              <a:latin typeface="Times New Roman" panose="02020603050405020304" pitchFamily="18" charset="0"/>
              <a:cs typeface="Times New Roman" panose="02020603050405020304" pitchFamily="18" charset="0"/>
            </a:endParaRPr>
          </a:p>
          <a:p>
            <a:pPr lvl="1" defTabSz="914400" eaLnBrk="0" fontAlgn="base" hangingPunct="0">
              <a:spcBef>
                <a:spcPct val="0"/>
              </a:spcBef>
              <a:spcAft>
                <a:spcPct val="0"/>
              </a:spcAft>
            </a:pPr>
            <a:r>
              <a:rPr lang="en-US" altLang="en-PK" sz="2400" dirty="0">
                <a:latin typeface="Times New Roman" panose="02020603050405020304" pitchFamily="18" charset="0"/>
                <a:cs typeface="Times New Roman" panose="02020603050405020304" pitchFamily="18" charset="0"/>
              </a:rPr>
              <a:t>   </a:t>
            </a:r>
            <a:r>
              <a:rPr lang="en-PK" altLang="en-PK" sz="2400" dirty="0">
                <a:latin typeface="Times New Roman" panose="02020603050405020304" pitchFamily="18" charset="0"/>
                <a:cs typeface="Times New Roman" panose="02020603050405020304" pitchFamily="18" charset="0"/>
              </a:rPr>
              <a:t> many victims do not report, and conviction rates are</a:t>
            </a:r>
            <a:endParaRPr lang="en-US" altLang="en-PK" sz="2400" dirty="0">
              <a:latin typeface="Times New Roman" panose="02020603050405020304" pitchFamily="18" charset="0"/>
              <a:cs typeface="Times New Roman" panose="02020603050405020304" pitchFamily="18" charset="0"/>
            </a:endParaRPr>
          </a:p>
          <a:p>
            <a:pPr lvl="1" defTabSz="914400" eaLnBrk="0" fontAlgn="base" hangingPunct="0">
              <a:spcBef>
                <a:spcPct val="0"/>
              </a:spcBef>
              <a:spcAft>
                <a:spcPct val="0"/>
              </a:spcAft>
            </a:pPr>
            <a:r>
              <a:rPr lang="en-US" altLang="en-PK" sz="2400" dirty="0">
                <a:latin typeface="Times New Roman" panose="02020603050405020304" pitchFamily="18" charset="0"/>
                <a:cs typeface="Times New Roman" panose="02020603050405020304" pitchFamily="18" charset="0"/>
              </a:rPr>
              <a:t>   </a:t>
            </a:r>
            <a:r>
              <a:rPr lang="en-PK" altLang="en-PK" sz="2400" dirty="0">
                <a:latin typeface="Times New Roman" panose="02020603050405020304" pitchFamily="18" charset="0"/>
                <a:cs typeface="Times New Roman" panose="02020603050405020304" pitchFamily="18" charset="0"/>
              </a:rPr>
              <a:t> lower compared to number of complaints</a:t>
            </a:r>
          </a:p>
        </p:txBody>
      </p:sp>
    </p:spTree>
    <p:extLst>
      <p:ext uri="{BB962C8B-B14F-4D97-AF65-F5344CB8AC3E}">
        <p14:creationId xmlns:p14="http://schemas.microsoft.com/office/powerpoint/2010/main" val="2474764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30F65E-AF8A-6E38-A880-72479B721ED8}"/>
              </a:ext>
            </a:extLst>
          </p:cNvPr>
          <p:cNvSpPr txBox="1"/>
          <p:nvPr/>
        </p:nvSpPr>
        <p:spPr>
          <a:xfrm>
            <a:off x="1158240" y="24713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Real Cyber Stalking Cases – Pakistan</a:t>
            </a:r>
          </a:p>
        </p:txBody>
      </p:sp>
      <p:sp>
        <p:nvSpPr>
          <p:cNvPr id="4" name="TextBox 3">
            <a:extLst>
              <a:ext uri="{FF2B5EF4-FFF2-40B4-BE49-F238E27FC236}">
                <a16:creationId xmlns:a16="http://schemas.microsoft.com/office/drawing/2014/main" id="{A579B24E-C8DD-E005-21CF-D332279BB690}"/>
              </a:ext>
            </a:extLst>
          </p:cNvPr>
          <p:cNvSpPr txBox="1"/>
          <p:nvPr/>
        </p:nvSpPr>
        <p:spPr>
          <a:xfrm>
            <a:off x="538480" y="1163221"/>
            <a:ext cx="7071360" cy="3139321"/>
          </a:xfrm>
          <a:prstGeom prst="rect">
            <a:avLst/>
          </a:prstGeom>
          <a:noFill/>
        </p:spPr>
        <p:txBody>
          <a:bodyPr wrap="square">
            <a:spAutoFit/>
          </a:bodyPr>
          <a:lstStyle/>
          <a:p>
            <a:r>
              <a:rPr lang="en-US" b="1" dirty="0"/>
              <a:t>Case 1 – Peshawar, August 2025</a:t>
            </a:r>
            <a:br>
              <a:rPr lang="en-US" dirty="0"/>
            </a:br>
            <a:r>
              <a:rPr lang="en-US" dirty="0"/>
              <a:t>A man in Peshawar was booked by NCCIA for posting photos of a complainant on TikTok and threatening to upload obscene pictures if she didn’t comply. FIR was registered under Section 16, Section 20, Section 24 of PECA, plus sections of the Pakistan Penal Code (PPC) like 419 &amp; 506. </a:t>
            </a:r>
            <a:br>
              <a:rPr lang="en-US" dirty="0"/>
            </a:br>
            <a:r>
              <a:rPr lang="en-US" dirty="0"/>
              <a:t>This case shows how cyberstalking can combine reuse of identity data, threats of exposure, and social media platforms (TikTok) used for the harassment.</a:t>
            </a:r>
          </a:p>
          <a:p>
            <a:r>
              <a:rPr lang="en-US" dirty="0">
                <a:hlinkClick r:id="rId2"/>
              </a:rPr>
              <a:t>https://www.dawn.com/news/1929530</a:t>
            </a:r>
            <a:endParaRPr lang="en-US" dirty="0"/>
          </a:p>
          <a:p>
            <a:endParaRPr lang="en-PK" dirty="0"/>
          </a:p>
        </p:txBody>
      </p:sp>
      <p:sp>
        <p:nvSpPr>
          <p:cNvPr id="6" name="TextBox 5">
            <a:extLst>
              <a:ext uri="{FF2B5EF4-FFF2-40B4-BE49-F238E27FC236}">
                <a16:creationId xmlns:a16="http://schemas.microsoft.com/office/drawing/2014/main" id="{2990E49D-7552-7A1E-B897-D3F06DDB9A3B}"/>
              </a:ext>
            </a:extLst>
          </p:cNvPr>
          <p:cNvSpPr txBox="1"/>
          <p:nvPr/>
        </p:nvSpPr>
        <p:spPr>
          <a:xfrm>
            <a:off x="5374640" y="3616464"/>
            <a:ext cx="6410960" cy="3416320"/>
          </a:xfrm>
          <a:prstGeom prst="rect">
            <a:avLst/>
          </a:prstGeom>
          <a:noFill/>
        </p:spPr>
        <p:txBody>
          <a:bodyPr wrap="square">
            <a:spAutoFit/>
          </a:bodyPr>
          <a:lstStyle/>
          <a:p>
            <a:r>
              <a:rPr lang="en-US" b="1" dirty="0"/>
              <a:t>Case 2 – Faisalabad landmark conviction, March 2025</a:t>
            </a:r>
            <a:br>
              <a:rPr lang="en-US" dirty="0"/>
            </a:br>
            <a:r>
              <a:rPr lang="en-US" dirty="0"/>
              <a:t>A special court in Faisalabad sentenced a man to </a:t>
            </a:r>
            <a:r>
              <a:rPr lang="en-US" b="1" dirty="0"/>
              <a:t>11 years imprisonment</a:t>
            </a:r>
            <a:r>
              <a:rPr lang="en-US" dirty="0"/>
              <a:t>, fined Rs 1 million and ordered Rs 500,000 compensation to the victim, for systematically harassing a young woman online – uploading inappropriate images, etc. </a:t>
            </a:r>
            <a:br>
              <a:rPr lang="en-US" dirty="0"/>
            </a:br>
            <a:r>
              <a:rPr lang="en-US" dirty="0"/>
              <a:t>This is significant because it marks a strong legal precedent in applying PECA and related offences for online harassment in Pakistan.</a:t>
            </a:r>
          </a:p>
          <a:p>
            <a:r>
              <a:rPr lang="en-US" dirty="0">
                <a:hlinkClick r:id="rId3"/>
              </a:rPr>
              <a:t>https://www.samaa.tv/2087330981-first-major-conviction-under-peca-11-year-sentence-for-online-harassment</a:t>
            </a:r>
            <a:endParaRPr lang="en-US" dirty="0"/>
          </a:p>
          <a:p>
            <a:endParaRPr lang="en-PK" dirty="0"/>
          </a:p>
        </p:txBody>
      </p:sp>
    </p:spTree>
    <p:extLst>
      <p:ext uri="{BB962C8B-B14F-4D97-AF65-F5344CB8AC3E}">
        <p14:creationId xmlns:p14="http://schemas.microsoft.com/office/powerpoint/2010/main" val="345241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02AF3A-BD64-7B1F-51F5-976C2BED2F7F}"/>
              </a:ext>
            </a:extLst>
          </p:cNvPr>
          <p:cNvSpPr txBox="1"/>
          <p:nvPr/>
        </p:nvSpPr>
        <p:spPr>
          <a:xfrm>
            <a:off x="1158240" y="24713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Protect Yourself Against Cyber-Stalking</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0F5F5849-9307-CA63-9413-33E5825F83FB}"/>
              </a:ext>
            </a:extLst>
          </p:cNvPr>
          <p:cNvSpPr txBox="1"/>
          <p:nvPr/>
        </p:nvSpPr>
        <p:spPr>
          <a:xfrm>
            <a:off x="1056640" y="1442780"/>
            <a:ext cx="10231120" cy="4832092"/>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 Be Careful with Personal Information</a:t>
            </a:r>
          </a:p>
          <a:p>
            <a:pPr>
              <a:buNone/>
            </a:pPr>
            <a:endParaRPr lang="en-US" sz="2800" b="1" dirty="0">
              <a:latin typeface="Times New Roman" panose="02020603050405020304" pitchFamily="18" charset="0"/>
              <a:cs typeface="Times New Roman" panose="02020603050405020304" pitchFamily="18" charset="0"/>
            </a:endParaRPr>
          </a:p>
          <a:p>
            <a:pPr marL="914400" lvl="1"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Don’t use your </a:t>
            </a:r>
            <a:r>
              <a:rPr lang="en-US" sz="2800" b="1" dirty="0">
                <a:latin typeface="Times New Roman" panose="02020603050405020304" pitchFamily="18" charset="0"/>
                <a:cs typeface="Times New Roman" panose="02020603050405020304" pitchFamily="18" charset="0"/>
              </a:rPr>
              <a:t>real name</a:t>
            </a:r>
            <a:r>
              <a:rPr lang="en-US" sz="2800" dirty="0">
                <a:latin typeface="Times New Roman" panose="02020603050405020304" pitchFamily="18" charset="0"/>
                <a:cs typeface="Times New Roman" panose="02020603050405020304" pitchFamily="18" charset="0"/>
              </a:rPr>
              <a:t> in chat rooms or discussion boards.</a:t>
            </a:r>
          </a:p>
          <a:p>
            <a:pPr marL="914400" lvl="1"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Avoid sharing </a:t>
            </a:r>
            <a:r>
              <a:rPr lang="en-US" sz="2800" b="1" dirty="0">
                <a:latin typeface="Times New Roman" panose="02020603050405020304" pitchFamily="18" charset="0"/>
                <a:cs typeface="Times New Roman" panose="02020603050405020304" pitchFamily="18" charset="0"/>
              </a:rPr>
              <a:t>address, phone number, school, or workplace</a:t>
            </a:r>
            <a:r>
              <a:rPr lang="en-US" sz="2800" dirty="0">
                <a:latin typeface="Times New Roman" panose="02020603050405020304" pitchFamily="18" charset="0"/>
                <a:cs typeface="Times New Roman" panose="02020603050405020304" pitchFamily="18" charset="0"/>
              </a:rPr>
              <a:t> online.</a:t>
            </a:r>
          </a:p>
          <a:p>
            <a:pPr marL="914400" lvl="1"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Create a </a:t>
            </a:r>
            <a:r>
              <a:rPr lang="en-US" sz="2800" b="1" dirty="0">
                <a:latin typeface="Times New Roman" panose="02020603050405020304" pitchFamily="18" charset="0"/>
                <a:cs typeface="Times New Roman" panose="02020603050405020304" pitchFamily="18" charset="0"/>
              </a:rPr>
              <a:t>separate, anonymous email account</a:t>
            </a:r>
            <a:r>
              <a:rPr lang="en-US" sz="2800" dirty="0">
                <a:latin typeface="Times New Roman" panose="02020603050405020304" pitchFamily="18" charset="0"/>
                <a:cs typeface="Times New Roman" panose="02020603050405020304" pitchFamily="18" charset="0"/>
              </a:rPr>
              <a:t> (e.g. Gmail, Yahoo, </a:t>
            </a:r>
            <a:r>
              <a:rPr lang="en-US" sz="2800" dirty="0" err="1">
                <a:latin typeface="Times New Roman" panose="02020603050405020304" pitchFamily="18" charset="0"/>
                <a:cs typeface="Times New Roman" panose="02020603050405020304" pitchFamily="18" charset="0"/>
              </a:rPr>
              <a:t>ProtonMail</a:t>
            </a:r>
            <a:r>
              <a:rPr lang="en-US" sz="2800" dirty="0">
                <a:latin typeface="Times New Roman" panose="02020603050405020304" pitchFamily="18" charset="0"/>
                <a:cs typeface="Times New Roman" panose="02020603050405020304" pitchFamily="18" charset="0"/>
              </a:rPr>
              <a:t>).</a:t>
            </a:r>
          </a:p>
          <a:p>
            <a:pPr marL="914400" lvl="1"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Do not post photos or </a:t>
            </a:r>
            <a:r>
              <a:rPr lang="en-US" sz="2800" b="1" dirty="0">
                <a:latin typeface="Times New Roman" panose="02020603050405020304" pitchFamily="18" charset="0"/>
                <a:cs typeface="Times New Roman" panose="02020603050405020304" pitchFamily="18" charset="0"/>
              </a:rPr>
              <a:t>real-time location check-ins</a:t>
            </a:r>
            <a:r>
              <a:rPr lang="en-US" sz="2800" dirty="0">
                <a:latin typeface="Times New Roman" panose="02020603050405020304" pitchFamily="18" charset="0"/>
                <a:cs typeface="Times New Roman" panose="02020603050405020304" pitchFamily="18" charset="0"/>
              </a:rPr>
              <a:t> on social media.</a:t>
            </a:r>
          </a:p>
          <a:p>
            <a:pPr marL="914400" lvl="1"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Even small details (pet names, hobbies) can help stalkers identify you.</a:t>
            </a:r>
          </a:p>
        </p:txBody>
      </p:sp>
    </p:spTree>
    <p:extLst>
      <p:ext uri="{BB962C8B-B14F-4D97-AF65-F5344CB8AC3E}">
        <p14:creationId xmlns:p14="http://schemas.microsoft.com/office/powerpoint/2010/main" val="3183666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3C4D3-66EC-F37D-B83A-17BC74B887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FD53A2-C8F2-62B4-7A2F-608310EB1942}"/>
              </a:ext>
            </a:extLst>
          </p:cNvPr>
          <p:cNvSpPr txBox="1"/>
          <p:nvPr/>
        </p:nvSpPr>
        <p:spPr>
          <a:xfrm>
            <a:off x="1158240" y="24713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Protect Yourself Against Cyber-Stalking</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FCC44095-7AE5-2519-460F-5A39CE9F475E}"/>
              </a:ext>
            </a:extLst>
          </p:cNvPr>
          <p:cNvSpPr txBox="1"/>
          <p:nvPr/>
        </p:nvSpPr>
        <p:spPr>
          <a:xfrm>
            <a:off x="1158240" y="1524060"/>
            <a:ext cx="10231120" cy="4031873"/>
          </a:xfrm>
          <a:prstGeom prst="rect">
            <a:avLst/>
          </a:prstGeom>
          <a:noFill/>
        </p:spPr>
        <p:txBody>
          <a:bodyPr wrap="square">
            <a:spAutoFit/>
          </a:bodyPr>
          <a:lstStyle/>
          <a:p>
            <a:pPr marL="457200" indent="-457200">
              <a:buFontTx/>
              <a:buChar char="-"/>
            </a:pPr>
            <a:r>
              <a:rPr lang="en-US" sz="3200" b="1" dirty="0">
                <a:latin typeface="Times New Roman" panose="02020603050405020304" pitchFamily="18" charset="0"/>
                <a:cs typeface="Times New Roman" panose="02020603050405020304" pitchFamily="18" charset="0"/>
              </a:rPr>
              <a:t>Secure Your Online Accounts</a:t>
            </a:r>
          </a:p>
          <a:p>
            <a:endParaRPr lang="en-US" sz="3200" b="1"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Use </a:t>
            </a:r>
            <a:r>
              <a:rPr lang="en-US" sz="3200" b="1" dirty="0">
                <a:latin typeface="Times New Roman" panose="02020603050405020304" pitchFamily="18" charset="0"/>
                <a:cs typeface="Times New Roman" panose="02020603050405020304" pitchFamily="18" charset="0"/>
              </a:rPr>
              <a:t>strong, unique passwords</a:t>
            </a:r>
            <a:r>
              <a:rPr lang="en-US" sz="3200" dirty="0">
                <a:latin typeface="Times New Roman" panose="02020603050405020304" pitchFamily="18" charset="0"/>
                <a:cs typeface="Times New Roman" panose="02020603050405020304" pitchFamily="18" charset="0"/>
              </a:rPr>
              <a:t> for each account.</a:t>
            </a:r>
          </a:p>
          <a:p>
            <a:pPr marL="914400" lvl="1"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Enable </a:t>
            </a:r>
            <a:r>
              <a:rPr lang="en-US" sz="3200" b="1" dirty="0">
                <a:latin typeface="Times New Roman" panose="02020603050405020304" pitchFamily="18" charset="0"/>
                <a:cs typeface="Times New Roman" panose="02020603050405020304" pitchFamily="18" charset="0"/>
              </a:rPr>
              <a:t>two-factor authentication (2FA)</a:t>
            </a:r>
            <a:r>
              <a:rPr lang="en-US" sz="32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Regularly review and update </a:t>
            </a:r>
            <a:r>
              <a:rPr lang="en-US" sz="3200" b="1" dirty="0">
                <a:latin typeface="Times New Roman" panose="02020603050405020304" pitchFamily="18" charset="0"/>
                <a:cs typeface="Times New Roman" panose="02020603050405020304" pitchFamily="18" charset="0"/>
              </a:rPr>
              <a:t>privacy settings</a:t>
            </a:r>
            <a:r>
              <a:rPr lang="en-US" sz="32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Do not accept </a:t>
            </a:r>
            <a:r>
              <a:rPr lang="en-US" sz="3200" b="1" dirty="0">
                <a:latin typeface="Times New Roman" panose="02020603050405020304" pitchFamily="18" charset="0"/>
                <a:cs typeface="Times New Roman" panose="02020603050405020304" pitchFamily="18" charset="0"/>
              </a:rPr>
              <a:t>friend requests or messages from strangers</a:t>
            </a:r>
            <a:r>
              <a:rPr lang="en-US" sz="32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Block and report any suspicious users immediately.</a:t>
            </a:r>
          </a:p>
        </p:txBody>
      </p:sp>
    </p:spTree>
    <p:extLst>
      <p:ext uri="{BB962C8B-B14F-4D97-AF65-F5344CB8AC3E}">
        <p14:creationId xmlns:p14="http://schemas.microsoft.com/office/powerpoint/2010/main" val="2297115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DCDB5-DACE-4446-1AFF-C336D34E0A6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AD6F09A-57F5-9A77-9984-135B9B454C32}"/>
              </a:ext>
            </a:extLst>
          </p:cNvPr>
          <p:cNvSpPr txBox="1"/>
          <p:nvPr/>
        </p:nvSpPr>
        <p:spPr>
          <a:xfrm>
            <a:off x="1158240" y="24713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Protect Yourself Against Cyber-Stalking</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0F57CCA7-0CD4-98A2-E4CB-C42F84EE1640}"/>
              </a:ext>
            </a:extLst>
          </p:cNvPr>
          <p:cNvSpPr txBox="1"/>
          <p:nvPr/>
        </p:nvSpPr>
        <p:spPr>
          <a:xfrm>
            <a:off x="1056640" y="1442780"/>
            <a:ext cx="10231120" cy="5016758"/>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 Record and Preserve Evidence</a:t>
            </a:r>
          </a:p>
          <a:p>
            <a:endParaRPr lang="en-US" sz="3200" b="1"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3200" b="1" dirty="0">
                <a:latin typeface="Times New Roman" panose="02020603050405020304" pitchFamily="18" charset="0"/>
                <a:cs typeface="Times New Roman" panose="02020603050405020304" pitchFamily="18" charset="0"/>
              </a:rPr>
              <a:t>Save</a:t>
            </a:r>
            <a:r>
              <a:rPr lang="en-US" sz="3200" dirty="0">
                <a:latin typeface="Times New Roman" panose="02020603050405020304" pitchFamily="18" charset="0"/>
                <a:cs typeface="Times New Roman" panose="02020603050405020304" pitchFamily="18" charset="0"/>
              </a:rPr>
              <a:t> all harassing messages, emails, and screenshots.</a:t>
            </a:r>
          </a:p>
          <a:p>
            <a:pPr marL="914400" lvl="1" indent="-457200">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Keep both </a:t>
            </a:r>
            <a:r>
              <a:rPr lang="en-US" sz="3200" b="1" dirty="0">
                <a:latin typeface="Times New Roman" panose="02020603050405020304" pitchFamily="18" charset="0"/>
                <a:cs typeface="Times New Roman" panose="02020603050405020304" pitchFamily="18" charset="0"/>
              </a:rPr>
              <a:t>digital and printed copies</a:t>
            </a:r>
            <a:r>
              <a:rPr lang="en-US" sz="32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ü"/>
            </a:pPr>
            <a:r>
              <a:rPr lang="en-US" sz="3200" b="1" dirty="0">
                <a:latin typeface="Times New Roman" panose="02020603050405020304" pitchFamily="18" charset="0"/>
                <a:cs typeface="Times New Roman" panose="02020603050405020304" pitchFamily="18" charset="0"/>
              </a:rPr>
              <a:t>Note dates, times, and platforms</a:t>
            </a:r>
            <a:r>
              <a:rPr lang="en-US" sz="3200" dirty="0">
                <a:latin typeface="Times New Roman" panose="02020603050405020304" pitchFamily="18" charset="0"/>
                <a:cs typeface="Times New Roman" panose="02020603050405020304" pitchFamily="18" charset="0"/>
              </a:rPr>
              <a:t> of each incident.</a:t>
            </a:r>
          </a:p>
          <a:p>
            <a:pPr marL="914400" lvl="1" indent="-457200">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Do </a:t>
            </a:r>
            <a:r>
              <a:rPr lang="en-US" sz="3200" b="1" dirty="0">
                <a:latin typeface="Times New Roman" panose="02020603050405020304" pitchFamily="18" charset="0"/>
                <a:cs typeface="Times New Roman" panose="02020603050405020304" pitchFamily="18" charset="0"/>
              </a:rPr>
              <a:t>not</a:t>
            </a:r>
            <a:r>
              <a:rPr lang="en-US" sz="3200" dirty="0">
                <a:latin typeface="Times New Roman" panose="02020603050405020304" pitchFamily="18" charset="0"/>
                <a:cs typeface="Times New Roman" panose="02020603050405020304" pitchFamily="18" charset="0"/>
              </a:rPr>
              <a:t> reply to or argue with the stalker — it can escalate.</a:t>
            </a:r>
          </a:p>
          <a:p>
            <a:pPr marL="914400" lvl="1" indent="-457200">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Evidence will help law enforcement trace and prosecute the offender.</a:t>
            </a:r>
          </a:p>
          <a:p>
            <a:pPr>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7410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7F5E4-B3E9-3C05-45AB-AA90498C4D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730C3E-73FF-E2E0-9423-67A26B6C8F5B}"/>
              </a:ext>
            </a:extLst>
          </p:cNvPr>
          <p:cNvSpPr txBox="1"/>
          <p:nvPr/>
        </p:nvSpPr>
        <p:spPr>
          <a:xfrm>
            <a:off x="1158240" y="24713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Protect Yourself Against Cyber-Stalking</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839C5BC1-44F3-FE3B-2E5D-F65898F14571}"/>
              </a:ext>
            </a:extLst>
          </p:cNvPr>
          <p:cNvSpPr txBox="1"/>
          <p:nvPr/>
        </p:nvSpPr>
        <p:spPr>
          <a:xfrm>
            <a:off x="741680" y="1164134"/>
            <a:ext cx="6631305" cy="4893647"/>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 Report to Authorities</a:t>
            </a:r>
          </a:p>
          <a:p>
            <a:endParaRPr lang="en-US" sz="2600" b="1"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
            </a:pPr>
            <a:r>
              <a:rPr lang="en-US" sz="2600" b="1" dirty="0">
                <a:latin typeface="Times New Roman" panose="02020603050405020304" pitchFamily="18" charset="0"/>
                <a:cs typeface="Times New Roman" panose="02020603050405020304" pitchFamily="18" charset="0"/>
              </a:rPr>
              <a:t>Never ignore</a:t>
            </a:r>
            <a:r>
              <a:rPr lang="en-US" sz="2600" dirty="0">
                <a:latin typeface="Times New Roman" panose="02020603050405020304" pitchFamily="18" charset="0"/>
                <a:cs typeface="Times New Roman" panose="02020603050405020304" pitchFamily="18" charset="0"/>
              </a:rPr>
              <a:t> cyber-stalking, report it early.</a:t>
            </a:r>
          </a:p>
          <a:p>
            <a:pPr marL="914400" lvl="1"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Pakistan, contact the </a:t>
            </a:r>
            <a:r>
              <a:rPr lang="en-US" sz="2600" b="1" dirty="0">
                <a:latin typeface="Times New Roman" panose="02020603050405020304" pitchFamily="18" charset="0"/>
                <a:cs typeface="Times New Roman" panose="02020603050405020304" pitchFamily="18" charset="0"/>
              </a:rPr>
              <a:t>FIA Cyber Crime Wing</a:t>
            </a:r>
            <a:r>
              <a:rPr lang="en-US"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hlinkClick r:id="rId2"/>
              </a:rPr>
              <a:t>www.nr3c.gov.pk</a:t>
            </a:r>
            <a:r>
              <a:rPr lang="en-US" sz="26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Or call </a:t>
            </a:r>
            <a:r>
              <a:rPr lang="en-US" sz="2600" b="1" dirty="0">
                <a:latin typeface="Times New Roman" panose="02020603050405020304" pitchFamily="18" charset="0"/>
                <a:cs typeface="Times New Roman" panose="02020603050405020304" pitchFamily="18" charset="0"/>
              </a:rPr>
              <a:t>Digital Rights Foundation (DRF) Helpline</a:t>
            </a:r>
            <a:r>
              <a:rPr lang="en-US" sz="2600" dirty="0">
                <a:latin typeface="Times New Roman" panose="02020603050405020304" pitchFamily="18" charset="0"/>
                <a:cs typeface="Times New Roman" panose="02020603050405020304" pitchFamily="18" charset="0"/>
              </a:rPr>
              <a:t>: 📞 0800-39393 / </a:t>
            </a:r>
          </a:p>
          <a:p>
            <a:pPr lvl="1"/>
            <a:r>
              <a:rPr lang="en-US" sz="2600" dirty="0">
                <a:latin typeface="Times New Roman" panose="02020603050405020304" pitchFamily="18" charset="0"/>
                <a:cs typeface="Times New Roman" panose="02020603050405020304" pitchFamily="18" charset="0"/>
              </a:rPr>
              <a:t>     ✉️ helpdesk@digitalrightsfoundation.pk.</a:t>
            </a:r>
          </a:p>
          <a:p>
            <a:pPr marL="914400" lvl="1" indent="-457200">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Offences are covered under </a:t>
            </a:r>
            <a:r>
              <a:rPr lang="en-US" sz="2600" b="1" dirty="0">
                <a:latin typeface="Times New Roman" panose="02020603050405020304" pitchFamily="18" charset="0"/>
                <a:cs typeface="Times New Roman" panose="02020603050405020304" pitchFamily="18" charset="0"/>
              </a:rPr>
              <a:t>PECA 2016</a:t>
            </a:r>
            <a:r>
              <a:rPr lang="en-US" sz="2600" dirty="0">
                <a:latin typeface="Times New Roman" panose="02020603050405020304" pitchFamily="18" charset="0"/>
                <a:cs typeface="Times New Roman" panose="02020603050405020304" pitchFamily="18" charset="0"/>
              </a:rPr>
              <a:t> — Sections </a:t>
            </a:r>
            <a:r>
              <a:rPr lang="en-US" sz="2600" b="1" dirty="0">
                <a:latin typeface="Times New Roman" panose="02020603050405020304" pitchFamily="18" charset="0"/>
                <a:cs typeface="Times New Roman" panose="02020603050405020304" pitchFamily="18" charset="0"/>
              </a:rPr>
              <a:t>20</a:t>
            </a:r>
            <a:r>
              <a:rPr lang="en-US" sz="2600" dirty="0">
                <a:latin typeface="Times New Roman" panose="02020603050405020304" pitchFamily="18" charset="0"/>
                <a:cs typeface="Times New Roman" panose="02020603050405020304" pitchFamily="18" charset="0"/>
              </a:rPr>
              <a:t> (harassment) and </a:t>
            </a:r>
            <a:r>
              <a:rPr lang="en-US" sz="2600" b="1" dirty="0">
                <a:latin typeface="Times New Roman" panose="02020603050405020304" pitchFamily="18" charset="0"/>
                <a:cs typeface="Times New Roman" panose="02020603050405020304" pitchFamily="18" charset="0"/>
              </a:rPr>
              <a:t>24</a:t>
            </a:r>
            <a:r>
              <a:rPr lang="en-US" sz="2600" dirty="0">
                <a:latin typeface="Times New Roman" panose="02020603050405020304" pitchFamily="18" charset="0"/>
                <a:cs typeface="Times New Roman" panose="02020603050405020304" pitchFamily="18" charset="0"/>
              </a:rPr>
              <a:t> (cyber-stalking).</a:t>
            </a:r>
          </a:p>
        </p:txBody>
      </p:sp>
      <p:pic>
        <p:nvPicPr>
          <p:cNvPr id="3" name="Picture 2">
            <a:extLst>
              <a:ext uri="{FF2B5EF4-FFF2-40B4-BE49-F238E27FC236}">
                <a16:creationId xmlns:a16="http://schemas.microsoft.com/office/drawing/2014/main" id="{B633250B-87BA-D40C-D36B-D68CD4CA2AFA}"/>
              </a:ext>
            </a:extLst>
          </p:cNvPr>
          <p:cNvPicPr>
            <a:picLocks noChangeAspect="1"/>
          </p:cNvPicPr>
          <p:nvPr/>
        </p:nvPicPr>
        <p:blipFill>
          <a:blip r:embed="rId3"/>
          <a:stretch>
            <a:fillRect/>
          </a:stretch>
        </p:blipFill>
        <p:spPr>
          <a:xfrm>
            <a:off x="7687945" y="1042670"/>
            <a:ext cx="3867150" cy="5219700"/>
          </a:xfrm>
          <a:prstGeom prst="rect">
            <a:avLst/>
          </a:prstGeom>
        </p:spPr>
      </p:pic>
    </p:spTree>
    <p:extLst>
      <p:ext uri="{BB962C8B-B14F-4D97-AF65-F5344CB8AC3E}">
        <p14:creationId xmlns:p14="http://schemas.microsoft.com/office/powerpoint/2010/main" val="3153856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EB246C-49E3-0C83-A324-2FF8FA9E3248}"/>
              </a:ext>
            </a:extLst>
          </p:cNvPr>
          <p:cNvSpPr txBox="1"/>
          <p:nvPr/>
        </p:nvSpPr>
        <p:spPr>
          <a:xfrm>
            <a:off x="1158240" y="24713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Security Terminology</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DC3B35F-EF4B-2629-1442-14707756E55B}"/>
              </a:ext>
            </a:extLst>
          </p:cNvPr>
          <p:cNvGraphicFramePr>
            <a:graphicFrameLocks noGrp="1"/>
          </p:cNvGraphicFramePr>
          <p:nvPr>
            <p:extLst>
              <p:ext uri="{D42A27DB-BD31-4B8C-83A1-F6EECF244321}">
                <p14:modId xmlns:p14="http://schemas.microsoft.com/office/powerpoint/2010/main" val="3255416528"/>
              </p:ext>
            </p:extLst>
          </p:nvPr>
        </p:nvGraphicFramePr>
        <p:xfrm>
          <a:off x="853439" y="1210310"/>
          <a:ext cx="10678161" cy="5129531"/>
        </p:xfrm>
        <a:graphic>
          <a:graphicData uri="http://schemas.openxmlformats.org/drawingml/2006/table">
            <a:tbl>
              <a:tblPr>
                <a:tableStyleId>{616DA210-FB5B-4158-B5E0-FEB733F419BA}</a:tableStyleId>
              </a:tblPr>
              <a:tblGrid>
                <a:gridCol w="2387601">
                  <a:extLst>
                    <a:ext uri="{9D8B030D-6E8A-4147-A177-3AD203B41FA5}">
                      <a16:colId xmlns:a16="http://schemas.microsoft.com/office/drawing/2014/main" val="2633100389"/>
                    </a:ext>
                  </a:extLst>
                </a:gridCol>
                <a:gridCol w="3972560">
                  <a:extLst>
                    <a:ext uri="{9D8B030D-6E8A-4147-A177-3AD203B41FA5}">
                      <a16:colId xmlns:a16="http://schemas.microsoft.com/office/drawing/2014/main" val="644709202"/>
                    </a:ext>
                  </a:extLst>
                </a:gridCol>
                <a:gridCol w="4318000">
                  <a:extLst>
                    <a:ext uri="{9D8B030D-6E8A-4147-A177-3AD203B41FA5}">
                      <a16:colId xmlns:a16="http://schemas.microsoft.com/office/drawing/2014/main" val="3694859068"/>
                    </a:ext>
                  </a:extLst>
                </a:gridCol>
              </a:tblGrid>
              <a:tr h="446046">
                <a:tc>
                  <a:txBody>
                    <a:bodyPr/>
                    <a:lstStyle/>
                    <a:p>
                      <a:pPr algn="ctr">
                        <a:buNone/>
                      </a:pPr>
                      <a:r>
                        <a:rPr lang="en-US" sz="1700" b="1"/>
                        <a:t>Term</a:t>
                      </a:r>
                    </a:p>
                  </a:txBody>
                  <a:tcPr marL="88072" marR="88072" marT="44036" marB="44036" anchor="ctr"/>
                </a:tc>
                <a:tc>
                  <a:txBody>
                    <a:bodyPr/>
                    <a:lstStyle/>
                    <a:p>
                      <a:pPr algn="ctr">
                        <a:buNone/>
                      </a:pPr>
                      <a:r>
                        <a:rPr lang="en-US" sz="1700" b="1"/>
                        <a:t>Meaning</a:t>
                      </a:r>
                    </a:p>
                  </a:txBody>
                  <a:tcPr marL="88072" marR="88072" marT="44036" marB="44036" anchor="ctr"/>
                </a:tc>
                <a:tc>
                  <a:txBody>
                    <a:bodyPr/>
                    <a:lstStyle/>
                    <a:p>
                      <a:pPr algn="ctr">
                        <a:buNone/>
                      </a:pPr>
                      <a:r>
                        <a:rPr lang="en-US" sz="1700" b="1" dirty="0"/>
                        <a:t>Example</a:t>
                      </a:r>
                    </a:p>
                  </a:txBody>
                  <a:tcPr marL="88072" marR="88072" marT="44036" marB="44036" anchor="ctr"/>
                </a:tc>
                <a:extLst>
                  <a:ext uri="{0D108BD9-81ED-4DB2-BD59-A6C34878D82A}">
                    <a16:rowId xmlns:a16="http://schemas.microsoft.com/office/drawing/2014/main" val="3411685942"/>
                  </a:ext>
                </a:extLst>
              </a:tr>
              <a:tr h="780581">
                <a:tc>
                  <a:txBody>
                    <a:bodyPr/>
                    <a:lstStyle/>
                    <a:p>
                      <a:pPr algn="ctr">
                        <a:buNone/>
                      </a:pPr>
                      <a:r>
                        <a:rPr lang="en-US" sz="1700" b="1"/>
                        <a:t>Threat</a:t>
                      </a:r>
                      <a:endParaRPr lang="en-US" sz="1700"/>
                    </a:p>
                  </a:txBody>
                  <a:tcPr marL="88072" marR="88072" marT="44036" marB="44036" anchor="ctr"/>
                </a:tc>
                <a:tc>
                  <a:txBody>
                    <a:bodyPr/>
                    <a:lstStyle/>
                    <a:p>
                      <a:pPr algn="ctr">
                        <a:buNone/>
                      </a:pPr>
                      <a:r>
                        <a:rPr lang="en-US" sz="1700" dirty="0"/>
                        <a:t>Anything that can cause harm to information or systems</a:t>
                      </a:r>
                    </a:p>
                  </a:txBody>
                  <a:tcPr marL="88072" marR="88072" marT="44036" marB="44036" anchor="ctr"/>
                </a:tc>
                <a:tc>
                  <a:txBody>
                    <a:bodyPr/>
                    <a:lstStyle/>
                    <a:p>
                      <a:pPr algn="ctr">
                        <a:buNone/>
                      </a:pPr>
                      <a:r>
                        <a:rPr lang="en-US" sz="1700"/>
                        <a:t>Malware, phishing, insider misuse</a:t>
                      </a:r>
                    </a:p>
                  </a:txBody>
                  <a:tcPr marL="88072" marR="88072" marT="44036" marB="44036" anchor="ctr"/>
                </a:tc>
                <a:extLst>
                  <a:ext uri="{0D108BD9-81ED-4DB2-BD59-A6C34878D82A}">
                    <a16:rowId xmlns:a16="http://schemas.microsoft.com/office/drawing/2014/main" val="687238767"/>
                  </a:ext>
                </a:extLst>
              </a:tr>
              <a:tr h="780581">
                <a:tc>
                  <a:txBody>
                    <a:bodyPr/>
                    <a:lstStyle/>
                    <a:p>
                      <a:pPr algn="ctr">
                        <a:buNone/>
                      </a:pPr>
                      <a:r>
                        <a:rPr lang="en-US" sz="1700" b="1"/>
                        <a:t>Vulnerability</a:t>
                      </a:r>
                      <a:endParaRPr lang="en-US" sz="1700"/>
                    </a:p>
                  </a:txBody>
                  <a:tcPr marL="88072" marR="88072" marT="44036" marB="44036" anchor="ctr"/>
                </a:tc>
                <a:tc>
                  <a:txBody>
                    <a:bodyPr/>
                    <a:lstStyle/>
                    <a:p>
                      <a:pPr algn="ctr">
                        <a:buNone/>
                      </a:pPr>
                      <a:r>
                        <a:rPr lang="en-US" sz="1700"/>
                        <a:t>A weakness that can be exploited by a threat</a:t>
                      </a:r>
                    </a:p>
                  </a:txBody>
                  <a:tcPr marL="88072" marR="88072" marT="44036" marB="44036" anchor="ctr"/>
                </a:tc>
                <a:tc>
                  <a:txBody>
                    <a:bodyPr/>
                    <a:lstStyle/>
                    <a:p>
                      <a:pPr algn="ctr">
                        <a:buNone/>
                      </a:pPr>
                      <a:r>
                        <a:rPr lang="en-US" sz="1700"/>
                        <a:t>Unpatched software, weak password</a:t>
                      </a:r>
                    </a:p>
                  </a:txBody>
                  <a:tcPr marL="88072" marR="88072" marT="44036" marB="44036" anchor="ctr"/>
                </a:tc>
                <a:extLst>
                  <a:ext uri="{0D108BD9-81ED-4DB2-BD59-A6C34878D82A}">
                    <a16:rowId xmlns:a16="http://schemas.microsoft.com/office/drawing/2014/main" val="3172868417"/>
                  </a:ext>
                </a:extLst>
              </a:tr>
              <a:tr h="1115115">
                <a:tc>
                  <a:txBody>
                    <a:bodyPr/>
                    <a:lstStyle/>
                    <a:p>
                      <a:pPr algn="ctr">
                        <a:buNone/>
                      </a:pPr>
                      <a:r>
                        <a:rPr lang="en-US" sz="1700" b="1"/>
                        <a:t>Risk</a:t>
                      </a:r>
                      <a:endParaRPr lang="en-US" sz="1700"/>
                    </a:p>
                  </a:txBody>
                  <a:tcPr marL="88072" marR="88072" marT="44036" marB="44036" anchor="ctr"/>
                </a:tc>
                <a:tc>
                  <a:txBody>
                    <a:bodyPr/>
                    <a:lstStyle/>
                    <a:p>
                      <a:pPr algn="ctr">
                        <a:buNone/>
                      </a:pPr>
                      <a:r>
                        <a:rPr lang="en-US" sz="1700" dirty="0"/>
                        <a:t>Likelihood × Impact of a threat exploiting a vulnerability</a:t>
                      </a:r>
                    </a:p>
                  </a:txBody>
                  <a:tcPr marL="88072" marR="88072" marT="44036" marB="44036" anchor="ctr"/>
                </a:tc>
                <a:tc>
                  <a:txBody>
                    <a:bodyPr/>
                    <a:lstStyle/>
                    <a:p>
                      <a:pPr algn="ctr">
                        <a:buNone/>
                      </a:pPr>
                      <a:r>
                        <a:rPr lang="en-US" sz="1700"/>
                        <a:t>Risk = Threat × Vulnerability × Asset Value</a:t>
                      </a:r>
                    </a:p>
                  </a:txBody>
                  <a:tcPr marL="88072" marR="88072" marT="44036" marB="44036" anchor="ctr"/>
                </a:tc>
                <a:extLst>
                  <a:ext uri="{0D108BD9-81ED-4DB2-BD59-A6C34878D82A}">
                    <a16:rowId xmlns:a16="http://schemas.microsoft.com/office/drawing/2014/main" val="2935471839"/>
                  </a:ext>
                </a:extLst>
              </a:tr>
              <a:tr h="780581">
                <a:tc>
                  <a:txBody>
                    <a:bodyPr/>
                    <a:lstStyle/>
                    <a:p>
                      <a:pPr algn="ctr">
                        <a:buNone/>
                      </a:pPr>
                      <a:r>
                        <a:rPr lang="en-US" sz="1700" b="1"/>
                        <a:t>Exploit</a:t>
                      </a:r>
                      <a:endParaRPr lang="en-US" sz="1700"/>
                    </a:p>
                  </a:txBody>
                  <a:tcPr marL="88072" marR="88072" marT="44036" marB="44036" anchor="ctr"/>
                </a:tc>
                <a:tc>
                  <a:txBody>
                    <a:bodyPr/>
                    <a:lstStyle/>
                    <a:p>
                      <a:pPr algn="ctr">
                        <a:buNone/>
                      </a:pPr>
                      <a:r>
                        <a:rPr lang="en-US" sz="1700"/>
                        <a:t>A technique used to take advantage of a vulnerability</a:t>
                      </a:r>
                    </a:p>
                  </a:txBody>
                  <a:tcPr marL="88072" marR="88072" marT="44036" marB="44036" anchor="ctr"/>
                </a:tc>
                <a:tc>
                  <a:txBody>
                    <a:bodyPr/>
                    <a:lstStyle/>
                    <a:p>
                      <a:pPr algn="ctr">
                        <a:buNone/>
                      </a:pPr>
                      <a:r>
                        <a:rPr lang="en-US" sz="1700"/>
                        <a:t>Using SQL injection to access a database</a:t>
                      </a:r>
                    </a:p>
                  </a:txBody>
                  <a:tcPr marL="88072" marR="88072" marT="44036" marB="44036" anchor="ctr"/>
                </a:tc>
                <a:extLst>
                  <a:ext uri="{0D108BD9-81ED-4DB2-BD59-A6C34878D82A}">
                    <a16:rowId xmlns:a16="http://schemas.microsoft.com/office/drawing/2014/main" val="2192058356"/>
                  </a:ext>
                </a:extLst>
              </a:tr>
              <a:tr h="446046">
                <a:tc>
                  <a:txBody>
                    <a:bodyPr/>
                    <a:lstStyle/>
                    <a:p>
                      <a:pPr algn="ctr">
                        <a:buNone/>
                      </a:pPr>
                      <a:r>
                        <a:rPr lang="en-US" sz="1700" b="1"/>
                        <a:t>Mitigation / Control</a:t>
                      </a:r>
                      <a:endParaRPr lang="en-US" sz="1700"/>
                    </a:p>
                  </a:txBody>
                  <a:tcPr marL="88072" marR="88072" marT="44036" marB="44036" anchor="ctr"/>
                </a:tc>
                <a:tc>
                  <a:txBody>
                    <a:bodyPr/>
                    <a:lstStyle/>
                    <a:p>
                      <a:pPr algn="ctr">
                        <a:buNone/>
                      </a:pPr>
                      <a:r>
                        <a:rPr lang="en-US" sz="1700"/>
                        <a:t>Steps taken to reduce risk</a:t>
                      </a:r>
                    </a:p>
                  </a:txBody>
                  <a:tcPr marL="88072" marR="88072" marT="44036" marB="44036" anchor="ctr"/>
                </a:tc>
                <a:tc>
                  <a:txBody>
                    <a:bodyPr/>
                    <a:lstStyle/>
                    <a:p>
                      <a:pPr algn="ctr">
                        <a:buNone/>
                      </a:pPr>
                      <a:r>
                        <a:rPr lang="en-US" sz="1700" dirty="0"/>
                        <a:t>Firewalls, encryption, training</a:t>
                      </a:r>
                    </a:p>
                  </a:txBody>
                  <a:tcPr marL="88072" marR="88072" marT="44036" marB="44036" anchor="ctr"/>
                </a:tc>
                <a:extLst>
                  <a:ext uri="{0D108BD9-81ED-4DB2-BD59-A6C34878D82A}">
                    <a16:rowId xmlns:a16="http://schemas.microsoft.com/office/drawing/2014/main" val="4291639465"/>
                  </a:ext>
                </a:extLst>
              </a:tr>
              <a:tr h="780581">
                <a:tc>
                  <a:txBody>
                    <a:bodyPr/>
                    <a:lstStyle/>
                    <a:p>
                      <a:pPr algn="ctr">
                        <a:buNone/>
                      </a:pPr>
                      <a:r>
                        <a:rPr lang="en-US" sz="1700" b="1"/>
                        <a:t>Incident</a:t>
                      </a:r>
                      <a:endParaRPr lang="en-US" sz="1700"/>
                    </a:p>
                  </a:txBody>
                  <a:tcPr marL="88072" marR="88072" marT="44036" marB="44036" anchor="ctr"/>
                </a:tc>
                <a:tc>
                  <a:txBody>
                    <a:bodyPr/>
                    <a:lstStyle/>
                    <a:p>
                      <a:pPr algn="ctr">
                        <a:buNone/>
                      </a:pPr>
                      <a:r>
                        <a:rPr lang="en-US" sz="1700"/>
                        <a:t>A security event that causes harm</a:t>
                      </a:r>
                    </a:p>
                  </a:txBody>
                  <a:tcPr marL="88072" marR="88072" marT="44036" marB="44036" anchor="ctr"/>
                </a:tc>
                <a:tc>
                  <a:txBody>
                    <a:bodyPr/>
                    <a:lstStyle/>
                    <a:p>
                      <a:pPr algn="ctr">
                        <a:buNone/>
                      </a:pPr>
                      <a:r>
                        <a:rPr lang="en-US" sz="1700" dirty="0"/>
                        <a:t>Data breach, ransomware attack</a:t>
                      </a:r>
                    </a:p>
                  </a:txBody>
                  <a:tcPr marL="88072" marR="88072" marT="44036" marB="44036" anchor="ctr"/>
                </a:tc>
                <a:extLst>
                  <a:ext uri="{0D108BD9-81ED-4DB2-BD59-A6C34878D82A}">
                    <a16:rowId xmlns:a16="http://schemas.microsoft.com/office/drawing/2014/main" val="4254948903"/>
                  </a:ext>
                </a:extLst>
              </a:tr>
            </a:tbl>
          </a:graphicData>
        </a:graphic>
      </p:graphicFrame>
    </p:spTree>
    <p:extLst>
      <p:ext uri="{BB962C8B-B14F-4D97-AF65-F5344CB8AC3E}">
        <p14:creationId xmlns:p14="http://schemas.microsoft.com/office/powerpoint/2010/main" val="903098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8A2519E-F905-025D-3A75-72C08D5B70B8}"/>
              </a:ext>
            </a:extLst>
          </p:cNvPr>
          <p:cNvGraphicFramePr>
            <a:graphicFrameLocks noGrp="1"/>
          </p:cNvGraphicFramePr>
          <p:nvPr>
            <p:extLst>
              <p:ext uri="{D42A27DB-BD31-4B8C-83A1-F6EECF244321}">
                <p14:modId xmlns:p14="http://schemas.microsoft.com/office/powerpoint/2010/main" val="4087592933"/>
              </p:ext>
            </p:extLst>
          </p:nvPr>
        </p:nvGraphicFramePr>
        <p:xfrm>
          <a:off x="808906" y="1084580"/>
          <a:ext cx="10574187" cy="5377183"/>
        </p:xfrm>
        <a:graphic>
          <a:graphicData uri="http://schemas.openxmlformats.org/drawingml/2006/table">
            <a:tbl>
              <a:tblPr>
                <a:tableStyleId>{616DA210-FB5B-4158-B5E0-FEB733F419BA}</a:tableStyleId>
              </a:tblPr>
              <a:tblGrid>
                <a:gridCol w="3524729">
                  <a:extLst>
                    <a:ext uri="{9D8B030D-6E8A-4147-A177-3AD203B41FA5}">
                      <a16:colId xmlns:a16="http://schemas.microsoft.com/office/drawing/2014/main" val="564204156"/>
                    </a:ext>
                  </a:extLst>
                </a:gridCol>
                <a:gridCol w="3524729">
                  <a:extLst>
                    <a:ext uri="{9D8B030D-6E8A-4147-A177-3AD203B41FA5}">
                      <a16:colId xmlns:a16="http://schemas.microsoft.com/office/drawing/2014/main" val="171434873"/>
                    </a:ext>
                  </a:extLst>
                </a:gridCol>
                <a:gridCol w="3524729">
                  <a:extLst>
                    <a:ext uri="{9D8B030D-6E8A-4147-A177-3AD203B41FA5}">
                      <a16:colId xmlns:a16="http://schemas.microsoft.com/office/drawing/2014/main" val="313244612"/>
                    </a:ext>
                  </a:extLst>
                </a:gridCol>
              </a:tblGrid>
              <a:tr h="467581">
                <a:tc>
                  <a:txBody>
                    <a:bodyPr/>
                    <a:lstStyle/>
                    <a:p>
                      <a:pPr algn="ctr">
                        <a:buNone/>
                      </a:pPr>
                      <a:r>
                        <a:rPr lang="en-US" sz="1800" b="1"/>
                        <a:t>Attacker Type</a:t>
                      </a:r>
                      <a:endParaRPr lang="en-US" sz="1800" b="1">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b="1"/>
                        <a:t>Description</a:t>
                      </a:r>
                      <a:endParaRPr lang="en-US" sz="1800" b="1">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b="1" dirty="0"/>
                        <a:t>Example</a:t>
                      </a:r>
                      <a:endParaRPr lang="en-US" sz="1800" b="1"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3716499968"/>
                  </a:ext>
                </a:extLst>
              </a:tr>
              <a:tr h="818267">
                <a:tc>
                  <a:txBody>
                    <a:bodyPr/>
                    <a:lstStyle/>
                    <a:p>
                      <a:pPr algn="ctr">
                        <a:buNone/>
                      </a:pPr>
                      <a:r>
                        <a:rPr lang="en-US" sz="1800" b="1"/>
                        <a:t>Script Kiddies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Amateur hackers using pre-made tools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Runs ready-made malware from the internet</a:t>
                      </a:r>
                      <a:endParaRPr lang="en-US" sz="180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793680659"/>
                  </a:ext>
                </a:extLst>
              </a:tr>
              <a:tr h="818267">
                <a:tc>
                  <a:txBody>
                    <a:bodyPr/>
                    <a:lstStyle/>
                    <a:p>
                      <a:pPr algn="ctr">
                        <a:buNone/>
                      </a:pPr>
                      <a:r>
                        <a:rPr lang="en-US" sz="1800" b="1"/>
                        <a:t>Hacktivists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Attack for political/social reasons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Deface websites to spread messages</a:t>
                      </a:r>
                      <a:endParaRPr lang="en-US" sz="180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3172800195"/>
                  </a:ext>
                </a:extLst>
              </a:tr>
              <a:tr h="818267">
                <a:tc>
                  <a:txBody>
                    <a:bodyPr/>
                    <a:lstStyle/>
                    <a:p>
                      <a:pPr algn="ctr">
                        <a:buNone/>
                      </a:pPr>
                      <a:r>
                        <a:rPr lang="en-US" sz="1800" b="1"/>
                        <a:t>Cyber Criminals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Financially motivated attackers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Steal credit card data or ransom files</a:t>
                      </a:r>
                      <a:endParaRPr lang="en-US" sz="180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1275415870"/>
                  </a:ext>
                </a:extLst>
              </a:tr>
              <a:tr h="818267">
                <a:tc>
                  <a:txBody>
                    <a:bodyPr/>
                    <a:lstStyle/>
                    <a:p>
                      <a:pPr algn="ctr">
                        <a:buNone/>
                      </a:pPr>
                      <a:r>
                        <a:rPr lang="en-US" sz="1800" b="1"/>
                        <a:t>Insiders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Employees or ex-staff abusing access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dirty="0"/>
                        <a:t>Copying confidential company files</a:t>
                      </a:r>
                      <a:endParaRPr lang="en-US" sz="1800"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2970691504"/>
                  </a:ext>
                </a:extLst>
              </a:tr>
              <a:tr h="818267">
                <a:tc>
                  <a:txBody>
                    <a:bodyPr/>
                    <a:lstStyle/>
                    <a:p>
                      <a:pPr algn="ctr">
                        <a:buNone/>
                      </a:pPr>
                      <a:r>
                        <a:rPr lang="en-US" sz="1800" b="1"/>
                        <a:t>State-Sponsored / APTs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Nation-backed, sophisticated groups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dirty="0"/>
                        <a:t>Espionage, infrastructure attacks</a:t>
                      </a:r>
                      <a:endParaRPr lang="en-US" sz="1800"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1374754636"/>
                  </a:ext>
                </a:extLst>
              </a:tr>
              <a:tr h="818267">
                <a:tc>
                  <a:txBody>
                    <a:bodyPr/>
                    <a:lstStyle/>
                    <a:p>
                      <a:pPr algn="ctr">
                        <a:buNone/>
                      </a:pPr>
                      <a:r>
                        <a:rPr lang="en-US" sz="1800" b="1"/>
                        <a:t>Competitors / Corporate Spies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a:t>Target business secrets</a:t>
                      </a:r>
                      <a:endParaRPr lang="en-US" sz="1800">
                        <a:latin typeface="Times New Roman" panose="02020603050405020304" pitchFamily="18" charset="0"/>
                        <a:cs typeface="Times New Roman" panose="02020603050405020304" pitchFamily="18" charset="0"/>
                      </a:endParaRPr>
                    </a:p>
                  </a:txBody>
                  <a:tcPr marL="88072" marR="88072" marT="44036" marB="44036" anchor="ctr"/>
                </a:tc>
                <a:tc>
                  <a:txBody>
                    <a:bodyPr/>
                    <a:lstStyle/>
                    <a:p>
                      <a:pPr algn="ctr">
                        <a:buNone/>
                      </a:pPr>
                      <a:r>
                        <a:rPr lang="en-US" sz="1800" dirty="0"/>
                        <a:t>Steal product designs or customer data</a:t>
                      </a:r>
                      <a:endParaRPr lang="en-US" sz="1800" dirty="0">
                        <a:latin typeface="Times New Roman" panose="02020603050405020304" pitchFamily="18" charset="0"/>
                        <a:cs typeface="Times New Roman" panose="02020603050405020304" pitchFamily="18" charset="0"/>
                      </a:endParaRPr>
                    </a:p>
                  </a:txBody>
                  <a:tcPr marL="88072" marR="88072" marT="44036" marB="44036" anchor="ctr"/>
                </a:tc>
                <a:extLst>
                  <a:ext uri="{0D108BD9-81ED-4DB2-BD59-A6C34878D82A}">
                    <a16:rowId xmlns:a16="http://schemas.microsoft.com/office/drawing/2014/main" val="1589677212"/>
                  </a:ext>
                </a:extLst>
              </a:tr>
            </a:tbl>
          </a:graphicData>
        </a:graphic>
      </p:graphicFrame>
      <p:sp>
        <p:nvSpPr>
          <p:cNvPr id="3" name="TextBox 2">
            <a:extLst>
              <a:ext uri="{FF2B5EF4-FFF2-40B4-BE49-F238E27FC236}">
                <a16:creationId xmlns:a16="http://schemas.microsoft.com/office/drawing/2014/main" id="{223578D4-BBA1-635B-9CA8-EFB24C2D6A57}"/>
              </a:ext>
            </a:extLst>
          </p:cNvPr>
          <p:cNvSpPr txBox="1"/>
          <p:nvPr/>
        </p:nvSpPr>
        <p:spPr>
          <a:xfrm>
            <a:off x="1158240" y="247134"/>
            <a:ext cx="9453880"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Who are Attackers! </a:t>
            </a:r>
            <a:r>
              <a:rPr lang="en-PK" sz="3600" dirty="0"/>
              <a:t>👾</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829692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60636-B8D3-037E-893B-4F0B59A022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466C0D-7F44-1217-398C-96EDC1D0C598}"/>
              </a:ext>
            </a:extLst>
          </p:cNvPr>
          <p:cNvSpPr txBox="1"/>
          <p:nvPr/>
        </p:nvSpPr>
        <p:spPr>
          <a:xfrm>
            <a:off x="1158240" y="120790"/>
            <a:ext cx="9601818"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Who are Security Specialists!</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750DEB5-745B-A16A-9596-FAE4F154F084}"/>
              </a:ext>
            </a:extLst>
          </p:cNvPr>
          <p:cNvGraphicFramePr>
            <a:graphicFrameLocks noGrp="1"/>
          </p:cNvGraphicFramePr>
          <p:nvPr>
            <p:extLst>
              <p:ext uri="{D42A27DB-BD31-4B8C-83A1-F6EECF244321}">
                <p14:modId xmlns:p14="http://schemas.microsoft.com/office/powerpoint/2010/main" val="1729859731"/>
              </p:ext>
            </p:extLst>
          </p:nvPr>
        </p:nvGraphicFramePr>
        <p:xfrm>
          <a:off x="1255228" y="965200"/>
          <a:ext cx="10083333" cy="5476242"/>
        </p:xfrm>
        <a:graphic>
          <a:graphicData uri="http://schemas.openxmlformats.org/drawingml/2006/table">
            <a:tbl>
              <a:tblPr>
                <a:tableStyleId>{616DA210-FB5B-4158-B5E0-FEB733F419BA}</a:tableStyleId>
              </a:tblPr>
              <a:tblGrid>
                <a:gridCol w="3361111">
                  <a:extLst>
                    <a:ext uri="{9D8B030D-6E8A-4147-A177-3AD203B41FA5}">
                      <a16:colId xmlns:a16="http://schemas.microsoft.com/office/drawing/2014/main" val="1077489740"/>
                    </a:ext>
                  </a:extLst>
                </a:gridCol>
                <a:gridCol w="3361111">
                  <a:extLst>
                    <a:ext uri="{9D8B030D-6E8A-4147-A177-3AD203B41FA5}">
                      <a16:colId xmlns:a16="http://schemas.microsoft.com/office/drawing/2014/main" val="2280805913"/>
                    </a:ext>
                  </a:extLst>
                </a:gridCol>
                <a:gridCol w="3361111">
                  <a:extLst>
                    <a:ext uri="{9D8B030D-6E8A-4147-A177-3AD203B41FA5}">
                      <a16:colId xmlns:a16="http://schemas.microsoft.com/office/drawing/2014/main" val="1350046387"/>
                    </a:ext>
                  </a:extLst>
                </a:gridCol>
              </a:tblGrid>
              <a:tr h="476196">
                <a:tc>
                  <a:txBody>
                    <a:bodyPr/>
                    <a:lstStyle/>
                    <a:p>
                      <a:pPr algn="ctr">
                        <a:buNone/>
                      </a:pPr>
                      <a:r>
                        <a:rPr lang="en-US" sz="1700" b="1"/>
                        <a:t>Role</a:t>
                      </a:r>
                    </a:p>
                  </a:txBody>
                  <a:tcPr marL="88072" marR="88072" marT="44036" marB="44036" anchor="ctr"/>
                </a:tc>
                <a:tc>
                  <a:txBody>
                    <a:bodyPr/>
                    <a:lstStyle/>
                    <a:p>
                      <a:pPr algn="ctr">
                        <a:buNone/>
                      </a:pPr>
                      <a:r>
                        <a:rPr lang="en-US" sz="1700" b="1"/>
                        <a:t>Focus</a:t>
                      </a:r>
                    </a:p>
                  </a:txBody>
                  <a:tcPr marL="88072" marR="88072" marT="44036" marB="44036" anchor="ctr"/>
                </a:tc>
                <a:tc>
                  <a:txBody>
                    <a:bodyPr/>
                    <a:lstStyle/>
                    <a:p>
                      <a:pPr algn="ctr">
                        <a:buNone/>
                      </a:pPr>
                      <a:r>
                        <a:rPr lang="en-US" sz="1700" b="1" dirty="0"/>
                        <a:t>Example Tasks</a:t>
                      </a:r>
                    </a:p>
                  </a:txBody>
                  <a:tcPr marL="88072" marR="88072" marT="44036" marB="44036" anchor="ctr"/>
                </a:tc>
                <a:extLst>
                  <a:ext uri="{0D108BD9-81ED-4DB2-BD59-A6C34878D82A}">
                    <a16:rowId xmlns:a16="http://schemas.microsoft.com/office/drawing/2014/main" val="840095797"/>
                  </a:ext>
                </a:extLst>
              </a:tr>
              <a:tr h="833341">
                <a:tc>
                  <a:txBody>
                    <a:bodyPr/>
                    <a:lstStyle/>
                    <a:p>
                      <a:pPr algn="ctr">
                        <a:buNone/>
                      </a:pPr>
                      <a:r>
                        <a:rPr lang="en-US" sz="1700" b="1"/>
                        <a:t>Security Analyst</a:t>
                      </a:r>
                      <a:endParaRPr lang="en-US" sz="1700"/>
                    </a:p>
                  </a:txBody>
                  <a:tcPr marL="88072" marR="88072" marT="44036" marB="44036" anchor="ctr"/>
                </a:tc>
                <a:tc>
                  <a:txBody>
                    <a:bodyPr/>
                    <a:lstStyle/>
                    <a:p>
                      <a:pPr algn="ctr">
                        <a:buNone/>
                      </a:pPr>
                      <a:r>
                        <a:rPr lang="en-US" sz="1700"/>
                        <a:t>Monitors systems for threats</a:t>
                      </a:r>
                    </a:p>
                  </a:txBody>
                  <a:tcPr marL="88072" marR="88072" marT="44036" marB="44036" anchor="ctr"/>
                </a:tc>
                <a:tc>
                  <a:txBody>
                    <a:bodyPr/>
                    <a:lstStyle/>
                    <a:p>
                      <a:pPr algn="ctr">
                        <a:buNone/>
                      </a:pPr>
                      <a:r>
                        <a:rPr lang="en-US" sz="1700"/>
                        <a:t>Reviews alerts, investigates incidents</a:t>
                      </a:r>
                    </a:p>
                  </a:txBody>
                  <a:tcPr marL="88072" marR="88072" marT="44036" marB="44036" anchor="ctr"/>
                </a:tc>
                <a:extLst>
                  <a:ext uri="{0D108BD9-81ED-4DB2-BD59-A6C34878D82A}">
                    <a16:rowId xmlns:a16="http://schemas.microsoft.com/office/drawing/2014/main" val="183003151"/>
                  </a:ext>
                </a:extLst>
              </a:tr>
              <a:tr h="833341">
                <a:tc>
                  <a:txBody>
                    <a:bodyPr/>
                    <a:lstStyle/>
                    <a:p>
                      <a:pPr algn="ctr">
                        <a:buNone/>
                      </a:pPr>
                      <a:r>
                        <a:rPr lang="en-US" sz="1700" b="1"/>
                        <a:t>Penetration Tester (Ethical Hacker)</a:t>
                      </a:r>
                      <a:endParaRPr lang="en-US" sz="1700"/>
                    </a:p>
                  </a:txBody>
                  <a:tcPr marL="88072" marR="88072" marT="44036" marB="44036" anchor="ctr"/>
                </a:tc>
                <a:tc>
                  <a:txBody>
                    <a:bodyPr/>
                    <a:lstStyle/>
                    <a:p>
                      <a:pPr algn="ctr">
                        <a:buNone/>
                      </a:pPr>
                      <a:r>
                        <a:rPr lang="en-US" sz="1700"/>
                        <a:t>Finds vulnerabilities before attackers do</a:t>
                      </a:r>
                    </a:p>
                  </a:txBody>
                  <a:tcPr marL="88072" marR="88072" marT="44036" marB="44036" anchor="ctr"/>
                </a:tc>
                <a:tc>
                  <a:txBody>
                    <a:bodyPr/>
                    <a:lstStyle/>
                    <a:p>
                      <a:pPr algn="ctr">
                        <a:buNone/>
                      </a:pPr>
                      <a:r>
                        <a:rPr lang="en-US" sz="1700"/>
                        <a:t>Performs simulated attacks</a:t>
                      </a:r>
                    </a:p>
                  </a:txBody>
                  <a:tcPr marL="88072" marR="88072" marT="44036" marB="44036" anchor="ctr"/>
                </a:tc>
                <a:extLst>
                  <a:ext uri="{0D108BD9-81ED-4DB2-BD59-A6C34878D82A}">
                    <a16:rowId xmlns:a16="http://schemas.microsoft.com/office/drawing/2014/main" val="2996494896"/>
                  </a:ext>
                </a:extLst>
              </a:tr>
              <a:tr h="833341">
                <a:tc>
                  <a:txBody>
                    <a:bodyPr/>
                    <a:lstStyle/>
                    <a:p>
                      <a:pPr algn="ctr">
                        <a:buNone/>
                      </a:pPr>
                      <a:r>
                        <a:rPr lang="en-US" sz="1700" b="1"/>
                        <a:t>Security Engineer</a:t>
                      </a:r>
                      <a:endParaRPr lang="en-US" sz="1700"/>
                    </a:p>
                  </a:txBody>
                  <a:tcPr marL="88072" marR="88072" marT="44036" marB="44036" anchor="ctr"/>
                </a:tc>
                <a:tc>
                  <a:txBody>
                    <a:bodyPr/>
                    <a:lstStyle/>
                    <a:p>
                      <a:pPr algn="ctr">
                        <a:buNone/>
                      </a:pPr>
                      <a:r>
                        <a:rPr lang="en-US" sz="1700"/>
                        <a:t>Builds and maintains secure infrastructure</a:t>
                      </a:r>
                    </a:p>
                  </a:txBody>
                  <a:tcPr marL="88072" marR="88072" marT="44036" marB="44036" anchor="ctr"/>
                </a:tc>
                <a:tc>
                  <a:txBody>
                    <a:bodyPr/>
                    <a:lstStyle/>
                    <a:p>
                      <a:pPr algn="ctr">
                        <a:buNone/>
                      </a:pPr>
                      <a:r>
                        <a:rPr lang="en-US" sz="1700"/>
                        <a:t>Configures firewalls, IDS/IPS</a:t>
                      </a:r>
                    </a:p>
                  </a:txBody>
                  <a:tcPr marL="88072" marR="88072" marT="44036" marB="44036" anchor="ctr"/>
                </a:tc>
                <a:extLst>
                  <a:ext uri="{0D108BD9-81ED-4DB2-BD59-A6C34878D82A}">
                    <a16:rowId xmlns:a16="http://schemas.microsoft.com/office/drawing/2014/main" val="345560520"/>
                  </a:ext>
                </a:extLst>
              </a:tr>
              <a:tr h="833341">
                <a:tc>
                  <a:txBody>
                    <a:bodyPr/>
                    <a:lstStyle/>
                    <a:p>
                      <a:pPr algn="ctr">
                        <a:buNone/>
                      </a:pPr>
                      <a:r>
                        <a:rPr lang="en-US" sz="1700" b="1" dirty="0"/>
                        <a:t>Incident Responder</a:t>
                      </a:r>
                      <a:endParaRPr lang="en-US" sz="1700" dirty="0"/>
                    </a:p>
                  </a:txBody>
                  <a:tcPr marL="88072" marR="88072" marT="44036" marB="44036" anchor="ctr"/>
                </a:tc>
                <a:tc>
                  <a:txBody>
                    <a:bodyPr/>
                    <a:lstStyle/>
                    <a:p>
                      <a:pPr algn="ctr">
                        <a:buNone/>
                      </a:pPr>
                      <a:r>
                        <a:rPr lang="en-US" sz="1700"/>
                        <a:t>Handles breaches and containment</a:t>
                      </a:r>
                    </a:p>
                  </a:txBody>
                  <a:tcPr marL="88072" marR="88072" marT="44036" marB="44036" anchor="ctr"/>
                </a:tc>
                <a:tc>
                  <a:txBody>
                    <a:bodyPr/>
                    <a:lstStyle/>
                    <a:p>
                      <a:pPr algn="ctr">
                        <a:buNone/>
                      </a:pPr>
                      <a:r>
                        <a:rPr lang="en-US" sz="1700"/>
                        <a:t>Forensic analysis, recovery planning</a:t>
                      </a:r>
                    </a:p>
                  </a:txBody>
                  <a:tcPr marL="88072" marR="88072" marT="44036" marB="44036" anchor="ctr"/>
                </a:tc>
                <a:extLst>
                  <a:ext uri="{0D108BD9-81ED-4DB2-BD59-A6C34878D82A}">
                    <a16:rowId xmlns:a16="http://schemas.microsoft.com/office/drawing/2014/main" val="537886592"/>
                  </a:ext>
                </a:extLst>
              </a:tr>
              <a:tr h="833341">
                <a:tc>
                  <a:txBody>
                    <a:bodyPr/>
                    <a:lstStyle/>
                    <a:p>
                      <a:pPr algn="ctr">
                        <a:buNone/>
                      </a:pPr>
                      <a:r>
                        <a:rPr lang="en-US" sz="1700" b="1"/>
                        <a:t>Security Architect</a:t>
                      </a:r>
                      <a:endParaRPr lang="en-US" sz="1700"/>
                    </a:p>
                  </a:txBody>
                  <a:tcPr marL="88072" marR="88072" marT="44036" marB="44036" anchor="ctr"/>
                </a:tc>
                <a:tc>
                  <a:txBody>
                    <a:bodyPr/>
                    <a:lstStyle/>
                    <a:p>
                      <a:pPr algn="ctr">
                        <a:buNone/>
                      </a:pPr>
                      <a:r>
                        <a:rPr lang="en-US" sz="1700"/>
                        <a:t>Designs organization-wide security strategy</a:t>
                      </a:r>
                    </a:p>
                  </a:txBody>
                  <a:tcPr marL="88072" marR="88072" marT="44036" marB="44036" anchor="ctr"/>
                </a:tc>
                <a:tc>
                  <a:txBody>
                    <a:bodyPr/>
                    <a:lstStyle/>
                    <a:p>
                      <a:pPr algn="ctr">
                        <a:buNone/>
                      </a:pPr>
                      <a:r>
                        <a:rPr lang="en-US" sz="1700"/>
                        <a:t>Defines standards, implements frameworks</a:t>
                      </a:r>
                    </a:p>
                  </a:txBody>
                  <a:tcPr marL="88072" marR="88072" marT="44036" marB="44036" anchor="ctr"/>
                </a:tc>
                <a:extLst>
                  <a:ext uri="{0D108BD9-81ED-4DB2-BD59-A6C34878D82A}">
                    <a16:rowId xmlns:a16="http://schemas.microsoft.com/office/drawing/2014/main" val="4158913408"/>
                  </a:ext>
                </a:extLst>
              </a:tr>
              <a:tr h="833341">
                <a:tc>
                  <a:txBody>
                    <a:bodyPr/>
                    <a:lstStyle/>
                    <a:p>
                      <a:pPr algn="ctr">
                        <a:buNone/>
                      </a:pPr>
                      <a:r>
                        <a:rPr lang="en-US" sz="1700" b="1"/>
                        <a:t>CISO (Chief Information Security Officer)</a:t>
                      </a:r>
                      <a:endParaRPr lang="en-US" sz="1700"/>
                    </a:p>
                  </a:txBody>
                  <a:tcPr marL="88072" marR="88072" marT="44036" marB="44036" anchor="ctr"/>
                </a:tc>
                <a:tc>
                  <a:txBody>
                    <a:bodyPr/>
                    <a:lstStyle/>
                    <a:p>
                      <a:pPr algn="ctr">
                        <a:buNone/>
                      </a:pPr>
                      <a:r>
                        <a:rPr lang="en-US" sz="1700"/>
                        <a:t>Leads enterprise security efforts</a:t>
                      </a:r>
                    </a:p>
                  </a:txBody>
                  <a:tcPr marL="88072" marR="88072" marT="44036" marB="44036" anchor="ctr"/>
                </a:tc>
                <a:tc>
                  <a:txBody>
                    <a:bodyPr/>
                    <a:lstStyle/>
                    <a:p>
                      <a:pPr algn="ctr">
                        <a:buNone/>
                      </a:pPr>
                      <a:r>
                        <a:rPr lang="en-US" sz="1700" dirty="0"/>
                        <a:t>Policy, compliance, and risk oversight</a:t>
                      </a:r>
                    </a:p>
                  </a:txBody>
                  <a:tcPr marL="88072" marR="88072" marT="44036" marB="44036" anchor="ctr"/>
                </a:tc>
                <a:extLst>
                  <a:ext uri="{0D108BD9-81ED-4DB2-BD59-A6C34878D82A}">
                    <a16:rowId xmlns:a16="http://schemas.microsoft.com/office/drawing/2014/main" val="3519091874"/>
                  </a:ext>
                </a:extLst>
              </a:tr>
            </a:tbl>
          </a:graphicData>
        </a:graphic>
      </p:graphicFrame>
    </p:spTree>
    <p:extLst>
      <p:ext uri="{BB962C8B-B14F-4D97-AF65-F5344CB8AC3E}">
        <p14:creationId xmlns:p14="http://schemas.microsoft.com/office/powerpoint/2010/main" val="2787501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65562-8922-04E3-AE96-B93FAD08B9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5C7D66-BDA4-FBC9-E54F-4378349A0F0B}"/>
              </a:ext>
            </a:extLst>
          </p:cNvPr>
          <p:cNvSpPr txBox="1"/>
          <p:nvPr/>
        </p:nvSpPr>
        <p:spPr>
          <a:xfrm>
            <a:off x="1168400" y="567830"/>
            <a:ext cx="9601818"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Careers in Cyber Security!</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33484E4-0B3C-6850-61EE-50022410249D}"/>
              </a:ext>
            </a:extLst>
          </p:cNvPr>
          <p:cNvSpPr txBox="1"/>
          <p:nvPr/>
        </p:nvSpPr>
        <p:spPr>
          <a:xfrm>
            <a:off x="518160" y="2117754"/>
            <a:ext cx="11155680" cy="3108543"/>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 Offensive Security (Red Team)</a:t>
            </a:r>
          </a:p>
          <a:p>
            <a:pPr>
              <a:buNone/>
            </a:pPr>
            <a:endParaRPr lang="en-US" sz="2800" b="1"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Goal: </a:t>
            </a:r>
            <a:r>
              <a:rPr lang="en-US" sz="2800" i="1" dirty="0">
                <a:latin typeface="Times New Roman" panose="02020603050405020304" pitchFamily="18" charset="0"/>
                <a:cs typeface="Times New Roman" panose="02020603050405020304" pitchFamily="18" charset="0"/>
              </a:rPr>
              <a:t>“Think like an attacker.”</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Roles: </a:t>
            </a:r>
            <a:r>
              <a:rPr lang="en-US" sz="2800" dirty="0">
                <a:latin typeface="Times New Roman" panose="02020603050405020304" pitchFamily="18" charset="0"/>
                <a:cs typeface="Times New Roman" panose="02020603050405020304" pitchFamily="18" charset="0"/>
              </a:rPr>
              <a:t>Penetration Tester, Ethical Hacker, Red Team Operator.</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Skills: </a:t>
            </a:r>
            <a:r>
              <a:rPr lang="en-US" sz="2800" dirty="0">
                <a:latin typeface="Times New Roman" panose="02020603050405020304" pitchFamily="18" charset="0"/>
                <a:cs typeface="Times New Roman" panose="02020603050405020304" pitchFamily="18" charset="0"/>
              </a:rPr>
              <a:t>Exploitation, scripting, social engineering.</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Example: </a:t>
            </a:r>
            <a:r>
              <a:rPr lang="en-US" sz="2800" dirty="0">
                <a:latin typeface="Times New Roman" panose="02020603050405020304" pitchFamily="18" charset="0"/>
                <a:cs typeface="Times New Roman" panose="02020603050405020304" pitchFamily="18" charset="0"/>
              </a:rPr>
              <a:t>Testing web apps or networks to find weaknesses before criminals do.</a:t>
            </a:r>
          </a:p>
        </p:txBody>
      </p:sp>
    </p:spTree>
    <p:extLst>
      <p:ext uri="{BB962C8B-B14F-4D97-AF65-F5344CB8AC3E}">
        <p14:creationId xmlns:p14="http://schemas.microsoft.com/office/powerpoint/2010/main" val="2162803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802E39-3CDB-EFD0-2C3A-9FCEACFCC546}"/>
              </a:ext>
            </a:extLst>
          </p:cNvPr>
          <p:cNvPicPr>
            <a:picLocks noChangeAspect="1"/>
          </p:cNvPicPr>
          <p:nvPr/>
        </p:nvPicPr>
        <p:blipFill>
          <a:blip r:embed="rId2"/>
          <a:stretch>
            <a:fillRect/>
          </a:stretch>
        </p:blipFill>
        <p:spPr>
          <a:xfrm>
            <a:off x="1410017" y="1323090"/>
            <a:ext cx="3743325" cy="2600325"/>
          </a:xfrm>
          <a:prstGeom prst="rect">
            <a:avLst/>
          </a:prstGeom>
        </p:spPr>
      </p:pic>
      <p:pic>
        <p:nvPicPr>
          <p:cNvPr id="5" name="Picture 4">
            <a:extLst>
              <a:ext uri="{FF2B5EF4-FFF2-40B4-BE49-F238E27FC236}">
                <a16:creationId xmlns:a16="http://schemas.microsoft.com/office/drawing/2014/main" id="{FC8A9A88-FFF8-1BFC-59EC-82E09328AA14}"/>
              </a:ext>
            </a:extLst>
          </p:cNvPr>
          <p:cNvPicPr>
            <a:picLocks noChangeAspect="1"/>
          </p:cNvPicPr>
          <p:nvPr/>
        </p:nvPicPr>
        <p:blipFill>
          <a:blip r:embed="rId3"/>
          <a:stretch>
            <a:fillRect/>
          </a:stretch>
        </p:blipFill>
        <p:spPr>
          <a:xfrm>
            <a:off x="7233286" y="1169240"/>
            <a:ext cx="2374932" cy="2754175"/>
          </a:xfrm>
          <a:prstGeom prst="rect">
            <a:avLst/>
          </a:prstGeom>
        </p:spPr>
      </p:pic>
      <p:sp>
        <p:nvSpPr>
          <p:cNvPr id="6" name="TextBox 5">
            <a:extLst>
              <a:ext uri="{FF2B5EF4-FFF2-40B4-BE49-F238E27FC236}">
                <a16:creationId xmlns:a16="http://schemas.microsoft.com/office/drawing/2014/main" id="{5E649E8C-B960-E2FB-CEF9-C61E33E9B7BC}"/>
              </a:ext>
            </a:extLst>
          </p:cNvPr>
          <p:cNvSpPr txBox="1"/>
          <p:nvPr/>
        </p:nvSpPr>
        <p:spPr>
          <a:xfrm>
            <a:off x="1188720" y="354470"/>
            <a:ext cx="9601818"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Red Team in Pakistan!</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3CF3BC0-4CF8-CEE6-C8E3-B31BE32EF420}"/>
              </a:ext>
            </a:extLst>
          </p:cNvPr>
          <p:cNvSpPr txBox="1"/>
          <p:nvPr/>
        </p:nvSpPr>
        <p:spPr>
          <a:xfrm>
            <a:off x="1071879" y="4078922"/>
            <a:ext cx="4419600" cy="2618666"/>
          </a:xfrm>
          <a:prstGeom prst="rect">
            <a:avLst/>
          </a:prstGeom>
          <a:noFill/>
        </p:spPr>
        <p:txBody>
          <a:bodyPr wrap="square">
            <a:spAutoFit/>
          </a:bodyPr>
          <a:lstStyle/>
          <a:p>
            <a:pPr algn="ctr">
              <a:lnSpc>
                <a:spcPts val="1800"/>
              </a:lnSpc>
              <a:spcBef>
                <a:spcPts val="750"/>
              </a:spcBef>
              <a:spcAft>
                <a:spcPts val="900"/>
              </a:spcAft>
            </a:pPr>
            <a:r>
              <a:rPr lang="en-US" b="1" i="0" dirty="0">
                <a:solidFill>
                  <a:srgbClr val="0A0A0A"/>
                </a:solidFill>
                <a:effectLst/>
                <a:latin typeface="Times New Roman" panose="02020603050405020304" pitchFamily="18" charset="0"/>
                <a:cs typeface="Times New Roman" panose="02020603050405020304" pitchFamily="18" charset="0"/>
              </a:rPr>
              <a:t>Rafay Baloch</a:t>
            </a:r>
            <a:endParaRPr lang="en-US" dirty="0">
              <a:solidFill>
                <a:srgbClr val="0A0A0A"/>
              </a:solidFill>
              <a:latin typeface="Times New Roman" panose="02020603050405020304" pitchFamily="18" charset="0"/>
              <a:cs typeface="Times New Roman" panose="02020603050405020304" pitchFamily="18" charset="0"/>
            </a:endParaRPr>
          </a:p>
          <a:p>
            <a:pPr algn="ctr">
              <a:lnSpc>
                <a:spcPts val="1800"/>
              </a:lnSpc>
              <a:spcBef>
                <a:spcPts val="750"/>
              </a:spcBef>
              <a:spcAft>
                <a:spcPts val="900"/>
              </a:spcAft>
            </a:pPr>
            <a:r>
              <a:rPr lang="en-US" b="0" i="0" dirty="0">
                <a:solidFill>
                  <a:srgbClr val="0A0A0A"/>
                </a:solidFill>
                <a:effectLst/>
                <a:latin typeface="Times New Roman" panose="02020603050405020304" pitchFamily="18" charset="0"/>
                <a:cs typeface="Times New Roman" panose="02020603050405020304" pitchFamily="18" charset="0"/>
              </a:rPr>
              <a:t>A widely recognized ethical hacker and security researcher who has discovered critical vulnerabilities in major platforms like PayPal, Google, Firefox, Apple Safari, and Microsoft Edge. He has been recognized as one of the world's top five ethical hackers by </a:t>
            </a:r>
            <a:r>
              <a:rPr lang="en-US" b="0" i="0" dirty="0" err="1">
                <a:solidFill>
                  <a:srgbClr val="0A0A0A"/>
                </a:solidFill>
                <a:effectLst/>
                <a:latin typeface="Times New Roman" panose="02020603050405020304" pitchFamily="18" charset="0"/>
                <a:cs typeface="Times New Roman" panose="02020603050405020304" pitchFamily="18" charset="0"/>
              </a:rPr>
              <a:t>Checkmarx</a:t>
            </a:r>
            <a:r>
              <a:rPr lang="en-US" b="0" i="0" dirty="0">
                <a:solidFill>
                  <a:srgbClr val="0A0A0A"/>
                </a:solidFill>
                <a:effectLst/>
                <a:latin typeface="Times New Roman" panose="02020603050405020304" pitchFamily="18" charset="0"/>
                <a:cs typeface="Times New Roman" panose="02020603050405020304" pitchFamily="18" charset="0"/>
              </a:rPr>
              <a:t> and received the "Pride of Pakistan" award from the ISPR for his contributions to the field.</a:t>
            </a:r>
          </a:p>
        </p:txBody>
      </p:sp>
      <p:sp>
        <p:nvSpPr>
          <p:cNvPr id="10" name="TextBox 9">
            <a:extLst>
              <a:ext uri="{FF2B5EF4-FFF2-40B4-BE49-F238E27FC236}">
                <a16:creationId xmlns:a16="http://schemas.microsoft.com/office/drawing/2014/main" id="{9E06FA32-9B0A-90D5-A5E4-1EEBD943C4A9}"/>
              </a:ext>
            </a:extLst>
          </p:cNvPr>
          <p:cNvSpPr txBox="1"/>
          <p:nvPr/>
        </p:nvSpPr>
        <p:spPr>
          <a:xfrm>
            <a:off x="6625573" y="4190682"/>
            <a:ext cx="4164965" cy="2585323"/>
          </a:xfrm>
          <a:prstGeom prst="rect">
            <a:avLst/>
          </a:prstGeom>
          <a:noFill/>
        </p:spPr>
        <p:txBody>
          <a:bodyPr wrap="square">
            <a:spAutoFit/>
          </a:bodyPr>
          <a:lstStyle/>
          <a:p>
            <a:pPr algn="ctr"/>
            <a:r>
              <a:rPr lang="en-US" b="1" i="0" dirty="0" err="1">
                <a:effectLst/>
                <a:latin typeface="Times New Roman" panose="02020603050405020304" pitchFamily="18" charset="0"/>
                <a:cs typeface="Times New Roman" panose="02020603050405020304" pitchFamily="18" charset="0"/>
              </a:rPr>
              <a:t>Sajawal</a:t>
            </a:r>
            <a:r>
              <a:rPr lang="en-US" b="1" i="0" dirty="0">
                <a:effectLst/>
                <a:latin typeface="Times New Roman" panose="02020603050405020304" pitchFamily="18" charset="0"/>
                <a:cs typeface="Times New Roman" panose="02020603050405020304" pitchFamily="18" charset="0"/>
              </a:rPr>
              <a:t> Khan </a:t>
            </a:r>
          </a:p>
          <a:p>
            <a:pPr algn="ctr"/>
            <a:r>
              <a:rPr lang="en-US" b="0" i="0" dirty="0">
                <a:effectLst/>
                <a:latin typeface="Times New Roman" panose="02020603050405020304" pitchFamily="18" charset="0"/>
                <a:cs typeface="Times New Roman" panose="02020603050405020304" pitchFamily="18" charset="0"/>
              </a:rPr>
              <a:t>is a well-known Pakistani cybersecurity expert, ethical hacker, and digital forensics specialist. He is recognized for his work with the Pakistan Army and government organizations, his roles as the founder of </a:t>
            </a:r>
            <a:r>
              <a:rPr lang="en-US" dirty="0">
                <a:latin typeface="Times New Roman" panose="02020603050405020304" pitchFamily="18" charset="0"/>
                <a:cs typeface="Times New Roman" panose="02020603050405020304" pitchFamily="18" charset="0"/>
              </a:rPr>
              <a:t>Pak Cyber </a:t>
            </a:r>
            <a:r>
              <a:rPr lang="en-US" dirty="0" err="1">
                <a:latin typeface="Times New Roman" panose="02020603050405020304" pitchFamily="18" charset="0"/>
                <a:cs typeface="Times New Roman" panose="02020603050405020304" pitchFamily="18" charset="0"/>
              </a:rPr>
              <a:t>Defence</a:t>
            </a:r>
            <a:r>
              <a:rPr lang="en-US" i="0" dirty="0">
                <a:effectLst/>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CyberTech</a:t>
            </a:r>
            <a:r>
              <a:rPr lang="en-US" dirty="0">
                <a:latin typeface="Times New Roman" panose="02020603050405020304" pitchFamily="18" charset="0"/>
                <a:cs typeface="Times New Roman" panose="02020603050405020304" pitchFamily="18" charset="0"/>
              </a:rPr>
              <a:t> Institute</a:t>
            </a:r>
            <a:r>
              <a:rPr lang="en-US" i="0" dirty="0">
                <a:effectLst/>
                <a:latin typeface="Times New Roman" panose="02020603050405020304" pitchFamily="18" charset="0"/>
                <a:cs typeface="Times New Roman" panose="02020603050405020304" pitchFamily="18" charset="0"/>
              </a:rPr>
              <a:t> and for creating educational content on YouTube</a:t>
            </a:r>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4048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517F9-3D4D-A1EC-9AE5-79AFB5B8835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48DCFA-8A06-03EC-E452-4FCF8C151EFC}"/>
              </a:ext>
            </a:extLst>
          </p:cNvPr>
          <p:cNvSpPr txBox="1"/>
          <p:nvPr/>
        </p:nvSpPr>
        <p:spPr>
          <a:xfrm>
            <a:off x="1158240" y="649110"/>
            <a:ext cx="9601818"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Careers in Cyber Security!</a:t>
            </a:r>
            <a:endParaRPr lang="en-PK"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97E4FDD-0573-8DC0-C457-C0FA1A839C75}"/>
              </a:ext>
            </a:extLst>
          </p:cNvPr>
          <p:cNvSpPr txBox="1"/>
          <p:nvPr/>
        </p:nvSpPr>
        <p:spPr>
          <a:xfrm>
            <a:off x="701040" y="1985674"/>
            <a:ext cx="11155680" cy="3046988"/>
          </a:xfrm>
          <a:prstGeom prst="rect">
            <a:avLst/>
          </a:prstGeom>
          <a:noFill/>
        </p:spPr>
        <p:txBody>
          <a:bodyPr wrap="square">
            <a:spAutoFit/>
          </a:bodyPr>
          <a:lstStyle/>
          <a:p>
            <a:pPr>
              <a:buNone/>
            </a:pPr>
            <a:r>
              <a:rPr lang="en-PK" sz="32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Defensive Security (Blue Team)</a:t>
            </a:r>
          </a:p>
          <a:p>
            <a:pPr marL="914400" lvl="1" indent="-457200">
              <a:buFont typeface="Courier New" panose="02070309020205020404" pitchFamily="49" charset="0"/>
              <a:buChar char="o"/>
            </a:pPr>
            <a:r>
              <a:rPr lang="en-US" sz="3200" b="1" dirty="0">
                <a:latin typeface="Times New Roman" panose="02020603050405020304" pitchFamily="18" charset="0"/>
                <a:cs typeface="Times New Roman" panose="02020603050405020304" pitchFamily="18" charset="0"/>
              </a:rPr>
              <a:t>Goal: </a:t>
            </a:r>
            <a:r>
              <a:rPr lang="en-US" sz="3200" i="1" dirty="0">
                <a:latin typeface="Times New Roman" panose="02020603050405020304" pitchFamily="18" charset="0"/>
                <a:cs typeface="Times New Roman" panose="02020603050405020304" pitchFamily="18" charset="0"/>
              </a:rPr>
              <a:t>“Defend, detect, respond.”</a:t>
            </a:r>
            <a:endParaRPr lang="en-US" sz="3200" dirty="0">
              <a:latin typeface="Times New Roman" panose="02020603050405020304" pitchFamily="18" charset="0"/>
              <a:cs typeface="Times New Roman" panose="02020603050405020304" pitchFamily="18" charset="0"/>
            </a:endParaRPr>
          </a:p>
          <a:p>
            <a:pPr marL="914400" lvl="1" indent="-457200">
              <a:buFont typeface="Courier New" panose="02070309020205020404" pitchFamily="49" charset="0"/>
              <a:buChar char="o"/>
            </a:pPr>
            <a:r>
              <a:rPr lang="en-US" sz="3200" b="1" dirty="0">
                <a:latin typeface="Times New Roman" panose="02020603050405020304" pitchFamily="18" charset="0"/>
                <a:cs typeface="Times New Roman" panose="02020603050405020304" pitchFamily="18" charset="0"/>
              </a:rPr>
              <a:t>Roles: </a:t>
            </a:r>
            <a:r>
              <a:rPr lang="en-US" sz="3200" dirty="0">
                <a:latin typeface="Times New Roman" panose="02020603050405020304" pitchFamily="18" charset="0"/>
                <a:cs typeface="Times New Roman" panose="02020603050405020304" pitchFamily="18" charset="0"/>
              </a:rPr>
              <a:t>SOC Analyst, Incident Responder, Forensic Specialist</a:t>
            </a:r>
          </a:p>
          <a:p>
            <a:pPr marL="914400" lvl="1" indent="-457200">
              <a:buFont typeface="Courier New" panose="02070309020205020404" pitchFamily="49" charset="0"/>
              <a:buChar char="o"/>
            </a:pPr>
            <a:r>
              <a:rPr lang="en-US" sz="3200" b="1" dirty="0">
                <a:latin typeface="Times New Roman" panose="02020603050405020304" pitchFamily="18" charset="0"/>
                <a:cs typeface="Times New Roman" panose="02020603050405020304" pitchFamily="18" charset="0"/>
              </a:rPr>
              <a:t>Skills: </a:t>
            </a:r>
            <a:r>
              <a:rPr lang="en-US" sz="3200" dirty="0">
                <a:latin typeface="Times New Roman" panose="02020603050405020304" pitchFamily="18" charset="0"/>
                <a:cs typeface="Times New Roman" panose="02020603050405020304" pitchFamily="18" charset="0"/>
              </a:rPr>
              <a:t>Log analysis, threat hunting, SIEM, malware analysis</a:t>
            </a:r>
          </a:p>
          <a:p>
            <a:pPr marL="914400" lvl="1" indent="-457200">
              <a:buFont typeface="Courier New" panose="02070309020205020404" pitchFamily="49" charset="0"/>
              <a:buChar char="o"/>
            </a:pPr>
            <a:r>
              <a:rPr lang="en-US" sz="3200" b="1" dirty="0">
                <a:latin typeface="Times New Roman" panose="02020603050405020304" pitchFamily="18" charset="0"/>
                <a:cs typeface="Times New Roman" panose="02020603050405020304" pitchFamily="18" charset="0"/>
              </a:rPr>
              <a:t>Example: </a:t>
            </a:r>
            <a:r>
              <a:rPr lang="en-US" sz="3200" dirty="0">
                <a:latin typeface="Times New Roman" panose="02020603050405020304" pitchFamily="18" charset="0"/>
                <a:cs typeface="Times New Roman" panose="02020603050405020304" pitchFamily="18" charset="0"/>
              </a:rPr>
              <a:t>Investigating suspicious activity, containing malware.</a:t>
            </a:r>
          </a:p>
        </p:txBody>
      </p:sp>
      <p:sp>
        <p:nvSpPr>
          <p:cNvPr id="7" name="TextBox 6">
            <a:extLst>
              <a:ext uri="{FF2B5EF4-FFF2-40B4-BE49-F238E27FC236}">
                <a16:creationId xmlns:a16="http://schemas.microsoft.com/office/drawing/2014/main" id="{F1551DDB-078D-1643-278E-EAC6C1A956D0}"/>
              </a:ext>
            </a:extLst>
          </p:cNvPr>
          <p:cNvSpPr txBox="1"/>
          <p:nvPr/>
        </p:nvSpPr>
        <p:spPr>
          <a:xfrm>
            <a:off x="182880" y="5934670"/>
            <a:ext cx="6096000" cy="923330"/>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 SOC - Security </a:t>
            </a:r>
            <a:r>
              <a:rPr lang="en-US" b="1" dirty="0">
                <a:latin typeface="Times New Roman" panose="02020603050405020304" pitchFamily="18" charset="0"/>
                <a:cs typeface="Times New Roman" panose="02020603050405020304" pitchFamily="18" charset="0"/>
              </a:rPr>
              <a:t>O</a:t>
            </a:r>
            <a:r>
              <a:rPr lang="en-US" sz="1800" b="1" dirty="0">
                <a:latin typeface="Times New Roman" panose="02020603050405020304" pitchFamily="18" charset="0"/>
                <a:cs typeface="Times New Roman" panose="02020603050405020304" pitchFamily="18" charset="0"/>
              </a:rPr>
              <a:t>peration Center</a:t>
            </a:r>
            <a:r>
              <a:rPr lang="en-US" b="1"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 SIEM - Security Information and Event Management</a:t>
            </a:r>
            <a:endParaRPr lang="en-US" sz="1800" b="1" dirty="0">
              <a:latin typeface="Times New Roman" panose="02020603050405020304" pitchFamily="18" charset="0"/>
              <a:cs typeface="Times New Roman" panose="02020603050405020304" pitchFamily="18" charset="0"/>
            </a:endParaRPr>
          </a:p>
          <a:p>
            <a:endParaRPr lang="en-PK"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0525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D88EA1-95DA-6710-C726-3B5B3A1AFD9A}"/>
              </a:ext>
            </a:extLst>
          </p:cNvPr>
          <p:cNvSpPr txBox="1"/>
          <p:nvPr/>
        </p:nvSpPr>
        <p:spPr>
          <a:xfrm>
            <a:off x="1188720" y="354470"/>
            <a:ext cx="9601818"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Blue Team in Pakistan!</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7127D7B-285F-AF9C-51B3-D1E6BB43FF31}"/>
              </a:ext>
            </a:extLst>
          </p:cNvPr>
          <p:cNvSpPr txBox="1"/>
          <p:nvPr/>
        </p:nvSpPr>
        <p:spPr>
          <a:xfrm>
            <a:off x="548640" y="4027716"/>
            <a:ext cx="3525520" cy="2031325"/>
          </a:xfrm>
          <a:prstGeom prst="rect">
            <a:avLst/>
          </a:prstGeom>
          <a:noFill/>
        </p:spPr>
        <p:txBody>
          <a:bodyPr wrap="square">
            <a:spAutoFit/>
          </a:bodyPr>
          <a:lstStyle/>
          <a:p>
            <a:pPr algn="ctr"/>
            <a:r>
              <a:rPr lang="en-US" b="1" i="0" dirty="0">
                <a:solidFill>
                  <a:srgbClr val="0A0A0A"/>
                </a:solidFill>
                <a:effectLst/>
                <a:latin typeface="Times New Roman" panose="02020603050405020304" pitchFamily="18" charset="0"/>
                <a:cs typeface="Times New Roman" panose="02020603050405020304" pitchFamily="18" charset="0"/>
              </a:rPr>
              <a:t>Dr. Haider Abbas</a:t>
            </a:r>
            <a:r>
              <a:rPr lang="en-US" b="0" i="0" dirty="0">
                <a:solidFill>
                  <a:srgbClr val="0A0A0A"/>
                </a:solidFill>
                <a:effectLst/>
                <a:latin typeface="Times New Roman" panose="02020603050405020304" pitchFamily="18" charset="0"/>
                <a:cs typeface="Times New Roman" panose="02020603050405020304" pitchFamily="18" charset="0"/>
              </a:rPr>
              <a:t>: The Director General of Pakistan's National Cyber Emergency Response Team (National CERT), a distinguished professional who has received national and international awards, including the </a:t>
            </a:r>
            <a:r>
              <a:rPr lang="en-US" b="0" i="0" dirty="0" err="1">
                <a:solidFill>
                  <a:srgbClr val="0A0A0A"/>
                </a:solidFill>
                <a:effectLst/>
                <a:latin typeface="Times New Roman" panose="02020603050405020304" pitchFamily="18" charset="0"/>
                <a:cs typeface="Times New Roman" panose="02020603050405020304" pitchFamily="18" charset="0"/>
              </a:rPr>
              <a:t>Tamgha</a:t>
            </a:r>
            <a:r>
              <a:rPr lang="en-US" b="0" i="0" dirty="0">
                <a:solidFill>
                  <a:srgbClr val="0A0A0A"/>
                </a:solidFill>
                <a:effectLst/>
                <a:latin typeface="Times New Roman" panose="02020603050405020304" pitchFamily="18" charset="0"/>
                <a:cs typeface="Times New Roman" panose="02020603050405020304" pitchFamily="18" charset="0"/>
              </a:rPr>
              <a:t>-</a:t>
            </a:r>
            <a:r>
              <a:rPr lang="en-US" b="0" i="0" dirty="0" err="1">
                <a:solidFill>
                  <a:srgbClr val="0A0A0A"/>
                </a:solidFill>
                <a:effectLst/>
                <a:latin typeface="Times New Roman" panose="02020603050405020304" pitchFamily="18" charset="0"/>
                <a:cs typeface="Times New Roman" panose="02020603050405020304" pitchFamily="18" charset="0"/>
              </a:rPr>
              <a:t>i</a:t>
            </a:r>
            <a:r>
              <a:rPr lang="en-US" b="0" i="0" dirty="0">
                <a:solidFill>
                  <a:srgbClr val="0A0A0A"/>
                </a:solidFill>
                <a:effectLst/>
                <a:latin typeface="Times New Roman" panose="02020603050405020304" pitchFamily="18" charset="0"/>
                <a:cs typeface="Times New Roman" panose="02020603050405020304" pitchFamily="18" charset="0"/>
              </a:rPr>
              <a:t>-Imtiaz</a:t>
            </a:r>
            <a:endParaRPr lang="en-PK"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A3A108-4CA7-DC41-715D-74EB991DDED8}"/>
              </a:ext>
            </a:extLst>
          </p:cNvPr>
          <p:cNvPicPr>
            <a:picLocks noChangeAspect="1"/>
          </p:cNvPicPr>
          <p:nvPr/>
        </p:nvPicPr>
        <p:blipFill>
          <a:blip r:embed="rId2"/>
          <a:stretch>
            <a:fillRect/>
          </a:stretch>
        </p:blipFill>
        <p:spPr>
          <a:xfrm>
            <a:off x="706437" y="1055187"/>
            <a:ext cx="3350315" cy="2704013"/>
          </a:xfrm>
          <a:prstGeom prst="rect">
            <a:avLst/>
          </a:prstGeom>
        </p:spPr>
      </p:pic>
      <p:sp>
        <p:nvSpPr>
          <p:cNvPr id="8" name="TextBox 7">
            <a:extLst>
              <a:ext uri="{FF2B5EF4-FFF2-40B4-BE49-F238E27FC236}">
                <a16:creationId xmlns:a16="http://schemas.microsoft.com/office/drawing/2014/main" id="{768F2148-3F19-63C9-9596-F343AB296CFE}"/>
              </a:ext>
            </a:extLst>
          </p:cNvPr>
          <p:cNvSpPr txBox="1"/>
          <p:nvPr/>
        </p:nvSpPr>
        <p:spPr>
          <a:xfrm>
            <a:off x="4404360" y="4117676"/>
            <a:ext cx="3383282" cy="1708160"/>
          </a:xfrm>
          <a:prstGeom prst="rect">
            <a:avLst/>
          </a:prstGeom>
          <a:noFill/>
        </p:spPr>
        <p:txBody>
          <a:bodyPr wrap="square">
            <a:spAutoFit/>
          </a:bodyPr>
          <a:lstStyle/>
          <a:p>
            <a:pPr algn="ctr">
              <a:lnSpc>
                <a:spcPts val="1800"/>
              </a:lnSpc>
              <a:spcBef>
                <a:spcPts val="750"/>
              </a:spcBef>
              <a:spcAft>
                <a:spcPts val="900"/>
              </a:spcAft>
            </a:pPr>
            <a:r>
              <a:rPr lang="en-US" b="1" dirty="0">
                <a:solidFill>
                  <a:srgbClr val="0A0A0A"/>
                </a:solidFill>
                <a:latin typeface="Times New Roman" panose="02020603050405020304" pitchFamily="18" charset="0"/>
                <a:cs typeface="Times New Roman" panose="02020603050405020304" pitchFamily="18" charset="0"/>
              </a:rPr>
              <a:t>Muhammad Akram Mughal: </a:t>
            </a:r>
            <a:r>
              <a:rPr lang="en-US" dirty="0">
                <a:solidFill>
                  <a:srgbClr val="0A0A0A"/>
                </a:solidFill>
                <a:latin typeface="Times New Roman" panose="02020603050405020304" pitchFamily="18" charset="0"/>
                <a:cs typeface="Times New Roman" panose="02020603050405020304" pitchFamily="18" charset="0"/>
              </a:rPr>
              <a:t>A cybersecurity expert with extensive experience in government and private sectors, including the FIA's NCCIA, who represents Pakistan in international cyber initiatives.</a:t>
            </a:r>
          </a:p>
        </p:txBody>
      </p:sp>
      <p:sp>
        <p:nvSpPr>
          <p:cNvPr id="10" name="TextBox 9">
            <a:extLst>
              <a:ext uri="{FF2B5EF4-FFF2-40B4-BE49-F238E27FC236}">
                <a16:creationId xmlns:a16="http://schemas.microsoft.com/office/drawing/2014/main" id="{99650609-D634-C26C-801A-1488D5A83D2D}"/>
              </a:ext>
            </a:extLst>
          </p:cNvPr>
          <p:cNvSpPr txBox="1"/>
          <p:nvPr/>
        </p:nvSpPr>
        <p:spPr>
          <a:xfrm>
            <a:off x="8117842" y="4117676"/>
            <a:ext cx="3901440" cy="1246495"/>
          </a:xfrm>
          <a:prstGeom prst="rect">
            <a:avLst/>
          </a:prstGeom>
          <a:noFill/>
        </p:spPr>
        <p:txBody>
          <a:bodyPr wrap="square">
            <a:spAutoFit/>
          </a:bodyPr>
          <a:lstStyle/>
          <a:p>
            <a:pPr algn="ctr">
              <a:lnSpc>
                <a:spcPts val="1800"/>
              </a:lnSpc>
              <a:spcBef>
                <a:spcPts val="750"/>
              </a:spcBef>
              <a:spcAft>
                <a:spcPts val="900"/>
              </a:spcAft>
            </a:pPr>
            <a:r>
              <a:rPr lang="en-US" b="1" i="0" dirty="0">
                <a:solidFill>
                  <a:srgbClr val="0A0A0A"/>
                </a:solidFill>
                <a:effectLst/>
                <a:latin typeface="Times New Roman" panose="02020603050405020304" pitchFamily="18" charset="0"/>
                <a:cs typeface="Times New Roman" panose="02020603050405020304" pitchFamily="18" charset="0"/>
              </a:rPr>
              <a:t>Dr. Muhammad </a:t>
            </a:r>
            <a:r>
              <a:rPr lang="en-US" b="1" i="0" dirty="0" err="1">
                <a:solidFill>
                  <a:srgbClr val="0A0A0A"/>
                </a:solidFill>
                <a:effectLst/>
                <a:latin typeface="Times New Roman" panose="02020603050405020304" pitchFamily="18" charset="0"/>
                <a:cs typeface="Times New Roman" panose="02020603050405020304" pitchFamily="18" charset="0"/>
              </a:rPr>
              <a:t>Mukaram</a:t>
            </a:r>
            <a:r>
              <a:rPr lang="en-US" b="1" i="0" dirty="0">
                <a:solidFill>
                  <a:srgbClr val="0A0A0A"/>
                </a:solidFill>
                <a:effectLst/>
                <a:latin typeface="Times New Roman" panose="02020603050405020304" pitchFamily="18" charset="0"/>
                <a:cs typeface="Times New Roman" panose="02020603050405020304" pitchFamily="18" charset="0"/>
              </a:rPr>
              <a:t> Khan</a:t>
            </a:r>
            <a:r>
              <a:rPr lang="en-US" b="0" i="0" dirty="0">
                <a:solidFill>
                  <a:srgbClr val="0A0A0A"/>
                </a:solidFill>
                <a:effectLst/>
                <a:latin typeface="Times New Roman" panose="02020603050405020304" pitchFamily="18" charset="0"/>
                <a:cs typeface="Times New Roman" panose="02020603050405020304" pitchFamily="18" charset="0"/>
              </a:rPr>
              <a:t>: The Director General of Cyber Vigilance at the Pakistan Telecommunication Authority (PTA), playing a key role in national IT and cybersecurity projects.</a:t>
            </a:r>
          </a:p>
        </p:txBody>
      </p:sp>
      <p:pic>
        <p:nvPicPr>
          <p:cNvPr id="12" name="Picture 11">
            <a:extLst>
              <a:ext uri="{FF2B5EF4-FFF2-40B4-BE49-F238E27FC236}">
                <a16:creationId xmlns:a16="http://schemas.microsoft.com/office/drawing/2014/main" id="{B90A078C-D334-D8B5-8996-F529AEEF59B0}"/>
              </a:ext>
            </a:extLst>
          </p:cNvPr>
          <p:cNvPicPr>
            <a:picLocks noChangeAspect="1"/>
          </p:cNvPicPr>
          <p:nvPr/>
        </p:nvPicPr>
        <p:blipFill>
          <a:blip r:embed="rId3"/>
          <a:stretch>
            <a:fillRect/>
          </a:stretch>
        </p:blipFill>
        <p:spPr>
          <a:xfrm>
            <a:off x="8595676" y="1010074"/>
            <a:ext cx="2661603" cy="2691678"/>
          </a:xfrm>
          <a:prstGeom prst="rect">
            <a:avLst/>
          </a:prstGeom>
        </p:spPr>
      </p:pic>
      <p:pic>
        <p:nvPicPr>
          <p:cNvPr id="14" name="Picture 13">
            <a:extLst>
              <a:ext uri="{FF2B5EF4-FFF2-40B4-BE49-F238E27FC236}">
                <a16:creationId xmlns:a16="http://schemas.microsoft.com/office/drawing/2014/main" id="{A2ED523E-852B-1DD3-B553-1F5699C8F745}"/>
              </a:ext>
            </a:extLst>
          </p:cNvPr>
          <p:cNvPicPr>
            <a:picLocks noChangeAspect="1"/>
          </p:cNvPicPr>
          <p:nvPr/>
        </p:nvPicPr>
        <p:blipFill>
          <a:blip r:embed="rId4"/>
          <a:stretch>
            <a:fillRect/>
          </a:stretch>
        </p:blipFill>
        <p:spPr>
          <a:xfrm>
            <a:off x="5320982" y="1246254"/>
            <a:ext cx="1791162" cy="2321877"/>
          </a:xfrm>
          <a:prstGeom prst="rect">
            <a:avLst/>
          </a:prstGeom>
        </p:spPr>
      </p:pic>
    </p:spTree>
    <p:extLst>
      <p:ext uri="{BB962C8B-B14F-4D97-AF65-F5344CB8AC3E}">
        <p14:creationId xmlns:p14="http://schemas.microsoft.com/office/powerpoint/2010/main" val="2208396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8B706-4CD0-2305-42EC-C5312532CB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62AAC5-1025-DB3D-AAC9-DEA373BBB1D8}"/>
              </a:ext>
            </a:extLst>
          </p:cNvPr>
          <p:cNvSpPr txBox="1"/>
          <p:nvPr/>
        </p:nvSpPr>
        <p:spPr>
          <a:xfrm>
            <a:off x="1158240" y="313830"/>
            <a:ext cx="9601818"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Careers in Cyber Security!</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4438F1F5-123E-E96C-1C93-50B1593CFC90}"/>
              </a:ext>
            </a:extLst>
          </p:cNvPr>
          <p:cNvSpPr txBox="1"/>
          <p:nvPr/>
        </p:nvSpPr>
        <p:spPr>
          <a:xfrm>
            <a:off x="965200" y="2028791"/>
            <a:ext cx="10078720" cy="3539430"/>
          </a:xfrm>
          <a:prstGeom prst="rect">
            <a:avLst/>
          </a:prstGeom>
          <a:noFill/>
        </p:spPr>
        <p:txBody>
          <a:bodyPr wrap="square">
            <a:spAutoFit/>
          </a:bodyPr>
          <a:lstStyle/>
          <a:p>
            <a:pPr>
              <a:buNone/>
            </a:pPr>
            <a:r>
              <a:rPr lang="en-US" sz="2800" b="1" dirty="0">
                <a:latin typeface="Times New Roman" panose="02020603050405020304" pitchFamily="18" charset="0"/>
                <a:cs typeface="Times New Roman" panose="02020603050405020304" pitchFamily="18" charset="0"/>
              </a:rPr>
              <a:t>⚖️ GRC (Governance, Risk, Compliance)</a:t>
            </a:r>
          </a:p>
          <a:p>
            <a:pPr>
              <a:buNone/>
            </a:pPr>
            <a:endParaRPr lang="en-US" sz="2800" b="1"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Goal: </a:t>
            </a:r>
            <a:r>
              <a:rPr lang="en-US" sz="2800" i="1" dirty="0">
                <a:latin typeface="Times New Roman" panose="02020603050405020304" pitchFamily="18" charset="0"/>
                <a:cs typeface="Times New Roman" panose="02020603050405020304" pitchFamily="18" charset="0"/>
              </a:rPr>
              <a:t>“Build security policies and ensure compliance.”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Roles: </a:t>
            </a:r>
            <a:r>
              <a:rPr lang="en-US" sz="2800" dirty="0">
                <a:latin typeface="Times New Roman" panose="02020603050405020304" pitchFamily="18" charset="0"/>
                <a:cs typeface="Times New Roman" panose="02020603050405020304" pitchFamily="18" charset="0"/>
              </a:rPr>
              <a:t>Risk Analyst, Compliance Manager, Security Auditor.</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Skills: </a:t>
            </a:r>
            <a:r>
              <a:rPr lang="en-US" sz="2800" dirty="0">
                <a:latin typeface="Times New Roman" panose="02020603050405020304" pitchFamily="18" charset="0"/>
                <a:cs typeface="Times New Roman" panose="02020603050405020304" pitchFamily="18" charset="0"/>
              </a:rPr>
              <a:t>Frameworks (ISO 27001, NIST, GDPR), auditing, reporting.</a:t>
            </a:r>
          </a:p>
          <a:p>
            <a:pPr marL="914400" lvl="1" indent="-457200">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Example: </a:t>
            </a:r>
            <a:r>
              <a:rPr lang="en-US" sz="2800" dirty="0">
                <a:latin typeface="Times New Roman" panose="02020603050405020304" pitchFamily="18" charset="0"/>
                <a:cs typeface="Times New Roman" panose="02020603050405020304" pitchFamily="18" charset="0"/>
              </a:rPr>
              <a:t>Ensuring company follows legal and regulatory cybersecurity requirements.</a:t>
            </a:r>
          </a:p>
        </p:txBody>
      </p:sp>
    </p:spTree>
    <p:extLst>
      <p:ext uri="{BB962C8B-B14F-4D97-AF65-F5344CB8AC3E}">
        <p14:creationId xmlns:p14="http://schemas.microsoft.com/office/powerpoint/2010/main" val="3000699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803A6-9859-075A-164C-1216810693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298F76-0B73-0339-A31D-729C3E431CDF}"/>
              </a:ext>
            </a:extLst>
          </p:cNvPr>
          <p:cNvSpPr txBox="1"/>
          <p:nvPr/>
        </p:nvSpPr>
        <p:spPr>
          <a:xfrm>
            <a:off x="1158240" y="120790"/>
            <a:ext cx="9601818"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Careers in Cyber Security!</a:t>
            </a:r>
            <a:endParaRPr lang="en-PK"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54C12E5-B4D6-4E5B-98D0-F10152111B43}"/>
              </a:ext>
            </a:extLst>
          </p:cNvPr>
          <p:cNvPicPr>
            <a:picLocks noChangeAspect="1"/>
          </p:cNvPicPr>
          <p:nvPr/>
        </p:nvPicPr>
        <p:blipFill>
          <a:blip r:embed="rId2"/>
          <a:stretch>
            <a:fillRect/>
          </a:stretch>
        </p:blipFill>
        <p:spPr>
          <a:xfrm>
            <a:off x="912812" y="1720532"/>
            <a:ext cx="2292668" cy="2292668"/>
          </a:xfrm>
          <a:prstGeom prst="rect">
            <a:avLst/>
          </a:prstGeom>
        </p:spPr>
      </p:pic>
      <p:sp>
        <p:nvSpPr>
          <p:cNvPr id="8" name="TextBox 7">
            <a:extLst>
              <a:ext uri="{FF2B5EF4-FFF2-40B4-BE49-F238E27FC236}">
                <a16:creationId xmlns:a16="http://schemas.microsoft.com/office/drawing/2014/main" id="{BB1C82CC-0830-EB93-2BAF-637352247299}"/>
              </a:ext>
            </a:extLst>
          </p:cNvPr>
          <p:cNvSpPr txBox="1"/>
          <p:nvPr/>
        </p:nvSpPr>
        <p:spPr>
          <a:xfrm>
            <a:off x="436880" y="4337841"/>
            <a:ext cx="3088640" cy="2387833"/>
          </a:xfrm>
          <a:prstGeom prst="rect">
            <a:avLst/>
          </a:prstGeom>
          <a:noFill/>
        </p:spPr>
        <p:txBody>
          <a:bodyPr wrap="square">
            <a:spAutoFit/>
          </a:bodyPr>
          <a:lstStyle/>
          <a:p>
            <a:pPr algn="ctr">
              <a:lnSpc>
                <a:spcPts val="1800"/>
              </a:lnSpc>
              <a:spcBef>
                <a:spcPts val="750"/>
              </a:spcBef>
              <a:spcAft>
                <a:spcPts val="900"/>
              </a:spcAft>
            </a:pPr>
            <a:r>
              <a:rPr lang="en-US" b="1" dirty="0">
                <a:latin typeface="Times New Roman" panose="02020603050405020304" pitchFamily="18" charset="0"/>
                <a:cs typeface="Times New Roman" panose="02020603050405020304" pitchFamily="18" charset="0"/>
              </a:rPr>
              <a:t>Mobin Khan</a:t>
            </a:r>
          </a:p>
          <a:p>
            <a:pPr algn="ctr">
              <a:lnSpc>
                <a:spcPts val="1800"/>
              </a:lnSpc>
              <a:spcBef>
                <a:spcPts val="750"/>
              </a:spcBef>
              <a:spcAft>
                <a:spcPts val="900"/>
              </a:spcAft>
            </a:pPr>
            <a:r>
              <a:rPr lang="en-US" b="0" i="0" dirty="0">
                <a:effectLst/>
                <a:latin typeface="Times New Roman" panose="02020603050405020304" pitchFamily="18" charset="0"/>
                <a:cs typeface="Times New Roman" panose="02020603050405020304" pitchFamily="18" charset="0"/>
              </a:rPr>
              <a:t> Executive Director specializing in Cybersecurity, GRC &amp; Risk Advisory, with over 22 years of global experience, and a focus on cybersecurity compliance and resilience in the Middle East and KSA.</a:t>
            </a:r>
          </a:p>
        </p:txBody>
      </p:sp>
      <p:sp>
        <p:nvSpPr>
          <p:cNvPr id="11" name="TextBox 10">
            <a:extLst>
              <a:ext uri="{FF2B5EF4-FFF2-40B4-BE49-F238E27FC236}">
                <a16:creationId xmlns:a16="http://schemas.microsoft.com/office/drawing/2014/main" id="{CF0CACBE-8AAB-7E7A-35D8-25EAD3F449EB}"/>
              </a:ext>
            </a:extLst>
          </p:cNvPr>
          <p:cNvSpPr txBox="1"/>
          <p:nvPr/>
        </p:nvSpPr>
        <p:spPr>
          <a:xfrm>
            <a:off x="4210842" y="4410238"/>
            <a:ext cx="3312160" cy="1274516"/>
          </a:xfrm>
          <a:prstGeom prst="rect">
            <a:avLst/>
          </a:prstGeom>
          <a:noFill/>
        </p:spPr>
        <p:txBody>
          <a:bodyPr wrap="square">
            <a:spAutoFit/>
          </a:bodyPr>
          <a:lstStyle/>
          <a:p>
            <a:pPr algn="ctr">
              <a:lnSpc>
                <a:spcPts val="1800"/>
              </a:lnSpc>
              <a:spcBef>
                <a:spcPts val="750"/>
              </a:spcBef>
              <a:spcAft>
                <a:spcPts val="1200"/>
              </a:spcAft>
            </a:pPr>
            <a:r>
              <a:rPr lang="en-US" sz="2000" b="1" dirty="0">
                <a:latin typeface="Times New Roman" panose="02020603050405020304" pitchFamily="18" charset="0"/>
                <a:cs typeface="Times New Roman" panose="02020603050405020304" pitchFamily="18" charset="0"/>
              </a:rPr>
              <a:t>Dr. Mehreen Afzal</a:t>
            </a:r>
          </a:p>
          <a:p>
            <a:pPr algn="ctr">
              <a:lnSpc>
                <a:spcPts val="1800"/>
              </a:lnSpc>
              <a:spcBef>
                <a:spcPts val="750"/>
              </a:spcBef>
              <a:spcAft>
                <a:spcPts val="1200"/>
              </a:spcAft>
            </a:pPr>
            <a:r>
              <a:rPr lang="en-US" sz="2000" b="0" i="0" dirty="0">
                <a:effectLst/>
                <a:latin typeface="Times New Roman" panose="02020603050405020304" pitchFamily="18" charset="0"/>
                <a:cs typeface="Times New Roman" panose="02020603050405020304" pitchFamily="18" charset="0"/>
              </a:rPr>
              <a:t> A Director with GRC expertise and a PhD in Information Security. </a:t>
            </a:r>
          </a:p>
        </p:txBody>
      </p:sp>
      <p:pic>
        <p:nvPicPr>
          <p:cNvPr id="13" name="Picture 12">
            <a:extLst>
              <a:ext uri="{FF2B5EF4-FFF2-40B4-BE49-F238E27FC236}">
                <a16:creationId xmlns:a16="http://schemas.microsoft.com/office/drawing/2014/main" id="{6BDD68C2-5D84-B0EB-A352-B9E978411E9A}"/>
              </a:ext>
            </a:extLst>
          </p:cNvPr>
          <p:cNvPicPr>
            <a:picLocks noChangeAspect="1"/>
          </p:cNvPicPr>
          <p:nvPr/>
        </p:nvPicPr>
        <p:blipFill>
          <a:blip r:embed="rId3"/>
          <a:stretch>
            <a:fillRect/>
          </a:stretch>
        </p:blipFill>
        <p:spPr>
          <a:xfrm>
            <a:off x="5018086" y="1460789"/>
            <a:ext cx="1697673" cy="2733915"/>
          </a:xfrm>
          <a:prstGeom prst="rect">
            <a:avLst/>
          </a:prstGeom>
        </p:spPr>
      </p:pic>
      <p:pic>
        <p:nvPicPr>
          <p:cNvPr id="15" name="Picture 14">
            <a:extLst>
              <a:ext uri="{FF2B5EF4-FFF2-40B4-BE49-F238E27FC236}">
                <a16:creationId xmlns:a16="http://schemas.microsoft.com/office/drawing/2014/main" id="{D69ED85C-60D7-DF15-E47B-31435421A6F8}"/>
              </a:ext>
            </a:extLst>
          </p:cNvPr>
          <p:cNvPicPr>
            <a:picLocks noChangeAspect="1"/>
          </p:cNvPicPr>
          <p:nvPr/>
        </p:nvPicPr>
        <p:blipFill>
          <a:blip r:embed="rId4"/>
          <a:stretch>
            <a:fillRect/>
          </a:stretch>
        </p:blipFill>
        <p:spPr>
          <a:xfrm>
            <a:off x="8736647" y="1257213"/>
            <a:ext cx="1875475" cy="2937491"/>
          </a:xfrm>
          <a:prstGeom prst="rect">
            <a:avLst/>
          </a:prstGeom>
        </p:spPr>
      </p:pic>
      <p:sp>
        <p:nvSpPr>
          <p:cNvPr id="17" name="TextBox 16">
            <a:extLst>
              <a:ext uri="{FF2B5EF4-FFF2-40B4-BE49-F238E27FC236}">
                <a16:creationId xmlns:a16="http://schemas.microsoft.com/office/drawing/2014/main" id="{6A8B8DE7-92B5-604B-12A4-80A0F862CC8B}"/>
              </a:ext>
            </a:extLst>
          </p:cNvPr>
          <p:cNvSpPr txBox="1"/>
          <p:nvPr/>
        </p:nvSpPr>
        <p:spPr>
          <a:xfrm>
            <a:off x="8208324" y="4410238"/>
            <a:ext cx="2951002" cy="1736181"/>
          </a:xfrm>
          <a:prstGeom prst="rect">
            <a:avLst/>
          </a:prstGeom>
          <a:noFill/>
        </p:spPr>
        <p:txBody>
          <a:bodyPr wrap="square">
            <a:spAutoFit/>
          </a:bodyPr>
          <a:lstStyle/>
          <a:p>
            <a:pPr algn="ctr">
              <a:lnSpc>
                <a:spcPts val="1800"/>
              </a:lnSpc>
              <a:spcBef>
                <a:spcPts val="750"/>
              </a:spcBef>
              <a:spcAft>
                <a:spcPts val="1200"/>
              </a:spcAft>
            </a:pPr>
            <a:r>
              <a:rPr lang="en-US" sz="2000" b="1" dirty="0">
                <a:latin typeface="Times New Roman" panose="02020603050405020304" pitchFamily="18" charset="0"/>
                <a:cs typeface="Times New Roman" panose="02020603050405020304" pitchFamily="18" charset="0"/>
              </a:rPr>
              <a:t>Hafiz Asim Irfan</a:t>
            </a:r>
          </a:p>
          <a:p>
            <a:pPr algn="ctr">
              <a:lnSpc>
                <a:spcPts val="1800"/>
              </a:lnSpc>
              <a:spcBef>
                <a:spcPts val="750"/>
              </a:spcBef>
              <a:spcAft>
                <a:spcPts val="1200"/>
              </a:spcAft>
            </a:pPr>
            <a:r>
              <a:rPr lang="en-US" sz="2000" b="0" i="0" dirty="0">
                <a:effectLst/>
                <a:latin typeface="Times New Roman" panose="02020603050405020304" pitchFamily="18" charset="0"/>
                <a:cs typeface="Times New Roman" panose="02020603050405020304" pitchFamily="18" charset="0"/>
              </a:rPr>
              <a:t> A GRC Consultant with experience in helping fintech companies with security frameworks and compliance.</a:t>
            </a:r>
          </a:p>
        </p:txBody>
      </p:sp>
    </p:spTree>
    <p:extLst>
      <p:ext uri="{BB962C8B-B14F-4D97-AF65-F5344CB8AC3E}">
        <p14:creationId xmlns:p14="http://schemas.microsoft.com/office/powerpoint/2010/main" val="2708083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3487928" y="158850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640080" y="3429000"/>
            <a:ext cx="10535920" cy="369332"/>
          </a:xfrm>
          <a:prstGeom prst="rect">
            <a:avLst/>
          </a:prstGeom>
          <a:noFill/>
        </p:spPr>
        <p:txBody>
          <a:bodyPr wrap="square">
            <a:spAutoFit/>
          </a:bodyPr>
          <a:lstStyle/>
          <a:p>
            <a:pPr algn="ctr"/>
            <a:r>
              <a:rPr lang="en-US" dirty="0"/>
              <a:t>“Cybersecurity isn’t just about technology — it’s about awareness, responsibility, and teamwork”</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1997</TotalTime>
  <Words>1640</Words>
  <Application>Microsoft Office PowerPoint</Application>
  <PresentationFormat>Widescreen</PresentationFormat>
  <Paragraphs>177</Paragraphs>
  <Slides>21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Courier New</vt:lpstr>
      <vt:lpstr>Rockwell</vt:lpstr>
      <vt:lpstr>Rockwell Condensed</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1143</cp:revision>
  <dcterms:created xsi:type="dcterms:W3CDTF">2025-10-15T06:15:30Z</dcterms:created>
  <dcterms:modified xsi:type="dcterms:W3CDTF">2025-11-15T11:12:52Z</dcterms:modified>
</cp:coreProperties>
</file>