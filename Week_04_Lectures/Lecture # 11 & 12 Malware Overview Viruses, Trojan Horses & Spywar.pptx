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31"/>
  </p:notesMasterIdLst>
  <p:sldIdLst>
    <p:sldId id="256" r:id="rId2"/>
    <p:sldId id="261" r:id="rId3"/>
    <p:sldId id="349" r:id="rId4"/>
    <p:sldId id="351" r:id="rId5"/>
    <p:sldId id="368" r:id="rId6"/>
    <p:sldId id="369" r:id="rId7"/>
    <p:sldId id="352" r:id="rId8"/>
    <p:sldId id="367" r:id="rId9"/>
    <p:sldId id="371" r:id="rId10"/>
    <p:sldId id="372" r:id="rId11"/>
    <p:sldId id="379" r:id="rId12"/>
    <p:sldId id="380" r:id="rId13"/>
    <p:sldId id="384" r:id="rId14"/>
    <p:sldId id="385" r:id="rId15"/>
    <p:sldId id="386" r:id="rId16"/>
    <p:sldId id="387" r:id="rId17"/>
    <p:sldId id="381" r:id="rId18"/>
    <p:sldId id="383" r:id="rId19"/>
    <p:sldId id="389" r:id="rId20"/>
    <p:sldId id="390" r:id="rId21"/>
    <p:sldId id="392" r:id="rId22"/>
    <p:sldId id="391" r:id="rId23"/>
    <p:sldId id="393" r:id="rId24"/>
    <p:sldId id="394" r:id="rId25"/>
    <p:sldId id="395" r:id="rId26"/>
    <p:sldId id="396" r:id="rId27"/>
    <p:sldId id="397" r:id="rId28"/>
    <p:sldId id="398" r:id="rId29"/>
    <p:sldId id="266"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42" autoAdjust="0"/>
  </p:normalViewPr>
  <p:slideViewPr>
    <p:cSldViewPr snapToGrid="0">
      <p:cViewPr varScale="1">
        <p:scale>
          <a:sx n="63" d="100"/>
          <a:sy n="63" d="100"/>
        </p:scale>
        <p:origin x="8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BE7D3E-4D6D-4A9E-AA24-8E11DFA8298B}" type="datetimeFigureOut">
              <a:rPr lang="en-PK" smtClean="0"/>
              <a:t>15/11/2025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A406AE-9E8D-4B19-A8A6-37C9AB1FA076}" type="slidenum">
              <a:rPr lang="en-PK" smtClean="0"/>
              <a:t>‹#›</a:t>
            </a:fld>
            <a:endParaRPr lang="en-PK"/>
          </a:p>
        </p:txBody>
      </p:sp>
    </p:spTree>
    <p:extLst>
      <p:ext uri="{BB962C8B-B14F-4D97-AF65-F5344CB8AC3E}">
        <p14:creationId xmlns:p14="http://schemas.microsoft.com/office/powerpoint/2010/main" val="2438086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39A406AE-9E8D-4B19-A8A6-37C9AB1FA076}" type="slidenum">
              <a:rPr lang="en-PK" smtClean="0"/>
              <a:t>1</a:t>
            </a:fld>
            <a:endParaRPr lang="en-PK"/>
          </a:p>
        </p:txBody>
      </p:sp>
    </p:spTree>
    <p:extLst>
      <p:ext uri="{BB962C8B-B14F-4D97-AF65-F5344CB8AC3E}">
        <p14:creationId xmlns:p14="http://schemas.microsoft.com/office/powerpoint/2010/main" val="314128462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11/15/2025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11/15/2025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11/15/2025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11/15/2025</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11/15/2025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www.zenarmor.com/docs/network-security-tutorials/what-is-macro-virus" TargetMode="External"/><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www.avast.com/c-new-computer-viruses?utm_source=chatgpt.com" TargetMode="External"/><Relationship Id="rId2" Type="http://schemas.openxmlformats.org/officeDocument/2006/relationships/hyperlink" Target="https://blog.sivo.it.com/computer-malware/what-is-the-prominent-computer-virus-in-2024/?utm_source=chatgpt.com"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www.spykiller.com/" TargetMode="External"/><Relationship Id="rId2" Type="http://schemas.openxmlformats.org/officeDocument/2006/relationships/hyperlink" Target="http://www.webroot.com/" TargetMode="External"/><Relationship Id="rId1" Type="http://schemas.openxmlformats.org/officeDocument/2006/relationships/slideLayout" Target="../slideLayouts/slideLayout7.xml"/><Relationship Id="rId5" Type="http://schemas.openxmlformats.org/officeDocument/2006/relationships/hyperlink" Target="http://www.spectorsoft.com/" TargetMode="External"/><Relationship Id="rId4" Type="http://schemas.openxmlformats.org/officeDocument/2006/relationships/hyperlink" Target="http://www.zerospy.co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ECB6B-98B0-7DD3-973D-99D900F05140}"/>
              </a:ext>
            </a:extLst>
          </p:cNvPr>
          <p:cNvSpPr>
            <a:spLocks noGrp="1"/>
          </p:cNvSpPr>
          <p:nvPr>
            <p:ph type="ctrTitle"/>
          </p:nvPr>
        </p:nvSpPr>
        <p:spPr/>
        <p:txBody>
          <a:bodyPr/>
          <a:lstStyle/>
          <a:p>
            <a:pPr algn="ctr"/>
            <a:r>
              <a:rPr lang="en-US" sz="8000" b="1" dirty="0">
                <a:latin typeface="Times New Roman" panose="02020603050405020304" pitchFamily="18" charset="0"/>
                <a:cs typeface="Times New Roman" panose="02020603050405020304" pitchFamily="18" charset="0"/>
              </a:rPr>
              <a:t>Cyber Security</a:t>
            </a:r>
            <a:endParaRPr lang="en-PK" sz="8000" b="1" dirty="0">
              <a:latin typeface="Times New Roman" panose="020206030504050203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A4B46766-25E3-5BCC-FCFC-68333EE8C7DA}"/>
              </a:ext>
            </a:extLst>
          </p:cNvPr>
          <p:cNvSpPr txBox="1">
            <a:spLocks/>
          </p:cNvSpPr>
          <p:nvPr/>
        </p:nvSpPr>
        <p:spPr>
          <a:xfrm>
            <a:off x="1622044" y="4596213"/>
            <a:ext cx="8053832" cy="1273048"/>
          </a:xfrm>
          <a:prstGeom prst="rect">
            <a:avLst/>
          </a:prstGeom>
        </p:spPr>
        <p:txBody>
          <a:bodyPr vert="horz" lIns="91440" tIns="45720" rIns="91440" bIns="45720" rtlCol="0" anchor="ctr">
            <a:normAutofit fontScale="92500"/>
          </a:bodyPr>
          <a:lstStyle>
            <a:lvl1pPr algn="l" defTabSz="914400" rtl="0" eaLnBrk="1" latinLnBrk="0" hangingPunct="1">
              <a:lnSpc>
                <a:spcPct val="80000"/>
              </a:lnSpc>
              <a:spcBef>
                <a:spcPct val="0"/>
              </a:spcBef>
              <a:buNone/>
              <a:defRPr sz="9600" kern="1200" cap="all" baseline="0">
                <a:blipFill dpi="0" rotWithShape="1">
                  <a:blip r:embed="rId3"/>
                  <a:srcRect/>
                  <a:tile tx="6350" ty="-127000" sx="65000" sy="64000" flip="none" algn="tl"/>
                </a:blipFill>
                <a:latin typeface="+mj-lt"/>
                <a:ea typeface="+mj-ea"/>
                <a:cs typeface="+mj-cs"/>
              </a:defRPr>
            </a:lvl1pPr>
          </a:lstStyle>
          <a:p>
            <a:r>
              <a:rPr lang="en-US" sz="7200" b="1" dirty="0">
                <a:latin typeface="Times New Roman" panose="02020603050405020304" pitchFamily="18" charset="0"/>
                <a:cs typeface="Times New Roman" panose="02020603050405020304" pitchFamily="18" charset="0"/>
              </a:rPr>
              <a:t>Lecture # 11 &amp; 12</a:t>
            </a:r>
            <a:endParaRPr lang="en-PK" sz="7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7502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B506D-D8CE-6C1D-091D-252ED6579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51294-A245-19C5-6231-4502DD714494}"/>
              </a:ext>
            </a:extLst>
          </p:cNvPr>
          <p:cNvSpPr>
            <a:spLocks noGrp="1"/>
          </p:cNvSpPr>
          <p:nvPr>
            <p:ph type="title"/>
          </p:nvPr>
        </p:nvSpPr>
        <p:spPr>
          <a:xfrm>
            <a:off x="1425448" y="372692"/>
            <a:ext cx="8053832" cy="1273048"/>
          </a:xfrm>
        </p:spPr>
        <p:txBody>
          <a:bodyPr>
            <a:normAutofit/>
          </a:bodyPr>
          <a:lstStyle/>
          <a:p>
            <a:r>
              <a:rPr lang="en-US" b="1" dirty="0">
                <a:latin typeface="Times New Roman" panose="02020603050405020304" pitchFamily="18" charset="0"/>
                <a:cs typeface="Times New Roman" panose="02020603050405020304" pitchFamily="18" charset="0"/>
              </a:rPr>
              <a:t>Lecture Overview</a:t>
            </a:r>
            <a:endParaRPr lang="en-PK"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A32F36A-3A53-922C-C868-BF2D2A9357FE}"/>
              </a:ext>
            </a:extLst>
          </p:cNvPr>
          <p:cNvSpPr txBox="1"/>
          <p:nvPr/>
        </p:nvSpPr>
        <p:spPr>
          <a:xfrm>
            <a:off x="1425448" y="2042161"/>
            <a:ext cx="9750552" cy="3539430"/>
          </a:xfrm>
          <a:prstGeom prst="rect">
            <a:avLst/>
          </a:prstGeom>
          <a:noFill/>
        </p:spPr>
        <p:txBody>
          <a:bodyPr wrap="square">
            <a:spAutoFit/>
          </a:bodyPr>
          <a:lstStyle/>
          <a:p>
            <a:pPr marL="457200" lvl="0" indent="-457200" defTabSz="914400" eaLnBrk="0" fontAlgn="base" hangingPunct="0">
              <a:spcBef>
                <a:spcPct val="0"/>
              </a:spcBef>
              <a:spcAft>
                <a:spcPct val="0"/>
              </a:spcAft>
              <a:buFont typeface="Wingdings" panose="05000000000000000000" pitchFamily="2" charset="2"/>
              <a:buChar char="§"/>
            </a:pPr>
            <a:r>
              <a:rPr lang="en-PK" altLang="en-PK" sz="3200" b="1" dirty="0">
                <a:latin typeface="Times New Roman" panose="02020603050405020304" pitchFamily="18" charset="0"/>
                <a:cs typeface="Times New Roman" panose="02020603050405020304" pitchFamily="18" charset="0"/>
              </a:rPr>
              <a:t>Understanding Malware and Its Categories</a:t>
            </a:r>
            <a:endParaRPr lang="en-PK" altLang="en-PK" sz="3200" dirty="0">
              <a:latin typeface="Times New Roman" panose="02020603050405020304" pitchFamily="18" charset="0"/>
              <a:cs typeface="Times New Roman" panose="02020603050405020304" pitchFamily="18" charset="0"/>
            </a:endParaRPr>
          </a:p>
          <a:p>
            <a:pPr marL="457200" lvl="0" indent="-457200" defTabSz="914400" eaLnBrk="0" fontAlgn="base" hangingPunct="0">
              <a:spcBef>
                <a:spcPct val="0"/>
              </a:spcBef>
              <a:spcAft>
                <a:spcPct val="0"/>
              </a:spcAft>
              <a:buFont typeface="Wingdings" panose="05000000000000000000" pitchFamily="2" charset="2"/>
              <a:buChar char="§"/>
            </a:pPr>
            <a:r>
              <a:rPr lang="en-PK" altLang="en-PK" sz="3200" b="1" dirty="0">
                <a:latin typeface="Times New Roman" panose="02020603050405020304" pitchFamily="18" charset="0"/>
                <a:cs typeface="Times New Roman" panose="02020603050405020304" pitchFamily="18" charset="0"/>
              </a:rPr>
              <a:t>Malware Essentials: Viruses, Trojans, and Spyware</a:t>
            </a:r>
            <a:endParaRPr lang="en-PK" altLang="en-PK" sz="3200" dirty="0">
              <a:latin typeface="Times New Roman" panose="02020603050405020304" pitchFamily="18" charset="0"/>
              <a:cs typeface="Times New Roman" panose="02020603050405020304" pitchFamily="18" charset="0"/>
            </a:endParaRPr>
          </a:p>
          <a:p>
            <a:pPr marL="457200" lvl="0" indent="-457200" defTabSz="914400" eaLnBrk="0" fontAlgn="base" hangingPunct="0">
              <a:spcBef>
                <a:spcPct val="0"/>
              </a:spcBef>
              <a:spcAft>
                <a:spcPct val="0"/>
              </a:spcAft>
              <a:buFont typeface="Wingdings" panose="05000000000000000000" pitchFamily="2" charset="2"/>
              <a:buChar char="§"/>
            </a:pPr>
            <a:r>
              <a:rPr lang="en-PK" altLang="en-PK" sz="3200" b="1" dirty="0">
                <a:latin typeface="Times New Roman" panose="02020603050405020304" pitchFamily="18" charset="0"/>
                <a:cs typeface="Times New Roman" panose="02020603050405020304" pitchFamily="18" charset="0"/>
              </a:rPr>
              <a:t>Introduction to Malware: Types and Threats</a:t>
            </a:r>
            <a:endParaRPr lang="en-PK" altLang="en-PK" sz="3200" dirty="0">
              <a:latin typeface="Times New Roman" panose="02020603050405020304" pitchFamily="18" charset="0"/>
              <a:cs typeface="Times New Roman" panose="02020603050405020304" pitchFamily="18" charset="0"/>
            </a:endParaRPr>
          </a:p>
          <a:p>
            <a:pPr marL="457200" lvl="0" indent="-457200" defTabSz="914400" eaLnBrk="0" fontAlgn="base" hangingPunct="0">
              <a:spcBef>
                <a:spcPct val="0"/>
              </a:spcBef>
              <a:spcAft>
                <a:spcPct val="0"/>
              </a:spcAft>
              <a:buFont typeface="Wingdings" panose="05000000000000000000" pitchFamily="2" charset="2"/>
              <a:buChar char="§"/>
            </a:pPr>
            <a:r>
              <a:rPr lang="en-PK" altLang="en-PK" sz="3200" b="1" dirty="0">
                <a:latin typeface="Times New Roman" panose="02020603050405020304" pitchFamily="18" charset="0"/>
                <a:cs typeface="Times New Roman" panose="02020603050405020304" pitchFamily="18" charset="0"/>
              </a:rPr>
              <a:t>Malware &amp; Overlapping Categories: Viruses, Trojans, Spyware</a:t>
            </a:r>
            <a:endParaRPr lang="en-PK" altLang="en-PK" sz="3200" dirty="0">
              <a:latin typeface="Times New Roman" panose="02020603050405020304" pitchFamily="18" charset="0"/>
              <a:cs typeface="Times New Roman" panose="02020603050405020304" pitchFamily="18" charset="0"/>
            </a:endParaRPr>
          </a:p>
          <a:p>
            <a:pPr marL="457200" lvl="0" indent="-457200" defTabSz="914400" eaLnBrk="0" fontAlgn="base" hangingPunct="0">
              <a:spcBef>
                <a:spcPct val="0"/>
              </a:spcBef>
              <a:spcAft>
                <a:spcPct val="0"/>
              </a:spcAft>
              <a:buFont typeface="Wingdings" panose="05000000000000000000" pitchFamily="2" charset="2"/>
              <a:buChar char="§"/>
            </a:pPr>
            <a:r>
              <a:rPr lang="en-PK" altLang="en-PK" sz="3200" b="1" dirty="0">
                <a:latin typeface="Times New Roman" panose="02020603050405020304" pitchFamily="18" charset="0"/>
                <a:cs typeface="Times New Roman" panose="02020603050405020304" pitchFamily="18" charset="0"/>
              </a:rPr>
              <a:t>Cyber Threats: Malware Types and Their </a:t>
            </a:r>
            <a:r>
              <a:rPr lang="en-PK" altLang="en-PK" sz="3200" b="1" dirty="0" err="1">
                <a:latin typeface="Times New Roman" panose="02020603050405020304" pitchFamily="18" charset="0"/>
                <a:cs typeface="Times New Roman" panose="02020603050405020304" pitchFamily="18" charset="0"/>
              </a:rPr>
              <a:t>Behaviors</a:t>
            </a:r>
            <a:endParaRPr lang="en-PK" altLang="en-PK" sz="3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2067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10B2F0-00F2-490A-BDAC-0BCB912C36EF}"/>
              </a:ext>
            </a:extLst>
          </p:cNvPr>
          <p:cNvSpPr txBox="1"/>
          <p:nvPr/>
        </p:nvSpPr>
        <p:spPr>
          <a:xfrm>
            <a:off x="2580640" y="233631"/>
            <a:ext cx="6096000" cy="830997"/>
          </a:xfrm>
          <a:prstGeom prst="rect">
            <a:avLst/>
          </a:prstGeom>
          <a:noFill/>
        </p:spPr>
        <p:txBody>
          <a:bodyPr wrap="square">
            <a:spAutoFit/>
          </a:bodyPr>
          <a:lstStyle/>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Malware </a:t>
            </a:r>
          </a:p>
        </p:txBody>
      </p:sp>
      <p:sp>
        <p:nvSpPr>
          <p:cNvPr id="3" name="Rectangle 1">
            <a:extLst>
              <a:ext uri="{FF2B5EF4-FFF2-40B4-BE49-F238E27FC236}">
                <a16:creationId xmlns:a16="http://schemas.microsoft.com/office/drawing/2014/main" id="{BA14DCA8-C30D-FBF2-C808-43ECA7E91C4C}"/>
              </a:ext>
            </a:extLst>
          </p:cNvPr>
          <p:cNvSpPr>
            <a:spLocks noChangeArrowheads="1"/>
          </p:cNvSpPr>
          <p:nvPr/>
        </p:nvSpPr>
        <p:spPr bwMode="auto">
          <a:xfrm>
            <a:off x="386080" y="1359654"/>
            <a:ext cx="11033760" cy="2633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1F4543C1-C4BB-FB03-9702-E88A84B7D31C}"/>
              </a:ext>
            </a:extLst>
          </p:cNvPr>
          <p:cNvSpPr txBox="1"/>
          <p:nvPr/>
        </p:nvSpPr>
        <p:spPr>
          <a:xfrm>
            <a:off x="772160" y="1361390"/>
            <a:ext cx="10535920" cy="5293757"/>
          </a:xfrm>
          <a:prstGeom prst="rect">
            <a:avLst/>
          </a:prstGeom>
          <a:noFill/>
        </p:spPr>
        <p:txBody>
          <a:bodyPr wrap="square">
            <a:spAutoFit/>
          </a:bodyPr>
          <a:lstStyle/>
          <a:p>
            <a:pPr marL="457200" lvl="0" indent="-457200" algn="just" defTabSz="914400" eaLnBrk="0" fontAlgn="base" hangingPunct="0">
              <a:spcBef>
                <a:spcPct val="0"/>
              </a:spcBef>
              <a:spcAft>
                <a:spcPct val="0"/>
              </a:spcAft>
              <a:buFont typeface="Wingdings" panose="05000000000000000000" pitchFamily="2" charset="2"/>
              <a:buChar char="§"/>
            </a:pPr>
            <a:r>
              <a:rPr lang="en-US" sz="2600" b="1" dirty="0">
                <a:latin typeface="Times New Roman" panose="02020603050405020304" pitchFamily="18" charset="0"/>
                <a:cs typeface="Times New Roman" panose="02020603050405020304" pitchFamily="18" charset="0"/>
              </a:rPr>
              <a:t>Malware</a:t>
            </a:r>
            <a:r>
              <a:rPr lang="en-US" sz="2600" dirty="0">
                <a:latin typeface="Times New Roman" panose="02020603050405020304" pitchFamily="18" charset="0"/>
                <a:cs typeface="Times New Roman" panose="02020603050405020304" pitchFamily="18" charset="0"/>
              </a:rPr>
              <a:t>, short for </a:t>
            </a:r>
            <a:r>
              <a:rPr lang="en-US" sz="2600" b="1" dirty="0">
                <a:latin typeface="Times New Roman" panose="02020603050405020304" pitchFamily="18" charset="0"/>
                <a:cs typeface="Times New Roman" panose="02020603050405020304" pitchFamily="18" charset="0"/>
              </a:rPr>
              <a:t>malicious software</a:t>
            </a:r>
            <a:r>
              <a:rPr lang="en-US" sz="2600" dirty="0">
                <a:latin typeface="Times New Roman" panose="02020603050405020304" pitchFamily="18" charset="0"/>
                <a:cs typeface="Times New Roman" panose="02020603050405020304" pitchFamily="18" charset="0"/>
              </a:rPr>
              <a:t>, refers to any intrusive software developed by cybercriminals (often called hackers) to steal data and damage or destroy computers and computer systems.</a:t>
            </a:r>
          </a:p>
          <a:p>
            <a:pPr marL="457200" lvl="0" indent="-457200" algn="just" defTabSz="914400" eaLnBrk="0" fontAlgn="base" hangingPunct="0">
              <a:spcBef>
                <a:spcPct val="0"/>
              </a:spcBef>
              <a:spcAft>
                <a:spcPct val="0"/>
              </a:spcAft>
              <a:buFont typeface="Wingdings" panose="05000000000000000000" pitchFamily="2" charset="2"/>
              <a:buChar char="§"/>
            </a:pPr>
            <a:r>
              <a:rPr lang="en-US" sz="2600" b="1" dirty="0">
                <a:latin typeface="Times New Roman" panose="02020603050405020304" pitchFamily="18" charset="0"/>
                <a:cs typeface="Times New Roman" panose="02020603050405020304" pitchFamily="18" charset="0"/>
              </a:rPr>
              <a:t>Malware</a:t>
            </a:r>
            <a:r>
              <a:rPr lang="en-US" sz="2600" dirty="0">
                <a:latin typeface="Times New Roman" panose="02020603050405020304" pitchFamily="18" charset="0"/>
                <a:cs typeface="Times New Roman" panose="02020603050405020304" pitchFamily="18" charset="0"/>
              </a:rPr>
              <a:t> is developed as harmful software that invades or corrupts your computer network. </a:t>
            </a:r>
          </a:p>
          <a:p>
            <a:pPr marL="457200" lvl="0" indent="-457200" algn="just" defTabSz="914400" eaLnBrk="0" fontAlgn="base" hangingPunct="0">
              <a:spcBef>
                <a:spcPct val="0"/>
              </a:spcBef>
              <a:spcAft>
                <a:spcPct val="0"/>
              </a:spcAft>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The </a:t>
            </a:r>
            <a:r>
              <a:rPr lang="en-US" sz="2600" b="1" dirty="0">
                <a:latin typeface="Times New Roman" panose="02020603050405020304" pitchFamily="18" charset="0"/>
                <a:cs typeface="Times New Roman" panose="02020603050405020304" pitchFamily="18" charset="0"/>
              </a:rPr>
              <a:t>goal of malware </a:t>
            </a:r>
            <a:r>
              <a:rPr lang="en-US" sz="2600" dirty="0">
                <a:latin typeface="Times New Roman" panose="02020603050405020304" pitchFamily="18" charset="0"/>
                <a:cs typeface="Times New Roman" panose="02020603050405020304" pitchFamily="18" charset="0"/>
              </a:rPr>
              <a:t>is to cause havoc and steal information or resources for monetary gain or sheer sabotage intent. </a:t>
            </a:r>
          </a:p>
          <a:p>
            <a:pPr marL="457200" lvl="0" indent="-457200" algn="just" defTabSz="914400" eaLnBrk="0" fontAlgn="base" hangingPunct="0">
              <a:spcBef>
                <a:spcPct val="0"/>
              </a:spcBef>
              <a:spcAft>
                <a:spcPct val="0"/>
              </a:spcAft>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It can</a:t>
            </a:r>
            <a:r>
              <a:rPr lang="en-US" sz="2600" b="1" dirty="0">
                <a:latin typeface="Times New Roman" panose="02020603050405020304" pitchFamily="18" charset="0"/>
                <a:cs typeface="Times New Roman" panose="02020603050405020304" pitchFamily="18" charset="0"/>
              </a:rPr>
              <a:t> spread </a:t>
            </a:r>
            <a:r>
              <a:rPr lang="en-US" sz="2600" dirty="0">
                <a:latin typeface="Times New Roman" panose="02020603050405020304" pitchFamily="18" charset="0"/>
                <a:cs typeface="Times New Roman" panose="02020603050405020304" pitchFamily="18" charset="0"/>
              </a:rPr>
              <a:t>through various channels, including </a:t>
            </a:r>
            <a:r>
              <a:rPr lang="en-US" sz="2600" b="1" dirty="0">
                <a:latin typeface="Times New Roman" panose="02020603050405020304" pitchFamily="18" charset="0"/>
                <a:cs typeface="Times New Roman" panose="02020603050405020304" pitchFamily="18" charset="0"/>
              </a:rPr>
              <a:t>phishing emails, malicious websites, infected downloads, and unpatched software vulnerabilities</a:t>
            </a:r>
            <a:r>
              <a:rPr lang="en-US" sz="2600" dirty="0">
                <a:latin typeface="Times New Roman" panose="02020603050405020304" pitchFamily="18" charset="0"/>
                <a:cs typeface="Times New Roman" panose="02020603050405020304" pitchFamily="18" charset="0"/>
              </a:rPr>
              <a:t>. </a:t>
            </a:r>
          </a:p>
          <a:p>
            <a:pPr marL="457200" lvl="0" indent="-457200" algn="just" defTabSz="914400" eaLnBrk="0" fontAlgn="base" hangingPunct="0">
              <a:spcBef>
                <a:spcPct val="0"/>
              </a:spcBef>
              <a:spcAft>
                <a:spcPct val="0"/>
              </a:spcAft>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Once inside a system, it can steal data, alter functions, or lock users out of their devices and data. </a:t>
            </a:r>
          </a:p>
          <a:p>
            <a:pPr algn="just"/>
            <a:endParaRPr kumimoji="0" lang="en-PK" altLang="en-PK"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7516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401AAD3-5D36-717B-ABEA-0927840D49CB}"/>
              </a:ext>
            </a:extLst>
          </p:cNvPr>
          <p:cNvSpPr txBox="1"/>
          <p:nvPr/>
        </p:nvSpPr>
        <p:spPr>
          <a:xfrm>
            <a:off x="1066800" y="328414"/>
            <a:ext cx="9453880" cy="646331"/>
          </a:xfrm>
          <a:prstGeom prst="rect">
            <a:avLst/>
          </a:prstGeom>
          <a:noFill/>
        </p:spPr>
        <p:txBody>
          <a:bodyPr wrap="square">
            <a:spAutoFit/>
          </a:bodyPr>
          <a:lstStyle/>
          <a:p>
            <a:pPr algn="ctr"/>
            <a:r>
              <a:rPr lang="en-PK" altLang="en-PK"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Overlapping Categories</a:t>
            </a:r>
            <a:endPar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5991F033-62EB-898A-9826-BAEDA52C7579}"/>
              </a:ext>
            </a:extLst>
          </p:cNvPr>
          <p:cNvSpPr txBox="1"/>
          <p:nvPr/>
        </p:nvSpPr>
        <p:spPr>
          <a:xfrm>
            <a:off x="914400" y="1440656"/>
            <a:ext cx="10109200" cy="4893647"/>
          </a:xfrm>
          <a:prstGeom prst="rect">
            <a:avLst/>
          </a:prstGeom>
          <a:noFill/>
        </p:spPr>
        <p:txBody>
          <a:bodyPr wrap="square">
            <a:spAutoFit/>
          </a:bodyPr>
          <a:lstStyle/>
          <a:p>
            <a:pPr lvl="0" defTabSz="914400" eaLnBrk="0" fontAlgn="base" hangingPunct="0">
              <a:spcBef>
                <a:spcPct val="0"/>
              </a:spcBef>
              <a:spcAft>
                <a:spcPct val="0"/>
              </a:spcAft>
            </a:pPr>
            <a:r>
              <a:rPr lang="en-PK" altLang="en-PK" sz="2600" b="1" dirty="0">
                <a:latin typeface="Times New Roman" panose="02020603050405020304" pitchFamily="18" charset="0"/>
                <a:cs typeface="Times New Roman" panose="02020603050405020304" pitchFamily="18" charset="0"/>
              </a:rPr>
              <a:t>1. Real-world malware often combines multiple types</a:t>
            </a:r>
            <a:r>
              <a:rPr lang="en-PK" altLang="en-PK" sz="2600" dirty="0">
                <a:latin typeface="Times New Roman" panose="02020603050405020304" pitchFamily="18" charset="0"/>
                <a:cs typeface="Times New Roman" panose="02020603050405020304" pitchFamily="18" charset="0"/>
              </a:rPr>
              <a:t>.</a:t>
            </a:r>
          </a:p>
          <a:p>
            <a:pPr lvl="0" defTabSz="914400" eaLnBrk="0" fontAlgn="base" hangingPunct="0">
              <a:spcBef>
                <a:spcPct val="0"/>
              </a:spcBef>
              <a:spcAft>
                <a:spcPct val="0"/>
              </a:spcAft>
            </a:pPr>
            <a:r>
              <a:rPr lang="en-PK" altLang="en-PK" sz="2600" dirty="0">
                <a:latin typeface="Times New Roman" panose="02020603050405020304" pitchFamily="18" charset="0"/>
                <a:cs typeface="Times New Roman" panose="02020603050405020304" pitchFamily="18" charset="0"/>
              </a:rPr>
              <a:t>Example: A single malware may act as</a:t>
            </a:r>
          </a:p>
          <a:p>
            <a:pPr marL="800100" lvl="1" indent="-342900" defTabSz="914400" eaLnBrk="0" fontAlgn="base" hangingPunct="0">
              <a:spcBef>
                <a:spcPct val="0"/>
              </a:spcBef>
              <a:spcAft>
                <a:spcPct val="0"/>
              </a:spcAft>
              <a:buFont typeface="Wingdings" panose="05000000000000000000" pitchFamily="2" charset="2"/>
              <a:buChar char="ü"/>
            </a:pPr>
            <a:r>
              <a:rPr lang="en-PK" altLang="en-PK" sz="2600" dirty="0">
                <a:latin typeface="Times New Roman" panose="02020603050405020304" pitchFamily="18" charset="0"/>
                <a:cs typeface="Times New Roman" panose="02020603050405020304" pitchFamily="18" charset="0"/>
              </a:rPr>
              <a:t>A </a:t>
            </a:r>
            <a:r>
              <a:rPr lang="en-PK" altLang="en-PK" sz="2600" b="1" dirty="0">
                <a:latin typeface="Times New Roman" panose="02020603050405020304" pitchFamily="18" charset="0"/>
                <a:cs typeface="Times New Roman" panose="02020603050405020304" pitchFamily="18" charset="0"/>
              </a:rPr>
              <a:t>virus</a:t>
            </a:r>
            <a:r>
              <a:rPr lang="en-PK" altLang="en-PK" sz="2600" dirty="0">
                <a:latin typeface="Times New Roman" panose="02020603050405020304" pitchFamily="18" charset="0"/>
                <a:cs typeface="Times New Roman" panose="02020603050405020304" pitchFamily="18" charset="0"/>
              </a:rPr>
              <a:t> (self-replicating),</a:t>
            </a:r>
          </a:p>
          <a:p>
            <a:pPr marL="800100" lvl="1" indent="-342900" defTabSz="914400" eaLnBrk="0" fontAlgn="base" hangingPunct="0">
              <a:spcBef>
                <a:spcPct val="0"/>
              </a:spcBef>
              <a:spcAft>
                <a:spcPct val="0"/>
              </a:spcAft>
              <a:buFont typeface="Wingdings" panose="05000000000000000000" pitchFamily="2" charset="2"/>
              <a:buChar char="ü"/>
            </a:pPr>
            <a:r>
              <a:rPr lang="en-PK" altLang="en-PK" sz="2600" b="1" dirty="0">
                <a:latin typeface="Times New Roman" panose="02020603050405020304" pitchFamily="18" charset="0"/>
                <a:cs typeface="Times New Roman" panose="02020603050405020304" pitchFamily="18" charset="0"/>
              </a:rPr>
              <a:t>Spyware</a:t>
            </a:r>
            <a:r>
              <a:rPr lang="en-PK" altLang="en-PK" sz="2600" dirty="0">
                <a:latin typeface="Times New Roman" panose="02020603050405020304" pitchFamily="18" charset="0"/>
                <a:cs typeface="Times New Roman" panose="02020603050405020304" pitchFamily="18" charset="0"/>
              </a:rPr>
              <a:t> (stealing user data), and</a:t>
            </a:r>
          </a:p>
          <a:p>
            <a:pPr marL="800100" lvl="1" indent="-342900" defTabSz="914400" eaLnBrk="0" fontAlgn="base" hangingPunct="0">
              <a:spcBef>
                <a:spcPct val="0"/>
              </a:spcBef>
              <a:spcAft>
                <a:spcPct val="0"/>
              </a:spcAft>
              <a:buFont typeface="Wingdings" panose="05000000000000000000" pitchFamily="2" charset="2"/>
              <a:buChar char="ü"/>
            </a:pPr>
            <a:r>
              <a:rPr lang="en-PK" altLang="en-PK" sz="2600" dirty="0">
                <a:latin typeface="Times New Roman" panose="02020603050405020304" pitchFamily="18" charset="0"/>
                <a:cs typeface="Times New Roman" panose="02020603050405020304" pitchFamily="18" charset="0"/>
              </a:rPr>
              <a:t>A </a:t>
            </a:r>
            <a:r>
              <a:rPr lang="en-PK" altLang="en-PK" sz="2600" b="1" dirty="0">
                <a:latin typeface="Times New Roman" panose="02020603050405020304" pitchFamily="18" charset="0"/>
                <a:cs typeface="Times New Roman" panose="02020603050405020304" pitchFamily="18" charset="0"/>
              </a:rPr>
              <a:t>DoS tool</a:t>
            </a:r>
            <a:r>
              <a:rPr lang="en-PK" altLang="en-PK" sz="2600" dirty="0">
                <a:latin typeface="Times New Roman" panose="02020603050405020304" pitchFamily="18" charset="0"/>
                <a:cs typeface="Times New Roman" panose="02020603050405020304" pitchFamily="18" charset="0"/>
              </a:rPr>
              <a:t> (used for attacks).</a:t>
            </a:r>
          </a:p>
          <a:p>
            <a:pPr lvl="0" defTabSz="914400" eaLnBrk="0" fontAlgn="base" hangingPunct="0">
              <a:spcBef>
                <a:spcPct val="0"/>
              </a:spcBef>
              <a:spcAft>
                <a:spcPct val="0"/>
              </a:spcAft>
            </a:pPr>
            <a:r>
              <a:rPr lang="en-PK" altLang="en-PK" sz="2600" dirty="0">
                <a:latin typeface="Times New Roman" panose="02020603050405020304" pitchFamily="18" charset="0"/>
                <a:cs typeface="Times New Roman" panose="02020603050405020304" pitchFamily="18" charset="0"/>
              </a:rPr>
              <a:t>Therefore, malware is not always confined to one specific category.</a:t>
            </a:r>
            <a:endParaRPr lang="en-US" altLang="en-PK" sz="26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endParaRPr lang="en-PK" altLang="en-PK" sz="26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PK" altLang="en-PK" sz="2600" b="1" dirty="0">
                <a:latin typeface="Times New Roman" panose="02020603050405020304" pitchFamily="18" charset="0"/>
                <a:cs typeface="Times New Roman" panose="02020603050405020304" pitchFamily="18" charset="0"/>
              </a:rPr>
              <a:t>2. Dynamic Nature of Malware:</a:t>
            </a:r>
            <a:endParaRPr lang="en-PK" altLang="en-PK" sz="2600" dirty="0">
              <a:latin typeface="Times New Roman" panose="02020603050405020304" pitchFamily="18" charset="0"/>
              <a:cs typeface="Times New Roman" panose="02020603050405020304" pitchFamily="18" charset="0"/>
            </a:endParaRPr>
          </a:p>
          <a:p>
            <a:pPr marL="800100" lvl="1" indent="-342900" defTabSz="914400" eaLnBrk="0" fontAlgn="base" hangingPunct="0">
              <a:spcBef>
                <a:spcPct val="0"/>
              </a:spcBef>
              <a:spcAft>
                <a:spcPct val="0"/>
              </a:spcAft>
              <a:buFont typeface="Wingdings" panose="05000000000000000000" pitchFamily="2" charset="2"/>
              <a:buChar char="ü"/>
            </a:pPr>
            <a:r>
              <a:rPr lang="en-PK" altLang="en-PK" sz="2600" dirty="0">
                <a:latin typeface="Times New Roman" panose="02020603050405020304" pitchFamily="18" charset="0"/>
                <a:cs typeface="Times New Roman" panose="02020603050405020304" pitchFamily="18" charset="0"/>
              </a:rPr>
              <a:t>The malware landscape changes </a:t>
            </a:r>
            <a:r>
              <a:rPr lang="en-PK" altLang="en-PK" sz="2600" b="1" dirty="0">
                <a:latin typeface="Times New Roman" panose="02020603050405020304" pitchFamily="18" charset="0"/>
                <a:cs typeface="Times New Roman" panose="02020603050405020304" pitchFamily="18" charset="0"/>
              </a:rPr>
              <a:t>rapidly</a:t>
            </a:r>
            <a:r>
              <a:rPr lang="en-PK" altLang="en-PK" sz="2600" dirty="0">
                <a:latin typeface="Times New Roman" panose="02020603050405020304" pitchFamily="18" charset="0"/>
                <a:cs typeface="Times New Roman" panose="02020603050405020304" pitchFamily="18" charset="0"/>
              </a:rPr>
              <a:t>.</a:t>
            </a:r>
          </a:p>
          <a:p>
            <a:pPr marL="800100" lvl="1" indent="-342900" defTabSz="914400" eaLnBrk="0" fontAlgn="base" hangingPunct="0">
              <a:spcBef>
                <a:spcPct val="0"/>
              </a:spcBef>
              <a:spcAft>
                <a:spcPct val="0"/>
              </a:spcAft>
              <a:buFont typeface="Wingdings" panose="05000000000000000000" pitchFamily="2" charset="2"/>
              <a:buChar char="ü"/>
            </a:pPr>
            <a:r>
              <a:rPr lang="en-PK" altLang="en-PK" sz="2600" dirty="0">
                <a:latin typeface="Times New Roman" panose="02020603050405020304" pitchFamily="18" charset="0"/>
                <a:cs typeface="Times New Roman" panose="02020603050405020304" pitchFamily="18" charset="0"/>
              </a:rPr>
              <a:t>New variants appear frequently with evolving attack methods.</a:t>
            </a:r>
          </a:p>
          <a:p>
            <a:pPr marL="800100" lvl="1" indent="-342900" defTabSz="914400" eaLnBrk="0" fontAlgn="base" hangingPunct="0">
              <a:spcBef>
                <a:spcPct val="0"/>
              </a:spcBef>
              <a:spcAft>
                <a:spcPct val="0"/>
              </a:spcAft>
              <a:buFont typeface="Wingdings" panose="05000000000000000000" pitchFamily="2" charset="2"/>
              <a:buChar char="ü"/>
            </a:pPr>
            <a:r>
              <a:rPr lang="en-PK" altLang="en-PK" sz="2600" dirty="0">
                <a:latin typeface="Times New Roman" panose="02020603050405020304" pitchFamily="18" charset="0"/>
                <a:cs typeface="Times New Roman" panose="02020603050405020304" pitchFamily="18" charset="0"/>
              </a:rPr>
              <a:t>Continuous learning and staying updated are </a:t>
            </a:r>
            <a:r>
              <a:rPr lang="en-PK" altLang="en-PK" sz="2600" b="1" dirty="0">
                <a:latin typeface="Times New Roman" panose="02020603050405020304" pitchFamily="18" charset="0"/>
                <a:cs typeface="Times New Roman" panose="02020603050405020304" pitchFamily="18" charset="0"/>
              </a:rPr>
              <a:t>essential</a:t>
            </a:r>
            <a:r>
              <a:rPr lang="en-PK" altLang="en-PK" sz="2600" dirty="0">
                <a:latin typeface="Times New Roman" panose="02020603050405020304" pitchFamily="18" charset="0"/>
                <a:cs typeface="Times New Roman" panose="02020603050405020304" pitchFamily="18" charset="0"/>
              </a:rPr>
              <a:t> to understanding current threats</a:t>
            </a:r>
            <a:r>
              <a:rPr lang="en-US" altLang="en-PK" sz="2600" dirty="0">
                <a:latin typeface="Times New Roman" panose="02020603050405020304" pitchFamily="18" charset="0"/>
                <a:cs typeface="Times New Roman" panose="02020603050405020304" pitchFamily="18" charset="0"/>
              </a:rPr>
              <a:t>.</a:t>
            </a:r>
            <a:endParaRPr lang="en-PK"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9635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0DBA53-5762-68D2-80B8-1975886AA1E5}"/>
              </a:ext>
            </a:extLst>
          </p:cNvPr>
          <p:cNvSpPr txBox="1"/>
          <p:nvPr/>
        </p:nvSpPr>
        <p:spPr>
          <a:xfrm>
            <a:off x="1066800" y="545986"/>
            <a:ext cx="9453880" cy="707886"/>
          </a:xfrm>
          <a:prstGeom prst="rect">
            <a:avLst/>
          </a:prstGeom>
          <a:noFill/>
        </p:spPr>
        <p:txBody>
          <a:bodyPr wrap="square">
            <a:spAutoFit/>
          </a:bodyPr>
          <a:lstStyle/>
          <a:p>
            <a:pPr algn="ctr"/>
            <a:r>
              <a:rPr lang="en-US" altLang="en-PK"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Types of  </a:t>
            </a: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Malware (Main Category)</a:t>
            </a:r>
          </a:p>
        </p:txBody>
      </p:sp>
      <p:sp>
        <p:nvSpPr>
          <p:cNvPr id="3" name="Rectangle 1">
            <a:extLst>
              <a:ext uri="{FF2B5EF4-FFF2-40B4-BE49-F238E27FC236}">
                <a16:creationId xmlns:a16="http://schemas.microsoft.com/office/drawing/2014/main" id="{228D46AA-D582-384C-9AE7-709AA915FF76}"/>
              </a:ext>
            </a:extLst>
          </p:cNvPr>
          <p:cNvSpPr>
            <a:spLocks noChangeArrowheads="1"/>
          </p:cNvSpPr>
          <p:nvPr/>
        </p:nvSpPr>
        <p:spPr bwMode="auto">
          <a:xfrm>
            <a:off x="193040" y="2721094"/>
            <a:ext cx="9367520" cy="2369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DFC851E7-6607-24A5-5BE4-8CE2F0BE510F}"/>
              </a:ext>
            </a:extLst>
          </p:cNvPr>
          <p:cNvSpPr txBox="1"/>
          <p:nvPr/>
        </p:nvSpPr>
        <p:spPr>
          <a:xfrm>
            <a:off x="855980" y="1742946"/>
            <a:ext cx="10480040" cy="3970318"/>
          </a:xfrm>
          <a:prstGeom prst="rect">
            <a:avLst/>
          </a:prstGeom>
          <a:noFill/>
        </p:spPr>
        <p:txBody>
          <a:bodyPr wrap="square">
            <a:spAutoFit/>
          </a:bodyPr>
          <a:lstStyle/>
          <a:p>
            <a:pPr marL="457200" lvl="0" indent="-457200" defTabSz="914400" eaLnBrk="0" fontAlgn="base" hangingPunct="0">
              <a:spcBef>
                <a:spcPct val="0"/>
              </a:spcBef>
              <a:spcAft>
                <a:spcPct val="0"/>
              </a:spcAft>
              <a:buFont typeface="Wingdings" panose="05000000000000000000" pitchFamily="2" charset="2"/>
              <a:buChar char="§"/>
            </a:pPr>
            <a:r>
              <a:rPr kumimoji="0" lang="en-PK" altLang="en-PK"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Viruses</a:t>
            </a:r>
            <a:r>
              <a:rPr kumimoji="0" lang="en-US" altLang="en-PK"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lang="en-US" sz="2800" dirty="0">
                <a:latin typeface="Times New Roman" panose="02020603050405020304" pitchFamily="18" charset="0"/>
                <a:cs typeface="Times New Roman" panose="02020603050405020304" pitchFamily="18" charset="0"/>
              </a:rPr>
              <a:t>Can disrupt operations and cause data loss.</a:t>
            </a:r>
            <a:endParaRPr kumimoji="0" lang="en-PK" altLang="en-PK"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0" indent="-457200" defTabSz="914400" eaLnBrk="0" fontAlgn="base" hangingPunct="0">
              <a:spcBef>
                <a:spcPct val="0"/>
              </a:spcBef>
              <a:spcAft>
                <a:spcPct val="0"/>
              </a:spcAft>
              <a:buFont typeface="Wingdings" panose="05000000000000000000" pitchFamily="2" charset="2"/>
              <a:buChar char="§"/>
            </a:pPr>
            <a:r>
              <a:rPr kumimoji="0" lang="en-PK" altLang="en-PK"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Worms</a:t>
            </a:r>
            <a:r>
              <a:rPr kumimoji="0" lang="en-US" altLang="en-PK"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Infects devices via downloads or network connections.</a:t>
            </a:r>
            <a:endParaRPr kumimoji="0" lang="en-PK" altLang="en-PK"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0" indent="-457200" defTabSz="914400" eaLnBrk="0" fontAlgn="base" hangingPunct="0">
              <a:spcBef>
                <a:spcPct val="0"/>
              </a:spcBef>
              <a:spcAft>
                <a:spcPct val="0"/>
              </a:spcAft>
              <a:buFont typeface="Wingdings" panose="05000000000000000000" pitchFamily="2" charset="2"/>
              <a:buChar char="§"/>
            </a:pPr>
            <a:r>
              <a:rPr kumimoji="0" lang="en-PK" altLang="en-PK"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Trojans</a:t>
            </a:r>
            <a:r>
              <a:rPr kumimoji="0" lang="en-US" altLang="en-PK"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Once installed, it can steal, modify, or delete data.</a:t>
            </a:r>
            <a:endParaRPr kumimoji="0" lang="en-PK" altLang="en-PK"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0" indent="-457200" defTabSz="914400" eaLnBrk="0" fontAlgn="base" hangingPunct="0">
              <a:spcBef>
                <a:spcPct val="0"/>
              </a:spcBef>
              <a:spcAft>
                <a:spcPct val="0"/>
              </a:spcAft>
              <a:buFont typeface="Wingdings" panose="05000000000000000000" pitchFamily="2" charset="2"/>
              <a:buChar char="§"/>
            </a:pPr>
            <a:r>
              <a:rPr kumimoji="0" lang="en-PK" altLang="en-PK"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Spyware</a:t>
            </a:r>
            <a:r>
              <a:rPr kumimoji="0" lang="en-US" altLang="en-PK"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Collects sensitive info (passwords, banking data, etc.)</a:t>
            </a:r>
            <a:endParaRPr kumimoji="0" lang="en-PK" altLang="en-PK"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0" indent="-457200" defTabSz="914400" eaLnBrk="0" fontAlgn="base" hangingPunct="0">
              <a:spcBef>
                <a:spcPct val="0"/>
              </a:spcBef>
              <a:spcAft>
                <a:spcPct val="0"/>
              </a:spcAft>
              <a:buFont typeface="Wingdings" panose="05000000000000000000" pitchFamily="2" charset="2"/>
              <a:buChar char="§"/>
            </a:pPr>
            <a:r>
              <a:rPr kumimoji="0" lang="en-PK" altLang="en-PK"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Adware</a:t>
            </a:r>
            <a:r>
              <a:rPr kumimoji="0" lang="en-US" altLang="en-PK"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Displays unwanted advertisements and collects user data.</a:t>
            </a:r>
            <a:endParaRPr kumimoji="0" lang="en-PK" altLang="en-PK"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0" indent="-457200" defTabSz="914400" eaLnBrk="0" fontAlgn="base" hangingPunct="0">
              <a:spcBef>
                <a:spcPct val="0"/>
              </a:spcBef>
              <a:spcAft>
                <a:spcPct val="0"/>
              </a:spcAft>
              <a:buFont typeface="Wingdings" panose="05000000000000000000" pitchFamily="2" charset="2"/>
              <a:buChar char="§"/>
            </a:pPr>
            <a:r>
              <a:rPr kumimoji="0" lang="en-PK" altLang="en-PK"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Ransomware</a:t>
            </a:r>
            <a:r>
              <a:rPr kumimoji="0" lang="en-US" altLang="en-PK"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Often spreads through phishing emails or malicious links.</a:t>
            </a:r>
            <a:endParaRPr kumimoji="0" lang="en-PK" altLang="en-PK"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0" indent="-457200" defTabSz="914400" eaLnBrk="0" fontAlgn="base" hangingPunct="0">
              <a:spcBef>
                <a:spcPct val="0"/>
              </a:spcBef>
              <a:spcAft>
                <a:spcPct val="0"/>
              </a:spcAft>
              <a:buFont typeface="Wingdings" panose="05000000000000000000" pitchFamily="2" charset="2"/>
              <a:buChar char="§"/>
            </a:pPr>
            <a:r>
              <a:rPr kumimoji="0" lang="en-PK" altLang="en-PK"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Fileless malware</a:t>
            </a:r>
            <a:r>
              <a:rPr lang="en-US" altLang="en-PK"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Resides in system memory (RAM) instead of the hard drive.</a:t>
            </a:r>
            <a:endParaRPr kumimoji="0" lang="en-PK" altLang="en-PK"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301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6E5EDD-103A-8C80-1776-C9F0739E0918}"/>
              </a:ext>
            </a:extLst>
          </p:cNvPr>
          <p:cNvPicPr>
            <a:picLocks noChangeAspect="1"/>
          </p:cNvPicPr>
          <p:nvPr/>
        </p:nvPicPr>
        <p:blipFill>
          <a:blip r:embed="rId2"/>
          <a:stretch>
            <a:fillRect/>
          </a:stretch>
        </p:blipFill>
        <p:spPr>
          <a:xfrm>
            <a:off x="1400149" y="293278"/>
            <a:ext cx="9655862" cy="6271444"/>
          </a:xfrm>
          <a:prstGeom prst="rect">
            <a:avLst/>
          </a:prstGeom>
        </p:spPr>
      </p:pic>
    </p:spTree>
    <p:extLst>
      <p:ext uri="{BB962C8B-B14F-4D97-AF65-F5344CB8AC3E}">
        <p14:creationId xmlns:p14="http://schemas.microsoft.com/office/powerpoint/2010/main" val="2379565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D2169B2-566D-7F14-D450-B11294AC1CC4}"/>
              </a:ext>
            </a:extLst>
          </p:cNvPr>
          <p:cNvSpPr>
            <a:spLocks noChangeArrowheads="1"/>
          </p:cNvSpPr>
          <p:nvPr/>
        </p:nvSpPr>
        <p:spPr bwMode="auto">
          <a:xfrm>
            <a:off x="477520" y="1217556"/>
            <a:ext cx="1144016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Virus</a:t>
            </a:r>
            <a:r>
              <a:rPr lang="en-US" sz="2800" dirty="0">
                <a:latin typeface="Times New Roman" panose="02020603050405020304" pitchFamily="18" charset="0"/>
                <a:cs typeface="Times New Roman" panose="02020603050405020304" pitchFamily="18" charset="0"/>
              </a:rPr>
              <a:t> is a </a:t>
            </a:r>
            <a:r>
              <a:rPr lang="en-US" sz="2800" b="1" dirty="0">
                <a:latin typeface="Times New Roman" panose="02020603050405020304" pitchFamily="18" charset="0"/>
                <a:cs typeface="Times New Roman" panose="02020603050405020304" pitchFamily="18" charset="0"/>
              </a:rPr>
              <a:t>self-replicating program</a:t>
            </a:r>
            <a:r>
              <a:rPr lang="en-US" sz="2800" dirty="0">
                <a:latin typeface="Times New Roman" panose="02020603050405020304" pitchFamily="18" charset="0"/>
                <a:cs typeface="Times New Roman" panose="02020603050405020304" pitchFamily="18" charset="0"/>
              </a:rPr>
              <a:t> that spreads from one system or file to another.</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usually attaches itself to other programs or files but does not </a:t>
            </a:r>
            <a:r>
              <a:rPr lang="en-US" sz="2800" i="1" dirty="0">
                <a:latin typeface="Times New Roman" panose="02020603050405020304" pitchFamily="18" charset="0"/>
                <a:cs typeface="Times New Roman" panose="02020603050405020304" pitchFamily="18" charset="0"/>
              </a:rPr>
              <a:t>have to</a:t>
            </a:r>
            <a:r>
              <a:rPr lang="en-US" sz="2800" dirty="0">
                <a:latin typeface="Times New Roman" panose="02020603050405020304" pitchFamily="18" charset="0"/>
                <a:cs typeface="Times New Roman" panose="02020603050405020304" pitchFamily="18" charset="0"/>
              </a:rPr>
              <a:t> attach to run.</a:t>
            </a:r>
          </a:p>
          <a:p>
            <a:pPr marL="914400" lvl="1"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    Key Characteristics:</a:t>
            </a:r>
          </a:p>
          <a:p>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Self-replication</a:t>
            </a:r>
            <a:r>
              <a:rPr lang="en-US" sz="2800" dirty="0">
                <a:latin typeface="Times New Roman" panose="02020603050405020304" pitchFamily="18" charset="0"/>
                <a:cs typeface="Times New Roman" panose="02020603050405020304" pitchFamily="18" charset="0"/>
              </a:rPr>
              <a:t> → The virus makes copies of itself automatically.</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Rapid spread</a:t>
            </a:r>
            <a:r>
              <a:rPr lang="en-US" sz="2800" dirty="0">
                <a:latin typeface="Times New Roman" panose="02020603050405020304" pitchFamily="18" charset="0"/>
                <a:cs typeface="Times New Roman" panose="02020603050405020304" pitchFamily="18" charset="0"/>
              </a:rPr>
              <a:t> → Can infect many files or systems in a short time.</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Payload (optional)</a:t>
            </a:r>
            <a:r>
              <a:rPr lang="en-US" sz="2800" dirty="0">
                <a:latin typeface="Times New Roman" panose="02020603050405020304" pitchFamily="18" charset="0"/>
                <a:cs typeface="Times New Roman" panose="02020603050405020304" pitchFamily="18" charset="0"/>
              </a:rPr>
              <a:t> → Some viruses have harmful effects (like deleting files), but not all do.</a:t>
            </a:r>
          </a:p>
        </p:txBody>
      </p:sp>
      <p:sp>
        <p:nvSpPr>
          <p:cNvPr id="2" name="TextBox 1">
            <a:extLst>
              <a:ext uri="{FF2B5EF4-FFF2-40B4-BE49-F238E27FC236}">
                <a16:creationId xmlns:a16="http://schemas.microsoft.com/office/drawing/2014/main" id="{E2AEFDA4-4934-E8A8-835E-EC6FAD25B3BA}"/>
              </a:ext>
            </a:extLst>
          </p:cNvPr>
          <p:cNvSpPr txBox="1"/>
          <p:nvPr/>
        </p:nvSpPr>
        <p:spPr>
          <a:xfrm>
            <a:off x="1066800" y="328414"/>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Viruses (Subcategory of Malware)</a:t>
            </a:r>
          </a:p>
        </p:txBody>
      </p:sp>
    </p:spTree>
    <p:extLst>
      <p:ext uri="{BB962C8B-B14F-4D97-AF65-F5344CB8AC3E}">
        <p14:creationId xmlns:p14="http://schemas.microsoft.com/office/powerpoint/2010/main" val="2474764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08ECB6-F3FC-786D-E8B6-103A07CC1048}"/>
              </a:ext>
            </a:extLst>
          </p:cNvPr>
          <p:cNvSpPr txBox="1"/>
          <p:nvPr/>
        </p:nvSpPr>
        <p:spPr>
          <a:xfrm>
            <a:off x="772160" y="1192520"/>
            <a:ext cx="10332720" cy="3785652"/>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Impact on Systems:</a:t>
            </a:r>
            <a:endParaRPr lang="en-US" sz="2400" dirty="0">
              <a:latin typeface="Times New Roman" panose="02020603050405020304" pitchFamily="18" charset="0"/>
              <a:cs typeface="Times New Roman" panose="02020603050405020304" pitchFamily="18" charset="0"/>
            </a:endParaRPr>
          </a:p>
          <a:p>
            <a:pPr lvl="1" algn="just"/>
            <a:r>
              <a:rPr lang="en-US" sz="2400" dirty="0">
                <a:latin typeface="Times New Roman" panose="02020603050405020304" pitchFamily="18" charset="0"/>
                <a:cs typeface="Times New Roman" panose="02020603050405020304" pitchFamily="18" charset="0"/>
              </a:rPr>
              <a:t>Even without a destructive payload, a virus can:</a:t>
            </a:r>
          </a:p>
          <a:p>
            <a:pPr marL="1257300" lvl="2"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Consume network bandwidth.</a:t>
            </a:r>
          </a:p>
          <a:p>
            <a:pPr marL="1257300" lvl="2"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Slow down or crash systems due to excessive replication.</a:t>
            </a:r>
          </a:p>
          <a:p>
            <a:pPr marL="1257300" lvl="2"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Overload email servers or networks.</a:t>
            </a:r>
          </a:p>
          <a:p>
            <a:pPr algn="just"/>
            <a:r>
              <a:rPr lang="en-US" sz="2400" b="1" dirty="0">
                <a:latin typeface="Times New Roman" panose="02020603050405020304" pitchFamily="18" charset="0"/>
                <a:cs typeface="Times New Roman" panose="02020603050405020304" pitchFamily="18" charset="0"/>
              </a:rPr>
              <a:t>Example:</a:t>
            </a:r>
            <a:endParaRPr lang="en-US" sz="2400" dirty="0">
              <a:latin typeface="Times New Roman" panose="02020603050405020304" pitchFamily="18" charset="0"/>
              <a:cs typeface="Times New Roman" panose="02020603050405020304" pitchFamily="18" charset="0"/>
            </a:endParaRPr>
          </a:p>
          <a:p>
            <a:pPr lvl="1" algn="just"/>
            <a:r>
              <a:rPr lang="en-US" sz="2400" b="1" dirty="0">
                <a:latin typeface="Times New Roman" panose="02020603050405020304" pitchFamily="18" charset="0"/>
                <a:cs typeface="Times New Roman" panose="02020603050405020304" pitchFamily="18" charset="0"/>
              </a:rPr>
              <a:t>ILOVEYOU Virus (2000):</a:t>
            </a:r>
            <a:endParaRPr lang="en-US" sz="2400" dirty="0">
              <a:latin typeface="Times New Roman" panose="02020603050405020304" pitchFamily="18" charset="0"/>
              <a:cs typeface="Times New Roman" panose="02020603050405020304" pitchFamily="18" charset="0"/>
            </a:endParaRPr>
          </a:p>
          <a:p>
            <a:pPr marL="1257300" lvl="2"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Spread via email attachments.</a:t>
            </a:r>
          </a:p>
          <a:p>
            <a:pPr marL="1257300" lvl="2"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Contained </a:t>
            </a:r>
            <a:r>
              <a:rPr lang="en-US" sz="2400" b="1" dirty="0">
                <a:latin typeface="Times New Roman" panose="02020603050405020304" pitchFamily="18" charset="0"/>
                <a:cs typeface="Times New Roman" panose="02020603050405020304" pitchFamily="18" charset="0"/>
              </a:rPr>
              <a:t>no harmful payload</a:t>
            </a:r>
            <a:r>
              <a:rPr lang="en-US" sz="2400" dirty="0">
                <a:latin typeface="Times New Roman" panose="02020603050405020304" pitchFamily="18" charset="0"/>
                <a:cs typeface="Times New Roman" panose="02020603050405020304" pitchFamily="18" charset="0"/>
              </a:rPr>
              <a:t>, but generated so many emails that it </a:t>
            </a:r>
            <a:r>
              <a:rPr lang="en-US" sz="2400" b="1" dirty="0">
                <a:latin typeface="Times New Roman" panose="02020603050405020304" pitchFamily="18" charset="0"/>
                <a:cs typeface="Times New Roman" panose="02020603050405020304" pitchFamily="18" charset="0"/>
              </a:rPr>
              <a:t>clogged and slowed networks worldwide</a:t>
            </a:r>
            <a:r>
              <a:rPr lang="en-US" sz="2400" dirty="0">
                <a:latin typeface="Times New Roman" panose="02020603050405020304" pitchFamily="18" charset="0"/>
                <a:cs typeface="Times New Roman" panose="02020603050405020304" pitchFamily="18" charset="0"/>
              </a:rPr>
              <a:t>.</a:t>
            </a:r>
          </a:p>
        </p:txBody>
      </p:sp>
      <p:pic>
        <p:nvPicPr>
          <p:cNvPr id="6" name="Picture 5">
            <a:extLst>
              <a:ext uri="{FF2B5EF4-FFF2-40B4-BE49-F238E27FC236}">
                <a16:creationId xmlns:a16="http://schemas.microsoft.com/office/drawing/2014/main" id="{D5F514F4-AEC4-2139-42EC-3C405C98A2C4}"/>
              </a:ext>
            </a:extLst>
          </p:cNvPr>
          <p:cNvPicPr>
            <a:picLocks noChangeAspect="1"/>
          </p:cNvPicPr>
          <p:nvPr/>
        </p:nvPicPr>
        <p:blipFill>
          <a:blip r:embed="rId2"/>
          <a:stretch>
            <a:fillRect/>
          </a:stretch>
        </p:blipFill>
        <p:spPr>
          <a:xfrm>
            <a:off x="0" y="5264348"/>
            <a:ext cx="12192000" cy="933252"/>
          </a:xfrm>
          <a:prstGeom prst="rect">
            <a:avLst/>
          </a:prstGeom>
        </p:spPr>
      </p:pic>
      <p:sp>
        <p:nvSpPr>
          <p:cNvPr id="7" name="TextBox 6">
            <a:extLst>
              <a:ext uri="{FF2B5EF4-FFF2-40B4-BE49-F238E27FC236}">
                <a16:creationId xmlns:a16="http://schemas.microsoft.com/office/drawing/2014/main" id="{FA7C2907-5FA0-160A-E9E1-66392C079A95}"/>
              </a:ext>
            </a:extLst>
          </p:cNvPr>
          <p:cNvSpPr txBox="1"/>
          <p:nvPr/>
        </p:nvSpPr>
        <p:spPr>
          <a:xfrm>
            <a:off x="1211580" y="260013"/>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Viruses (Subcategory of Malware)</a:t>
            </a:r>
          </a:p>
        </p:txBody>
      </p:sp>
    </p:spTree>
    <p:extLst>
      <p:ext uri="{BB962C8B-B14F-4D97-AF65-F5344CB8AC3E}">
        <p14:creationId xmlns:p14="http://schemas.microsoft.com/office/powerpoint/2010/main" val="618110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63D19B-13ED-6F0B-56F5-B6AD59DD3BFF}"/>
              </a:ext>
            </a:extLst>
          </p:cNvPr>
          <p:cNvSpPr txBox="1"/>
          <p:nvPr/>
        </p:nvSpPr>
        <p:spPr>
          <a:xfrm>
            <a:off x="1066800" y="328414"/>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Major Types of Viruses</a:t>
            </a:r>
          </a:p>
        </p:txBody>
      </p:sp>
      <p:pic>
        <p:nvPicPr>
          <p:cNvPr id="6" name="Picture 5">
            <a:extLst>
              <a:ext uri="{FF2B5EF4-FFF2-40B4-BE49-F238E27FC236}">
                <a16:creationId xmlns:a16="http://schemas.microsoft.com/office/drawing/2014/main" id="{38ECA688-E782-F146-762A-7B68BC71BE89}"/>
              </a:ext>
            </a:extLst>
          </p:cNvPr>
          <p:cNvPicPr>
            <a:picLocks noChangeAspect="1"/>
          </p:cNvPicPr>
          <p:nvPr/>
        </p:nvPicPr>
        <p:blipFill>
          <a:blip r:embed="rId2"/>
          <a:stretch>
            <a:fillRect/>
          </a:stretch>
        </p:blipFill>
        <p:spPr>
          <a:xfrm>
            <a:off x="2576513" y="3307636"/>
            <a:ext cx="7217728" cy="3717798"/>
          </a:xfrm>
          <a:prstGeom prst="rect">
            <a:avLst/>
          </a:prstGeom>
        </p:spPr>
      </p:pic>
      <p:sp>
        <p:nvSpPr>
          <p:cNvPr id="4" name="TextBox 3">
            <a:extLst>
              <a:ext uri="{FF2B5EF4-FFF2-40B4-BE49-F238E27FC236}">
                <a16:creationId xmlns:a16="http://schemas.microsoft.com/office/drawing/2014/main" id="{2C4B9C63-6DE2-401C-B3A5-BD12DF038862}"/>
              </a:ext>
            </a:extLst>
          </p:cNvPr>
          <p:cNvSpPr txBox="1"/>
          <p:nvPr/>
        </p:nvSpPr>
        <p:spPr>
          <a:xfrm>
            <a:off x="1016000" y="1127482"/>
            <a:ext cx="10160000" cy="2677656"/>
          </a:xfrm>
          <a:prstGeom prst="rect">
            <a:avLst/>
          </a:prstGeom>
          <a:noFill/>
        </p:spPr>
        <p:txBody>
          <a:bodyPr wrap="square">
            <a:spAutoFit/>
          </a:bodyPr>
          <a:lstStyle/>
          <a:p>
            <a:pPr>
              <a:buNone/>
            </a:pPr>
            <a:r>
              <a:rPr lang="en-US" sz="2400" b="1" dirty="0">
                <a:latin typeface="Times New Roman" panose="02020603050405020304" pitchFamily="18" charset="0"/>
                <a:cs typeface="Times New Roman" panose="02020603050405020304" pitchFamily="18" charset="0"/>
              </a:rPr>
              <a:t>1. </a:t>
            </a:r>
            <a:r>
              <a:rPr lang="en-US" sz="2400" b="1"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Macro Virus</a:t>
            </a:r>
            <a:endParaRPr lang="en-US" sz="2400" b="1"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Infects </a:t>
            </a:r>
            <a:r>
              <a:rPr lang="en-US" sz="2400" b="1" dirty="0">
                <a:latin typeface="Times New Roman" panose="02020603050405020304" pitchFamily="18" charset="0"/>
                <a:cs typeface="Times New Roman" panose="02020603050405020304" pitchFamily="18" charset="0"/>
              </a:rPr>
              <a:t>macros</a:t>
            </a:r>
            <a:r>
              <a:rPr lang="en-US" sz="2400" dirty="0">
                <a:latin typeface="Times New Roman" panose="02020603050405020304" pitchFamily="18" charset="0"/>
                <a:cs typeface="Times New Roman" panose="02020603050405020304" pitchFamily="18" charset="0"/>
              </a:rPr>
              <a:t> in office documents (e.g., Word, Excel, Outlook).</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Written in </a:t>
            </a:r>
            <a:r>
              <a:rPr lang="en-US" sz="2400" b="1" dirty="0">
                <a:latin typeface="Times New Roman" panose="02020603050405020304" pitchFamily="18" charset="0"/>
                <a:cs typeface="Times New Roman" panose="02020603050405020304" pitchFamily="18" charset="0"/>
              </a:rPr>
              <a:t>Visual Basic for Applications (VBA)</a:t>
            </a:r>
            <a:r>
              <a:rPr lang="en-US" sz="2400" dirty="0">
                <a:latin typeface="Times New Roman" panose="02020603050405020304" pitchFamily="18" charset="0"/>
                <a:cs typeface="Times New Roman" panose="02020603050405020304" pitchFamily="18" charset="0"/>
              </a:rPr>
              <a:t> or </a:t>
            </a:r>
            <a:r>
              <a:rPr lang="en-US" sz="2400" b="1" dirty="0">
                <a:latin typeface="Times New Roman" panose="02020603050405020304" pitchFamily="18" charset="0"/>
                <a:cs typeface="Times New Roman" panose="02020603050405020304" pitchFamily="18" charset="0"/>
              </a:rPr>
              <a:t>VBScript</a:t>
            </a:r>
            <a:r>
              <a:rPr lang="en-US" sz="2400" dirty="0">
                <a:latin typeface="Times New Roman" panose="02020603050405020304" pitchFamily="18" charset="0"/>
                <a:cs typeface="Times New Roman" panose="02020603050405020304" pitchFamily="18" charset="0"/>
              </a:rPr>
              <a:t>.</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Activates when the infected document or email attachment is opened.</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Can </a:t>
            </a:r>
            <a:r>
              <a:rPr lang="en-US" sz="2400" b="1" dirty="0">
                <a:latin typeface="Times New Roman" panose="02020603050405020304" pitchFamily="18" charset="0"/>
                <a:cs typeface="Times New Roman" panose="02020603050405020304" pitchFamily="18" charset="0"/>
              </a:rPr>
              <a:t>send infected emails</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delete messages</a:t>
            </a:r>
            <a:r>
              <a:rPr lang="en-US" sz="2400" dirty="0">
                <a:latin typeface="Times New Roman" panose="02020603050405020304" pitchFamily="18" charset="0"/>
                <a:cs typeface="Times New Roman" panose="02020603050405020304" pitchFamily="18" charset="0"/>
              </a:rPr>
              <a:t>, or </a:t>
            </a:r>
            <a:r>
              <a:rPr lang="en-US" sz="2400" b="1" dirty="0">
                <a:latin typeface="Times New Roman" panose="02020603050405020304" pitchFamily="18" charset="0"/>
                <a:cs typeface="Times New Roman" panose="02020603050405020304" pitchFamily="18" charset="0"/>
              </a:rPr>
              <a:t>spread automatically</a:t>
            </a:r>
            <a:r>
              <a:rPr lang="en-US" sz="2400" dirty="0">
                <a:latin typeface="Times New Roman" panose="02020603050405020304" pitchFamily="18" charset="0"/>
                <a:cs typeface="Times New Roman" panose="02020603050405020304" pitchFamily="18" charset="0"/>
              </a:rPr>
              <a:t> through contact lists.</a:t>
            </a:r>
          </a:p>
          <a:p>
            <a:pPr marL="800100" lvl="1"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Example: </a:t>
            </a:r>
            <a:r>
              <a:rPr lang="en-US" sz="2400" dirty="0">
                <a:latin typeface="Times New Roman" panose="02020603050405020304" pitchFamily="18" charset="0"/>
                <a:cs typeface="Times New Roman" panose="02020603050405020304" pitchFamily="18" charset="0"/>
              </a:rPr>
              <a:t>Viruses that spread through Microsoft Outlook.</a:t>
            </a:r>
          </a:p>
        </p:txBody>
      </p:sp>
    </p:spTree>
    <p:extLst>
      <p:ext uri="{BB962C8B-B14F-4D97-AF65-F5344CB8AC3E}">
        <p14:creationId xmlns:p14="http://schemas.microsoft.com/office/powerpoint/2010/main" val="1447914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F12603F-D710-FED6-021D-1B7B68DB8926}"/>
              </a:ext>
            </a:extLst>
          </p:cNvPr>
          <p:cNvSpPr txBox="1"/>
          <p:nvPr/>
        </p:nvSpPr>
        <p:spPr>
          <a:xfrm>
            <a:off x="955040" y="1336378"/>
            <a:ext cx="10444480" cy="5693866"/>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2. Boot Sector Virus</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Infects the </a:t>
            </a:r>
            <a:r>
              <a:rPr lang="en-US" sz="2800" b="1" dirty="0">
                <a:latin typeface="Times New Roman" panose="02020603050405020304" pitchFamily="18" charset="0"/>
                <a:cs typeface="Times New Roman" panose="02020603050405020304" pitchFamily="18" charset="0"/>
              </a:rPr>
              <a:t>boot sector</a:t>
            </a:r>
            <a:r>
              <a:rPr lang="en-US" sz="2800" dirty="0">
                <a:latin typeface="Times New Roman" panose="02020603050405020304" pitchFamily="18" charset="0"/>
                <a:cs typeface="Times New Roman" panose="02020603050405020304" pitchFamily="18" charset="0"/>
              </a:rPr>
              <a:t> of a hard drive or removable media.</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Loads when the system starts — even before the OS.</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Harder to detect because most antivirus tools run </a:t>
            </a:r>
            <a:r>
              <a:rPr lang="en-US" sz="2800" b="1" dirty="0">
                <a:latin typeface="Times New Roman" panose="02020603050405020304" pitchFamily="18" charset="0"/>
                <a:cs typeface="Times New Roman" panose="02020603050405020304" pitchFamily="18" charset="0"/>
              </a:rPr>
              <a:t>inside the OS</a:t>
            </a:r>
            <a:r>
              <a:rPr lang="en-US" sz="2800" dirty="0">
                <a:latin typeface="Times New Roman" panose="02020603050405020304" pitchFamily="18" charset="0"/>
                <a:cs typeface="Times New Roman" panose="02020603050405020304" pitchFamily="18" charset="0"/>
              </a:rPr>
              <a:t>, not before it.</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Often spread via infected </a:t>
            </a:r>
            <a:r>
              <a:rPr lang="en-US" sz="2800" b="1" dirty="0">
                <a:latin typeface="Times New Roman" panose="02020603050405020304" pitchFamily="18" charset="0"/>
                <a:cs typeface="Times New Roman" panose="02020603050405020304" pitchFamily="18" charset="0"/>
              </a:rPr>
              <a:t>USBs or disks</a:t>
            </a:r>
            <a:r>
              <a:rPr lang="en-US" sz="2800" dirty="0">
                <a:latin typeface="Times New Roman" panose="02020603050405020304" pitchFamily="18" charset="0"/>
                <a:cs typeface="Times New Roman" panose="02020603050405020304" pitchFamily="18" charset="0"/>
              </a:rPr>
              <a:t>.</a:t>
            </a:r>
          </a:p>
          <a:p>
            <a:pPr marL="914400" lvl="1" indent="-457200">
              <a:buFont typeface="Wingdings" panose="05000000000000000000" pitchFamily="2" charset="2"/>
              <a:buChar char="ü"/>
            </a:pP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3. Multi-Partite Virus</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Attacks a system in </a:t>
            </a:r>
            <a:r>
              <a:rPr lang="en-US" sz="2800" b="1" dirty="0">
                <a:latin typeface="Times New Roman" panose="02020603050405020304" pitchFamily="18" charset="0"/>
                <a:cs typeface="Times New Roman" panose="02020603050405020304" pitchFamily="18" charset="0"/>
              </a:rPr>
              <a:t>multiple ways</a:t>
            </a:r>
            <a:r>
              <a:rPr lang="en-US" sz="2800" dirty="0">
                <a:latin typeface="Times New Roman" panose="02020603050405020304" pitchFamily="18" charset="0"/>
                <a:cs typeface="Times New Roman" panose="02020603050405020304" pitchFamily="18" charset="0"/>
              </a:rPr>
              <a:t>, such as Infects </a:t>
            </a:r>
            <a:r>
              <a:rPr lang="en-US" sz="2800" b="1" dirty="0">
                <a:latin typeface="Times New Roman" panose="02020603050405020304" pitchFamily="18" charset="0"/>
                <a:cs typeface="Times New Roman" panose="02020603050405020304" pitchFamily="18" charset="0"/>
              </a:rPr>
              <a:t>boot sector</a:t>
            </a:r>
            <a:r>
              <a:rPr lang="en-US" sz="2800" dirty="0">
                <a:latin typeface="Times New Roman" panose="02020603050405020304" pitchFamily="18" charset="0"/>
                <a:cs typeface="Times New Roman" panose="02020603050405020304" pitchFamily="18" charset="0"/>
              </a:rPr>
              <a:t> and </a:t>
            </a:r>
            <a:r>
              <a:rPr lang="en-US" sz="2800" b="1" dirty="0">
                <a:latin typeface="Times New Roman" panose="02020603050405020304" pitchFamily="18" charset="0"/>
                <a:cs typeface="Times New Roman" panose="02020603050405020304" pitchFamily="18" charset="0"/>
              </a:rPr>
              <a:t>system files</a:t>
            </a:r>
            <a:r>
              <a:rPr lang="en-US" sz="2800" dirty="0">
                <a:latin typeface="Times New Roman" panose="02020603050405020304" pitchFamily="18" charset="0"/>
                <a:cs typeface="Times New Roman" panose="02020603050405020304" pitchFamily="18" charset="0"/>
              </a:rPr>
              <a:t> simultaneously.</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Spreads faster and is harder to remove since it infects multiple system areas.</a:t>
            </a:r>
          </a:p>
          <a:p>
            <a:pPr lvl="1"/>
            <a:endParaRPr lang="en-US"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A3DD813-2145-4CAA-A124-3918F4B8BA5A}"/>
              </a:ext>
            </a:extLst>
          </p:cNvPr>
          <p:cNvSpPr txBox="1"/>
          <p:nvPr/>
        </p:nvSpPr>
        <p:spPr>
          <a:xfrm>
            <a:off x="1066800" y="328414"/>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Major Types of Viruses</a:t>
            </a:r>
          </a:p>
        </p:txBody>
      </p:sp>
    </p:spTree>
    <p:extLst>
      <p:ext uri="{BB962C8B-B14F-4D97-AF65-F5344CB8AC3E}">
        <p14:creationId xmlns:p14="http://schemas.microsoft.com/office/powerpoint/2010/main" val="2509376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5B0C-1026-643D-05A6-571C65679B2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43CAF17-571C-5DE2-DC87-9F869AD5BBD5}"/>
              </a:ext>
            </a:extLst>
          </p:cNvPr>
          <p:cNvSpPr txBox="1"/>
          <p:nvPr/>
        </p:nvSpPr>
        <p:spPr>
          <a:xfrm>
            <a:off x="899160" y="1235829"/>
            <a:ext cx="10393680" cy="4893647"/>
          </a:xfrm>
          <a:prstGeom prst="rect">
            <a:avLst/>
          </a:prstGeom>
          <a:noFill/>
        </p:spPr>
        <p:txBody>
          <a:bodyPr wrap="square">
            <a:spAutoFit/>
          </a:bodyPr>
          <a:lstStyle/>
          <a:p>
            <a:r>
              <a:rPr lang="en-US" sz="2600" b="1" dirty="0">
                <a:latin typeface="Times New Roman" panose="02020603050405020304" pitchFamily="18" charset="0"/>
                <a:cs typeface="Times New Roman" panose="02020603050405020304" pitchFamily="18" charset="0"/>
              </a:rPr>
              <a:t>4. Memory Resident Virus</a:t>
            </a:r>
          </a:p>
          <a:p>
            <a:pPr marL="914400" lvl="1"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Installs itself into </a:t>
            </a:r>
            <a:r>
              <a:rPr lang="en-US" sz="2600" b="1" dirty="0">
                <a:latin typeface="Times New Roman" panose="02020603050405020304" pitchFamily="18" charset="0"/>
                <a:cs typeface="Times New Roman" panose="02020603050405020304" pitchFamily="18" charset="0"/>
              </a:rPr>
              <a:t>system RAM</a:t>
            </a:r>
            <a:r>
              <a:rPr lang="en-US" sz="2600" dirty="0">
                <a:latin typeface="Times New Roman" panose="02020603050405020304" pitchFamily="18" charset="0"/>
                <a:cs typeface="Times New Roman" panose="02020603050405020304" pitchFamily="18" charset="0"/>
              </a:rPr>
              <a:t> and stays active until the computer shuts down.</a:t>
            </a:r>
          </a:p>
          <a:p>
            <a:pPr marL="914400" lvl="1"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Can infect files or programs </a:t>
            </a:r>
            <a:r>
              <a:rPr lang="en-US" sz="2600" b="1" dirty="0">
                <a:latin typeface="Times New Roman" panose="02020603050405020304" pitchFamily="18" charset="0"/>
                <a:cs typeface="Times New Roman" panose="02020603050405020304" pitchFamily="18" charset="0"/>
              </a:rPr>
              <a:t>even after the original infected program closes</a:t>
            </a:r>
            <a:r>
              <a:rPr lang="en-US" sz="2600" dirty="0">
                <a:latin typeface="Times New Roman" panose="02020603050405020304" pitchFamily="18" charset="0"/>
                <a:cs typeface="Times New Roman" panose="02020603050405020304" pitchFamily="18" charset="0"/>
              </a:rPr>
              <a:t>.</a:t>
            </a:r>
          </a:p>
          <a:p>
            <a:pPr marL="914400" lvl="1"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Continuously monitors and infects other files loaded into memory.</a:t>
            </a:r>
          </a:p>
          <a:p>
            <a:endParaRPr lang="en-US" sz="2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5. Armored Virus</a:t>
            </a:r>
          </a:p>
          <a:p>
            <a:pPr marL="914400" lvl="1"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Designed to make </a:t>
            </a:r>
            <a:r>
              <a:rPr lang="en-US" sz="2600" b="1" dirty="0">
                <a:latin typeface="Times New Roman" panose="02020603050405020304" pitchFamily="18" charset="0"/>
                <a:cs typeface="Times New Roman" panose="02020603050405020304" pitchFamily="18" charset="0"/>
              </a:rPr>
              <a:t>detection and analysis difficult</a:t>
            </a:r>
            <a:r>
              <a:rPr lang="en-US" sz="2600" dirty="0">
                <a:latin typeface="Times New Roman" panose="02020603050405020304" pitchFamily="18" charset="0"/>
                <a:cs typeface="Times New Roman" panose="02020603050405020304" pitchFamily="18" charset="0"/>
              </a:rPr>
              <a:t>.</a:t>
            </a:r>
          </a:p>
          <a:p>
            <a:pPr marL="914400" lvl="1"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Uses </a:t>
            </a:r>
            <a:r>
              <a:rPr lang="en-US" sz="2600" b="1" dirty="0">
                <a:latin typeface="Times New Roman" panose="02020603050405020304" pitchFamily="18" charset="0"/>
                <a:cs typeface="Times New Roman" panose="02020603050405020304" pitchFamily="18" charset="0"/>
              </a:rPr>
              <a:t>code confusion</a:t>
            </a: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encryption</a:t>
            </a:r>
            <a:r>
              <a:rPr lang="en-US" sz="2600" dirty="0">
                <a:latin typeface="Times New Roman" panose="02020603050405020304" pitchFamily="18" charset="0"/>
                <a:cs typeface="Times New Roman" panose="02020603050405020304" pitchFamily="18" charset="0"/>
              </a:rPr>
              <a:t>, or </a:t>
            </a:r>
            <a:r>
              <a:rPr lang="en-US" sz="2600" b="1" dirty="0">
                <a:latin typeface="Times New Roman" panose="02020603050405020304" pitchFamily="18" charset="0"/>
                <a:cs typeface="Times New Roman" panose="02020603050405020304" pitchFamily="18" charset="0"/>
              </a:rPr>
              <a:t>compression</a:t>
            </a:r>
            <a:r>
              <a:rPr lang="en-US" sz="2600" dirty="0">
                <a:latin typeface="Times New Roman" panose="02020603050405020304" pitchFamily="18" charset="0"/>
                <a:cs typeface="Times New Roman" panose="02020603050405020304" pitchFamily="18" charset="0"/>
              </a:rPr>
              <a:t> to hide from antivirus tools.</a:t>
            </a:r>
          </a:p>
          <a:p>
            <a:pPr marL="914400" lvl="1"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Goal: Delay or prevent removal by security researchers.</a:t>
            </a:r>
          </a:p>
        </p:txBody>
      </p:sp>
      <p:sp>
        <p:nvSpPr>
          <p:cNvPr id="6" name="TextBox 5">
            <a:extLst>
              <a:ext uri="{FF2B5EF4-FFF2-40B4-BE49-F238E27FC236}">
                <a16:creationId xmlns:a16="http://schemas.microsoft.com/office/drawing/2014/main" id="{A98BDEDD-69C2-3B01-17AA-493286FA093B}"/>
              </a:ext>
            </a:extLst>
          </p:cNvPr>
          <p:cNvSpPr txBox="1"/>
          <p:nvPr/>
        </p:nvSpPr>
        <p:spPr>
          <a:xfrm>
            <a:off x="1066800" y="328414"/>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Major Types of Viruses</a:t>
            </a:r>
          </a:p>
        </p:txBody>
      </p:sp>
    </p:spTree>
    <p:extLst>
      <p:ext uri="{BB962C8B-B14F-4D97-AF65-F5344CB8AC3E}">
        <p14:creationId xmlns:p14="http://schemas.microsoft.com/office/powerpoint/2010/main" val="185131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2514D-1752-AB2E-5CEE-50084356430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745EB07-D620-2B99-0419-CBAF2447ADD6}"/>
              </a:ext>
            </a:extLst>
          </p:cNvPr>
          <p:cNvSpPr txBox="1"/>
          <p:nvPr/>
        </p:nvSpPr>
        <p:spPr>
          <a:xfrm>
            <a:off x="904240" y="1336378"/>
            <a:ext cx="10220960" cy="4493538"/>
          </a:xfrm>
          <a:prstGeom prst="rect">
            <a:avLst/>
          </a:prstGeom>
          <a:noFill/>
        </p:spPr>
        <p:txBody>
          <a:bodyPr wrap="square">
            <a:spAutoFit/>
          </a:bodyPr>
          <a:lstStyle/>
          <a:p>
            <a:r>
              <a:rPr lang="en-US" sz="2600" b="1" dirty="0">
                <a:latin typeface="Times New Roman" panose="02020603050405020304" pitchFamily="18" charset="0"/>
                <a:cs typeface="Times New Roman" panose="02020603050405020304" pitchFamily="18" charset="0"/>
              </a:rPr>
              <a:t>6. Sparse Infector Virus</a:t>
            </a:r>
          </a:p>
          <a:p>
            <a:pPr marL="914400" lvl="1" indent="-457200">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Infects only </a:t>
            </a:r>
            <a:r>
              <a:rPr lang="en-US" sz="2600" b="1" dirty="0">
                <a:latin typeface="Times New Roman" panose="02020603050405020304" pitchFamily="18" charset="0"/>
                <a:cs typeface="Times New Roman" panose="02020603050405020304" pitchFamily="18" charset="0"/>
              </a:rPr>
              <a:t>occasionally or selectively</a:t>
            </a:r>
            <a:r>
              <a:rPr lang="en-US" sz="2600" dirty="0">
                <a:latin typeface="Times New Roman" panose="02020603050405020304" pitchFamily="18" charset="0"/>
                <a:cs typeface="Times New Roman" panose="02020603050405020304" pitchFamily="18" charset="0"/>
              </a:rPr>
              <a:t> (e.g., every 10th or 20th time a program runs).</a:t>
            </a:r>
          </a:p>
          <a:p>
            <a:pPr marL="914400" lvl="1" indent="-457200">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Reduces the chance of detection by showing symptoms </a:t>
            </a:r>
            <a:r>
              <a:rPr lang="en-US" sz="2600" b="1" dirty="0">
                <a:latin typeface="Times New Roman" panose="02020603050405020304" pitchFamily="18" charset="0"/>
                <a:cs typeface="Times New Roman" panose="02020603050405020304" pitchFamily="18" charset="0"/>
              </a:rPr>
              <a:t>sporadically</a:t>
            </a:r>
            <a:r>
              <a:rPr lang="en-US" sz="2600" dirty="0">
                <a:latin typeface="Times New Roman" panose="02020603050405020304" pitchFamily="18" charset="0"/>
                <a:cs typeface="Times New Roman" panose="02020603050405020304" pitchFamily="18" charset="0"/>
              </a:rPr>
              <a:t>.</a:t>
            </a:r>
          </a:p>
          <a:p>
            <a:pPr marL="914400" lvl="1" indent="-457200">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Can have bursts of activity and then stay </a:t>
            </a:r>
            <a:r>
              <a:rPr lang="en-US" sz="2600" b="1" dirty="0">
                <a:latin typeface="Times New Roman" panose="02020603050405020304" pitchFamily="18" charset="0"/>
                <a:cs typeface="Times New Roman" panose="02020603050405020304" pitchFamily="18" charset="0"/>
              </a:rPr>
              <a:t>dormant</a:t>
            </a:r>
            <a:r>
              <a:rPr lang="en-US" sz="2600" dirty="0">
                <a:latin typeface="Times New Roman" panose="02020603050405020304" pitchFamily="18" charset="0"/>
                <a:cs typeface="Times New Roman" panose="02020603050405020304" pitchFamily="18" charset="0"/>
              </a:rPr>
              <a:t> for long periods.</a:t>
            </a:r>
          </a:p>
          <a:p>
            <a:endParaRPr lang="en-US" sz="2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7. Polymorphic Virus</a:t>
            </a:r>
          </a:p>
          <a:p>
            <a:pPr marL="914400" lvl="1" indent="-457200">
              <a:buFont typeface="Wingdings" panose="05000000000000000000" pitchFamily="2" charset="2"/>
              <a:buChar char="ü"/>
            </a:pPr>
            <a:r>
              <a:rPr lang="en-US" sz="2600" b="1" dirty="0">
                <a:latin typeface="Times New Roman" panose="02020603050405020304" pitchFamily="18" charset="0"/>
                <a:cs typeface="Times New Roman" panose="02020603050405020304" pitchFamily="18" charset="0"/>
              </a:rPr>
              <a:t>Changes its code or form</a:t>
            </a:r>
            <a:r>
              <a:rPr lang="en-US" sz="2600" dirty="0">
                <a:latin typeface="Times New Roman" panose="02020603050405020304" pitchFamily="18" charset="0"/>
                <a:cs typeface="Times New Roman" panose="02020603050405020304" pitchFamily="18" charset="0"/>
              </a:rPr>
              <a:t> with every new infection.</a:t>
            </a:r>
          </a:p>
          <a:p>
            <a:pPr marL="914400" lvl="1" indent="-457200">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Difficult for signature-based antivirus to detect.</a:t>
            </a:r>
          </a:p>
          <a:p>
            <a:pPr marL="914400" lvl="1" indent="-457200">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Uses encryption and mutation to disguise itself.</a:t>
            </a:r>
          </a:p>
        </p:txBody>
      </p:sp>
      <p:sp>
        <p:nvSpPr>
          <p:cNvPr id="6" name="TextBox 5">
            <a:extLst>
              <a:ext uri="{FF2B5EF4-FFF2-40B4-BE49-F238E27FC236}">
                <a16:creationId xmlns:a16="http://schemas.microsoft.com/office/drawing/2014/main" id="{6EBB47AB-BF0B-1043-855F-06C269E0106B}"/>
              </a:ext>
            </a:extLst>
          </p:cNvPr>
          <p:cNvSpPr txBox="1"/>
          <p:nvPr/>
        </p:nvSpPr>
        <p:spPr>
          <a:xfrm>
            <a:off x="1066800" y="328414"/>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Major Types of Viruses</a:t>
            </a:r>
          </a:p>
        </p:txBody>
      </p:sp>
    </p:spTree>
    <p:extLst>
      <p:ext uri="{BB962C8B-B14F-4D97-AF65-F5344CB8AC3E}">
        <p14:creationId xmlns:p14="http://schemas.microsoft.com/office/powerpoint/2010/main" val="3678158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836E3F3-15FB-AA76-694A-D9A784C2587D}"/>
              </a:ext>
            </a:extLst>
          </p:cNvPr>
          <p:cNvGraphicFramePr>
            <a:graphicFrameLocks noGrp="1"/>
          </p:cNvGraphicFramePr>
          <p:nvPr>
            <p:extLst>
              <p:ext uri="{D42A27DB-BD31-4B8C-83A1-F6EECF244321}">
                <p14:modId xmlns:p14="http://schemas.microsoft.com/office/powerpoint/2010/main" val="3736464377"/>
              </p:ext>
            </p:extLst>
          </p:nvPr>
        </p:nvGraphicFramePr>
        <p:xfrm>
          <a:off x="1066800" y="1195586"/>
          <a:ext cx="10058400" cy="5242560"/>
        </p:xfrm>
        <a:graphic>
          <a:graphicData uri="http://schemas.openxmlformats.org/drawingml/2006/table">
            <a:tbl>
              <a:tblPr>
                <a:tableStyleId>{0505E3EF-67EA-436B-97B2-0124C06EBD24}</a:tableStyleId>
              </a:tblPr>
              <a:tblGrid>
                <a:gridCol w="2514600">
                  <a:extLst>
                    <a:ext uri="{9D8B030D-6E8A-4147-A177-3AD203B41FA5}">
                      <a16:colId xmlns:a16="http://schemas.microsoft.com/office/drawing/2014/main" val="4064177191"/>
                    </a:ext>
                  </a:extLst>
                </a:gridCol>
                <a:gridCol w="2514600">
                  <a:extLst>
                    <a:ext uri="{9D8B030D-6E8A-4147-A177-3AD203B41FA5}">
                      <a16:colId xmlns:a16="http://schemas.microsoft.com/office/drawing/2014/main" val="1749598446"/>
                    </a:ext>
                  </a:extLst>
                </a:gridCol>
                <a:gridCol w="2514600">
                  <a:extLst>
                    <a:ext uri="{9D8B030D-6E8A-4147-A177-3AD203B41FA5}">
                      <a16:colId xmlns:a16="http://schemas.microsoft.com/office/drawing/2014/main" val="1874688538"/>
                    </a:ext>
                  </a:extLst>
                </a:gridCol>
                <a:gridCol w="2514600">
                  <a:extLst>
                    <a:ext uri="{9D8B030D-6E8A-4147-A177-3AD203B41FA5}">
                      <a16:colId xmlns:a16="http://schemas.microsoft.com/office/drawing/2014/main" val="2253200629"/>
                    </a:ext>
                  </a:extLst>
                </a:gridCol>
              </a:tblGrid>
              <a:tr h="0">
                <a:tc>
                  <a:txBody>
                    <a:bodyPr/>
                    <a:lstStyle/>
                    <a:p>
                      <a:pPr algn="ctr">
                        <a:buNone/>
                      </a:pPr>
                      <a:r>
                        <a:rPr lang="en-US" sz="2000" b="1"/>
                        <a:t>Example</a:t>
                      </a:r>
                      <a:endParaRPr lang="en-US"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2000" b="1"/>
                        <a:t>Year</a:t>
                      </a:r>
                      <a:endParaRPr lang="en-US"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2000" b="1"/>
                        <a:t>Type / Behavior</a:t>
                      </a:r>
                      <a:endParaRPr lang="en-US"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2000" b="1" dirty="0"/>
                        <a:t>Key Features / Notes</a:t>
                      </a: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67698941"/>
                  </a:ext>
                </a:extLst>
              </a:tr>
              <a:tr h="0">
                <a:tc>
                  <a:txBody>
                    <a:bodyPr/>
                    <a:lstStyle/>
                    <a:p>
                      <a:pPr algn="ctr">
                        <a:buNone/>
                      </a:pPr>
                      <a:r>
                        <a:rPr lang="en-US" sz="2000" b="1" dirty="0" err="1"/>
                        <a:t>SocGholish</a:t>
                      </a:r>
                      <a:endParaRPr lang="en-US" sz="2000" b="1"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PK" sz="2000" dirty="0"/>
                        <a:t>2024</a:t>
                      </a:r>
                      <a:endParaRPr lang="en-PK" sz="20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2000"/>
                        <a:t>Downloader/Info-stealer (“FakeUpdates”)</a:t>
                      </a:r>
                      <a:endParaRPr lang="en-US"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2000"/>
                        <a:t>Masquerades as browser update → downloads secondary malware. (</a:t>
                      </a:r>
                      <a:r>
                        <a:rPr lang="en-US" sz="2000">
                          <a:hlinkClick r:id="rId2" tooltip="What is the Prominent Computer Virus in 2024? | Computer Malware – Sivo"/>
                        </a:rPr>
                        <a:t>Sivo</a:t>
                      </a:r>
                      <a:r>
                        <a:rPr lang="en-US" sz="2000"/>
                        <a:t>)</a:t>
                      </a: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22615621"/>
                  </a:ext>
                </a:extLst>
              </a:tr>
              <a:tr h="0">
                <a:tc>
                  <a:txBody>
                    <a:bodyPr/>
                    <a:lstStyle/>
                    <a:p>
                      <a:pPr algn="ctr">
                        <a:buNone/>
                      </a:pPr>
                      <a:r>
                        <a:rPr lang="en-US" sz="2000" b="1" dirty="0" err="1"/>
                        <a:t>LockBit</a:t>
                      </a:r>
                      <a:r>
                        <a:rPr lang="en-US" sz="2000" b="1" dirty="0"/>
                        <a:t> 3.0</a:t>
                      </a:r>
                      <a:endParaRPr lang="en-US" sz="2000" b="1"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PK" sz="2000" dirty="0"/>
                        <a:t>2024</a:t>
                      </a:r>
                      <a:endParaRPr lang="en-PK" sz="20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2000"/>
                        <a:t>Ransomware as a Service (RaaS) with self-spreading features</a:t>
                      </a:r>
                      <a:endParaRPr lang="en-US"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2000"/>
                        <a:t>Modular infection, data theft + encryption. (</a:t>
                      </a:r>
                      <a:r>
                        <a:rPr lang="en-US" sz="2000">
                          <a:hlinkClick r:id="rId3" tooltip="7 New Computer Viruses &amp; Malware of 2025"/>
                        </a:rPr>
                        <a:t>Avast</a:t>
                      </a:r>
                      <a:r>
                        <a:rPr lang="en-US" sz="2000"/>
                        <a:t>)</a:t>
                      </a: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04898073"/>
                  </a:ext>
                </a:extLst>
              </a:tr>
              <a:tr h="0">
                <a:tc>
                  <a:txBody>
                    <a:bodyPr/>
                    <a:lstStyle/>
                    <a:p>
                      <a:pPr algn="ctr">
                        <a:buNone/>
                      </a:pPr>
                      <a:r>
                        <a:rPr lang="en-US" sz="2000" b="1" dirty="0"/>
                        <a:t>Clop</a:t>
                      </a:r>
                      <a:endParaRPr lang="en-US" sz="2000" b="1"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PK" sz="2000"/>
                        <a:t>2024</a:t>
                      </a:r>
                      <a:endParaRPr lang="en-PK"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2000"/>
                        <a:t>Ransomware targeting networks (double-extortion)</a:t>
                      </a:r>
                      <a:endParaRPr lang="en-US"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2000" dirty="0"/>
                        <a:t>Blocks hundreds of Windows processes, steals data then encrypts. (</a:t>
                      </a:r>
                      <a:r>
                        <a:rPr lang="en-US" sz="2000" dirty="0">
                          <a:hlinkClick r:id="rId3" tooltip="7 New Computer Viruses &amp; Malware of 2025"/>
                        </a:rPr>
                        <a:t>Avast</a:t>
                      </a:r>
                      <a:r>
                        <a:rPr lang="en-US" sz="2000" dirty="0"/>
                        <a:t>)</a:t>
                      </a: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77784844"/>
                  </a:ext>
                </a:extLst>
              </a:tr>
            </a:tbl>
          </a:graphicData>
        </a:graphic>
      </p:graphicFrame>
      <p:sp>
        <p:nvSpPr>
          <p:cNvPr id="7" name="TextBox 6">
            <a:extLst>
              <a:ext uri="{FF2B5EF4-FFF2-40B4-BE49-F238E27FC236}">
                <a16:creationId xmlns:a16="http://schemas.microsoft.com/office/drawing/2014/main" id="{F1D3DA10-FF30-4380-05DB-B0CB5C1EAC97}"/>
              </a:ext>
            </a:extLst>
          </p:cNvPr>
          <p:cNvSpPr txBox="1"/>
          <p:nvPr/>
        </p:nvSpPr>
        <p:spPr>
          <a:xfrm>
            <a:off x="1066800" y="328414"/>
            <a:ext cx="9453880" cy="1200329"/>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Recent Malware-Examples (2023-2025)</a:t>
            </a:r>
            <a:endParaRPr lang="en-PK"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a:t>
            </a:r>
          </a:p>
        </p:txBody>
      </p:sp>
    </p:spTree>
    <p:extLst>
      <p:ext uri="{BB962C8B-B14F-4D97-AF65-F5344CB8AC3E}">
        <p14:creationId xmlns:p14="http://schemas.microsoft.com/office/powerpoint/2010/main" val="2986571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AAD85C7-D0A2-76D8-9C1A-37861A27B388}"/>
              </a:ext>
            </a:extLst>
          </p:cNvPr>
          <p:cNvGraphicFramePr>
            <a:graphicFrameLocks noGrp="1"/>
          </p:cNvGraphicFramePr>
          <p:nvPr>
            <p:extLst>
              <p:ext uri="{D42A27DB-BD31-4B8C-83A1-F6EECF244321}">
                <p14:modId xmlns:p14="http://schemas.microsoft.com/office/powerpoint/2010/main" val="1764411757"/>
              </p:ext>
            </p:extLst>
          </p:nvPr>
        </p:nvGraphicFramePr>
        <p:xfrm>
          <a:off x="924560" y="1075258"/>
          <a:ext cx="10708640" cy="5356216"/>
        </p:xfrm>
        <a:graphic>
          <a:graphicData uri="http://schemas.openxmlformats.org/drawingml/2006/table">
            <a:tbl>
              <a:tblPr>
                <a:tableStyleId>{D7AC3CCA-C797-4891-BE02-D94E43425B78}</a:tableStyleId>
              </a:tblPr>
              <a:tblGrid>
                <a:gridCol w="2677160">
                  <a:extLst>
                    <a:ext uri="{9D8B030D-6E8A-4147-A177-3AD203B41FA5}">
                      <a16:colId xmlns:a16="http://schemas.microsoft.com/office/drawing/2014/main" val="2069905886"/>
                    </a:ext>
                  </a:extLst>
                </a:gridCol>
                <a:gridCol w="2677160">
                  <a:extLst>
                    <a:ext uri="{9D8B030D-6E8A-4147-A177-3AD203B41FA5}">
                      <a16:colId xmlns:a16="http://schemas.microsoft.com/office/drawing/2014/main" val="2360802258"/>
                    </a:ext>
                  </a:extLst>
                </a:gridCol>
                <a:gridCol w="2677160">
                  <a:extLst>
                    <a:ext uri="{9D8B030D-6E8A-4147-A177-3AD203B41FA5}">
                      <a16:colId xmlns:a16="http://schemas.microsoft.com/office/drawing/2014/main" val="184362127"/>
                    </a:ext>
                  </a:extLst>
                </a:gridCol>
                <a:gridCol w="2677160">
                  <a:extLst>
                    <a:ext uri="{9D8B030D-6E8A-4147-A177-3AD203B41FA5}">
                      <a16:colId xmlns:a16="http://schemas.microsoft.com/office/drawing/2014/main" val="4217983984"/>
                    </a:ext>
                  </a:extLst>
                </a:gridCol>
              </a:tblGrid>
              <a:tr h="289379">
                <a:tc>
                  <a:txBody>
                    <a:bodyPr/>
                    <a:lstStyle/>
                    <a:p>
                      <a:pPr>
                        <a:buNone/>
                      </a:pPr>
                      <a:r>
                        <a:rPr lang="en-US" sz="1900" b="1"/>
                        <a:t>Name</a:t>
                      </a:r>
                      <a:endParaRPr lang="en-US" sz="1900">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US" sz="1900" b="1" dirty="0"/>
                        <a:t>First Seen</a:t>
                      </a:r>
                      <a:endParaRPr lang="en-US" sz="1900" dirty="0">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US" sz="1900" b="1"/>
                        <a:t>Name</a:t>
                      </a:r>
                      <a:endParaRPr lang="en-US" sz="1900">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US" sz="1900" b="1"/>
                        <a:t>First Seen</a:t>
                      </a:r>
                      <a:endParaRPr lang="en-US" sz="1900">
                        <a:latin typeface="Times New Roman" panose="02020603050405020304" pitchFamily="18" charset="0"/>
                        <a:cs typeface="Times New Roman" panose="02020603050405020304" pitchFamily="18" charset="0"/>
                      </a:endParaRPr>
                    </a:p>
                  </a:txBody>
                  <a:tcPr marL="72345" marR="72345" marT="36172" marB="36172" anchor="ctr"/>
                </a:tc>
                <a:extLst>
                  <a:ext uri="{0D108BD9-81ED-4DB2-BD59-A6C34878D82A}">
                    <a16:rowId xmlns:a16="http://schemas.microsoft.com/office/drawing/2014/main" val="2956597211"/>
                  </a:ext>
                </a:extLst>
              </a:tr>
              <a:tr h="289379">
                <a:tc>
                  <a:txBody>
                    <a:bodyPr/>
                    <a:lstStyle/>
                    <a:p>
                      <a:pPr>
                        <a:buNone/>
                      </a:pPr>
                      <a:r>
                        <a:rPr lang="en-US" sz="1900" b="1"/>
                        <a:t>Black Basta</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2022</a:t>
                      </a:r>
                      <a:endParaRPr lang="en-PK" sz="1900">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US" sz="1900" b="1"/>
                        <a:t>Titanium</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2019</a:t>
                      </a:r>
                      <a:endParaRPr lang="en-PK" sz="1900">
                        <a:latin typeface="Times New Roman" panose="02020603050405020304" pitchFamily="18" charset="0"/>
                        <a:cs typeface="Times New Roman" panose="02020603050405020304" pitchFamily="18" charset="0"/>
                      </a:endParaRPr>
                    </a:p>
                  </a:txBody>
                  <a:tcPr marL="72345" marR="72345" marT="36172" marB="36172" anchor="ctr"/>
                </a:tc>
                <a:extLst>
                  <a:ext uri="{0D108BD9-81ED-4DB2-BD59-A6C34878D82A}">
                    <a16:rowId xmlns:a16="http://schemas.microsoft.com/office/drawing/2014/main" val="899044650"/>
                  </a:ext>
                </a:extLst>
              </a:tr>
              <a:tr h="289379">
                <a:tc>
                  <a:txBody>
                    <a:bodyPr/>
                    <a:lstStyle/>
                    <a:p>
                      <a:pPr>
                        <a:buNone/>
                      </a:pPr>
                      <a:r>
                        <a:rPr lang="en-US" sz="1900" b="1" dirty="0"/>
                        <a:t>WannaCry</a:t>
                      </a:r>
                      <a:endParaRPr lang="en-US" sz="1900" b="1" dirty="0">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2017</a:t>
                      </a:r>
                      <a:endParaRPr lang="en-PK" sz="1900">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US" sz="1900" b="1"/>
                        <a:t>Petya</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2016</a:t>
                      </a:r>
                      <a:endParaRPr lang="en-PK" sz="1900">
                        <a:latin typeface="Times New Roman" panose="02020603050405020304" pitchFamily="18" charset="0"/>
                        <a:cs typeface="Times New Roman" panose="02020603050405020304" pitchFamily="18" charset="0"/>
                      </a:endParaRPr>
                    </a:p>
                  </a:txBody>
                  <a:tcPr marL="72345" marR="72345" marT="36172" marB="36172" anchor="ctr"/>
                </a:tc>
                <a:extLst>
                  <a:ext uri="{0D108BD9-81ED-4DB2-BD59-A6C34878D82A}">
                    <a16:rowId xmlns:a16="http://schemas.microsoft.com/office/drawing/2014/main" val="3660462674"/>
                  </a:ext>
                </a:extLst>
              </a:tr>
              <a:tr h="289379">
                <a:tc>
                  <a:txBody>
                    <a:bodyPr/>
                    <a:lstStyle/>
                    <a:p>
                      <a:pPr>
                        <a:buNone/>
                      </a:pPr>
                      <a:r>
                        <a:rPr lang="en-US" sz="1900" b="1"/>
                        <a:t>Shamoon</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2012 / 2017</a:t>
                      </a:r>
                      <a:endParaRPr lang="en-PK" sz="1900">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US" sz="1900" b="1"/>
                        <a:t>Rombertik</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2015</a:t>
                      </a:r>
                      <a:endParaRPr lang="en-PK" sz="1900">
                        <a:latin typeface="Times New Roman" panose="02020603050405020304" pitchFamily="18" charset="0"/>
                        <a:cs typeface="Times New Roman" panose="02020603050405020304" pitchFamily="18" charset="0"/>
                      </a:endParaRPr>
                    </a:p>
                  </a:txBody>
                  <a:tcPr marL="72345" marR="72345" marT="36172" marB="36172" anchor="ctr"/>
                </a:tc>
                <a:extLst>
                  <a:ext uri="{0D108BD9-81ED-4DB2-BD59-A6C34878D82A}">
                    <a16:rowId xmlns:a16="http://schemas.microsoft.com/office/drawing/2014/main" val="1532381196"/>
                  </a:ext>
                </a:extLst>
              </a:tr>
              <a:tr h="289379">
                <a:tc>
                  <a:txBody>
                    <a:bodyPr/>
                    <a:lstStyle/>
                    <a:p>
                      <a:pPr>
                        <a:buNone/>
                      </a:pPr>
                      <a:r>
                        <a:rPr lang="en-US" sz="1900" b="1"/>
                        <a:t>Gameover ZeuS</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2014</a:t>
                      </a:r>
                      <a:endParaRPr lang="en-PK" sz="1900">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US" sz="1900" b="1"/>
                        <a:t>CryptoLocker</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2013</a:t>
                      </a:r>
                      <a:endParaRPr lang="en-PK" sz="1900">
                        <a:latin typeface="Times New Roman" panose="02020603050405020304" pitchFamily="18" charset="0"/>
                        <a:cs typeface="Times New Roman" panose="02020603050405020304" pitchFamily="18" charset="0"/>
                      </a:endParaRPr>
                    </a:p>
                  </a:txBody>
                  <a:tcPr marL="72345" marR="72345" marT="36172" marB="36172" anchor="ctr"/>
                </a:tc>
                <a:extLst>
                  <a:ext uri="{0D108BD9-81ED-4DB2-BD59-A6C34878D82A}">
                    <a16:rowId xmlns:a16="http://schemas.microsoft.com/office/drawing/2014/main" val="3736543234"/>
                  </a:ext>
                </a:extLst>
              </a:tr>
              <a:tr h="289379">
                <a:tc>
                  <a:txBody>
                    <a:bodyPr/>
                    <a:lstStyle/>
                    <a:p>
                      <a:pPr>
                        <a:buNone/>
                      </a:pPr>
                      <a:r>
                        <a:rPr lang="en-US" sz="1900" b="1"/>
                        <a:t>CryptoWall</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2014</a:t>
                      </a:r>
                      <a:endParaRPr lang="en-PK" sz="1900">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US" sz="1900" b="1"/>
                        <a:t>Mirai</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2016</a:t>
                      </a:r>
                      <a:endParaRPr lang="en-PK" sz="1900">
                        <a:latin typeface="Times New Roman" panose="02020603050405020304" pitchFamily="18" charset="0"/>
                        <a:cs typeface="Times New Roman" panose="02020603050405020304" pitchFamily="18" charset="0"/>
                      </a:endParaRPr>
                    </a:p>
                  </a:txBody>
                  <a:tcPr marL="72345" marR="72345" marT="36172" marB="36172" anchor="ctr"/>
                </a:tc>
                <a:extLst>
                  <a:ext uri="{0D108BD9-81ED-4DB2-BD59-A6C34878D82A}">
                    <a16:rowId xmlns:a16="http://schemas.microsoft.com/office/drawing/2014/main" val="1432395236"/>
                  </a:ext>
                </a:extLst>
              </a:tr>
              <a:tr h="289379">
                <a:tc>
                  <a:txBody>
                    <a:bodyPr/>
                    <a:lstStyle/>
                    <a:p>
                      <a:pPr>
                        <a:buNone/>
                      </a:pPr>
                      <a:r>
                        <a:rPr lang="en-US" sz="1900" b="1"/>
                        <a:t>BASHLITE</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2014–2016</a:t>
                      </a:r>
                      <a:endParaRPr lang="en-PK" sz="1900">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US" sz="1900" b="1" dirty="0"/>
                        <a:t>Atlanta Ransomware</a:t>
                      </a:r>
                      <a:endParaRPr lang="en-US" sz="1900" b="1" dirty="0">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2018</a:t>
                      </a:r>
                      <a:endParaRPr lang="en-PK" sz="1900">
                        <a:latin typeface="Times New Roman" panose="02020603050405020304" pitchFamily="18" charset="0"/>
                        <a:cs typeface="Times New Roman" panose="02020603050405020304" pitchFamily="18" charset="0"/>
                      </a:endParaRPr>
                    </a:p>
                  </a:txBody>
                  <a:tcPr marL="72345" marR="72345" marT="36172" marB="36172" anchor="ctr"/>
                </a:tc>
                <a:extLst>
                  <a:ext uri="{0D108BD9-81ED-4DB2-BD59-A6C34878D82A}">
                    <a16:rowId xmlns:a16="http://schemas.microsoft.com/office/drawing/2014/main" val="2853729641"/>
                  </a:ext>
                </a:extLst>
              </a:tr>
              <a:tr h="289379">
                <a:tc>
                  <a:txBody>
                    <a:bodyPr/>
                    <a:lstStyle/>
                    <a:p>
                      <a:pPr>
                        <a:buNone/>
                      </a:pPr>
                      <a:r>
                        <a:rPr lang="en-US" sz="1900" b="1"/>
                        <a:t>Mindware</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2022</a:t>
                      </a:r>
                      <a:endParaRPr lang="en-PK" sz="1900">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US" sz="1900" b="1"/>
                        <a:t>Thanatos</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2018</a:t>
                      </a:r>
                      <a:endParaRPr lang="en-PK" sz="1900">
                        <a:latin typeface="Times New Roman" panose="02020603050405020304" pitchFamily="18" charset="0"/>
                        <a:cs typeface="Times New Roman" panose="02020603050405020304" pitchFamily="18" charset="0"/>
                      </a:endParaRPr>
                    </a:p>
                  </a:txBody>
                  <a:tcPr marL="72345" marR="72345" marT="36172" marB="36172" anchor="ctr"/>
                </a:tc>
                <a:extLst>
                  <a:ext uri="{0D108BD9-81ED-4DB2-BD59-A6C34878D82A}">
                    <a16:rowId xmlns:a16="http://schemas.microsoft.com/office/drawing/2014/main" val="1516879645"/>
                  </a:ext>
                </a:extLst>
              </a:tr>
              <a:tr h="289379">
                <a:tc>
                  <a:txBody>
                    <a:bodyPr/>
                    <a:lstStyle/>
                    <a:p>
                      <a:pPr>
                        <a:buNone/>
                      </a:pPr>
                      <a:r>
                        <a:rPr lang="en-US" sz="1900" b="1"/>
                        <a:t>Clop (Cl0p)</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2019–2024</a:t>
                      </a:r>
                      <a:endParaRPr lang="en-PK" sz="1900">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US" sz="1900" b="1"/>
                        <a:t>FakeAV</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2012</a:t>
                      </a:r>
                      <a:endParaRPr lang="en-PK" sz="1900">
                        <a:latin typeface="Times New Roman" panose="02020603050405020304" pitchFamily="18" charset="0"/>
                        <a:cs typeface="Times New Roman" panose="02020603050405020304" pitchFamily="18" charset="0"/>
                      </a:endParaRPr>
                    </a:p>
                  </a:txBody>
                  <a:tcPr marL="72345" marR="72345" marT="36172" marB="36172" anchor="ctr"/>
                </a:tc>
                <a:extLst>
                  <a:ext uri="{0D108BD9-81ED-4DB2-BD59-A6C34878D82A}">
                    <a16:rowId xmlns:a16="http://schemas.microsoft.com/office/drawing/2014/main" val="316942718"/>
                  </a:ext>
                </a:extLst>
              </a:tr>
              <a:tr h="289379">
                <a:tc>
                  <a:txBody>
                    <a:bodyPr/>
                    <a:lstStyle/>
                    <a:p>
                      <a:pPr>
                        <a:buNone/>
                      </a:pPr>
                      <a:r>
                        <a:rPr lang="en-US" sz="1900" b="1"/>
                        <a:t>MacDefender</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2011</a:t>
                      </a:r>
                      <a:endParaRPr lang="en-PK" sz="1900">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US" sz="1900" b="1"/>
                        <a:t>Kedi RAT</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2017</a:t>
                      </a:r>
                      <a:endParaRPr lang="en-PK" sz="1900">
                        <a:latin typeface="Times New Roman" panose="02020603050405020304" pitchFamily="18" charset="0"/>
                        <a:cs typeface="Times New Roman" panose="02020603050405020304" pitchFamily="18" charset="0"/>
                      </a:endParaRPr>
                    </a:p>
                  </a:txBody>
                  <a:tcPr marL="72345" marR="72345" marT="36172" marB="36172" anchor="ctr"/>
                </a:tc>
                <a:extLst>
                  <a:ext uri="{0D108BD9-81ED-4DB2-BD59-A6C34878D82A}">
                    <a16:rowId xmlns:a16="http://schemas.microsoft.com/office/drawing/2014/main" val="2146700671"/>
                  </a:ext>
                </a:extLst>
              </a:tr>
              <a:tr h="289379">
                <a:tc>
                  <a:txBody>
                    <a:bodyPr/>
                    <a:lstStyle/>
                    <a:p>
                      <a:pPr>
                        <a:buNone/>
                      </a:pPr>
                      <a:r>
                        <a:rPr lang="en-US" sz="1900" b="1"/>
                        <a:t>Sobig</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2003</a:t>
                      </a:r>
                      <a:endParaRPr lang="en-PK" sz="1900">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US" sz="1900" b="1"/>
                        <a:t>Shlayer</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2018–2021</a:t>
                      </a:r>
                      <a:endParaRPr lang="en-PK" sz="1900">
                        <a:latin typeface="Times New Roman" panose="02020603050405020304" pitchFamily="18" charset="0"/>
                        <a:cs typeface="Times New Roman" panose="02020603050405020304" pitchFamily="18" charset="0"/>
                      </a:endParaRPr>
                    </a:p>
                  </a:txBody>
                  <a:tcPr marL="72345" marR="72345" marT="36172" marB="36172" anchor="ctr"/>
                </a:tc>
                <a:extLst>
                  <a:ext uri="{0D108BD9-81ED-4DB2-BD59-A6C34878D82A}">
                    <a16:rowId xmlns:a16="http://schemas.microsoft.com/office/drawing/2014/main" val="323594626"/>
                  </a:ext>
                </a:extLst>
              </a:tr>
              <a:tr h="289379">
                <a:tc>
                  <a:txBody>
                    <a:bodyPr/>
                    <a:lstStyle/>
                    <a:p>
                      <a:pPr>
                        <a:buNone/>
                      </a:pPr>
                      <a:r>
                        <a:rPr lang="en-US" sz="1900" b="1"/>
                        <a:t>Mimail</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2003</a:t>
                      </a:r>
                      <a:endParaRPr lang="en-PK" sz="1900">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US" sz="1900" b="1"/>
                        <a:t>Nonvirus Virus (Hoax)</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US" sz="1900"/>
                        <a:t>Ongoing</a:t>
                      </a:r>
                      <a:endParaRPr lang="en-US" sz="1900">
                        <a:latin typeface="Times New Roman" panose="02020603050405020304" pitchFamily="18" charset="0"/>
                        <a:cs typeface="Times New Roman" panose="02020603050405020304" pitchFamily="18" charset="0"/>
                      </a:endParaRPr>
                    </a:p>
                  </a:txBody>
                  <a:tcPr marL="72345" marR="72345" marT="36172" marB="36172" anchor="ctr"/>
                </a:tc>
                <a:extLst>
                  <a:ext uri="{0D108BD9-81ED-4DB2-BD59-A6C34878D82A}">
                    <a16:rowId xmlns:a16="http://schemas.microsoft.com/office/drawing/2014/main" val="577047107"/>
                  </a:ext>
                </a:extLst>
              </a:tr>
              <a:tr h="289379">
                <a:tc>
                  <a:txBody>
                    <a:bodyPr/>
                    <a:lstStyle/>
                    <a:p>
                      <a:pPr>
                        <a:buNone/>
                      </a:pPr>
                      <a:r>
                        <a:rPr lang="en-US" sz="1900" b="1"/>
                        <a:t>Morris Worm</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1988</a:t>
                      </a:r>
                      <a:endParaRPr lang="en-PK" sz="1900">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US" sz="1900" b="1"/>
                        <a:t>Flame</a:t>
                      </a:r>
                      <a:endParaRPr lang="en-US" sz="1900" b="1">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2012</a:t>
                      </a:r>
                      <a:endParaRPr lang="en-PK" sz="1900">
                        <a:latin typeface="Times New Roman" panose="02020603050405020304" pitchFamily="18" charset="0"/>
                        <a:cs typeface="Times New Roman" panose="02020603050405020304" pitchFamily="18" charset="0"/>
                      </a:endParaRPr>
                    </a:p>
                  </a:txBody>
                  <a:tcPr marL="72345" marR="72345" marT="36172" marB="36172" anchor="ctr"/>
                </a:tc>
                <a:extLst>
                  <a:ext uri="{0D108BD9-81ED-4DB2-BD59-A6C34878D82A}">
                    <a16:rowId xmlns:a16="http://schemas.microsoft.com/office/drawing/2014/main" val="3614949947"/>
                  </a:ext>
                </a:extLst>
              </a:tr>
              <a:tr h="289379">
                <a:tc>
                  <a:txBody>
                    <a:bodyPr/>
                    <a:lstStyle/>
                    <a:p>
                      <a:pPr>
                        <a:buNone/>
                      </a:pPr>
                      <a:r>
                        <a:rPr lang="en-US" sz="1900" b="1" dirty="0"/>
                        <a:t>Creeper / Reaper</a:t>
                      </a:r>
                      <a:endParaRPr lang="en-US" sz="1900" b="1" dirty="0">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a:t>1971</a:t>
                      </a:r>
                      <a:endParaRPr lang="en-PK" sz="1900">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US" sz="1900" b="1" dirty="0"/>
                        <a:t>Apple Viruses 1–3</a:t>
                      </a:r>
                      <a:endParaRPr lang="en-US" sz="1900" b="1" dirty="0">
                        <a:latin typeface="Times New Roman" panose="02020603050405020304" pitchFamily="18" charset="0"/>
                        <a:cs typeface="Times New Roman" panose="02020603050405020304" pitchFamily="18" charset="0"/>
                      </a:endParaRPr>
                    </a:p>
                  </a:txBody>
                  <a:tcPr marL="72345" marR="72345" marT="36172" marB="36172" anchor="ctr"/>
                </a:tc>
                <a:tc>
                  <a:txBody>
                    <a:bodyPr/>
                    <a:lstStyle/>
                    <a:p>
                      <a:pPr>
                        <a:buNone/>
                      </a:pPr>
                      <a:r>
                        <a:rPr lang="en-PK" sz="1900" dirty="0"/>
                        <a:t>1981</a:t>
                      </a:r>
                      <a:endParaRPr lang="en-PK" sz="1900" dirty="0">
                        <a:latin typeface="Times New Roman" panose="02020603050405020304" pitchFamily="18" charset="0"/>
                        <a:cs typeface="Times New Roman" panose="02020603050405020304" pitchFamily="18" charset="0"/>
                      </a:endParaRPr>
                    </a:p>
                  </a:txBody>
                  <a:tcPr marL="72345" marR="72345" marT="36172" marB="36172" anchor="ctr"/>
                </a:tc>
                <a:extLst>
                  <a:ext uri="{0D108BD9-81ED-4DB2-BD59-A6C34878D82A}">
                    <a16:rowId xmlns:a16="http://schemas.microsoft.com/office/drawing/2014/main" val="3417506595"/>
                  </a:ext>
                </a:extLst>
              </a:tr>
            </a:tbl>
          </a:graphicData>
        </a:graphic>
      </p:graphicFrame>
      <p:sp>
        <p:nvSpPr>
          <p:cNvPr id="5" name="TextBox 4">
            <a:extLst>
              <a:ext uri="{FF2B5EF4-FFF2-40B4-BE49-F238E27FC236}">
                <a16:creationId xmlns:a16="http://schemas.microsoft.com/office/drawing/2014/main" id="{A34BE5E0-B6E1-2BAB-9DB2-9131FBD2C7DB}"/>
              </a:ext>
            </a:extLst>
          </p:cNvPr>
          <p:cNvSpPr txBox="1"/>
          <p:nvPr/>
        </p:nvSpPr>
        <p:spPr>
          <a:xfrm>
            <a:off x="1056640" y="257294"/>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Malware Outbreaks (Historical + Recent)</a:t>
            </a:r>
            <a:endParaRPr lang="en-PK"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203691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E9DF03-5B56-6AF8-BDA0-70E77D8A5161}"/>
              </a:ext>
            </a:extLst>
          </p:cNvPr>
          <p:cNvSpPr txBox="1"/>
          <p:nvPr/>
        </p:nvSpPr>
        <p:spPr>
          <a:xfrm>
            <a:off x="894080" y="1423472"/>
            <a:ext cx="10403840" cy="4524315"/>
          </a:xfrm>
          <a:prstGeom prst="rect">
            <a:avLst/>
          </a:prstGeom>
          <a:noFill/>
        </p:spPr>
        <p:txBody>
          <a:bodyPr wrap="square">
            <a:spAutoFit/>
          </a:bodyPr>
          <a:lstStyle/>
          <a:p>
            <a:pPr>
              <a:buNone/>
            </a:pPr>
            <a:r>
              <a:rPr lang="en-US" sz="2400" b="1" dirty="0">
                <a:latin typeface="Times New Roman" panose="02020603050405020304" pitchFamily="18" charset="0"/>
                <a:cs typeface="Times New Roman" panose="02020603050405020304" pitchFamily="18" charset="0"/>
              </a:rPr>
              <a:t>1. Use a Reliable Antivirus Scanner</a:t>
            </a:r>
          </a:p>
          <a:p>
            <a:pPr marL="742950" lvl="1" indent="-28575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Popular choices: </a:t>
            </a:r>
            <a:r>
              <a:rPr lang="en-US" sz="2400" b="1" dirty="0">
                <a:latin typeface="Times New Roman" panose="02020603050405020304" pitchFamily="18" charset="0"/>
                <a:cs typeface="Times New Roman" panose="02020603050405020304" pitchFamily="18" charset="0"/>
              </a:rPr>
              <a:t>McAfee</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Norton</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Kaspersky</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AVG</a:t>
            </a:r>
            <a:r>
              <a:rPr lang="en-US" sz="2400" dirty="0">
                <a:latin typeface="Times New Roman" panose="02020603050405020304" pitchFamily="18" charset="0"/>
                <a:cs typeface="Times New Roman" panose="02020603050405020304" pitchFamily="18" charset="0"/>
              </a:rPr>
              <a:t>.</a:t>
            </a:r>
          </a:p>
          <a:p>
            <a:pPr marL="742950" lvl="1" indent="-28575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Cost: Around </a:t>
            </a:r>
            <a:r>
              <a:rPr lang="en-US" sz="2400" b="1" dirty="0">
                <a:latin typeface="Times New Roman" panose="02020603050405020304" pitchFamily="18" charset="0"/>
                <a:cs typeface="Times New Roman" panose="02020603050405020304" pitchFamily="18" charset="0"/>
              </a:rPr>
              <a:t>$30/year</a:t>
            </a:r>
            <a:r>
              <a:rPr lang="en-US" sz="2400" dirty="0">
                <a:latin typeface="Times New Roman" panose="02020603050405020304" pitchFamily="18" charset="0"/>
                <a:cs typeface="Times New Roman" panose="02020603050405020304" pitchFamily="18" charset="0"/>
              </a:rPr>
              <a:t> for updates — </a:t>
            </a:r>
            <a:r>
              <a:rPr lang="en-US" sz="2400" b="1" dirty="0">
                <a:latin typeface="Times New Roman" panose="02020603050405020304" pitchFamily="18" charset="0"/>
                <a:cs typeface="Times New Roman" panose="02020603050405020304" pitchFamily="18" charset="0"/>
              </a:rPr>
              <a:t>keep it updated!</a:t>
            </a:r>
            <a:endParaRPr lang="en-US" sz="24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2. Don’t Open Unknown Attachments</a:t>
            </a:r>
          </a:p>
          <a:p>
            <a:pPr marL="742950" lvl="1" indent="-28575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Most viruses spread via email attachments.</a:t>
            </a:r>
          </a:p>
          <a:p>
            <a:pPr>
              <a:buNone/>
            </a:pPr>
            <a:r>
              <a:rPr lang="en-US" sz="2400" b="1" dirty="0">
                <a:latin typeface="Times New Roman" panose="02020603050405020304" pitchFamily="18" charset="0"/>
                <a:cs typeface="Times New Roman" panose="02020603050405020304" pitchFamily="18" charset="0"/>
              </a:rPr>
              <a:t>3. Use a “Code Word” System</a:t>
            </a:r>
          </a:p>
          <a:p>
            <a:pPr marL="742950" lvl="1" indent="-28575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Share a </a:t>
            </a:r>
            <a:r>
              <a:rPr lang="en-US" sz="2400" b="1" dirty="0">
                <a:latin typeface="Times New Roman" panose="02020603050405020304" pitchFamily="18" charset="0"/>
                <a:cs typeface="Times New Roman" panose="02020603050405020304" pitchFamily="18" charset="0"/>
              </a:rPr>
              <a:t>secret keyword</a:t>
            </a:r>
            <a:r>
              <a:rPr lang="en-US" sz="2400" dirty="0">
                <a:latin typeface="Times New Roman" panose="02020603050405020304" pitchFamily="18" charset="0"/>
                <a:cs typeface="Times New Roman" panose="02020603050405020304" pitchFamily="18" charset="0"/>
              </a:rPr>
              <a:t> with trusted contacts.</a:t>
            </a:r>
          </a:p>
          <a:p>
            <a:pPr marL="742950" lvl="1" indent="-28575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If they send you attachments, they must include the keyword in the </a:t>
            </a:r>
            <a:r>
              <a:rPr lang="en-US" sz="2400" b="1" dirty="0">
                <a:latin typeface="Times New Roman" panose="02020603050405020304" pitchFamily="18" charset="0"/>
                <a:cs typeface="Times New Roman" panose="02020603050405020304" pitchFamily="18" charset="0"/>
              </a:rPr>
              <a:t>email title.</a:t>
            </a:r>
            <a:endParaRPr lang="en-US" sz="24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4. Ignore Fake Security Alerts</a:t>
            </a:r>
          </a:p>
          <a:p>
            <a:pPr marL="742950" lvl="1" indent="-28575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Microsoft and antivirus companies do not email warnings.</a:t>
            </a:r>
            <a:endParaRPr lang="en-US" sz="24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Always </a:t>
            </a:r>
            <a:r>
              <a:rPr lang="en-US" sz="2400" b="1" dirty="0">
                <a:latin typeface="Times New Roman" panose="02020603050405020304" pitchFamily="18" charset="0"/>
                <a:cs typeface="Times New Roman" panose="02020603050405020304" pitchFamily="18" charset="0"/>
              </a:rPr>
              <a:t>verify alerts</a:t>
            </a:r>
            <a:r>
              <a:rPr lang="en-US" sz="2400" dirty="0">
                <a:latin typeface="Times New Roman" panose="02020603050405020304" pitchFamily="18" charset="0"/>
                <a:cs typeface="Times New Roman" panose="02020603050405020304" pitchFamily="18" charset="0"/>
              </a:rPr>
              <a:t> directly on official websites:</a:t>
            </a:r>
          </a:p>
        </p:txBody>
      </p:sp>
      <p:sp>
        <p:nvSpPr>
          <p:cNvPr id="4" name="TextBox 3">
            <a:extLst>
              <a:ext uri="{FF2B5EF4-FFF2-40B4-BE49-F238E27FC236}">
                <a16:creationId xmlns:a16="http://schemas.microsoft.com/office/drawing/2014/main" id="{EF8F5C51-550F-C333-DAD6-94F16EA2E057}"/>
              </a:ext>
            </a:extLst>
          </p:cNvPr>
          <p:cNvSpPr txBox="1"/>
          <p:nvPr/>
        </p:nvSpPr>
        <p:spPr>
          <a:xfrm>
            <a:off x="965200" y="490974"/>
            <a:ext cx="9453880" cy="646331"/>
          </a:xfrm>
          <a:prstGeom prst="rect">
            <a:avLst/>
          </a:prstGeom>
          <a:noFill/>
        </p:spPr>
        <p:txBody>
          <a:bodyPr wrap="square">
            <a:spAutoFit/>
          </a:bodyPr>
          <a:lstStyle/>
          <a:p>
            <a:pPr algn="ctr">
              <a:buNone/>
            </a:pP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Rules for Avoiding Viruses </a:t>
            </a:r>
          </a:p>
        </p:txBody>
      </p:sp>
    </p:spTree>
    <p:extLst>
      <p:ext uri="{BB962C8B-B14F-4D97-AF65-F5344CB8AC3E}">
        <p14:creationId xmlns:p14="http://schemas.microsoft.com/office/powerpoint/2010/main" val="3861119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59E4A-F68A-7A20-90C8-5F6F9E348D5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97CD9E2-4D8D-DDED-F192-2D1B43BCFCEA}"/>
              </a:ext>
            </a:extLst>
          </p:cNvPr>
          <p:cNvSpPr txBox="1"/>
          <p:nvPr/>
        </p:nvSpPr>
        <p:spPr>
          <a:xfrm>
            <a:off x="721360" y="1395720"/>
            <a:ext cx="10332720" cy="4401205"/>
          </a:xfrm>
          <a:prstGeom prst="rect">
            <a:avLst/>
          </a:prstGeom>
          <a:noFill/>
        </p:spPr>
        <p:txBody>
          <a:bodyPr wrap="square">
            <a:spAutoFit/>
          </a:bodyPr>
          <a:lstStyle/>
          <a:p>
            <a:pPr marL="457200"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Trojan horse</a:t>
            </a:r>
            <a:r>
              <a:rPr lang="en-US" sz="2800" dirty="0">
                <a:latin typeface="Times New Roman" panose="02020603050405020304" pitchFamily="18" charset="0"/>
                <a:cs typeface="Times New Roman" panose="02020603050405020304" pitchFamily="18" charset="0"/>
              </a:rPr>
              <a:t> is a program that </a:t>
            </a:r>
            <a:r>
              <a:rPr lang="en-US" sz="2800" b="1" dirty="0">
                <a:latin typeface="Times New Roman" panose="02020603050405020304" pitchFamily="18" charset="0"/>
                <a:cs typeface="Times New Roman" panose="02020603050405020304" pitchFamily="18" charset="0"/>
              </a:rPr>
              <a:t>appears benign</a:t>
            </a:r>
            <a:r>
              <a:rPr lang="en-US" sz="2800" dirty="0">
                <a:latin typeface="Times New Roman" panose="02020603050405020304" pitchFamily="18" charset="0"/>
                <a:cs typeface="Times New Roman" panose="02020603050405020304" pitchFamily="18" charset="0"/>
              </a:rPr>
              <a:t> but secretly performs </a:t>
            </a:r>
            <a:r>
              <a:rPr lang="en-US" sz="2800" b="1" dirty="0">
                <a:latin typeface="Times New Roman" panose="02020603050405020304" pitchFamily="18" charset="0"/>
                <a:cs typeface="Times New Roman" panose="02020603050405020304" pitchFamily="18" charset="0"/>
              </a:rPr>
              <a:t>malicious actions</a:t>
            </a:r>
            <a:r>
              <a:rPr lang="en-US" sz="2800" dirty="0">
                <a:latin typeface="Times New Roman" panose="02020603050405020304" pitchFamily="18" charset="0"/>
                <a:cs typeface="Times New Roman" panose="02020603050405020304" pitchFamily="18" charset="0"/>
              </a:rPr>
              <a:t> when run.</a:t>
            </a:r>
          </a:p>
          <a:p>
            <a:pPr marL="457200"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A Trojan Horse</a:t>
            </a:r>
            <a:r>
              <a:rPr lang="en-US" sz="2800" dirty="0">
                <a:latin typeface="Times New Roman" panose="02020603050405020304" pitchFamily="18" charset="0"/>
                <a:cs typeface="Times New Roman" panose="02020603050405020304" pitchFamily="18" charset="0"/>
              </a:rPr>
              <a:t> is a type of malware that downloads onto a computer disguised as a legitimate program. </a:t>
            </a:r>
          </a:p>
          <a:p>
            <a:pPr marL="457200" indent="-457200">
              <a:buFont typeface="Wingdings" panose="05000000000000000000" pitchFamily="2" charset="2"/>
              <a:buChar char="ü"/>
            </a:pPr>
            <a:r>
              <a:rPr lang="en-US" altLang="en-PK" sz="2800" dirty="0">
                <a:latin typeface="Times New Roman" panose="02020603050405020304" pitchFamily="18" charset="0"/>
                <a:cs typeface="Times New Roman" panose="02020603050405020304" pitchFamily="18" charset="0"/>
              </a:rPr>
              <a:t>It can d</a:t>
            </a:r>
            <a:r>
              <a:rPr lang="en-PK" altLang="en-PK" sz="2800" dirty="0" err="1">
                <a:latin typeface="Times New Roman" panose="02020603050405020304" pitchFamily="18" charset="0"/>
                <a:cs typeface="Times New Roman" panose="02020603050405020304" pitchFamily="18" charset="0"/>
              </a:rPr>
              <a:t>ownload</a:t>
            </a:r>
            <a:r>
              <a:rPr lang="en-PK" altLang="en-PK" sz="2800" dirty="0">
                <a:latin typeface="Times New Roman" panose="02020603050405020304" pitchFamily="18" charset="0"/>
                <a:cs typeface="Times New Roman" panose="02020603050405020304" pitchFamily="18" charset="0"/>
              </a:rPr>
              <a:t> additional harmful software (loaders, </a:t>
            </a:r>
            <a:r>
              <a:rPr lang="en-PK" altLang="en-PK" sz="2800" dirty="0" err="1">
                <a:latin typeface="Times New Roman" panose="02020603050405020304" pitchFamily="18" charset="0"/>
                <a:cs typeface="Times New Roman" panose="02020603050405020304" pitchFamily="18" charset="0"/>
              </a:rPr>
              <a:t>RATs</a:t>
            </a:r>
            <a:r>
              <a:rPr lang="en-PK" altLang="en-PK" sz="2800" dirty="0">
                <a:latin typeface="Times New Roman" panose="02020603050405020304" pitchFamily="18" charset="0"/>
                <a:cs typeface="Times New Roman" panose="02020603050405020304" pitchFamily="18" charset="0"/>
              </a:rPr>
              <a:t>, ransomware).</a:t>
            </a:r>
            <a:endParaRPr lang="en-US" altLang="en-PK"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ü"/>
            </a:pPr>
            <a:r>
              <a:rPr lang="en-PK" altLang="en-PK" sz="2800" dirty="0">
                <a:latin typeface="Times New Roman" panose="02020603050405020304" pitchFamily="18" charset="0"/>
                <a:cs typeface="Times New Roman" panose="02020603050405020304" pitchFamily="18" charset="0"/>
              </a:rPr>
              <a:t>Install a </a:t>
            </a:r>
            <a:r>
              <a:rPr lang="en-PK" altLang="en-PK" sz="2800" b="1" dirty="0">
                <a:latin typeface="Times New Roman" panose="02020603050405020304" pitchFamily="18" charset="0"/>
                <a:cs typeface="Times New Roman" panose="02020603050405020304" pitchFamily="18" charset="0"/>
              </a:rPr>
              <a:t>keylogger</a:t>
            </a:r>
            <a:r>
              <a:rPr lang="en-PK" altLang="en-PK" sz="2800" dirty="0">
                <a:latin typeface="Times New Roman" panose="02020603050405020304" pitchFamily="18" charset="0"/>
                <a:cs typeface="Times New Roman" panose="02020603050405020304" pitchFamily="18" charset="0"/>
              </a:rPr>
              <a:t> to capture credentials and sensitive input.</a:t>
            </a:r>
            <a:endParaRPr lang="en-US" altLang="en-PK"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ü"/>
            </a:pPr>
            <a:r>
              <a:rPr lang="en-PK" altLang="en-PK" sz="2800" dirty="0">
                <a:latin typeface="Times New Roman" panose="02020603050405020304" pitchFamily="18" charset="0"/>
                <a:cs typeface="Times New Roman" panose="02020603050405020304" pitchFamily="18" charset="0"/>
              </a:rPr>
              <a:t>Open a </a:t>
            </a:r>
            <a:r>
              <a:rPr lang="en-PK" altLang="en-PK" sz="2800" b="1" dirty="0">
                <a:latin typeface="Times New Roman" panose="02020603050405020304" pitchFamily="18" charset="0"/>
                <a:cs typeface="Times New Roman" panose="02020603050405020304" pitchFamily="18" charset="0"/>
              </a:rPr>
              <a:t>backdoor</a:t>
            </a:r>
            <a:r>
              <a:rPr lang="en-PK" altLang="en-PK" sz="2800" dirty="0">
                <a:latin typeface="Times New Roman" panose="02020603050405020304" pitchFamily="18" charset="0"/>
                <a:cs typeface="Times New Roman" panose="02020603050405020304" pitchFamily="18" charset="0"/>
              </a:rPr>
              <a:t> to give remote attackers persistent access</a:t>
            </a:r>
            <a:r>
              <a:rPr lang="en-US" altLang="en-PK"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ü"/>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ü"/>
            </a:pPr>
            <a:endParaRPr lang="en-US" sz="2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B6CE24D-B305-40CB-294A-DFCA19CDAA8B}"/>
              </a:ext>
            </a:extLst>
          </p:cNvPr>
          <p:cNvSpPr txBox="1"/>
          <p:nvPr/>
        </p:nvSpPr>
        <p:spPr>
          <a:xfrm>
            <a:off x="1211580" y="260013"/>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Trojan Horses (Subcategory of Malware)</a:t>
            </a:r>
          </a:p>
        </p:txBody>
      </p:sp>
      <p:pic>
        <p:nvPicPr>
          <p:cNvPr id="4" name="Picture 3">
            <a:extLst>
              <a:ext uri="{FF2B5EF4-FFF2-40B4-BE49-F238E27FC236}">
                <a16:creationId xmlns:a16="http://schemas.microsoft.com/office/drawing/2014/main" id="{1B8087AF-2641-0281-4972-9A7746A57B12}"/>
              </a:ext>
            </a:extLst>
          </p:cNvPr>
          <p:cNvPicPr>
            <a:picLocks noChangeAspect="1"/>
          </p:cNvPicPr>
          <p:nvPr/>
        </p:nvPicPr>
        <p:blipFill>
          <a:blip r:embed="rId2"/>
          <a:stretch>
            <a:fillRect/>
          </a:stretch>
        </p:blipFill>
        <p:spPr>
          <a:xfrm>
            <a:off x="9753600" y="4818451"/>
            <a:ext cx="2417225" cy="2001014"/>
          </a:xfrm>
          <a:prstGeom prst="rect">
            <a:avLst/>
          </a:prstGeom>
        </p:spPr>
      </p:pic>
    </p:spTree>
    <p:extLst>
      <p:ext uri="{BB962C8B-B14F-4D97-AF65-F5344CB8AC3E}">
        <p14:creationId xmlns:p14="http://schemas.microsoft.com/office/powerpoint/2010/main" val="1401897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0805F-46A7-1307-6B5B-A7F54CD4E3C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D2E7327-D8E8-903C-2531-0C3F08F5C291}"/>
              </a:ext>
            </a:extLst>
          </p:cNvPr>
          <p:cNvSpPr txBox="1"/>
          <p:nvPr/>
        </p:nvSpPr>
        <p:spPr>
          <a:xfrm>
            <a:off x="1201420" y="431671"/>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Trojan Horses (Story)</a:t>
            </a:r>
          </a:p>
        </p:txBody>
      </p:sp>
      <p:sp>
        <p:nvSpPr>
          <p:cNvPr id="4" name="TextBox 3">
            <a:extLst>
              <a:ext uri="{FF2B5EF4-FFF2-40B4-BE49-F238E27FC236}">
                <a16:creationId xmlns:a16="http://schemas.microsoft.com/office/drawing/2014/main" id="{AE200BF0-E50E-801B-30D8-0F283BB7CB74}"/>
              </a:ext>
            </a:extLst>
          </p:cNvPr>
          <p:cNvSpPr txBox="1"/>
          <p:nvPr/>
        </p:nvSpPr>
        <p:spPr>
          <a:xfrm>
            <a:off x="777240" y="1419830"/>
            <a:ext cx="10637520" cy="4683333"/>
          </a:xfrm>
          <a:prstGeom prst="rect">
            <a:avLst/>
          </a:prstGeom>
          <a:noFill/>
        </p:spPr>
        <p:txBody>
          <a:bodyPr wrap="square">
            <a:spAutoFit/>
          </a:bodyPr>
          <a:lstStyle/>
          <a:p>
            <a:pPr marL="457200" indent="-457200" algn="just">
              <a:spcBef>
                <a:spcPts val="1875"/>
              </a:spcBef>
              <a:spcAft>
                <a:spcPts val="375"/>
              </a:spcAft>
              <a:buFont typeface="Arial" panose="020B0604020202020204" pitchFamily="34" charset="0"/>
              <a:buChar char="•"/>
            </a:pPr>
            <a:r>
              <a:rPr lang="en-US" sz="2600" b="1" i="0" dirty="0">
                <a:solidFill>
                  <a:srgbClr val="000000"/>
                </a:solidFill>
                <a:effectLst/>
                <a:latin typeface="Times New Roman" panose="02020603050405020304" pitchFamily="18" charset="0"/>
                <a:cs typeface="Times New Roman" panose="02020603050405020304" pitchFamily="18" charset="0"/>
              </a:rPr>
              <a:t>The Trojan horse was a unique solution to the target’s defenses</a:t>
            </a:r>
            <a:r>
              <a:rPr lang="en-US" sz="2600" dirty="0">
                <a:solidFill>
                  <a:srgbClr val="000000"/>
                </a:solidFill>
                <a:latin typeface="Times New Roman" panose="02020603050405020304" pitchFamily="18" charset="0"/>
                <a:cs typeface="Times New Roman" panose="02020603050405020304" pitchFamily="18" charset="0"/>
              </a:rPr>
              <a:t>: </a:t>
            </a:r>
            <a:r>
              <a:rPr lang="en-US" sz="2600" b="0" i="0" dirty="0">
                <a:solidFill>
                  <a:srgbClr val="000000"/>
                </a:solidFill>
                <a:effectLst/>
                <a:latin typeface="Times New Roman" panose="02020603050405020304" pitchFamily="18" charset="0"/>
                <a:cs typeface="Times New Roman" panose="02020603050405020304" pitchFamily="18" charset="0"/>
              </a:rPr>
              <a:t>In the original story, the attackers had laid siege to the city for 10 years and hadn’t succeeded in defeating it. The Trojan horse gave them the access they had been wanting for a decade. A Trojan virus, similarly, can be a good way to get behind an otherwise tight set of defenses.</a:t>
            </a:r>
          </a:p>
          <a:p>
            <a:pPr marL="457200" indent="-457200" algn="just">
              <a:spcBef>
                <a:spcPts val="1875"/>
              </a:spcBef>
              <a:spcAft>
                <a:spcPts val="375"/>
              </a:spcAft>
              <a:buFont typeface="Arial" panose="020B0604020202020204" pitchFamily="34" charset="0"/>
              <a:buChar char="•"/>
            </a:pPr>
            <a:r>
              <a:rPr lang="en-US" sz="2600" b="1" i="0" dirty="0">
                <a:solidFill>
                  <a:srgbClr val="000000"/>
                </a:solidFill>
                <a:effectLst/>
                <a:latin typeface="Times New Roman" panose="02020603050405020304" pitchFamily="18" charset="0"/>
                <a:cs typeface="Times New Roman" panose="02020603050405020304" pitchFamily="18" charset="0"/>
              </a:rPr>
              <a:t>The Trojan horse appeared to be a legitimate gift</a:t>
            </a:r>
            <a:r>
              <a:rPr lang="en-US" sz="2600" dirty="0">
                <a:solidFill>
                  <a:srgbClr val="000000"/>
                </a:solidFill>
                <a:latin typeface="Times New Roman" panose="02020603050405020304" pitchFamily="18" charset="0"/>
                <a:cs typeface="Times New Roman" panose="02020603050405020304" pitchFamily="18" charset="0"/>
              </a:rPr>
              <a:t>: </a:t>
            </a:r>
            <a:r>
              <a:rPr lang="en-US" sz="2600" b="0" i="0" dirty="0">
                <a:solidFill>
                  <a:srgbClr val="000000"/>
                </a:solidFill>
                <a:effectLst/>
                <a:latin typeface="Times New Roman" panose="02020603050405020304" pitchFamily="18" charset="0"/>
                <a:cs typeface="Times New Roman" panose="02020603050405020304" pitchFamily="18" charset="0"/>
              </a:rPr>
              <a:t>In a similar vein, a Trojan virus looks like legitimate software.</a:t>
            </a:r>
          </a:p>
          <a:p>
            <a:pPr marL="457200" indent="-457200" algn="just">
              <a:spcBef>
                <a:spcPts val="1875"/>
              </a:spcBef>
              <a:spcAft>
                <a:spcPts val="375"/>
              </a:spcAft>
              <a:buFont typeface="Arial" panose="020B0604020202020204" pitchFamily="34" charset="0"/>
              <a:buChar char="•"/>
            </a:pPr>
            <a:r>
              <a:rPr lang="en-US" sz="2600" b="1" i="0" dirty="0">
                <a:solidFill>
                  <a:srgbClr val="000000"/>
                </a:solidFill>
                <a:effectLst/>
                <a:latin typeface="Times New Roman" panose="02020603050405020304" pitchFamily="18" charset="0"/>
                <a:cs typeface="Times New Roman" panose="02020603050405020304" pitchFamily="18" charset="0"/>
              </a:rPr>
              <a:t>The soldiers in the Trojan horse controlled the city’s defense system</a:t>
            </a:r>
            <a:r>
              <a:rPr lang="en-US" sz="2600" b="0" i="0" dirty="0">
                <a:solidFill>
                  <a:srgbClr val="000000"/>
                </a:solidFill>
                <a:effectLst/>
                <a:latin typeface="Times New Roman" panose="02020603050405020304" pitchFamily="18" charset="0"/>
                <a:cs typeface="Times New Roman" panose="02020603050405020304" pitchFamily="18" charset="0"/>
              </a:rPr>
              <a:t>. With a Trojan virus, the malware takes control of your computer, potentially leaving it vulnerable to other “invaders</a:t>
            </a:r>
          </a:p>
        </p:txBody>
      </p:sp>
    </p:spTree>
    <p:extLst>
      <p:ext uri="{BB962C8B-B14F-4D97-AF65-F5344CB8AC3E}">
        <p14:creationId xmlns:p14="http://schemas.microsoft.com/office/powerpoint/2010/main" val="37554381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BF043-0B69-CED8-4718-46D3E831DF5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D4D6FA2-3C4C-4E6C-F294-F7A6AA37582E}"/>
              </a:ext>
            </a:extLst>
          </p:cNvPr>
          <p:cNvSpPr txBox="1"/>
          <p:nvPr/>
        </p:nvSpPr>
        <p:spPr>
          <a:xfrm>
            <a:off x="878840" y="549979"/>
            <a:ext cx="10434320" cy="6109365"/>
          </a:xfrm>
          <a:prstGeom prst="rect">
            <a:avLst/>
          </a:prstGeom>
          <a:noFill/>
        </p:spPr>
        <p:txBody>
          <a:bodyPr wrap="square">
            <a:spAutoFit/>
          </a:bodyPr>
          <a:lstStyle/>
          <a:p>
            <a:endParaRPr lang="en-US" sz="2300" b="1" dirty="0">
              <a:latin typeface="Times New Roman" panose="02020603050405020304" pitchFamily="18" charset="0"/>
              <a:cs typeface="Times New Roman" panose="02020603050405020304" pitchFamily="18" charset="0"/>
            </a:endParaRPr>
          </a:p>
          <a:p>
            <a:r>
              <a:rPr lang="en-US" sz="2300" b="1" dirty="0">
                <a:latin typeface="Times New Roman" panose="02020603050405020304" pitchFamily="18" charset="0"/>
                <a:cs typeface="Times New Roman" panose="02020603050405020304" pitchFamily="18" charset="0"/>
              </a:rPr>
              <a:t>- User &amp; policy</a:t>
            </a:r>
            <a:endParaRPr lang="en-US" sz="23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sz="2300" dirty="0">
                <a:latin typeface="Times New Roman" panose="02020603050405020304" pitchFamily="18" charset="0"/>
                <a:cs typeface="Times New Roman" panose="02020603050405020304" pitchFamily="18" charset="0"/>
              </a:rPr>
              <a:t>Block user ability to install software on company machines (least privilege / application whitelisting).</a:t>
            </a:r>
          </a:p>
          <a:p>
            <a:pPr marL="800100" lvl="1" indent="-342900">
              <a:buFont typeface="Wingdings" panose="05000000000000000000" pitchFamily="2" charset="2"/>
              <a:buChar char="ü"/>
            </a:pPr>
            <a:r>
              <a:rPr lang="en-US" sz="2300" dirty="0">
                <a:latin typeface="Times New Roman" panose="02020603050405020304" pitchFamily="18" charset="0"/>
                <a:cs typeface="Times New Roman" panose="02020603050405020304" pitchFamily="18" charset="0"/>
              </a:rPr>
              <a:t>Enforce “no downloads” policy for non-IT staff; require IT vetting for any software.</a:t>
            </a:r>
          </a:p>
          <a:p>
            <a:pPr marL="800100" lvl="1" indent="-342900">
              <a:buFont typeface="Wingdings" panose="05000000000000000000" pitchFamily="2" charset="2"/>
              <a:buChar char="ü"/>
            </a:pPr>
            <a:r>
              <a:rPr lang="en-US" sz="2300" dirty="0">
                <a:latin typeface="Times New Roman" panose="02020603050405020304" pitchFamily="18" charset="0"/>
                <a:cs typeface="Times New Roman" panose="02020603050405020304" pitchFamily="18" charset="0"/>
              </a:rPr>
              <a:t>Train users to spot spear-phishing and suspicious downloads.</a:t>
            </a:r>
          </a:p>
          <a:p>
            <a:r>
              <a:rPr lang="en-US" sz="2300" b="1" dirty="0">
                <a:latin typeface="Times New Roman" panose="02020603050405020304" pitchFamily="18" charset="0"/>
                <a:cs typeface="Times New Roman" panose="02020603050405020304" pitchFamily="18" charset="0"/>
              </a:rPr>
              <a:t>- Technical controls</a:t>
            </a:r>
            <a:endParaRPr lang="en-US" sz="23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sz="2300" dirty="0">
                <a:latin typeface="Times New Roman" panose="02020603050405020304" pitchFamily="18" charset="0"/>
                <a:cs typeface="Times New Roman" panose="02020603050405020304" pitchFamily="18" charset="0"/>
              </a:rPr>
              <a:t>Use application whitelisting (allow only approved executables).</a:t>
            </a:r>
          </a:p>
          <a:p>
            <a:pPr marL="800100" lvl="1" indent="-342900">
              <a:buFont typeface="Wingdings" panose="05000000000000000000" pitchFamily="2" charset="2"/>
              <a:buChar char="ü"/>
            </a:pPr>
            <a:r>
              <a:rPr lang="en-US" sz="2300" dirty="0">
                <a:latin typeface="Times New Roman" panose="02020603050405020304" pitchFamily="18" charset="0"/>
                <a:cs typeface="Times New Roman" panose="02020603050405020304" pitchFamily="18" charset="0"/>
              </a:rPr>
              <a:t>Endpoint protection with behavioral detection (not just signatures).</a:t>
            </a:r>
          </a:p>
          <a:p>
            <a:pPr marL="800100" lvl="1" indent="-342900">
              <a:buFont typeface="Wingdings" panose="05000000000000000000" pitchFamily="2" charset="2"/>
              <a:buChar char="ü"/>
            </a:pPr>
            <a:r>
              <a:rPr lang="en-US" sz="2300" dirty="0">
                <a:latin typeface="Times New Roman" panose="02020603050405020304" pitchFamily="18" charset="0"/>
                <a:cs typeface="Times New Roman" panose="02020603050405020304" pitchFamily="18" charset="0"/>
              </a:rPr>
              <a:t>Restrict execution of macros, scripts, and unsigned installers.</a:t>
            </a:r>
          </a:p>
          <a:p>
            <a:pPr marL="800100" lvl="1" indent="-342900">
              <a:buFont typeface="Wingdings" panose="05000000000000000000" pitchFamily="2" charset="2"/>
              <a:buChar char="ü"/>
            </a:pPr>
            <a:r>
              <a:rPr lang="en-US" sz="2300" dirty="0">
                <a:latin typeface="Times New Roman" panose="02020603050405020304" pitchFamily="18" charset="0"/>
                <a:cs typeface="Times New Roman" panose="02020603050405020304" pitchFamily="18" charset="0"/>
              </a:rPr>
              <a:t>Network segmentation and least-privilege access to limit lateral movement.</a:t>
            </a:r>
          </a:p>
          <a:p>
            <a:pPr marL="800100" lvl="1" indent="-342900">
              <a:buFont typeface="Wingdings" panose="05000000000000000000" pitchFamily="2" charset="2"/>
              <a:buChar char="ü"/>
            </a:pPr>
            <a:r>
              <a:rPr lang="en-US" sz="2300" dirty="0">
                <a:latin typeface="Times New Roman" panose="02020603050405020304" pitchFamily="18" charset="0"/>
                <a:cs typeface="Times New Roman" panose="02020603050405020304" pitchFamily="18" charset="0"/>
              </a:rPr>
              <a:t>Disable autorun for removable media.</a:t>
            </a:r>
          </a:p>
          <a:p>
            <a:r>
              <a:rPr lang="en-US" sz="2300" b="1" dirty="0">
                <a:latin typeface="Times New Roman" panose="02020603050405020304" pitchFamily="18" charset="0"/>
                <a:cs typeface="Times New Roman" panose="02020603050405020304" pitchFamily="18" charset="0"/>
              </a:rPr>
              <a:t>Operational</a:t>
            </a:r>
            <a:endParaRPr lang="en-US" sz="23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sz="2300" dirty="0">
                <a:latin typeface="Times New Roman" panose="02020603050405020304" pitchFamily="18" charset="0"/>
                <a:cs typeface="Times New Roman" panose="02020603050405020304" pitchFamily="18" charset="0"/>
              </a:rPr>
              <a:t>Use code-signing requirements for internal apps.</a:t>
            </a:r>
          </a:p>
          <a:p>
            <a:pPr marL="800100" lvl="1" indent="-342900">
              <a:buFont typeface="Wingdings" panose="05000000000000000000" pitchFamily="2" charset="2"/>
              <a:buChar char="ü"/>
            </a:pPr>
            <a:r>
              <a:rPr lang="en-US" sz="2300" dirty="0">
                <a:latin typeface="Times New Roman" panose="02020603050405020304" pitchFamily="18" charset="0"/>
                <a:cs typeface="Times New Roman" panose="02020603050405020304" pitchFamily="18" charset="0"/>
              </a:rPr>
              <a:t>Maintain regular, tested backups (offline/immutable where possible).</a:t>
            </a:r>
          </a:p>
          <a:p>
            <a:pPr marL="800100" lvl="1" indent="-342900">
              <a:buFont typeface="Wingdings" panose="05000000000000000000" pitchFamily="2" charset="2"/>
              <a:buChar char="ü"/>
            </a:pPr>
            <a:r>
              <a:rPr lang="en-US" sz="2300" dirty="0">
                <a:latin typeface="Times New Roman" panose="02020603050405020304" pitchFamily="18" charset="0"/>
                <a:cs typeface="Times New Roman" panose="02020603050405020304" pitchFamily="18" charset="0"/>
              </a:rPr>
              <a:t>Patch management and timely updates for software and OS.</a:t>
            </a:r>
          </a:p>
        </p:txBody>
      </p:sp>
      <p:sp>
        <p:nvSpPr>
          <p:cNvPr id="6" name="TextBox 5">
            <a:extLst>
              <a:ext uri="{FF2B5EF4-FFF2-40B4-BE49-F238E27FC236}">
                <a16:creationId xmlns:a16="http://schemas.microsoft.com/office/drawing/2014/main" id="{8E61E963-E1C3-6063-E8C5-60E05822B359}"/>
              </a:ext>
            </a:extLst>
          </p:cNvPr>
          <p:cNvSpPr txBox="1"/>
          <p:nvPr/>
        </p:nvSpPr>
        <p:spPr>
          <a:xfrm>
            <a:off x="1066800" y="328414"/>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Prevention &amp; Best Practices</a:t>
            </a:r>
          </a:p>
        </p:txBody>
      </p:sp>
    </p:spTree>
    <p:extLst>
      <p:ext uri="{BB962C8B-B14F-4D97-AF65-F5344CB8AC3E}">
        <p14:creationId xmlns:p14="http://schemas.microsoft.com/office/powerpoint/2010/main" val="3641057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1BA350-C838-81E1-2332-772F1D3C3000}"/>
              </a:ext>
            </a:extLst>
          </p:cNvPr>
          <p:cNvSpPr txBox="1"/>
          <p:nvPr/>
        </p:nvSpPr>
        <p:spPr>
          <a:xfrm>
            <a:off x="1066800" y="328414"/>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Buffer - Overflow Attack</a:t>
            </a:r>
          </a:p>
        </p:txBody>
      </p:sp>
      <p:sp>
        <p:nvSpPr>
          <p:cNvPr id="4" name="TextBox 3">
            <a:extLst>
              <a:ext uri="{FF2B5EF4-FFF2-40B4-BE49-F238E27FC236}">
                <a16:creationId xmlns:a16="http://schemas.microsoft.com/office/drawing/2014/main" id="{5296A656-515A-D22F-C0A5-71E3EC54E3EC}"/>
              </a:ext>
            </a:extLst>
          </p:cNvPr>
          <p:cNvSpPr txBox="1"/>
          <p:nvPr/>
        </p:nvSpPr>
        <p:spPr>
          <a:xfrm>
            <a:off x="955040" y="1298416"/>
            <a:ext cx="9926320" cy="5693866"/>
          </a:xfrm>
          <a:prstGeom prst="rect">
            <a:avLst/>
          </a:prstGeom>
          <a:noFill/>
        </p:spPr>
        <p:txBody>
          <a:bodyPr wrap="square">
            <a:spAutoFit/>
          </a:bodyPr>
          <a:lstStyle/>
          <a:p>
            <a:pPr algn="just"/>
            <a:r>
              <a:rPr lang="en-US" sz="2600" b="1" dirty="0">
                <a:latin typeface="Times New Roman" panose="02020603050405020304" pitchFamily="18" charset="0"/>
                <a:cs typeface="Times New Roman" panose="02020603050405020304" pitchFamily="18" charset="0"/>
              </a:rPr>
              <a:t>Buffer overflow:</a:t>
            </a:r>
            <a:r>
              <a:rPr lang="en-US" sz="2600" dirty="0">
                <a:latin typeface="Times New Roman" panose="02020603050405020304" pitchFamily="18" charset="0"/>
                <a:cs typeface="Times New Roman" panose="02020603050405020304" pitchFamily="18" charset="0"/>
              </a:rPr>
              <a:t> writing more data into a memory buffer than it was designed to hold, allowing excess bytes to overwrite adjacent memory (potentially injecting and executing malicious code or crashing the program).</a:t>
            </a:r>
          </a:p>
          <a:p>
            <a:pPr algn="just"/>
            <a:endParaRPr lang="en-US" sz="2600" dirty="0">
              <a:latin typeface="Times New Roman" panose="02020603050405020304" pitchFamily="18" charset="0"/>
              <a:cs typeface="Times New Roman" panose="02020603050405020304" pitchFamily="18" charset="0"/>
            </a:endParaRPr>
          </a:p>
          <a:p>
            <a:pPr algn="just"/>
            <a:r>
              <a:rPr lang="en-US" sz="2600" b="1" dirty="0">
                <a:latin typeface="Times New Roman" panose="02020603050405020304" pitchFamily="18" charset="0"/>
                <a:cs typeface="Times New Roman" panose="02020603050405020304" pitchFamily="18" charset="0"/>
              </a:rPr>
              <a:t>How it works (simple steps)</a:t>
            </a:r>
          </a:p>
          <a:p>
            <a:pPr marL="514350" indent="-514350" algn="just">
              <a:buFont typeface="+mj-lt"/>
              <a:buAutoNum type="arabicPeriod"/>
            </a:pPr>
            <a:r>
              <a:rPr lang="en-US" sz="2600" dirty="0">
                <a:latin typeface="Times New Roman" panose="02020603050405020304" pitchFamily="18" charset="0"/>
                <a:cs typeface="Times New Roman" panose="02020603050405020304" pitchFamily="18" charset="0"/>
              </a:rPr>
              <a:t>Program allocates a buffer (e.g., 1024 bytes) to hold incoming data.</a:t>
            </a:r>
          </a:p>
          <a:p>
            <a:pPr marL="514350" indent="-514350" algn="just">
              <a:buFont typeface="+mj-lt"/>
              <a:buAutoNum type="arabicPeriod"/>
            </a:pPr>
            <a:r>
              <a:rPr lang="en-US" sz="2600" dirty="0">
                <a:latin typeface="Times New Roman" panose="02020603050405020304" pitchFamily="18" charset="0"/>
                <a:cs typeface="Times New Roman" panose="02020603050405020304" pitchFamily="18" charset="0"/>
              </a:rPr>
              <a:t>Attacker sends more data than the buffer can hold (e.g., 2048 bytes).</a:t>
            </a:r>
          </a:p>
          <a:p>
            <a:pPr marL="514350" indent="-514350" algn="just">
              <a:buFont typeface="+mj-lt"/>
              <a:buAutoNum type="arabicPeriod"/>
            </a:pPr>
            <a:r>
              <a:rPr lang="en-US" sz="2600" dirty="0">
                <a:latin typeface="Times New Roman" panose="02020603050405020304" pitchFamily="18" charset="0"/>
                <a:cs typeface="Times New Roman" panose="02020603050405020304" pitchFamily="18" charset="0"/>
              </a:rPr>
              <a:t>Excess data overwrites adjacent memory (return addresses, variables, control structures).</a:t>
            </a:r>
          </a:p>
          <a:p>
            <a:pPr marL="514350" indent="-514350" algn="just">
              <a:buFont typeface="+mj-lt"/>
              <a:buAutoNum type="arabicPeriod"/>
            </a:pPr>
            <a:r>
              <a:rPr lang="en-US" sz="2600" dirty="0">
                <a:latin typeface="Times New Roman" panose="02020603050405020304" pitchFamily="18" charset="0"/>
                <a:cs typeface="Times New Roman" panose="02020603050405020304" pitchFamily="18" charset="0"/>
              </a:rPr>
              <a:t>Overwritten control flow can be redirected to attacker’s payload (code execution) or cause crashes (DoS).</a:t>
            </a:r>
          </a:p>
          <a:p>
            <a:pPr algn="just"/>
            <a:br>
              <a:rPr lang="en-US" sz="2600" dirty="0">
                <a:latin typeface="Times New Roman" panose="02020603050405020304" pitchFamily="18" charset="0"/>
                <a:cs typeface="Times New Roman" panose="02020603050405020304" pitchFamily="18" charset="0"/>
              </a:rPr>
            </a:b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1635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9E2C7-2660-83F0-E58A-DA7495E0CE2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9E82E41-653C-C586-7BAC-B3AEBABEBF74}"/>
              </a:ext>
            </a:extLst>
          </p:cNvPr>
          <p:cNvSpPr txBox="1"/>
          <p:nvPr/>
        </p:nvSpPr>
        <p:spPr>
          <a:xfrm>
            <a:off x="1066800" y="541774"/>
            <a:ext cx="9453880" cy="1754326"/>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Buffer - Overflow Attack</a:t>
            </a:r>
          </a:p>
          <a:p>
            <a:pPr algn="ctr"/>
            <a:r>
              <a:rPr lang="en-US" sz="3600" b="1" dirty="0">
                <a:latin typeface="Times New Roman" panose="02020603050405020304" pitchFamily="18" charset="0"/>
                <a:cs typeface="Times New Roman" panose="02020603050405020304" pitchFamily="18" charset="0"/>
              </a:rPr>
              <a:t>Real-World Notes</a:t>
            </a:r>
          </a:p>
          <a:p>
            <a:pPr algn="ctr"/>
            <a:endPar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C066B5F5-6683-08AB-6181-8167AB3AFC76}"/>
              </a:ext>
            </a:extLst>
          </p:cNvPr>
          <p:cNvSpPr txBox="1"/>
          <p:nvPr/>
        </p:nvSpPr>
        <p:spPr>
          <a:xfrm>
            <a:off x="1198880" y="2082740"/>
            <a:ext cx="9926320" cy="3508653"/>
          </a:xfrm>
          <a:prstGeom prst="rect">
            <a:avLst/>
          </a:prstGeom>
          <a:noFill/>
        </p:spPr>
        <p:txBody>
          <a:bodyPr wrap="square">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Modern OSs and compilers include many mitigations (ASLR, DEP/NX, stack canaries), so </a:t>
            </a:r>
            <a:r>
              <a:rPr lang="en-US" sz="2800" b="1" dirty="0">
                <a:latin typeface="Times New Roman" panose="02020603050405020304" pitchFamily="18" charset="0"/>
                <a:cs typeface="Times New Roman" panose="02020603050405020304" pitchFamily="18" charset="0"/>
              </a:rPr>
              <a:t>straightforward buffer overflow exploits</a:t>
            </a:r>
            <a:r>
              <a:rPr lang="en-US" sz="2800" dirty="0">
                <a:latin typeface="Times New Roman" panose="02020603050405020304" pitchFamily="18" charset="0"/>
                <a:cs typeface="Times New Roman" panose="02020603050405020304" pitchFamily="18" charset="0"/>
              </a:rPr>
              <a:t> are harder on up-to-date systems.</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However, </a:t>
            </a:r>
            <a:r>
              <a:rPr lang="en-US" sz="2800" b="1" dirty="0">
                <a:latin typeface="Times New Roman" panose="02020603050405020304" pitchFamily="18" charset="0"/>
                <a:cs typeface="Times New Roman" panose="02020603050405020304" pitchFamily="18" charset="0"/>
              </a:rPr>
              <a:t>custom code, plugins, embedded systems, and IoT devices</a:t>
            </a:r>
            <a:r>
              <a:rPr lang="en-US" sz="2800" dirty="0">
                <a:latin typeface="Times New Roman" panose="02020603050405020304" pitchFamily="18" charset="0"/>
                <a:cs typeface="Times New Roman" panose="02020603050405020304" pitchFamily="18" charset="0"/>
              </a:rPr>
              <a:t> often still contain exploitable buffer-overflow bugs.</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Web apps can be vulnerable if native modules or backend services use unsafe code.</a:t>
            </a:r>
          </a:p>
          <a:p>
            <a:pPr marL="457200" indent="-457200" algn="just">
              <a:buFont typeface="Arial" panose="020B0604020202020204" pitchFamily="34" charset="0"/>
              <a:buChar char="•"/>
            </a:pP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3008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A2B7A-485B-E3A6-5DBA-C2471C08B2F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CD273D4-D4B9-62D1-EEB6-6F42BAE39309}"/>
              </a:ext>
            </a:extLst>
          </p:cNvPr>
          <p:cNvSpPr txBox="1"/>
          <p:nvPr/>
        </p:nvSpPr>
        <p:spPr>
          <a:xfrm>
            <a:off x="929640" y="1113344"/>
            <a:ext cx="10332720" cy="5693866"/>
          </a:xfrm>
          <a:prstGeom prst="rect">
            <a:avLst/>
          </a:prstGeom>
          <a:noFill/>
        </p:spPr>
        <p:txBody>
          <a:bodyPr wrap="square">
            <a:spAutoFit/>
          </a:bodyPr>
          <a:lstStyle/>
          <a:p>
            <a:pPr marL="457200"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Software that secretly monitors and collects information from a computer without the user’s knowledge or consent.</a:t>
            </a:r>
            <a:endParaRPr lang="en-US" altLang="en-PK"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Requires more technical knowledge</a:t>
            </a:r>
          </a:p>
          <a:p>
            <a:pPr marL="457200" indent="-457200">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Usually used for targets of choice</a:t>
            </a:r>
          </a:p>
          <a:p>
            <a:pPr marL="457200" indent="-457200">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Must be tailored to specific circumstances</a:t>
            </a:r>
          </a:p>
          <a:p>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How Spyware Works:</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Installed manually by an attacker </a:t>
            </a:r>
            <a:r>
              <a:rPr lang="en-US" sz="2800" b="1" dirty="0">
                <a:latin typeface="Times New Roman" panose="02020603050405020304" pitchFamily="18" charset="0"/>
                <a:cs typeface="Times New Roman" panose="02020603050405020304" pitchFamily="18" charset="0"/>
              </a:rPr>
              <a:t>or</a:t>
            </a:r>
            <a:r>
              <a:rPr lang="en-US" sz="2800" dirty="0">
                <a:latin typeface="Times New Roman" panose="02020603050405020304" pitchFamily="18" charset="0"/>
                <a:cs typeface="Times New Roman" panose="02020603050405020304" pitchFamily="18" charset="0"/>
              </a:rPr>
              <a:t> hidden inside other downloads/emails.</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Monitors user activity and sends data to a remote system.</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Often runs in the background, disguised as a legitimate process.</a:t>
            </a:r>
          </a:p>
          <a:p>
            <a:pPr marL="457200" indent="-457200">
              <a:buFont typeface="Wingdings" panose="05000000000000000000" pitchFamily="2" charset="2"/>
              <a:buChar char="ü"/>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ü"/>
            </a:pPr>
            <a:endParaRPr lang="en-US" sz="2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266AC07-7FEB-4F76-E009-8408E526DB25}"/>
              </a:ext>
            </a:extLst>
          </p:cNvPr>
          <p:cNvSpPr txBox="1"/>
          <p:nvPr/>
        </p:nvSpPr>
        <p:spPr>
          <a:xfrm>
            <a:off x="1211580" y="260013"/>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Spyware (Subcategory of Malware)</a:t>
            </a:r>
          </a:p>
        </p:txBody>
      </p:sp>
    </p:spTree>
    <p:extLst>
      <p:ext uri="{BB962C8B-B14F-4D97-AF65-F5344CB8AC3E}">
        <p14:creationId xmlns:p14="http://schemas.microsoft.com/office/powerpoint/2010/main" val="2611196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FF2C421-F036-5AE6-ECBD-25AC98EC47F2}"/>
              </a:ext>
            </a:extLst>
          </p:cNvPr>
          <p:cNvSpPr txBox="1"/>
          <p:nvPr/>
        </p:nvSpPr>
        <p:spPr>
          <a:xfrm>
            <a:off x="1211580" y="260013"/>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Legal Uses of Spyware </a:t>
            </a:r>
          </a:p>
        </p:txBody>
      </p:sp>
      <p:sp>
        <p:nvSpPr>
          <p:cNvPr id="6" name="TextBox 5">
            <a:extLst>
              <a:ext uri="{FF2B5EF4-FFF2-40B4-BE49-F238E27FC236}">
                <a16:creationId xmlns:a16="http://schemas.microsoft.com/office/drawing/2014/main" id="{99F69E09-277A-2B08-BDEA-8E9EBE333FA6}"/>
              </a:ext>
            </a:extLst>
          </p:cNvPr>
          <p:cNvSpPr txBox="1"/>
          <p:nvPr/>
        </p:nvSpPr>
        <p:spPr>
          <a:xfrm>
            <a:off x="1211580" y="1419781"/>
            <a:ext cx="9720580" cy="4493538"/>
          </a:xfrm>
          <a:prstGeom prst="rect">
            <a:avLst/>
          </a:prstGeom>
          <a:noFill/>
        </p:spPr>
        <p:txBody>
          <a:bodyPr wrap="square">
            <a:spAutoFit/>
          </a:bodyPr>
          <a:lstStyle/>
          <a:p>
            <a:pPr>
              <a:buNone/>
            </a:pPr>
            <a:r>
              <a:rPr lang="en-US" sz="2600" b="1" dirty="0">
                <a:latin typeface="Times New Roman" panose="02020603050405020304" pitchFamily="18" charset="0"/>
                <a:cs typeface="Times New Roman" panose="02020603050405020304" pitchFamily="18" charset="0"/>
              </a:rPr>
              <a:t>1. Employer Monitoring</a:t>
            </a:r>
          </a:p>
          <a:p>
            <a:pPr marL="914400" lvl="1" indent="-457200">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Companies legally use spyware to </a:t>
            </a:r>
            <a:r>
              <a:rPr lang="en-US" sz="2600" b="1" dirty="0">
                <a:latin typeface="Times New Roman" panose="02020603050405020304" pitchFamily="18" charset="0"/>
                <a:cs typeface="Times New Roman" panose="02020603050405020304" pitchFamily="18" charset="0"/>
              </a:rPr>
              <a:t>track employee use</a:t>
            </a:r>
            <a:r>
              <a:rPr lang="en-US" sz="2600" dirty="0">
                <a:latin typeface="Times New Roman" panose="02020603050405020304" pitchFamily="18" charset="0"/>
                <a:cs typeface="Times New Roman" panose="02020603050405020304" pitchFamily="18" charset="0"/>
              </a:rPr>
              <a:t> of corporate devices, email, or the internet.</a:t>
            </a:r>
          </a:p>
          <a:p>
            <a:r>
              <a:rPr lang="en-US" sz="2600" b="1" dirty="0">
                <a:latin typeface="Times New Roman" panose="02020603050405020304" pitchFamily="18" charset="0"/>
                <a:cs typeface="Times New Roman" panose="02020603050405020304" pitchFamily="18" charset="0"/>
              </a:rPr>
              <a:t>- Justification:</a:t>
            </a:r>
          </a:p>
          <a:p>
            <a:pPr marL="914400" lvl="1" indent="-457200">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Systems belong to the organization, </a:t>
            </a:r>
            <a:r>
              <a:rPr lang="en-US" sz="2600" b="1" dirty="0">
                <a:latin typeface="Times New Roman" panose="02020603050405020304" pitchFamily="18" charset="0"/>
                <a:cs typeface="Times New Roman" panose="02020603050405020304" pitchFamily="18" charset="0"/>
              </a:rPr>
              <a:t>not the employee</a:t>
            </a:r>
            <a:r>
              <a:rPr lang="en-US" sz="2600" dirty="0">
                <a:latin typeface="Times New Roman" panose="02020603050405020304" pitchFamily="18" charset="0"/>
                <a:cs typeface="Times New Roman" panose="02020603050405020304" pitchFamily="18" charset="0"/>
              </a:rPr>
              <a:t>.</a:t>
            </a:r>
          </a:p>
          <a:p>
            <a:pPr marL="914400" lvl="1" indent="-457200">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Intended for </a:t>
            </a:r>
            <a:r>
              <a:rPr lang="en-US" sz="2600" b="1" dirty="0">
                <a:latin typeface="Times New Roman" panose="02020603050405020304" pitchFamily="18" charset="0"/>
                <a:cs typeface="Times New Roman" panose="02020603050405020304" pitchFamily="18" charset="0"/>
              </a:rPr>
              <a:t>work-related use only</a:t>
            </a:r>
            <a:r>
              <a:rPr lang="en-US" sz="2600" dirty="0">
                <a:latin typeface="Times New Roman" panose="02020603050405020304" pitchFamily="18" charset="0"/>
                <a:cs typeface="Times New Roman" panose="02020603050405020304" pitchFamily="18" charset="0"/>
              </a:rPr>
              <a:t>.</a:t>
            </a:r>
          </a:p>
          <a:p>
            <a:r>
              <a:rPr lang="en-US" sz="2600" b="1" dirty="0">
                <a:latin typeface="Times New Roman" panose="02020603050405020304" pitchFamily="18" charset="0"/>
                <a:cs typeface="Times New Roman" panose="02020603050405020304" pitchFamily="18" charset="0"/>
              </a:rPr>
              <a:t>- Courts have upheld</a:t>
            </a:r>
            <a:r>
              <a:rPr lang="en-US" sz="2600" dirty="0">
                <a:latin typeface="Times New Roman" panose="02020603050405020304" pitchFamily="18" charset="0"/>
                <a:cs typeface="Times New Roman" panose="02020603050405020304" pitchFamily="18" charset="0"/>
              </a:rPr>
              <a:t> employer monitoring rights , </a:t>
            </a:r>
            <a:r>
              <a:rPr lang="en-US" sz="2600" i="1" dirty="0">
                <a:latin typeface="Times New Roman" panose="02020603050405020304" pitchFamily="18" charset="0"/>
                <a:cs typeface="Times New Roman" panose="02020603050405020304" pitchFamily="18" charset="0"/>
              </a:rPr>
              <a:t>if properly disclosed</a:t>
            </a:r>
            <a:r>
              <a:rPr lang="en-US" sz="2600" dirty="0">
                <a:latin typeface="Times New Roman" panose="02020603050405020304" pitchFamily="18" charset="0"/>
                <a:cs typeface="Times New Roman" panose="02020603050405020304" pitchFamily="18" charset="0"/>
              </a:rPr>
              <a:t>.</a:t>
            </a:r>
          </a:p>
          <a:p>
            <a:r>
              <a:rPr lang="en-US" sz="2600" b="1" dirty="0">
                <a:latin typeface="Times New Roman" panose="02020603050405020304" pitchFamily="18" charset="0"/>
                <a:cs typeface="Times New Roman" panose="02020603050405020304" pitchFamily="18" charset="0"/>
              </a:rPr>
              <a:t>- Caution:</a:t>
            </a:r>
            <a:r>
              <a:rPr lang="en-US" sz="2600" dirty="0">
                <a:latin typeface="Times New Roman" panose="02020603050405020304" pitchFamily="18" charset="0"/>
                <a:cs typeface="Times New Roman" panose="02020603050405020304" pitchFamily="18" charset="0"/>
              </a:rPr>
              <a:t> Always consult legal counsel before deployment to avoid violating privacy or labor laws.</a:t>
            </a:r>
          </a:p>
          <a:p>
            <a:r>
              <a:rPr lang="en-US" sz="2600" b="1" dirty="0">
                <a:latin typeface="Times New Roman" panose="02020603050405020304" pitchFamily="18" charset="0"/>
                <a:cs typeface="Times New Roman" panose="02020603050405020304" pitchFamily="18" charset="0"/>
              </a:rPr>
              <a:t>- Risk:</a:t>
            </a:r>
            <a:r>
              <a:rPr lang="en-US" sz="2600" dirty="0">
                <a:latin typeface="Times New Roman" panose="02020603050405020304" pitchFamily="18" charset="0"/>
                <a:cs typeface="Times New Roman" panose="02020603050405020304" pitchFamily="18" charset="0"/>
              </a:rPr>
              <a:t> Excessive monitoring may harm </a:t>
            </a:r>
            <a:r>
              <a:rPr lang="en-US" sz="2600" b="1" dirty="0">
                <a:latin typeface="Times New Roman" panose="02020603050405020304" pitchFamily="18" charset="0"/>
                <a:cs typeface="Times New Roman" panose="02020603050405020304" pitchFamily="18" charset="0"/>
              </a:rPr>
              <a:t>employee trust and morale</a:t>
            </a:r>
            <a:r>
              <a:rPr lang="en-US" sz="2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93863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94BBE-69B2-D074-872D-9F0DB5A9271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D319D7D-E86F-29E9-D7A6-51BC0FA78414}"/>
              </a:ext>
            </a:extLst>
          </p:cNvPr>
          <p:cNvSpPr txBox="1"/>
          <p:nvPr/>
        </p:nvSpPr>
        <p:spPr>
          <a:xfrm>
            <a:off x="1211580" y="260013"/>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Legal Uses of Spyware </a:t>
            </a:r>
          </a:p>
        </p:txBody>
      </p:sp>
      <p:sp>
        <p:nvSpPr>
          <p:cNvPr id="6" name="TextBox 5">
            <a:extLst>
              <a:ext uri="{FF2B5EF4-FFF2-40B4-BE49-F238E27FC236}">
                <a16:creationId xmlns:a16="http://schemas.microsoft.com/office/drawing/2014/main" id="{3816D9F3-71A2-BC1D-DA8E-6939CCFB7446}"/>
              </a:ext>
            </a:extLst>
          </p:cNvPr>
          <p:cNvSpPr txBox="1"/>
          <p:nvPr/>
        </p:nvSpPr>
        <p:spPr>
          <a:xfrm>
            <a:off x="1211580" y="1368981"/>
            <a:ext cx="9720580" cy="3108543"/>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2. Parental Monitoring</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Parents may install spyware to </a:t>
            </a:r>
            <a:r>
              <a:rPr lang="en-US" sz="2800" b="1" dirty="0">
                <a:latin typeface="Times New Roman" panose="02020603050405020304" pitchFamily="18" charset="0"/>
                <a:cs typeface="Times New Roman" panose="02020603050405020304" pitchFamily="18" charset="0"/>
              </a:rPr>
              <a:t>protect children online</a:t>
            </a:r>
            <a:r>
              <a:rPr lang="en-US" sz="2800" dirty="0">
                <a:latin typeface="Times New Roman" panose="02020603050405020304" pitchFamily="18" charset="0"/>
                <a:cs typeface="Times New Roman" panose="02020603050405020304" pitchFamily="18" charset="0"/>
              </a:rPr>
              <a:t>, blocking predators, explicit content, or cyberbullying.</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Typically considered </a:t>
            </a:r>
            <a:r>
              <a:rPr lang="en-US" sz="2800" b="1" dirty="0">
                <a:latin typeface="Times New Roman" panose="02020603050405020304" pitchFamily="18" charset="0"/>
                <a:cs typeface="Times New Roman" panose="02020603050405020304" pitchFamily="18" charset="0"/>
              </a:rPr>
              <a:t>ethical and lawful</a:t>
            </a:r>
            <a:r>
              <a:rPr lang="en-US" sz="2800" dirty="0">
                <a:latin typeface="Times New Roman" panose="02020603050405020304" pitchFamily="18" charset="0"/>
                <a:cs typeface="Times New Roman" panose="02020603050405020304" pitchFamily="18" charset="0"/>
              </a:rPr>
              <a:t> when used for child protection.</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Downside:</a:t>
            </a:r>
            <a:r>
              <a:rPr lang="en-US" sz="2800" dirty="0">
                <a:latin typeface="Times New Roman" panose="02020603050405020304" pitchFamily="18" charset="0"/>
                <a:cs typeface="Times New Roman" panose="02020603050405020304" pitchFamily="18" charset="0"/>
              </a:rPr>
              <a:t> May create feelings of </a:t>
            </a:r>
            <a:r>
              <a:rPr lang="en-US" sz="2800" b="1" dirty="0">
                <a:latin typeface="Times New Roman" panose="02020603050405020304" pitchFamily="18" charset="0"/>
                <a:cs typeface="Times New Roman" panose="02020603050405020304" pitchFamily="18" charset="0"/>
              </a:rPr>
              <a:t>distrust</a:t>
            </a:r>
            <a:r>
              <a:rPr lang="en-US" sz="2800" dirty="0">
                <a:latin typeface="Times New Roman" panose="02020603050405020304" pitchFamily="18" charset="0"/>
                <a:cs typeface="Times New Roman" panose="02020603050405020304" pitchFamily="18" charset="0"/>
              </a:rPr>
              <a:t> if children find out, parents must balance </a:t>
            </a:r>
            <a:r>
              <a:rPr lang="en-US" sz="2800" b="1" dirty="0">
                <a:latin typeface="Times New Roman" panose="02020603050405020304" pitchFamily="18" charset="0"/>
                <a:cs typeface="Times New Roman" panose="02020603050405020304" pitchFamily="18" charset="0"/>
              </a:rPr>
              <a:t>safety vs. privacy</a:t>
            </a:r>
            <a:endParaRPr lang="en-US"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4BD8891-FD7A-D549-70B4-46664F30BE5E}"/>
              </a:ext>
            </a:extLst>
          </p:cNvPr>
          <p:cNvPicPr>
            <a:picLocks noChangeAspect="1"/>
          </p:cNvPicPr>
          <p:nvPr/>
        </p:nvPicPr>
        <p:blipFill>
          <a:blip r:embed="rId2"/>
          <a:stretch>
            <a:fillRect/>
          </a:stretch>
        </p:blipFill>
        <p:spPr>
          <a:xfrm>
            <a:off x="7969885" y="4477524"/>
            <a:ext cx="4095750" cy="2286000"/>
          </a:xfrm>
          <a:prstGeom prst="rect">
            <a:avLst/>
          </a:prstGeom>
        </p:spPr>
      </p:pic>
    </p:spTree>
    <p:extLst>
      <p:ext uri="{BB962C8B-B14F-4D97-AF65-F5344CB8AC3E}">
        <p14:creationId xmlns:p14="http://schemas.microsoft.com/office/powerpoint/2010/main" val="14515265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2F2FBB2-9CC3-5276-F647-2F729800F6A9}"/>
              </a:ext>
            </a:extLst>
          </p:cNvPr>
          <p:cNvGraphicFramePr>
            <a:graphicFrameLocks noGrp="1"/>
          </p:cNvGraphicFramePr>
          <p:nvPr>
            <p:extLst>
              <p:ext uri="{D42A27DB-BD31-4B8C-83A1-F6EECF244321}">
                <p14:modId xmlns:p14="http://schemas.microsoft.com/office/powerpoint/2010/main" val="2781581176"/>
              </p:ext>
            </p:extLst>
          </p:nvPr>
        </p:nvGraphicFramePr>
        <p:xfrm>
          <a:off x="1066800" y="1845310"/>
          <a:ext cx="10058400" cy="3749040"/>
        </p:xfrm>
        <a:graphic>
          <a:graphicData uri="http://schemas.openxmlformats.org/drawingml/2006/table">
            <a:tbl>
              <a:tblPr>
                <a:tableStyleId>{793D81CF-94F2-401A-BA57-92F5A7B2D0C5}</a:tableStyleId>
              </a:tblPr>
              <a:tblGrid>
                <a:gridCol w="5029200">
                  <a:extLst>
                    <a:ext uri="{9D8B030D-6E8A-4147-A177-3AD203B41FA5}">
                      <a16:colId xmlns:a16="http://schemas.microsoft.com/office/drawing/2014/main" val="2137738562"/>
                    </a:ext>
                  </a:extLst>
                </a:gridCol>
                <a:gridCol w="5029200">
                  <a:extLst>
                    <a:ext uri="{9D8B030D-6E8A-4147-A177-3AD203B41FA5}">
                      <a16:colId xmlns:a16="http://schemas.microsoft.com/office/drawing/2014/main" val="1907289603"/>
                    </a:ext>
                  </a:extLst>
                </a:gridCol>
              </a:tblGrid>
              <a:tr h="0">
                <a:tc>
                  <a:txBody>
                    <a:bodyPr/>
                    <a:lstStyle/>
                    <a:p>
                      <a:pPr>
                        <a:buNone/>
                      </a:pPr>
                      <a:r>
                        <a:rPr lang="en-US" sz="2400" b="1">
                          <a:latin typeface="Times New Roman" panose="02020603050405020304" pitchFamily="18" charset="0"/>
                          <a:cs typeface="Times New Roman" panose="02020603050405020304" pitchFamily="18" charset="0"/>
                        </a:rPr>
                        <a:t>Type</a:t>
                      </a:r>
                      <a:endParaRPr lang="en-US" sz="2400">
                        <a:latin typeface="Times New Roman" panose="02020603050405020304" pitchFamily="18" charset="0"/>
                        <a:cs typeface="Times New Roman" panose="02020603050405020304" pitchFamily="18" charset="0"/>
                      </a:endParaRPr>
                    </a:p>
                  </a:txBody>
                  <a:tcPr anchor="ctr"/>
                </a:tc>
                <a:tc>
                  <a:txBody>
                    <a:bodyPr/>
                    <a:lstStyle/>
                    <a:p>
                      <a:pPr>
                        <a:buNone/>
                      </a:pPr>
                      <a:r>
                        <a:rPr lang="en-US" sz="2400" b="1">
                          <a:latin typeface="Times New Roman" panose="02020603050405020304" pitchFamily="18" charset="0"/>
                          <a:cs typeface="Times New Roman" panose="02020603050405020304" pitchFamily="18" charset="0"/>
                        </a:rPr>
                        <a:t>Description</a:t>
                      </a:r>
                      <a:endParaRPr lang="en-US" sz="2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81761807"/>
                  </a:ext>
                </a:extLst>
              </a:tr>
              <a:tr h="0">
                <a:tc>
                  <a:txBody>
                    <a:bodyPr/>
                    <a:lstStyle/>
                    <a:p>
                      <a:pPr>
                        <a:buNone/>
                      </a:pPr>
                      <a:r>
                        <a:rPr lang="en-US" sz="2400" b="1" dirty="0">
                          <a:latin typeface="Times New Roman" panose="02020603050405020304" pitchFamily="18" charset="0"/>
                          <a:cs typeface="Times New Roman" panose="02020603050405020304" pitchFamily="18" charset="0"/>
                        </a:rPr>
                        <a:t>Tracking Cookies</a:t>
                      </a:r>
                      <a:endParaRPr lang="en-US" sz="2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400">
                          <a:latin typeface="Times New Roman" panose="02020603050405020304" pitchFamily="18" charset="0"/>
                          <a:cs typeface="Times New Roman" panose="02020603050405020304" pitchFamily="18" charset="0"/>
                        </a:rPr>
                        <a:t>Store small data files to record website visits and preferences.</a:t>
                      </a:r>
                    </a:p>
                  </a:txBody>
                  <a:tcPr anchor="ctr"/>
                </a:tc>
                <a:extLst>
                  <a:ext uri="{0D108BD9-81ED-4DB2-BD59-A6C34878D82A}">
                    <a16:rowId xmlns:a16="http://schemas.microsoft.com/office/drawing/2014/main" val="3106903336"/>
                  </a:ext>
                </a:extLst>
              </a:tr>
              <a:tr h="0">
                <a:tc>
                  <a:txBody>
                    <a:bodyPr/>
                    <a:lstStyle/>
                    <a:p>
                      <a:pPr>
                        <a:buNone/>
                      </a:pPr>
                      <a:r>
                        <a:rPr lang="en-US" sz="2400" b="1" dirty="0">
                          <a:latin typeface="Times New Roman" panose="02020603050405020304" pitchFamily="18" charset="0"/>
                          <a:cs typeface="Times New Roman" panose="02020603050405020304" pitchFamily="18" charset="0"/>
                        </a:rPr>
                        <a:t>Key Logger</a:t>
                      </a:r>
                      <a:endParaRPr lang="en-US" sz="2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400" dirty="0">
                          <a:latin typeface="Times New Roman" panose="02020603050405020304" pitchFamily="18" charset="0"/>
                          <a:cs typeface="Times New Roman" panose="02020603050405020304" pitchFamily="18" charset="0"/>
                        </a:rPr>
                        <a:t>Records every keystroke to capture usernames, passwords, and messages.</a:t>
                      </a:r>
                    </a:p>
                  </a:txBody>
                  <a:tcPr anchor="ctr"/>
                </a:tc>
                <a:extLst>
                  <a:ext uri="{0D108BD9-81ED-4DB2-BD59-A6C34878D82A}">
                    <a16:rowId xmlns:a16="http://schemas.microsoft.com/office/drawing/2014/main" val="4217973002"/>
                  </a:ext>
                </a:extLst>
              </a:tr>
              <a:tr h="0">
                <a:tc>
                  <a:txBody>
                    <a:bodyPr/>
                    <a:lstStyle/>
                    <a:p>
                      <a:pPr>
                        <a:buNone/>
                      </a:pPr>
                      <a:r>
                        <a:rPr lang="en-US" sz="2400" b="1">
                          <a:latin typeface="Times New Roman" panose="02020603050405020304" pitchFamily="18" charset="0"/>
                          <a:cs typeface="Times New Roman" panose="02020603050405020304" pitchFamily="18" charset="0"/>
                        </a:rPr>
                        <a:t>Screen Capture Spyware</a:t>
                      </a:r>
                      <a:endParaRPr lang="en-US" sz="2400">
                        <a:latin typeface="Times New Roman" panose="02020603050405020304" pitchFamily="18" charset="0"/>
                        <a:cs typeface="Times New Roman" panose="02020603050405020304" pitchFamily="18" charset="0"/>
                      </a:endParaRPr>
                    </a:p>
                  </a:txBody>
                  <a:tcPr anchor="ctr"/>
                </a:tc>
                <a:tc>
                  <a:txBody>
                    <a:bodyPr/>
                    <a:lstStyle/>
                    <a:p>
                      <a:pPr>
                        <a:buNone/>
                      </a:pPr>
                      <a:r>
                        <a:rPr lang="en-US" sz="2400">
                          <a:latin typeface="Times New Roman" panose="02020603050405020304" pitchFamily="18" charset="0"/>
                          <a:cs typeface="Times New Roman" panose="02020603050405020304" pitchFamily="18" charset="0"/>
                        </a:rPr>
                        <a:t>Takes screenshots to reveal user activity.</a:t>
                      </a:r>
                    </a:p>
                  </a:txBody>
                  <a:tcPr anchor="ctr"/>
                </a:tc>
                <a:extLst>
                  <a:ext uri="{0D108BD9-81ED-4DB2-BD59-A6C34878D82A}">
                    <a16:rowId xmlns:a16="http://schemas.microsoft.com/office/drawing/2014/main" val="215008434"/>
                  </a:ext>
                </a:extLst>
              </a:tr>
              <a:tr h="0">
                <a:tc>
                  <a:txBody>
                    <a:bodyPr/>
                    <a:lstStyle/>
                    <a:p>
                      <a:pPr>
                        <a:buNone/>
                      </a:pPr>
                      <a:r>
                        <a:rPr lang="en-US" sz="2400" b="1">
                          <a:latin typeface="Times New Roman" panose="02020603050405020304" pitchFamily="18" charset="0"/>
                          <a:cs typeface="Times New Roman" panose="02020603050405020304" pitchFamily="18" charset="0"/>
                        </a:rPr>
                        <a:t>System Monitors</a:t>
                      </a:r>
                      <a:endParaRPr lang="en-US" sz="2400">
                        <a:latin typeface="Times New Roman" panose="02020603050405020304" pitchFamily="18" charset="0"/>
                        <a:cs typeface="Times New Roman" panose="02020603050405020304" pitchFamily="18" charset="0"/>
                      </a:endParaRPr>
                    </a:p>
                  </a:txBody>
                  <a:tcPr anchor="ctr"/>
                </a:tc>
                <a:tc>
                  <a:txBody>
                    <a:bodyPr/>
                    <a:lstStyle/>
                    <a:p>
                      <a:pPr>
                        <a:buNone/>
                      </a:pPr>
                      <a:r>
                        <a:rPr lang="en-US" sz="2400" dirty="0">
                          <a:latin typeface="Times New Roman" panose="02020603050405020304" pitchFamily="18" charset="0"/>
                          <a:cs typeface="Times New Roman" panose="02020603050405020304" pitchFamily="18" charset="0"/>
                        </a:rPr>
                        <a:t>Track application usage, emails, chats, and internet activity.</a:t>
                      </a:r>
                    </a:p>
                  </a:txBody>
                  <a:tcPr anchor="ctr"/>
                </a:tc>
                <a:extLst>
                  <a:ext uri="{0D108BD9-81ED-4DB2-BD59-A6C34878D82A}">
                    <a16:rowId xmlns:a16="http://schemas.microsoft.com/office/drawing/2014/main" val="4288879010"/>
                  </a:ext>
                </a:extLst>
              </a:tr>
            </a:tbl>
          </a:graphicData>
        </a:graphic>
      </p:graphicFrame>
      <p:sp>
        <p:nvSpPr>
          <p:cNvPr id="3" name="TextBox 2">
            <a:extLst>
              <a:ext uri="{FF2B5EF4-FFF2-40B4-BE49-F238E27FC236}">
                <a16:creationId xmlns:a16="http://schemas.microsoft.com/office/drawing/2014/main" id="{3EE19A3F-AD26-F6CB-CEF0-25A37D8BF698}"/>
              </a:ext>
            </a:extLst>
          </p:cNvPr>
          <p:cNvSpPr txBox="1"/>
          <p:nvPr/>
        </p:nvSpPr>
        <p:spPr>
          <a:xfrm>
            <a:off x="1160780" y="617319"/>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Spyware (Subcategory of Malware)</a:t>
            </a:r>
          </a:p>
        </p:txBody>
      </p:sp>
    </p:spTree>
    <p:extLst>
      <p:ext uri="{BB962C8B-B14F-4D97-AF65-F5344CB8AC3E}">
        <p14:creationId xmlns:p14="http://schemas.microsoft.com/office/powerpoint/2010/main" val="27518992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F13D9-6C39-5522-8653-8E450E7E2E0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923336-E401-9728-EFF6-5FFA60935CC8}"/>
              </a:ext>
            </a:extLst>
          </p:cNvPr>
          <p:cNvSpPr txBox="1"/>
          <p:nvPr/>
        </p:nvSpPr>
        <p:spPr>
          <a:xfrm>
            <a:off x="1211580" y="260013"/>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Pegasus Spyware</a:t>
            </a:r>
          </a:p>
        </p:txBody>
      </p:sp>
      <p:sp>
        <p:nvSpPr>
          <p:cNvPr id="6" name="TextBox 5">
            <a:extLst>
              <a:ext uri="{FF2B5EF4-FFF2-40B4-BE49-F238E27FC236}">
                <a16:creationId xmlns:a16="http://schemas.microsoft.com/office/drawing/2014/main" id="{92893A62-6BA8-AAC0-97EA-B45405F87ECF}"/>
              </a:ext>
            </a:extLst>
          </p:cNvPr>
          <p:cNvSpPr txBox="1"/>
          <p:nvPr/>
        </p:nvSpPr>
        <p:spPr>
          <a:xfrm>
            <a:off x="1259840" y="1165681"/>
            <a:ext cx="9720580" cy="646331"/>
          </a:xfrm>
          <a:prstGeom prst="rect">
            <a:avLst/>
          </a:prstGeom>
          <a:noFill/>
        </p:spPr>
        <p:txBody>
          <a:bodyPr wrap="square">
            <a:spAutoFit/>
          </a:bodyPr>
          <a:lstStyle/>
          <a:p>
            <a:pPr lvl="0" algn="ctr" defTabSz="914400" eaLnBrk="0" fontAlgn="base" hangingPunct="0">
              <a:spcBef>
                <a:spcPct val="0"/>
              </a:spcBef>
              <a:spcAft>
                <a:spcPct val="0"/>
              </a:spcAft>
            </a:pPr>
            <a:r>
              <a:rPr lang="en-PK" altLang="en-PK" b="1" dirty="0">
                <a:latin typeface="Times New Roman" panose="02020603050405020304" pitchFamily="18" charset="0"/>
                <a:cs typeface="Times New Roman" panose="02020603050405020304" pitchFamily="18" charset="0"/>
              </a:rPr>
              <a:t>First Detected:</a:t>
            </a:r>
            <a:r>
              <a:rPr lang="en-PK" altLang="en-PK" dirty="0">
                <a:latin typeface="Times New Roman" panose="02020603050405020304" pitchFamily="18" charset="0"/>
                <a:cs typeface="Times New Roman" panose="02020603050405020304" pitchFamily="18" charset="0"/>
              </a:rPr>
              <a:t> 2016</a:t>
            </a:r>
            <a:r>
              <a:rPr lang="en-US" altLang="en-PK" dirty="0">
                <a:latin typeface="Times New Roman" panose="02020603050405020304" pitchFamily="18" charset="0"/>
                <a:cs typeface="Times New Roman" panose="02020603050405020304" pitchFamily="18" charset="0"/>
              </a:rPr>
              <a:t> - </a:t>
            </a:r>
            <a:r>
              <a:rPr lang="en-PK" altLang="en-PK" b="1" dirty="0">
                <a:latin typeface="Times New Roman" panose="02020603050405020304" pitchFamily="18" charset="0"/>
                <a:cs typeface="Times New Roman" panose="02020603050405020304" pitchFamily="18" charset="0"/>
              </a:rPr>
              <a:t>Latest Variants:</a:t>
            </a:r>
            <a:r>
              <a:rPr lang="en-PK" altLang="en-PK" dirty="0">
                <a:latin typeface="Times New Roman" panose="02020603050405020304" pitchFamily="18" charset="0"/>
                <a:cs typeface="Times New Roman" panose="02020603050405020304" pitchFamily="18" charset="0"/>
              </a:rPr>
              <a:t> 2022</a:t>
            </a:r>
            <a:r>
              <a:rPr lang="en-US" altLang="en-PK" dirty="0">
                <a:latin typeface="Times New Roman" panose="02020603050405020304" pitchFamily="18" charset="0"/>
                <a:cs typeface="Times New Roman" panose="02020603050405020304" pitchFamily="18" charset="0"/>
              </a:rPr>
              <a:t> - </a:t>
            </a:r>
            <a:r>
              <a:rPr lang="en-PK" altLang="en-PK" b="1" dirty="0">
                <a:latin typeface="Times New Roman" panose="02020603050405020304" pitchFamily="18" charset="0"/>
                <a:cs typeface="Times New Roman" panose="02020603050405020304" pitchFamily="18" charset="0"/>
              </a:rPr>
              <a:t>Platforms Affected:</a:t>
            </a:r>
            <a:r>
              <a:rPr lang="en-PK" altLang="en-PK" dirty="0">
                <a:latin typeface="Times New Roman" panose="02020603050405020304" pitchFamily="18" charset="0"/>
                <a:cs typeface="Times New Roman" panose="02020603050405020304" pitchFamily="18" charset="0"/>
              </a:rPr>
              <a:t> iOS (iPhone) and Android</a:t>
            </a:r>
            <a:r>
              <a:rPr lang="en-US" altLang="en-PK" dirty="0">
                <a:latin typeface="Times New Roman" panose="02020603050405020304" pitchFamily="18" charset="0"/>
                <a:cs typeface="Times New Roman" panose="02020603050405020304" pitchFamily="18" charset="0"/>
              </a:rPr>
              <a:t> - </a:t>
            </a:r>
            <a:r>
              <a:rPr lang="en-PK" altLang="en-PK" b="1" dirty="0">
                <a:latin typeface="Times New Roman" panose="02020603050405020304" pitchFamily="18" charset="0"/>
                <a:cs typeface="Times New Roman" panose="02020603050405020304" pitchFamily="18" charset="0"/>
              </a:rPr>
              <a:t>Type:</a:t>
            </a:r>
            <a:r>
              <a:rPr lang="en-PK" altLang="en-PK" dirty="0">
                <a:latin typeface="Times New Roman" panose="02020603050405020304" pitchFamily="18" charset="0"/>
                <a:cs typeface="Times New Roman" panose="02020603050405020304" pitchFamily="18" charset="0"/>
              </a:rPr>
              <a:t> Advanced Mobile Spyware</a:t>
            </a:r>
          </a:p>
        </p:txBody>
      </p:sp>
      <p:graphicFrame>
        <p:nvGraphicFramePr>
          <p:cNvPr id="5" name="Table 4">
            <a:extLst>
              <a:ext uri="{FF2B5EF4-FFF2-40B4-BE49-F238E27FC236}">
                <a16:creationId xmlns:a16="http://schemas.microsoft.com/office/drawing/2014/main" id="{CC0D9B42-B952-7D36-2440-B795EAA4371A}"/>
              </a:ext>
            </a:extLst>
          </p:cNvPr>
          <p:cNvGraphicFramePr>
            <a:graphicFrameLocks noGrp="1"/>
          </p:cNvGraphicFramePr>
          <p:nvPr>
            <p:extLst>
              <p:ext uri="{D42A27DB-BD31-4B8C-83A1-F6EECF244321}">
                <p14:modId xmlns:p14="http://schemas.microsoft.com/office/powerpoint/2010/main" val="376023285"/>
              </p:ext>
            </p:extLst>
          </p:nvPr>
        </p:nvGraphicFramePr>
        <p:xfrm>
          <a:off x="1211580" y="1812012"/>
          <a:ext cx="10058400" cy="3491230"/>
        </p:xfrm>
        <a:graphic>
          <a:graphicData uri="http://schemas.openxmlformats.org/drawingml/2006/table">
            <a:tbl>
              <a:tblPr/>
              <a:tblGrid>
                <a:gridCol w="5029200">
                  <a:extLst>
                    <a:ext uri="{9D8B030D-6E8A-4147-A177-3AD203B41FA5}">
                      <a16:colId xmlns:a16="http://schemas.microsoft.com/office/drawing/2014/main" val="3192646811"/>
                    </a:ext>
                  </a:extLst>
                </a:gridCol>
                <a:gridCol w="5029200">
                  <a:extLst>
                    <a:ext uri="{9D8B030D-6E8A-4147-A177-3AD203B41FA5}">
                      <a16:colId xmlns:a16="http://schemas.microsoft.com/office/drawing/2014/main" val="3639279817"/>
                    </a:ext>
                  </a:extLst>
                </a:gridCol>
              </a:tblGrid>
              <a:tr h="595630">
                <a:tc>
                  <a:txBody>
                    <a:bodyPr/>
                    <a:lstStyle/>
                    <a:p>
                      <a:pPr>
                        <a:buNone/>
                      </a:pPr>
                      <a:r>
                        <a:rPr lang="en-US" sz="2000" b="1" dirty="0">
                          <a:latin typeface="Times New Roman" panose="02020603050405020304" pitchFamily="18" charset="0"/>
                          <a:cs typeface="Times New Roman" panose="02020603050405020304" pitchFamily="18" charset="0"/>
                        </a:rPr>
                        <a:t>Feature</a:t>
                      </a:r>
                      <a:endParaRPr lang="en-US" sz="20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000" b="1">
                          <a:latin typeface="Times New Roman" panose="02020603050405020304" pitchFamily="18" charset="0"/>
                          <a:cs typeface="Times New Roman" panose="02020603050405020304" pitchFamily="18" charset="0"/>
                        </a:rPr>
                        <a:t>Description</a:t>
                      </a:r>
                      <a:endParaRPr lang="en-US"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1052662340"/>
                  </a:ext>
                </a:extLst>
              </a:tr>
              <a:tr h="0">
                <a:tc>
                  <a:txBody>
                    <a:bodyPr/>
                    <a:lstStyle/>
                    <a:p>
                      <a:pPr>
                        <a:buNone/>
                      </a:pPr>
                      <a:r>
                        <a:rPr lang="en-US" sz="2000" b="1" dirty="0">
                          <a:latin typeface="Times New Roman" panose="02020603050405020304" pitchFamily="18" charset="0"/>
                          <a:cs typeface="Times New Roman" panose="02020603050405020304" pitchFamily="18" charset="0"/>
                        </a:rPr>
                        <a:t>Call &amp; Message Tracking</a:t>
                      </a:r>
                      <a:endParaRPr lang="en-US" sz="20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Records phone calls, SMS, and instant messages (even encrypted ones).</a:t>
                      </a:r>
                    </a:p>
                  </a:txBody>
                  <a:tcPr anchor="ctr">
                    <a:lnL>
                      <a:noFill/>
                    </a:lnL>
                    <a:lnR>
                      <a:noFill/>
                    </a:lnR>
                    <a:lnT>
                      <a:noFill/>
                    </a:lnT>
                    <a:lnB>
                      <a:noFill/>
                    </a:lnB>
                    <a:noFill/>
                  </a:tcPr>
                </a:tc>
                <a:extLst>
                  <a:ext uri="{0D108BD9-81ED-4DB2-BD59-A6C34878D82A}">
                    <a16:rowId xmlns:a16="http://schemas.microsoft.com/office/drawing/2014/main" val="3636937740"/>
                  </a:ext>
                </a:extLst>
              </a:tr>
              <a:tr h="0">
                <a:tc>
                  <a:txBody>
                    <a:bodyPr/>
                    <a:lstStyle/>
                    <a:p>
                      <a:pPr>
                        <a:buNone/>
                      </a:pPr>
                      <a:r>
                        <a:rPr lang="en-US" sz="2000" b="1">
                          <a:latin typeface="Times New Roman" panose="02020603050405020304" pitchFamily="18" charset="0"/>
                          <a:cs typeface="Times New Roman" panose="02020603050405020304" pitchFamily="18" charset="0"/>
                        </a:rPr>
                        <a:t>Location Tracking</a:t>
                      </a:r>
                      <a:endParaRPr lang="en-US"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Monitors GPS location in real time.</a:t>
                      </a:r>
                    </a:p>
                  </a:txBody>
                  <a:tcPr anchor="ctr">
                    <a:lnL>
                      <a:noFill/>
                    </a:lnL>
                    <a:lnR>
                      <a:noFill/>
                    </a:lnR>
                    <a:lnT>
                      <a:noFill/>
                    </a:lnT>
                    <a:lnB>
                      <a:noFill/>
                    </a:lnB>
                    <a:noFill/>
                  </a:tcPr>
                </a:tc>
                <a:extLst>
                  <a:ext uri="{0D108BD9-81ED-4DB2-BD59-A6C34878D82A}">
                    <a16:rowId xmlns:a16="http://schemas.microsoft.com/office/drawing/2014/main" val="1522242113"/>
                  </a:ext>
                </a:extLst>
              </a:tr>
              <a:tr h="0">
                <a:tc>
                  <a:txBody>
                    <a:bodyPr/>
                    <a:lstStyle/>
                    <a:p>
                      <a:pPr>
                        <a:buNone/>
                      </a:pPr>
                      <a:r>
                        <a:rPr lang="en-US" sz="2000" b="1">
                          <a:latin typeface="Times New Roman" panose="02020603050405020304" pitchFamily="18" charset="0"/>
                          <a:cs typeface="Times New Roman" panose="02020603050405020304" pitchFamily="18" charset="0"/>
                        </a:rPr>
                        <a:t>Password Collection</a:t>
                      </a:r>
                      <a:endParaRPr lang="en-US"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000" dirty="0">
                          <a:latin typeface="Times New Roman" panose="02020603050405020304" pitchFamily="18" charset="0"/>
                          <a:cs typeface="Times New Roman" panose="02020603050405020304" pitchFamily="18" charset="0"/>
                        </a:rPr>
                        <a:t>Extracts credentials from apps and browsers.</a:t>
                      </a:r>
                    </a:p>
                  </a:txBody>
                  <a:tcPr anchor="ctr">
                    <a:lnL>
                      <a:noFill/>
                    </a:lnL>
                    <a:lnR>
                      <a:noFill/>
                    </a:lnR>
                    <a:lnT>
                      <a:noFill/>
                    </a:lnT>
                    <a:lnB>
                      <a:noFill/>
                    </a:lnB>
                    <a:noFill/>
                  </a:tcPr>
                </a:tc>
                <a:extLst>
                  <a:ext uri="{0D108BD9-81ED-4DB2-BD59-A6C34878D82A}">
                    <a16:rowId xmlns:a16="http://schemas.microsoft.com/office/drawing/2014/main" val="362105910"/>
                  </a:ext>
                </a:extLst>
              </a:tr>
              <a:tr h="0">
                <a:tc>
                  <a:txBody>
                    <a:bodyPr/>
                    <a:lstStyle/>
                    <a:p>
                      <a:pPr>
                        <a:buNone/>
                      </a:pPr>
                      <a:r>
                        <a:rPr lang="en-US" sz="2000" b="1">
                          <a:latin typeface="Times New Roman" panose="02020603050405020304" pitchFamily="18" charset="0"/>
                          <a:cs typeface="Times New Roman" panose="02020603050405020304" pitchFamily="18" charset="0"/>
                        </a:rPr>
                        <a:t>Microphone &amp; Camera Access</a:t>
                      </a:r>
                      <a:endParaRPr lang="en-US"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Can remotely activate mic or camera without user knowledge.</a:t>
                      </a:r>
                    </a:p>
                  </a:txBody>
                  <a:tcPr anchor="ctr">
                    <a:lnL>
                      <a:noFill/>
                    </a:lnL>
                    <a:lnR>
                      <a:noFill/>
                    </a:lnR>
                    <a:lnT>
                      <a:noFill/>
                    </a:lnT>
                    <a:lnB>
                      <a:noFill/>
                    </a:lnB>
                    <a:noFill/>
                  </a:tcPr>
                </a:tc>
                <a:extLst>
                  <a:ext uri="{0D108BD9-81ED-4DB2-BD59-A6C34878D82A}">
                    <a16:rowId xmlns:a16="http://schemas.microsoft.com/office/drawing/2014/main" val="618232303"/>
                  </a:ext>
                </a:extLst>
              </a:tr>
              <a:tr h="0">
                <a:tc>
                  <a:txBody>
                    <a:bodyPr/>
                    <a:lstStyle/>
                    <a:p>
                      <a:pPr>
                        <a:buNone/>
                      </a:pPr>
                      <a:r>
                        <a:rPr lang="en-US" sz="2000" b="1">
                          <a:latin typeface="Times New Roman" panose="02020603050405020304" pitchFamily="18" charset="0"/>
                          <a:cs typeface="Times New Roman" panose="02020603050405020304" pitchFamily="18" charset="0"/>
                        </a:rPr>
                        <a:t>Zero-Click Exploits</a:t>
                      </a:r>
                      <a:endParaRPr lang="en-US"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000" dirty="0">
                          <a:latin typeface="Times New Roman" panose="02020603050405020304" pitchFamily="18" charset="0"/>
                          <a:cs typeface="Times New Roman" panose="02020603050405020304" pitchFamily="18" charset="0"/>
                        </a:rPr>
                        <a:t>Infects devices without any user interaction (e.g., missed calls or silent messages).</a:t>
                      </a:r>
                    </a:p>
                  </a:txBody>
                  <a:tcPr anchor="ctr">
                    <a:lnL>
                      <a:noFill/>
                    </a:lnL>
                    <a:lnR>
                      <a:noFill/>
                    </a:lnR>
                    <a:lnT>
                      <a:noFill/>
                    </a:lnT>
                    <a:lnB>
                      <a:noFill/>
                    </a:lnB>
                    <a:noFill/>
                  </a:tcPr>
                </a:tc>
                <a:extLst>
                  <a:ext uri="{0D108BD9-81ED-4DB2-BD59-A6C34878D82A}">
                    <a16:rowId xmlns:a16="http://schemas.microsoft.com/office/drawing/2014/main" val="427745546"/>
                  </a:ext>
                </a:extLst>
              </a:tr>
            </a:tbl>
          </a:graphicData>
        </a:graphic>
      </p:graphicFrame>
      <p:sp>
        <p:nvSpPr>
          <p:cNvPr id="7" name="Rectangle 2">
            <a:extLst>
              <a:ext uri="{FF2B5EF4-FFF2-40B4-BE49-F238E27FC236}">
                <a16:creationId xmlns:a16="http://schemas.microsoft.com/office/drawing/2014/main" id="{660337D7-39D4-D53B-7375-0C0E67494477}"/>
              </a:ext>
            </a:extLst>
          </p:cNvPr>
          <p:cNvSpPr>
            <a:spLocks noChangeArrowheads="1"/>
          </p:cNvSpPr>
          <p:nvPr/>
        </p:nvSpPr>
        <p:spPr bwMode="auto">
          <a:xfrm>
            <a:off x="565150" y="5651401"/>
            <a:ext cx="1074674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defTabSz="914400" eaLnBrk="0" fontAlgn="base" hangingPunct="0">
              <a:spcBef>
                <a:spcPct val="0"/>
              </a:spcBef>
              <a:spcAft>
                <a:spcPct val="0"/>
              </a:spcAft>
            </a:pPr>
            <a:r>
              <a:rPr lang="en-PK" altLang="en-PK" sz="1600" dirty="0">
                <a:latin typeface="Times New Roman" panose="02020603050405020304" pitchFamily="18" charset="0"/>
                <a:cs typeface="Times New Roman" panose="02020603050405020304" pitchFamily="18" charset="0"/>
              </a:rPr>
              <a:t>Originally </a:t>
            </a:r>
            <a:r>
              <a:rPr lang="en-PK" altLang="en-PK" sz="1600" b="1" dirty="0">
                <a:latin typeface="Times New Roman" panose="02020603050405020304" pitchFamily="18" charset="0"/>
                <a:cs typeface="Times New Roman" panose="02020603050405020304" pitchFamily="18" charset="0"/>
              </a:rPr>
              <a:t>developed by NSO Group (Israel)</a:t>
            </a:r>
            <a:r>
              <a:rPr lang="en-PK" altLang="en-PK" sz="1600" dirty="0">
                <a:latin typeface="Times New Roman" panose="02020603050405020304" pitchFamily="18" charset="0"/>
                <a:cs typeface="Times New Roman" panose="02020603050405020304" pitchFamily="18" charset="0"/>
              </a:rPr>
              <a:t> for </a:t>
            </a:r>
            <a:r>
              <a:rPr lang="en-PK" altLang="en-PK" sz="1600" b="1" dirty="0">
                <a:latin typeface="Times New Roman" panose="02020603050405020304" pitchFamily="18" charset="0"/>
                <a:cs typeface="Times New Roman" panose="02020603050405020304" pitchFamily="18" charset="0"/>
              </a:rPr>
              <a:t>government intelligence use</a:t>
            </a:r>
            <a:r>
              <a:rPr lang="en-US" altLang="en-PK" sz="1600" b="1" dirty="0">
                <a:latin typeface="Times New Roman" panose="02020603050405020304" pitchFamily="18" charset="0"/>
                <a:cs typeface="Times New Roman" panose="02020603050405020304" pitchFamily="18" charset="0"/>
              </a:rPr>
              <a:t>, </a:t>
            </a:r>
            <a:r>
              <a:rPr lang="en-PK" altLang="en-PK" sz="1600" dirty="0">
                <a:latin typeface="Times New Roman" panose="02020603050405020304" pitchFamily="18" charset="0"/>
                <a:cs typeface="Times New Roman" panose="02020603050405020304" pitchFamily="18" charset="0"/>
              </a:rPr>
              <a:t>supposedly to fight terrorism and crime.</a:t>
            </a:r>
          </a:p>
          <a:p>
            <a:pPr lvl="0" algn="ctr" defTabSz="914400" eaLnBrk="0" fontAlgn="base" hangingPunct="0">
              <a:spcBef>
                <a:spcPct val="0"/>
              </a:spcBef>
              <a:spcAft>
                <a:spcPct val="0"/>
              </a:spcAft>
            </a:pPr>
            <a:r>
              <a:rPr lang="en-PK" altLang="en-PK" sz="1600" dirty="0">
                <a:latin typeface="Times New Roman" panose="02020603050405020304" pitchFamily="18" charset="0"/>
                <a:cs typeface="Times New Roman" panose="02020603050405020304" pitchFamily="18" charset="0"/>
              </a:rPr>
              <a:t>Later </a:t>
            </a:r>
            <a:r>
              <a:rPr lang="en-PK" altLang="en-PK" sz="1600" b="1" dirty="0">
                <a:latin typeface="Times New Roman" panose="02020603050405020304" pitchFamily="18" charset="0"/>
                <a:cs typeface="Times New Roman" panose="02020603050405020304" pitchFamily="18" charset="0"/>
              </a:rPr>
              <a:t>found in unauthorized use</a:t>
            </a:r>
            <a:r>
              <a:rPr lang="en-PK" altLang="en-PK" sz="1600" dirty="0">
                <a:latin typeface="Times New Roman" panose="02020603050405020304" pitchFamily="18" charset="0"/>
                <a:cs typeface="Times New Roman" panose="02020603050405020304" pitchFamily="18" charset="0"/>
              </a:rPr>
              <a:t> by several regimes targeting </a:t>
            </a:r>
            <a:r>
              <a:rPr lang="en-PK" altLang="en-PK" sz="1600" b="1" dirty="0">
                <a:latin typeface="Times New Roman" panose="02020603050405020304" pitchFamily="18" charset="0"/>
                <a:cs typeface="Times New Roman" panose="02020603050405020304" pitchFamily="18" charset="0"/>
              </a:rPr>
              <a:t>journalists, activists, and political figures</a:t>
            </a:r>
            <a:r>
              <a:rPr lang="en-PK" altLang="en-PK" sz="1600" dirty="0">
                <a:latin typeface="Times New Roman" panose="02020603050405020304" pitchFamily="18" charset="0"/>
                <a:cs typeface="Times New Roman" panose="02020603050405020304" pitchFamily="18" charset="0"/>
              </a:rPr>
              <a:t>.</a:t>
            </a:r>
          </a:p>
          <a:p>
            <a:pPr lvl="0" algn="ctr" defTabSz="914400" eaLnBrk="0" fontAlgn="base" hangingPunct="0">
              <a:spcBef>
                <a:spcPct val="0"/>
              </a:spcBef>
              <a:spcAft>
                <a:spcPct val="0"/>
              </a:spcAft>
            </a:pPr>
            <a:r>
              <a:rPr lang="en-PK" altLang="en-PK" sz="1600" dirty="0">
                <a:latin typeface="Times New Roman" panose="02020603050405020304" pitchFamily="18" charset="0"/>
                <a:cs typeface="Times New Roman" panose="02020603050405020304" pitchFamily="18" charset="0"/>
              </a:rPr>
              <a:t>Considered one of the </a:t>
            </a:r>
            <a:r>
              <a:rPr lang="en-PK" altLang="en-PK" sz="1600" b="1" dirty="0">
                <a:latin typeface="Times New Roman" panose="02020603050405020304" pitchFamily="18" charset="0"/>
                <a:cs typeface="Times New Roman" panose="02020603050405020304" pitchFamily="18" charset="0"/>
              </a:rPr>
              <a:t>most sophisticated and invasive</a:t>
            </a:r>
            <a:r>
              <a:rPr lang="en-PK" altLang="en-PK" sz="1600" dirty="0">
                <a:latin typeface="Times New Roman" panose="02020603050405020304" pitchFamily="18" charset="0"/>
                <a:cs typeface="Times New Roman" panose="02020603050405020304" pitchFamily="18" charset="0"/>
              </a:rPr>
              <a:t> spyware tools ever created</a:t>
            </a:r>
            <a:endParaRPr kumimoji="0" lang="en-PK" altLang="en-PK"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21545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E56BCF-FFE1-334C-BA43-B835D70439AC}"/>
              </a:ext>
            </a:extLst>
          </p:cNvPr>
          <p:cNvSpPr txBox="1"/>
          <p:nvPr/>
        </p:nvSpPr>
        <p:spPr>
          <a:xfrm>
            <a:off x="1250950" y="1919674"/>
            <a:ext cx="9690100" cy="3539430"/>
          </a:xfrm>
          <a:prstGeom prst="rect">
            <a:avLst/>
          </a:prstGeom>
          <a:noFill/>
        </p:spPr>
        <p:txBody>
          <a:bodyPr wrap="square">
            <a:spAutoFit/>
          </a:bodyPr>
          <a:lstStyle/>
          <a:p>
            <a:pPr algn="ctr">
              <a:spcBef>
                <a:spcPts val="750"/>
              </a:spcBef>
              <a:spcAft>
                <a:spcPts val="900"/>
              </a:spcAft>
            </a:pPr>
            <a:r>
              <a:rPr lang="en-US" sz="2800" b="0" i="0" dirty="0">
                <a:solidFill>
                  <a:srgbClr val="0A0A0A"/>
                </a:solidFill>
                <a:effectLst/>
                <a:latin typeface="Times New Roman" panose="02020603050405020304" pitchFamily="18" charset="0"/>
                <a:cs typeface="Times New Roman" panose="02020603050405020304" pitchFamily="18" charset="0"/>
              </a:rPr>
              <a:t>NSO Group maintains that it sells Pegasus only to authorized governments to fight crime and terrorism, with built-in safeguards. However, multiple investigations (such as the "Pegasus Project") have revealed widespread misuse by governments to target political opponents, journalists, and human rights defenders, leading to international condemnation, lawsuits from companies like Apple and Meta (WhatsApp), and NSO Group being placed on the U.S. entity list. </a:t>
            </a:r>
          </a:p>
        </p:txBody>
      </p:sp>
      <p:sp>
        <p:nvSpPr>
          <p:cNvPr id="6" name="TextBox 5">
            <a:extLst>
              <a:ext uri="{FF2B5EF4-FFF2-40B4-BE49-F238E27FC236}">
                <a16:creationId xmlns:a16="http://schemas.microsoft.com/office/drawing/2014/main" id="{967A8B5F-932E-8917-A4AE-D7D7BBA79061}"/>
              </a:ext>
            </a:extLst>
          </p:cNvPr>
          <p:cNvSpPr txBox="1"/>
          <p:nvPr/>
        </p:nvSpPr>
        <p:spPr>
          <a:xfrm>
            <a:off x="1487170" y="615613"/>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Pegasus Spyware Controversy</a:t>
            </a:r>
          </a:p>
        </p:txBody>
      </p:sp>
    </p:spTree>
    <p:extLst>
      <p:ext uri="{BB962C8B-B14F-4D97-AF65-F5344CB8AC3E}">
        <p14:creationId xmlns:p14="http://schemas.microsoft.com/office/powerpoint/2010/main" val="39090457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D0409-D8A5-9C72-5E26-A5DDDDAD636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5B17111-269A-6486-7258-7172AC30E4A8}"/>
              </a:ext>
            </a:extLst>
          </p:cNvPr>
          <p:cNvSpPr txBox="1"/>
          <p:nvPr/>
        </p:nvSpPr>
        <p:spPr>
          <a:xfrm>
            <a:off x="1507490" y="361982"/>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Other Forms of Malware</a:t>
            </a:r>
          </a:p>
        </p:txBody>
      </p:sp>
      <p:sp>
        <p:nvSpPr>
          <p:cNvPr id="4" name="Rectangle 2">
            <a:extLst>
              <a:ext uri="{FF2B5EF4-FFF2-40B4-BE49-F238E27FC236}">
                <a16:creationId xmlns:a16="http://schemas.microsoft.com/office/drawing/2014/main" id="{F809313C-A207-32DC-D24D-BD8ECB0D8046}"/>
              </a:ext>
            </a:extLst>
          </p:cNvPr>
          <p:cNvSpPr>
            <a:spLocks noChangeArrowheads="1"/>
          </p:cNvSpPr>
          <p:nvPr/>
        </p:nvSpPr>
        <p:spPr bwMode="auto">
          <a:xfrm>
            <a:off x="1027430" y="1008313"/>
            <a:ext cx="104140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defTabSz="914400" eaLnBrk="0" fontAlgn="base" hangingPunct="0">
              <a:spcBef>
                <a:spcPct val="0"/>
              </a:spcBef>
              <a:spcAft>
                <a:spcPct val="0"/>
              </a:spcAft>
              <a:buFont typeface="Wingdings" panose="05000000000000000000" pitchFamily="2" charset="2"/>
              <a:buChar char="ü"/>
            </a:pPr>
            <a:r>
              <a:rPr lang="en-PK" altLang="en-PK" sz="2400" b="1" dirty="0">
                <a:latin typeface="Times New Roman" panose="02020603050405020304" pitchFamily="18" charset="0"/>
                <a:cs typeface="Times New Roman" panose="02020603050405020304" pitchFamily="18" charset="0"/>
              </a:rPr>
              <a:t>Adware:</a:t>
            </a:r>
            <a:r>
              <a:rPr lang="en-PK" altLang="en-PK" sz="2400" dirty="0">
                <a:latin typeface="Times New Roman" panose="02020603050405020304" pitchFamily="18" charset="0"/>
                <a:cs typeface="Times New Roman" panose="02020603050405020304" pitchFamily="18" charset="0"/>
              </a:rPr>
              <a:t> Software that automatically displays or downloads unwanted advertisements on your device.</a:t>
            </a:r>
          </a:p>
          <a:p>
            <a:pPr marL="342900" lvl="0" indent="-342900" defTabSz="914400" eaLnBrk="0" fontAlgn="base" hangingPunct="0">
              <a:spcBef>
                <a:spcPct val="0"/>
              </a:spcBef>
              <a:spcAft>
                <a:spcPct val="0"/>
              </a:spcAft>
              <a:buFont typeface="Wingdings" panose="05000000000000000000" pitchFamily="2" charset="2"/>
              <a:buChar char="ü"/>
            </a:pPr>
            <a:r>
              <a:rPr lang="en-PK" altLang="en-PK" sz="2400" b="1" dirty="0">
                <a:latin typeface="Times New Roman" panose="02020603050405020304" pitchFamily="18" charset="0"/>
                <a:cs typeface="Times New Roman" panose="02020603050405020304" pitchFamily="18" charset="0"/>
              </a:rPr>
              <a:t>Rootkit:</a:t>
            </a:r>
            <a:r>
              <a:rPr lang="en-PK" altLang="en-PK" sz="2400" dirty="0">
                <a:latin typeface="Times New Roman" panose="02020603050405020304" pitchFamily="18" charset="0"/>
                <a:cs typeface="Times New Roman" panose="02020603050405020304" pitchFamily="18" charset="0"/>
              </a:rPr>
              <a:t> A hidden malicious program that provides unauthorized users with privileged access to a computer.</a:t>
            </a:r>
          </a:p>
          <a:p>
            <a:pPr marL="342900" lvl="0" indent="-342900" defTabSz="914400" eaLnBrk="0" fontAlgn="base" hangingPunct="0">
              <a:spcBef>
                <a:spcPct val="0"/>
              </a:spcBef>
              <a:spcAft>
                <a:spcPct val="0"/>
              </a:spcAft>
              <a:buFont typeface="Wingdings" panose="05000000000000000000" pitchFamily="2" charset="2"/>
              <a:buChar char="ü"/>
            </a:pPr>
            <a:r>
              <a:rPr lang="en-PK" altLang="en-PK" sz="2400" b="1" dirty="0">
                <a:latin typeface="Times New Roman" panose="02020603050405020304" pitchFamily="18" charset="0"/>
                <a:cs typeface="Times New Roman" panose="02020603050405020304" pitchFamily="18" charset="0"/>
              </a:rPr>
              <a:t>Web-Based Mobile Code:</a:t>
            </a:r>
            <a:r>
              <a:rPr lang="en-PK" altLang="en-PK" sz="2400" dirty="0">
                <a:latin typeface="Times New Roman" panose="02020603050405020304" pitchFamily="18" charset="0"/>
                <a:cs typeface="Times New Roman" panose="02020603050405020304" pitchFamily="18" charset="0"/>
              </a:rPr>
              <a:t> Scripts or programs (like JavaScript or ActiveX) that run automatically when you visit a webpage.</a:t>
            </a:r>
          </a:p>
          <a:p>
            <a:pPr marL="342900" lvl="0" indent="-342900" defTabSz="914400" eaLnBrk="0" fontAlgn="base" hangingPunct="0">
              <a:spcBef>
                <a:spcPct val="0"/>
              </a:spcBef>
              <a:spcAft>
                <a:spcPct val="0"/>
              </a:spcAft>
              <a:buFont typeface="Wingdings" panose="05000000000000000000" pitchFamily="2" charset="2"/>
              <a:buChar char="ü"/>
            </a:pPr>
            <a:r>
              <a:rPr lang="en-PK" altLang="en-PK" sz="2400" b="1" dirty="0">
                <a:latin typeface="Times New Roman" panose="02020603050405020304" pitchFamily="18" charset="0"/>
                <a:cs typeface="Times New Roman" panose="02020603050405020304" pitchFamily="18" charset="0"/>
              </a:rPr>
              <a:t>Logic Bomb:</a:t>
            </a:r>
            <a:r>
              <a:rPr lang="en-PK" altLang="en-PK" sz="2400" dirty="0">
                <a:latin typeface="Times New Roman" panose="02020603050405020304" pitchFamily="18" charset="0"/>
                <a:cs typeface="Times New Roman" panose="02020603050405020304" pitchFamily="18" charset="0"/>
              </a:rPr>
              <a:t> Malicious code that activates and causes harm when specific conditions are met.</a:t>
            </a:r>
          </a:p>
          <a:p>
            <a:pPr marL="342900" lvl="0" indent="-342900" defTabSz="914400" eaLnBrk="0" fontAlgn="base" hangingPunct="0">
              <a:spcBef>
                <a:spcPct val="0"/>
              </a:spcBef>
              <a:spcAft>
                <a:spcPct val="0"/>
              </a:spcAft>
              <a:buFont typeface="Wingdings" panose="05000000000000000000" pitchFamily="2" charset="2"/>
              <a:buChar char="ü"/>
            </a:pPr>
            <a:r>
              <a:rPr lang="en-PK" altLang="en-PK" sz="2400" b="1" dirty="0">
                <a:latin typeface="Times New Roman" panose="02020603050405020304" pitchFamily="18" charset="0"/>
                <a:cs typeface="Times New Roman" panose="02020603050405020304" pitchFamily="18" charset="0"/>
              </a:rPr>
              <a:t>Spam:</a:t>
            </a:r>
            <a:r>
              <a:rPr lang="en-PK" altLang="en-PK" sz="2400" dirty="0">
                <a:latin typeface="Times New Roman" panose="02020603050405020304" pitchFamily="18" charset="0"/>
                <a:cs typeface="Times New Roman" panose="02020603050405020304" pitchFamily="18" charset="0"/>
              </a:rPr>
              <a:t> Unsolicited and repetitive messages, usually sent via email, often for advertising or phishing.</a:t>
            </a:r>
          </a:p>
          <a:p>
            <a:pPr marL="342900" lvl="0" indent="-342900" defTabSz="914400" eaLnBrk="0" fontAlgn="base" hangingPunct="0">
              <a:spcBef>
                <a:spcPct val="0"/>
              </a:spcBef>
              <a:spcAft>
                <a:spcPct val="0"/>
              </a:spcAft>
              <a:buFont typeface="Wingdings" panose="05000000000000000000" pitchFamily="2" charset="2"/>
              <a:buChar char="ü"/>
            </a:pPr>
            <a:r>
              <a:rPr lang="en-PK" altLang="en-PK" sz="2400" b="1" dirty="0">
                <a:latin typeface="Times New Roman" panose="02020603050405020304" pitchFamily="18" charset="0"/>
                <a:cs typeface="Times New Roman" panose="02020603050405020304" pitchFamily="18" charset="0"/>
              </a:rPr>
              <a:t>Advanced Persistent Threat (APT):</a:t>
            </a:r>
            <a:r>
              <a:rPr lang="en-PK" altLang="en-PK" sz="2400" dirty="0">
                <a:latin typeface="Times New Roman" panose="02020603050405020304" pitchFamily="18" charset="0"/>
                <a:cs typeface="Times New Roman" panose="02020603050405020304" pitchFamily="18" charset="0"/>
              </a:rPr>
              <a:t> A long-term, targeted cyberattack where intruders stealthily access and monitor systems.</a:t>
            </a:r>
          </a:p>
          <a:p>
            <a:pPr marL="342900" lvl="0" indent="-342900" defTabSz="914400" eaLnBrk="0" fontAlgn="base" hangingPunct="0">
              <a:spcBef>
                <a:spcPct val="0"/>
              </a:spcBef>
              <a:spcAft>
                <a:spcPct val="0"/>
              </a:spcAft>
              <a:buFont typeface="Wingdings" panose="05000000000000000000" pitchFamily="2" charset="2"/>
              <a:buChar char="ü"/>
            </a:pPr>
            <a:r>
              <a:rPr lang="en-PK" altLang="en-PK" sz="2400" b="1" dirty="0">
                <a:latin typeface="Times New Roman" panose="02020603050405020304" pitchFamily="18" charset="0"/>
                <a:cs typeface="Times New Roman" panose="02020603050405020304" pitchFamily="18" charset="0"/>
              </a:rPr>
              <a:t>Deepfakes:</a:t>
            </a:r>
            <a:r>
              <a:rPr lang="en-PK" altLang="en-PK" sz="2400" dirty="0">
                <a:latin typeface="Times New Roman" panose="02020603050405020304" pitchFamily="18" charset="0"/>
                <a:cs typeface="Times New Roman" panose="02020603050405020304" pitchFamily="18" charset="0"/>
              </a:rPr>
              <a:t> AI-generated synthetic media that realistically imitates real people’s appearance or voice to deceive others.</a:t>
            </a:r>
          </a:p>
        </p:txBody>
      </p:sp>
    </p:spTree>
    <p:extLst>
      <p:ext uri="{BB962C8B-B14F-4D97-AF65-F5344CB8AC3E}">
        <p14:creationId xmlns:p14="http://schemas.microsoft.com/office/powerpoint/2010/main" val="2187700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26764-B719-E45A-9888-7F8B48EB73F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7D0BF91-D761-F65B-FE79-C2FF2960BC0E}"/>
              </a:ext>
            </a:extLst>
          </p:cNvPr>
          <p:cNvSpPr txBox="1"/>
          <p:nvPr/>
        </p:nvSpPr>
        <p:spPr>
          <a:xfrm>
            <a:off x="1369060" y="331502"/>
            <a:ext cx="9453880" cy="1200329"/>
          </a:xfrm>
          <a:prstGeom prst="rect">
            <a:avLst/>
          </a:prstGeom>
          <a:noFill/>
        </p:spPr>
        <p:txBody>
          <a:bodyPr wrap="square">
            <a:spAutoFit/>
          </a:bodyPr>
          <a:lstStyle/>
          <a:p>
            <a:pPr algn="ctr"/>
            <a:r>
              <a:rPr lang="en-US" alt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Detecting and Eliminating Viruses and Spyware</a:t>
            </a:r>
            <a:endPar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Rectangle 2">
            <a:extLst>
              <a:ext uri="{FF2B5EF4-FFF2-40B4-BE49-F238E27FC236}">
                <a16:creationId xmlns:a16="http://schemas.microsoft.com/office/drawing/2014/main" id="{2E672EE4-FAF6-CC4B-3EF8-ED90628F250C}"/>
              </a:ext>
            </a:extLst>
          </p:cNvPr>
          <p:cNvSpPr>
            <a:spLocks noChangeArrowheads="1"/>
          </p:cNvSpPr>
          <p:nvPr/>
        </p:nvSpPr>
        <p:spPr bwMode="auto">
          <a:xfrm>
            <a:off x="1139190" y="1605670"/>
            <a:ext cx="968375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altLang="en-US" sz="2600" dirty="0">
                <a:latin typeface="Times New Roman" panose="02020603050405020304" pitchFamily="18" charset="0"/>
                <a:cs typeface="Times New Roman" panose="02020603050405020304" pitchFamily="18" charset="0"/>
              </a:rPr>
              <a:t>Antivirus software operates in two ways:</a:t>
            </a:r>
          </a:p>
          <a:p>
            <a:pPr marL="914400" lvl="1" indent="-457200">
              <a:buFont typeface="+mj-lt"/>
              <a:buAutoNum type="arabicPeriod"/>
            </a:pPr>
            <a:r>
              <a:rPr lang="en-US" altLang="en-US" sz="2600" b="1" dirty="0">
                <a:latin typeface="Times New Roman" panose="02020603050405020304" pitchFamily="18" charset="0"/>
                <a:cs typeface="Times New Roman" panose="02020603050405020304" pitchFamily="18" charset="0"/>
              </a:rPr>
              <a:t>Scans for virus signature</a:t>
            </a:r>
          </a:p>
          <a:p>
            <a:pPr lvl="1"/>
            <a:r>
              <a:rPr lang="en-US" altLang="en-US" sz="2600" dirty="0">
                <a:latin typeface="Times New Roman" panose="02020603050405020304" pitchFamily="18" charset="0"/>
                <a:cs typeface="Times New Roman" panose="02020603050405020304" pitchFamily="18" charset="0"/>
              </a:rPr>
              <a:t>      - Keeps the signature file updated</a:t>
            </a:r>
          </a:p>
          <a:p>
            <a:pPr marL="914400" lvl="1" indent="-457200">
              <a:buFont typeface="+mj-lt"/>
              <a:buAutoNum type="arabicPeriod"/>
            </a:pPr>
            <a:r>
              <a:rPr lang="en-US" altLang="en-US" sz="2600" b="1" dirty="0">
                <a:latin typeface="Times New Roman" panose="02020603050405020304" pitchFamily="18" charset="0"/>
                <a:cs typeface="Times New Roman" panose="02020603050405020304" pitchFamily="18" charset="0"/>
              </a:rPr>
              <a:t>Watches the behavior of executables</a:t>
            </a:r>
          </a:p>
          <a:p>
            <a:pPr lvl="1"/>
            <a:r>
              <a:rPr lang="en-US" altLang="en-US" sz="2600" dirty="0">
                <a:latin typeface="Times New Roman" panose="02020603050405020304" pitchFamily="18" charset="0"/>
                <a:cs typeface="Times New Roman" panose="02020603050405020304" pitchFamily="18" charset="0"/>
              </a:rPr>
              <a:t>      - Attempts to access e-mail address book</a:t>
            </a:r>
          </a:p>
          <a:p>
            <a:pPr lvl="1"/>
            <a:r>
              <a:rPr lang="en-US" altLang="en-US" sz="2600" dirty="0">
                <a:latin typeface="Times New Roman" panose="02020603050405020304" pitchFamily="18" charset="0"/>
                <a:cs typeface="Times New Roman" panose="02020603050405020304" pitchFamily="18" charset="0"/>
              </a:rPr>
              <a:t>      - Attempts to change Registry settings</a:t>
            </a:r>
          </a:p>
          <a:p>
            <a:endParaRPr lang="en-US" altLang="en-US" sz="2600" dirty="0">
              <a:latin typeface="Times New Roman" panose="02020603050405020304" pitchFamily="18" charset="0"/>
              <a:cs typeface="Times New Roman" panose="02020603050405020304" pitchFamily="18" charset="0"/>
            </a:endParaRPr>
          </a:p>
          <a:p>
            <a:r>
              <a:rPr lang="en-US" altLang="en-US" sz="2600" b="1" dirty="0">
                <a:latin typeface="Times New Roman" panose="02020603050405020304" pitchFamily="18" charset="0"/>
                <a:cs typeface="Times New Roman" panose="02020603050405020304" pitchFamily="18" charset="0"/>
              </a:rPr>
              <a:t>Anti-spyware software</a:t>
            </a:r>
          </a:p>
          <a:p>
            <a:pPr marL="800100" lvl="1" indent="-342900">
              <a:buFont typeface="Arial" panose="020B0604020202020204" pitchFamily="34" charset="0"/>
              <a:buChar char="•"/>
            </a:pPr>
            <a:r>
              <a:rPr lang="en-US" altLang="en-US" sz="2600" dirty="0">
                <a:latin typeface="Times New Roman" panose="02020603050405020304" pitchFamily="18" charset="0"/>
                <a:cs typeface="Times New Roman" panose="02020603050405020304" pitchFamily="18" charset="0"/>
                <a:hlinkClick r:id="rId2"/>
              </a:rPr>
              <a:t>www.webroot.com</a:t>
            </a:r>
            <a:endParaRPr lang="en-US" altLang="en-US" sz="26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600" dirty="0">
                <a:latin typeface="Times New Roman" panose="02020603050405020304" pitchFamily="18" charset="0"/>
                <a:cs typeface="Times New Roman" panose="02020603050405020304" pitchFamily="18" charset="0"/>
                <a:hlinkClick r:id="rId3"/>
              </a:rPr>
              <a:t>www.spykiller.com</a:t>
            </a:r>
            <a:endParaRPr lang="en-US" altLang="en-US" sz="26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600" dirty="0">
                <a:latin typeface="Times New Roman" panose="02020603050405020304" pitchFamily="18" charset="0"/>
                <a:cs typeface="Times New Roman" panose="02020603050405020304" pitchFamily="18" charset="0"/>
                <a:hlinkClick r:id="rId4"/>
              </a:rPr>
              <a:t>www.zerospy.com</a:t>
            </a:r>
            <a:endParaRPr lang="en-US" altLang="en-US" sz="26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600" dirty="0">
                <a:latin typeface="Times New Roman" panose="02020603050405020304" pitchFamily="18" charset="0"/>
                <a:cs typeface="Times New Roman" panose="02020603050405020304" pitchFamily="18" charset="0"/>
                <a:hlinkClick r:id="rId5"/>
              </a:rPr>
              <a:t>www.spectorsoft.com</a:t>
            </a:r>
            <a:endParaRPr lang="en-US" altLang="en-US" sz="2600" dirty="0">
              <a:latin typeface="Times New Roman" panose="02020603050405020304" pitchFamily="18" charset="0"/>
              <a:cs typeface="Times New Roman" panose="02020603050405020304" pitchFamily="18" charset="0"/>
            </a:endParaRPr>
          </a:p>
          <a:p>
            <a:endParaRPr lang="en-US" altLang="en-US" sz="2600" dirty="0">
              <a:latin typeface="Times New Roman" panose="02020603050405020304" pitchFamily="18" charset="0"/>
              <a:cs typeface="Times New Roman" panose="02020603050405020304" pitchFamily="18" charset="0"/>
            </a:endParaRPr>
          </a:p>
          <a:p>
            <a:pPr marL="342900" lvl="0" indent="-342900" defTabSz="914400" eaLnBrk="0" fontAlgn="base" hangingPunct="0">
              <a:spcBef>
                <a:spcPct val="0"/>
              </a:spcBef>
              <a:spcAft>
                <a:spcPct val="0"/>
              </a:spcAft>
              <a:buFont typeface="Wingdings" panose="05000000000000000000" pitchFamily="2" charset="2"/>
              <a:buChar char="ü"/>
            </a:pPr>
            <a:endParaRPr lang="en-PK" altLang="en-PK"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02992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24840-87B7-5C2F-E6CB-CE9BD61D278B}"/>
              </a:ext>
            </a:extLst>
          </p:cNvPr>
          <p:cNvSpPr>
            <a:spLocks noGrp="1"/>
          </p:cNvSpPr>
          <p:nvPr>
            <p:ph type="title"/>
          </p:nvPr>
        </p:nvSpPr>
        <p:spPr>
          <a:xfrm>
            <a:off x="3487928" y="1588500"/>
            <a:ext cx="6194552" cy="2807208"/>
          </a:xfrm>
        </p:spPr>
        <p:txBody>
          <a:bodyPr>
            <a:normAutofit/>
          </a:bodyPr>
          <a:lstStyle/>
          <a:p>
            <a:r>
              <a:rPr lang="en-US" sz="8000" dirty="0"/>
              <a:t>Thank you!</a:t>
            </a:r>
            <a:endParaRPr lang="en-PK" sz="8000" dirty="0"/>
          </a:p>
        </p:txBody>
      </p:sp>
      <p:sp>
        <p:nvSpPr>
          <p:cNvPr id="4" name="TextBox 3">
            <a:extLst>
              <a:ext uri="{FF2B5EF4-FFF2-40B4-BE49-F238E27FC236}">
                <a16:creationId xmlns:a16="http://schemas.microsoft.com/office/drawing/2014/main" id="{7119812F-AABC-0688-A538-8A303FE5DAE1}"/>
              </a:ext>
            </a:extLst>
          </p:cNvPr>
          <p:cNvSpPr txBox="1"/>
          <p:nvPr/>
        </p:nvSpPr>
        <p:spPr>
          <a:xfrm>
            <a:off x="640080" y="3429000"/>
            <a:ext cx="10535920" cy="369332"/>
          </a:xfrm>
          <a:prstGeom prst="rect">
            <a:avLst/>
          </a:prstGeom>
          <a:noFill/>
        </p:spPr>
        <p:txBody>
          <a:bodyPr wrap="square">
            <a:spAutoFit/>
          </a:bodyPr>
          <a:lstStyle/>
          <a:p>
            <a:pPr algn="ctr"/>
            <a:r>
              <a:rPr lang="en-US" dirty="0"/>
              <a:t>“Looks harmless — acts harmful”</a:t>
            </a:r>
            <a:endParaRPr lang="en-PK" dirty="0"/>
          </a:p>
        </p:txBody>
      </p:sp>
    </p:spTree>
    <p:extLst>
      <p:ext uri="{BB962C8B-B14F-4D97-AF65-F5344CB8AC3E}">
        <p14:creationId xmlns:p14="http://schemas.microsoft.com/office/powerpoint/2010/main" val="11958689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{45F63935-1AF4-4F8C-991F-4D25D3E9C223}TF2ec419c9-97c3-4958-b02a-0886397d33afcfe10e4b-d68909c4b1b0</Template>
  <TotalTime>2251</TotalTime>
  <Words>2334</Words>
  <Application>Microsoft Office PowerPoint</Application>
  <PresentationFormat>Widescreen</PresentationFormat>
  <Paragraphs>295</Paragraphs>
  <Slides>29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Rockwell</vt:lpstr>
      <vt:lpstr>Rockwell Condensed</vt:lpstr>
      <vt:lpstr>Times New Roman</vt:lpstr>
      <vt:lpstr>Wingdings</vt:lpstr>
      <vt:lpstr>Wood Type</vt:lpstr>
      <vt:lpstr>Cyber Security</vt:lpstr>
      <vt:lpstr>Lecture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Adil Ahmed</cp:lastModifiedBy>
  <cp:revision>1376</cp:revision>
  <dcterms:created xsi:type="dcterms:W3CDTF">2025-10-15T06:15:30Z</dcterms:created>
  <dcterms:modified xsi:type="dcterms:W3CDTF">2025-11-15T11:14:05Z</dcterms:modified>
</cp:coreProperties>
</file>