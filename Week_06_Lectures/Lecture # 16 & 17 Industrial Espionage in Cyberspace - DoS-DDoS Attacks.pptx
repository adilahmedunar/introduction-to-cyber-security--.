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31"/>
  </p:notesMasterIdLst>
  <p:sldIdLst>
    <p:sldId id="256" r:id="rId2"/>
    <p:sldId id="261" r:id="rId3"/>
    <p:sldId id="401" r:id="rId4"/>
    <p:sldId id="422" r:id="rId5"/>
    <p:sldId id="424" r:id="rId6"/>
    <p:sldId id="423" r:id="rId7"/>
    <p:sldId id="425" r:id="rId8"/>
    <p:sldId id="426" r:id="rId9"/>
    <p:sldId id="427" r:id="rId10"/>
    <p:sldId id="428" r:id="rId11"/>
    <p:sldId id="402" r:id="rId12"/>
    <p:sldId id="429" r:id="rId13"/>
    <p:sldId id="431" r:id="rId14"/>
    <p:sldId id="432" r:id="rId15"/>
    <p:sldId id="433" r:id="rId16"/>
    <p:sldId id="435" r:id="rId17"/>
    <p:sldId id="436" r:id="rId18"/>
    <p:sldId id="437" r:id="rId19"/>
    <p:sldId id="439" r:id="rId20"/>
    <p:sldId id="440" r:id="rId21"/>
    <p:sldId id="441" r:id="rId22"/>
    <p:sldId id="442" r:id="rId23"/>
    <p:sldId id="443" r:id="rId24"/>
    <p:sldId id="444" r:id="rId25"/>
    <p:sldId id="445" r:id="rId26"/>
    <p:sldId id="446" r:id="rId27"/>
    <p:sldId id="447" r:id="rId28"/>
    <p:sldId id="449" r:id="rId29"/>
    <p:sldId id="26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842" autoAdjust="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28/11/2025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11/28/2025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11/28/2025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11/28/2025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11/28/2025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cisa.gov/sites/default/files/c3vp/crr_resources_guides/CRR_Resource_Guide-AM.pdf"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ft.com/content/ad9d7b68-3654-426d-90ea-332713a7b2c6?utm_source=chatgpt.com" TargetMode="External"/><Relationship Id="rId2" Type="http://schemas.openxmlformats.org/officeDocument/2006/relationships/hyperlink" Target="https://www.reuters.com/legal/ex-google-engineer-faces-new-us-charges-he-stole-ai-secrets-chinese-companies-2025-02-05/?utm_source=chatgpt.com" TargetMode="External"/><Relationship Id="rId1" Type="http://schemas.openxmlformats.org/officeDocument/2006/relationships/slideLayout" Target="../slideLayouts/slideLayout7.xml"/><Relationship Id="rId5" Type="http://schemas.openxmlformats.org/officeDocument/2006/relationships/hyperlink" Target="https://www.theaustralian.com.au/business/aviation/exqantas-pilot-accused-of-industrial-espionage-denies-ill-intent-behind-document-theft/news-story/8c586c5ad77ffd562e585805c8474d40?utm_source=chatgpt.com" TargetMode="External"/><Relationship Id="rId4" Type="http://schemas.openxmlformats.org/officeDocument/2006/relationships/hyperlink" Target="https://www.theverge.com/ai-artificial-intelligence/770410/scale-ai-corporate-espionage-data-labeling-mercor-meta?utm_source=chatgpt.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p:txBody>
          <a:bodyPr/>
          <a:lstStyle/>
          <a:p>
            <a:pPr algn="ctr"/>
            <a:r>
              <a:rPr lang="en-US" sz="8000" b="1" dirty="0">
                <a:latin typeface="Times New Roman" panose="02020603050405020304" pitchFamily="18" charset="0"/>
                <a:cs typeface="Times New Roman" panose="02020603050405020304" pitchFamily="18" charset="0"/>
              </a:rPr>
              <a:t>Cyber Security</a:t>
            </a:r>
            <a:endParaRPr lang="en-PK" sz="80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1276604" y="4321893"/>
            <a:ext cx="8053832" cy="1273048"/>
          </a:xfrm>
          <a:prstGeom prst="rect">
            <a:avLst/>
          </a:prstGeom>
        </p:spPr>
        <p:txBody>
          <a:bodyPr vert="horz" lIns="91440" tIns="45720" rIns="91440" bIns="45720" rtlCol="0" anchor="ctr">
            <a:normAutofit fontScale="92500"/>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r>
              <a:rPr lang="en-US" sz="7200" b="1" dirty="0">
                <a:latin typeface="Times New Roman" panose="02020603050405020304" pitchFamily="18" charset="0"/>
                <a:cs typeface="Times New Roman" panose="02020603050405020304" pitchFamily="18" charset="0"/>
              </a:rPr>
              <a:t>Lecture # 18 &amp; 19</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425448" y="37269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32F36A-3A53-922C-C868-BF2D2A9357FE}"/>
              </a:ext>
            </a:extLst>
          </p:cNvPr>
          <p:cNvSpPr txBox="1"/>
          <p:nvPr/>
        </p:nvSpPr>
        <p:spPr>
          <a:xfrm>
            <a:off x="1425448" y="2042161"/>
            <a:ext cx="9750552" cy="3046988"/>
          </a:xfrm>
          <a:prstGeom prst="rect">
            <a:avLst/>
          </a:prstGeom>
          <a:noFill/>
        </p:spPr>
        <p:txBody>
          <a:bodyPr wrap="square">
            <a:spAutoFit/>
          </a:bodyPr>
          <a:lstStyle/>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Industrial Espionage in Cyberspace</a:t>
            </a:r>
          </a:p>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Information as an Asset</a:t>
            </a:r>
          </a:p>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Protection Against Industrial Espionage</a:t>
            </a:r>
          </a:p>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Denial of Services (DoS)</a:t>
            </a:r>
          </a:p>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Distributed Denial of Services (DDoS)</a:t>
            </a:r>
          </a:p>
          <a:p>
            <a:pPr marL="457200" indent="-457200">
              <a:buFont typeface="Wingdings" panose="05000000000000000000" pitchFamily="2" charset="2"/>
              <a:buChar char="§"/>
            </a:pP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45CAF-403C-69C5-2A65-204909667E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CCC200A-0BA4-9400-CD30-3792106888DA}"/>
              </a:ext>
            </a:extLst>
          </p:cNvPr>
          <p:cNvSpPr txBox="1"/>
          <p:nvPr/>
        </p:nvSpPr>
        <p:spPr>
          <a:xfrm>
            <a:off x="1010920" y="4614161"/>
            <a:ext cx="10535920" cy="1692771"/>
          </a:xfrm>
          <a:prstGeom prst="rect">
            <a:avLst/>
          </a:prstGeom>
          <a:noFill/>
        </p:spPr>
        <p:txBody>
          <a:bodyPr wrap="square">
            <a:spAutoFit/>
          </a:bodyPr>
          <a:lstStyle/>
          <a:p>
            <a:pPr algn="ctr"/>
            <a:r>
              <a:rPr lang="en-US" sz="2600" dirty="0">
                <a:latin typeface="Times New Roman" panose="02020603050405020304" pitchFamily="18" charset="0"/>
                <a:cs typeface="Times New Roman" panose="02020603050405020304" pitchFamily="18" charset="0"/>
              </a:rPr>
              <a:t>Espionage means </a:t>
            </a:r>
            <a:r>
              <a:rPr lang="en-US" sz="2600" b="1" dirty="0">
                <a:latin typeface="Times New Roman" panose="02020603050405020304" pitchFamily="18" charset="0"/>
                <a:cs typeface="Times New Roman" panose="02020603050405020304" pitchFamily="18" charset="0"/>
              </a:rPr>
              <a:t>secretly collecting information that you are not supposed to access</a:t>
            </a:r>
            <a:r>
              <a:rPr lang="en-US" sz="2600" dirty="0">
                <a:latin typeface="Times New Roman" panose="02020603050405020304" pitchFamily="18" charset="0"/>
                <a:cs typeface="Times New Roman" panose="02020603050405020304" pitchFamily="18" charset="0"/>
              </a:rPr>
              <a:t>. It is basically </a:t>
            </a:r>
            <a:r>
              <a:rPr lang="en-US" sz="2600" b="1" i="1" dirty="0">
                <a:latin typeface="Times New Roman" panose="02020603050405020304" pitchFamily="18" charset="0"/>
                <a:cs typeface="Times New Roman" panose="02020603050405020304" pitchFamily="18" charset="0"/>
              </a:rPr>
              <a:t>spying, </a:t>
            </a:r>
            <a:r>
              <a:rPr lang="en-US" sz="2600" dirty="0">
                <a:latin typeface="Times New Roman" panose="02020603050405020304" pitchFamily="18" charset="0"/>
                <a:cs typeface="Times New Roman" panose="02020603050405020304" pitchFamily="18" charset="0"/>
              </a:rPr>
              <a:t>but in real life, not like </a:t>
            </a:r>
            <a:r>
              <a:rPr lang="en-US" sz="2600" b="1" dirty="0">
                <a:latin typeface="Times New Roman" panose="02020603050405020304" pitchFamily="18" charset="0"/>
                <a:cs typeface="Times New Roman" panose="02020603050405020304" pitchFamily="18" charset="0"/>
              </a:rPr>
              <a:t>movies (James Bond etc.)</a:t>
            </a:r>
            <a:endParaRPr lang="en-US" sz="2600" dirty="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641340E-3661-E44A-0E76-6AF904134C14}"/>
              </a:ext>
            </a:extLst>
          </p:cNvPr>
          <p:cNvSpPr txBox="1"/>
          <p:nvPr/>
        </p:nvSpPr>
        <p:spPr>
          <a:xfrm>
            <a:off x="4531360" y="278348"/>
            <a:ext cx="3271520" cy="1569660"/>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Espionage</a:t>
            </a:r>
          </a:p>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3" name="Picture 2">
            <a:extLst>
              <a:ext uri="{FF2B5EF4-FFF2-40B4-BE49-F238E27FC236}">
                <a16:creationId xmlns:a16="http://schemas.microsoft.com/office/drawing/2014/main" id="{B81A276A-B29E-5EE7-8E7B-DF4607028ABA}"/>
              </a:ext>
            </a:extLst>
          </p:cNvPr>
          <p:cNvPicPr>
            <a:picLocks noChangeAspect="1"/>
          </p:cNvPicPr>
          <p:nvPr/>
        </p:nvPicPr>
        <p:blipFill>
          <a:blip r:embed="rId2"/>
          <a:stretch>
            <a:fillRect/>
          </a:stretch>
        </p:blipFill>
        <p:spPr>
          <a:xfrm>
            <a:off x="1569720" y="192990"/>
            <a:ext cx="9194800" cy="4228131"/>
          </a:xfrm>
          <a:prstGeom prst="rect">
            <a:avLst/>
          </a:prstGeom>
        </p:spPr>
      </p:pic>
    </p:spTree>
    <p:extLst>
      <p:ext uri="{BB962C8B-B14F-4D97-AF65-F5344CB8AC3E}">
        <p14:creationId xmlns:p14="http://schemas.microsoft.com/office/powerpoint/2010/main" val="3664232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13F3-9929-EC27-D262-A9F9D23FC7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85EB59-5520-47A1-ED23-932E7068A7D6}"/>
              </a:ext>
            </a:extLst>
          </p:cNvPr>
          <p:cNvSpPr txBox="1"/>
          <p:nvPr/>
        </p:nvSpPr>
        <p:spPr>
          <a:xfrm>
            <a:off x="828040" y="1341070"/>
            <a:ext cx="10535920" cy="6124754"/>
          </a:xfrm>
          <a:prstGeom prst="rect">
            <a:avLst/>
          </a:prstGeom>
          <a:noFill/>
        </p:spPr>
        <p:txBody>
          <a:bodyPr wrap="square">
            <a:spAutoFit/>
          </a:bodyPr>
          <a:lstStyle/>
          <a:p>
            <a:pPr marL="342900" indent="-342900"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Espionage is not exclusive to governments like </a:t>
            </a:r>
            <a:r>
              <a:rPr lang="en-US" sz="2800" b="1" dirty="0">
                <a:latin typeface="Times New Roman" panose="02020603050405020304" pitchFamily="18" charset="0"/>
                <a:cs typeface="Times New Roman" panose="02020603050405020304" pitchFamily="18" charset="0"/>
              </a:rPr>
              <a:t>CIA, ISIS, Al-Qaida, M16 etc.</a:t>
            </a:r>
          </a:p>
          <a:p>
            <a:pPr marL="342900" indent="-342900" algn="just">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Corporations </a:t>
            </a:r>
            <a:r>
              <a:rPr lang="en-US" sz="2800" dirty="0">
                <a:latin typeface="Times New Roman" panose="02020603050405020304" pitchFamily="18" charset="0"/>
                <a:cs typeface="Times New Roman" panose="02020603050405020304" pitchFamily="18" charset="0"/>
              </a:rPr>
              <a:t>actively engage in </a:t>
            </a:r>
            <a:r>
              <a:rPr lang="en-US" sz="2800" b="1" dirty="0">
                <a:latin typeface="Times New Roman" panose="02020603050405020304" pitchFamily="18" charset="0"/>
                <a:cs typeface="Times New Roman" panose="02020603050405020304" pitchFamily="18" charset="0"/>
              </a:rPr>
              <a:t>industrial espionage</a:t>
            </a:r>
            <a:r>
              <a:rPr lang="en-US" sz="2800" dirty="0">
                <a:latin typeface="Times New Roman" panose="02020603050405020304" pitchFamily="18" charset="0"/>
                <a:cs typeface="Times New Roman" panose="02020603050405020304" pitchFamily="18" charset="0"/>
              </a:rPr>
              <a:t> to steal valuable intellectual property like trade secrets, marketing data, technology designs and financial plans from competitors.</a:t>
            </a:r>
          </a:p>
          <a:p>
            <a:pPr marL="342900" indent="-342900"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boundary</a:t>
            </a:r>
            <a:r>
              <a:rPr lang="en-US" sz="2800" dirty="0">
                <a:latin typeface="Times New Roman" panose="02020603050405020304" pitchFamily="18" charset="0"/>
                <a:cs typeface="Times New Roman" panose="02020603050405020304" pitchFamily="18" charset="0"/>
              </a:rPr>
              <a:t> between </a:t>
            </a:r>
            <a:r>
              <a:rPr lang="en-US" sz="2800" b="1" dirty="0">
                <a:latin typeface="Times New Roman" panose="02020603050405020304" pitchFamily="18" charset="0"/>
                <a:cs typeface="Times New Roman" panose="02020603050405020304" pitchFamily="18" charset="0"/>
              </a:rPr>
              <a:t>corporate and state-sponsored </a:t>
            </a:r>
            <a:r>
              <a:rPr lang="en-US" sz="2800" dirty="0">
                <a:latin typeface="Times New Roman" panose="02020603050405020304" pitchFamily="18" charset="0"/>
                <a:cs typeface="Times New Roman" panose="02020603050405020304" pitchFamily="18" charset="0"/>
              </a:rPr>
              <a:t>espionage is increasingly blurred. Foreign intelligence services often target companies to steal technology and secrets, making it a national security issue.</a:t>
            </a:r>
          </a:p>
          <a:p>
            <a:pPr marL="342900" indent="-342900"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Companies </a:t>
            </a:r>
            <a:r>
              <a:rPr lang="en-US" sz="2800" b="1" dirty="0">
                <a:latin typeface="Times New Roman" panose="02020603050405020304" pitchFamily="18" charset="0"/>
                <a:cs typeface="Times New Roman" panose="02020603050405020304" pitchFamily="18" charset="0"/>
              </a:rPr>
              <a:t>don’t report </a:t>
            </a:r>
            <a:r>
              <a:rPr lang="en-US" sz="2800" dirty="0">
                <a:latin typeface="Times New Roman" panose="02020603050405020304" pitchFamily="18" charset="0"/>
                <a:cs typeface="Times New Roman" panose="02020603050405020304" pitchFamily="18" charset="0"/>
              </a:rPr>
              <a:t>espionage cases because: It damages their reputation, drop their stock price, face lawsuits and so on.</a:t>
            </a:r>
          </a:p>
          <a:p>
            <a:pPr marL="342900" indent="-342900" algn="just">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6F734C7-5BCB-8F24-66EC-C72416986CD3}"/>
              </a:ext>
            </a:extLst>
          </p:cNvPr>
          <p:cNvSpPr txBox="1"/>
          <p:nvPr/>
        </p:nvSpPr>
        <p:spPr>
          <a:xfrm>
            <a:off x="4531360" y="278348"/>
            <a:ext cx="3271520" cy="1569660"/>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Espionage</a:t>
            </a:r>
          </a:p>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t>
            </a:r>
          </a:p>
        </p:txBody>
      </p:sp>
    </p:spTree>
    <p:extLst>
      <p:ext uri="{BB962C8B-B14F-4D97-AF65-F5344CB8AC3E}">
        <p14:creationId xmlns:p14="http://schemas.microsoft.com/office/powerpoint/2010/main" val="3228527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F80A-94C9-F1C5-7C11-36A089CA5E4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4E6904-A7E1-5FDB-B65C-EDA97817A38F}"/>
              </a:ext>
            </a:extLst>
          </p:cNvPr>
          <p:cNvPicPr>
            <a:picLocks noChangeAspect="1"/>
          </p:cNvPicPr>
          <p:nvPr/>
        </p:nvPicPr>
        <p:blipFill>
          <a:blip r:embed="rId2"/>
          <a:stretch>
            <a:fillRect/>
          </a:stretch>
        </p:blipFill>
        <p:spPr>
          <a:xfrm>
            <a:off x="636270" y="514191"/>
            <a:ext cx="10687050" cy="4848225"/>
          </a:xfrm>
          <a:prstGeom prst="rect">
            <a:avLst/>
          </a:prstGeom>
        </p:spPr>
      </p:pic>
      <p:sp>
        <p:nvSpPr>
          <p:cNvPr id="6" name="TextBox 5">
            <a:extLst>
              <a:ext uri="{FF2B5EF4-FFF2-40B4-BE49-F238E27FC236}">
                <a16:creationId xmlns:a16="http://schemas.microsoft.com/office/drawing/2014/main" id="{663D731B-4363-2435-0785-528C39E36287}"/>
              </a:ext>
            </a:extLst>
          </p:cNvPr>
          <p:cNvSpPr txBox="1"/>
          <p:nvPr/>
        </p:nvSpPr>
        <p:spPr>
          <a:xfrm>
            <a:off x="3281680" y="192247"/>
            <a:ext cx="6228080" cy="1569660"/>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Industrial Espionage</a:t>
            </a:r>
          </a:p>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t>
            </a:r>
          </a:p>
        </p:txBody>
      </p:sp>
      <p:sp>
        <p:nvSpPr>
          <p:cNvPr id="7" name="TextBox 6">
            <a:extLst>
              <a:ext uri="{FF2B5EF4-FFF2-40B4-BE49-F238E27FC236}">
                <a16:creationId xmlns:a16="http://schemas.microsoft.com/office/drawing/2014/main" id="{07BD921C-1528-ED12-6D7A-C212E249C65D}"/>
              </a:ext>
            </a:extLst>
          </p:cNvPr>
          <p:cNvSpPr txBox="1"/>
          <p:nvPr/>
        </p:nvSpPr>
        <p:spPr>
          <a:xfrm>
            <a:off x="737870" y="5362416"/>
            <a:ext cx="9432290" cy="1015663"/>
          </a:xfrm>
          <a:prstGeom prst="rect">
            <a:avLst/>
          </a:prstGeom>
          <a:no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Industrial espionage refers to </a:t>
            </a:r>
            <a:r>
              <a:rPr lang="en-US" sz="2000" b="1" dirty="0">
                <a:latin typeface="Times New Roman" panose="02020603050405020304" pitchFamily="18" charset="0"/>
                <a:cs typeface="Times New Roman" panose="02020603050405020304" pitchFamily="18" charset="0"/>
              </a:rPr>
              <a:t>spying to obtain economically valuable information</a:t>
            </a:r>
            <a:r>
              <a:rPr lang="en-US" sz="2000" dirty="0">
                <a:latin typeface="Times New Roman" panose="02020603050405020304" pitchFamily="18" charset="0"/>
                <a:cs typeface="Times New Roman" panose="02020603050405020304" pitchFamily="18" charset="0"/>
              </a:rPr>
              <a:t> such as new product plans, client lists, research data, or any confidential business details that can provide a competitive advantage</a:t>
            </a:r>
            <a:endParaRPr lang="en-PK"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588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C3ECE-FECD-7568-B8B2-BA365893AE7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5B1CAB-B9A3-2F45-2A16-88E6593DBE87}"/>
              </a:ext>
            </a:extLst>
          </p:cNvPr>
          <p:cNvSpPr txBox="1"/>
          <p:nvPr/>
        </p:nvSpPr>
        <p:spPr>
          <a:xfrm>
            <a:off x="828040" y="1249630"/>
            <a:ext cx="10535920" cy="5016758"/>
          </a:xfrm>
          <a:prstGeom prst="rect">
            <a:avLst/>
          </a:prstGeom>
          <a:noFill/>
        </p:spPr>
        <p:txBody>
          <a:bodyPr wrap="square">
            <a:spAutoFit/>
          </a:bodyPr>
          <a:lstStyle/>
          <a:p>
            <a:pPr marL="571500" indent="-5715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It uses </a:t>
            </a:r>
            <a:r>
              <a:rPr lang="en-US" sz="3200" b="1" dirty="0">
                <a:latin typeface="Times New Roman" panose="02020603050405020304" pitchFamily="18" charset="0"/>
                <a:cs typeface="Times New Roman" panose="02020603050405020304" pitchFamily="18" charset="0"/>
              </a:rPr>
              <a:t>the same techniques as government intelligence agencies</a:t>
            </a:r>
            <a:r>
              <a:rPr lang="en-US" sz="3200" dirty="0">
                <a:latin typeface="Times New Roman" panose="02020603050405020304" pitchFamily="18" charset="0"/>
                <a:cs typeface="Times New Roman" panose="02020603050405020304" pitchFamily="18" charset="0"/>
              </a:rPr>
              <a:t>, including monitoring, hacking, photocopying files, and compromising employees. In many cases, </a:t>
            </a:r>
            <a:r>
              <a:rPr lang="en-US" sz="3200" b="1" dirty="0">
                <a:latin typeface="Times New Roman" panose="02020603050405020304" pitchFamily="18" charset="0"/>
                <a:cs typeface="Times New Roman" panose="02020603050405020304" pitchFamily="18" charset="0"/>
              </a:rPr>
              <a:t>former intelligence agents</a:t>
            </a:r>
            <a:r>
              <a:rPr lang="en-US" sz="3200" dirty="0">
                <a:latin typeface="Times New Roman" panose="02020603050405020304" pitchFamily="18" charset="0"/>
                <a:cs typeface="Times New Roman" panose="02020603050405020304" pitchFamily="18" charset="0"/>
              </a:rPr>
              <a:t> participate in corporate spying, bringing advanced skills that make detection difficult.</a:t>
            </a:r>
          </a:p>
          <a:p>
            <a:pPr algn="just"/>
            <a:endParaRPr lang="en-US" sz="3200" dirty="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Because of these professional tactics and insider threats, </a:t>
            </a:r>
            <a:r>
              <a:rPr lang="en-US" sz="3200" b="1" dirty="0">
                <a:latin typeface="Times New Roman" panose="02020603050405020304" pitchFamily="18" charset="0"/>
                <a:cs typeface="Times New Roman" panose="02020603050405020304" pitchFamily="18" charset="0"/>
              </a:rPr>
              <a:t>industrial espionage poses a serious challenge for computer security experts</a:t>
            </a:r>
            <a:r>
              <a:rPr lang="en-US" sz="3200" dirty="0">
                <a:latin typeface="Times New Roman" panose="02020603050405020304" pitchFamily="18" charset="0"/>
                <a:cs typeface="Times New Roman" panose="02020603050405020304" pitchFamily="18" charset="0"/>
              </a:rPr>
              <a:t>, making it harder for organizations to protect sensitive information.</a:t>
            </a:r>
          </a:p>
        </p:txBody>
      </p:sp>
      <p:sp>
        <p:nvSpPr>
          <p:cNvPr id="6" name="TextBox 5">
            <a:extLst>
              <a:ext uri="{FF2B5EF4-FFF2-40B4-BE49-F238E27FC236}">
                <a16:creationId xmlns:a16="http://schemas.microsoft.com/office/drawing/2014/main" id="{727A6120-3BB0-7F7C-D4A4-66FEAE5E2854}"/>
              </a:ext>
            </a:extLst>
          </p:cNvPr>
          <p:cNvSpPr txBox="1"/>
          <p:nvPr/>
        </p:nvSpPr>
        <p:spPr>
          <a:xfrm>
            <a:off x="3108960" y="278348"/>
            <a:ext cx="6228080" cy="1569660"/>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Industrial Espionage</a:t>
            </a:r>
          </a:p>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t>
            </a:r>
          </a:p>
        </p:txBody>
      </p:sp>
    </p:spTree>
    <p:extLst>
      <p:ext uri="{BB962C8B-B14F-4D97-AF65-F5344CB8AC3E}">
        <p14:creationId xmlns:p14="http://schemas.microsoft.com/office/powerpoint/2010/main" val="1420566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E9C65-CC2E-BFCF-0F60-A2DCEE2BFBE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B110F03-47C2-524B-49F3-5FCB0E9F1F0F}"/>
              </a:ext>
            </a:extLst>
          </p:cNvPr>
          <p:cNvSpPr txBox="1"/>
          <p:nvPr/>
        </p:nvSpPr>
        <p:spPr>
          <a:xfrm>
            <a:off x="828040" y="1462990"/>
            <a:ext cx="10535920" cy="4708981"/>
          </a:xfrm>
          <a:prstGeom prst="rect">
            <a:avLst/>
          </a:prstGeom>
          <a:noFill/>
        </p:spPr>
        <p:txBody>
          <a:bodyPr wrap="square">
            <a:spAutoFit/>
          </a:bodyPr>
          <a:lstStyle/>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Most people easily recognize physical items as assets, but </a:t>
            </a:r>
            <a:r>
              <a:rPr lang="en-US" sz="3000" b="1" dirty="0">
                <a:latin typeface="Times New Roman" panose="02020603050405020304" pitchFamily="18" charset="0"/>
                <a:cs typeface="Times New Roman" panose="02020603050405020304" pitchFamily="18" charset="0"/>
              </a:rPr>
              <a:t>information itself is one of the most valuable assets a company owns</a:t>
            </a:r>
            <a:r>
              <a:rPr lang="en-US" sz="30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 Organizations spend huge amounts on research, development, and data collection, so the resulting information becomes economically valuable.</a:t>
            </a:r>
          </a:p>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A simple formula describes this:</a:t>
            </a:r>
          </a:p>
          <a:p>
            <a:pPr algn="ctr"/>
            <a:r>
              <a:rPr lang="en-US" sz="3000" b="1" dirty="0">
                <a:latin typeface="Times New Roman" panose="02020603050405020304" pitchFamily="18" charset="0"/>
                <a:cs typeface="Times New Roman" panose="02020603050405020304" pitchFamily="18" charset="0"/>
              </a:rPr>
              <a:t>Value of Information (VI) = Cost to Produce (C) + Value Gained (VG)</a:t>
            </a:r>
            <a:endParaRPr lang="en-US" sz="3000" dirty="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
            </a:pPr>
            <a:endParaRPr lang="en-US" sz="3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1011606-4F6F-B51E-77BC-12C1E5E61248}"/>
              </a:ext>
            </a:extLst>
          </p:cNvPr>
          <p:cNvSpPr txBox="1"/>
          <p:nvPr/>
        </p:nvSpPr>
        <p:spPr>
          <a:xfrm>
            <a:off x="2672080" y="418633"/>
            <a:ext cx="77825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as an Asset</a:t>
            </a:r>
          </a:p>
        </p:txBody>
      </p:sp>
    </p:spTree>
    <p:extLst>
      <p:ext uri="{BB962C8B-B14F-4D97-AF65-F5344CB8AC3E}">
        <p14:creationId xmlns:p14="http://schemas.microsoft.com/office/powerpoint/2010/main" val="2217986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CA746-670D-17F8-9F2E-B09F841F4B5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513BC98-8DC7-A148-3731-D5CE8E8D4E93}"/>
              </a:ext>
            </a:extLst>
          </p:cNvPr>
          <p:cNvSpPr txBox="1"/>
          <p:nvPr/>
        </p:nvSpPr>
        <p:spPr>
          <a:xfrm>
            <a:off x="828040" y="1696670"/>
            <a:ext cx="10535920" cy="4278094"/>
          </a:xfrm>
          <a:prstGeom prst="rect">
            <a:avLst/>
          </a:prstGeom>
          <a:noFill/>
        </p:spPr>
        <p:txBody>
          <a:bodyPr wrap="square">
            <a:spAutoFit/>
          </a:bodyPr>
          <a:lstStyle/>
          <a:p>
            <a:pPr algn="ctr"/>
            <a:r>
              <a:rPr lang="en-US" sz="2800" b="1" dirty="0">
                <a:solidFill>
                  <a:srgbClr val="00B0F0"/>
                </a:solidFill>
                <a:highlight>
                  <a:srgbClr val="FFFF00"/>
                </a:highlight>
                <a:latin typeface="Times New Roman" panose="02020603050405020304" pitchFamily="18" charset="0"/>
                <a:cs typeface="Times New Roman" panose="02020603050405020304" pitchFamily="18" charset="0"/>
              </a:rPr>
              <a:t>Information is a real commodity in today’s information-based economy. </a:t>
            </a:r>
          </a:p>
          <a:p>
            <a:endParaRPr lang="en-US"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 many cases, </a:t>
            </a:r>
            <a:r>
              <a:rPr lang="en-US" sz="2800" b="1" dirty="0">
                <a:latin typeface="Times New Roman" panose="02020603050405020304" pitchFamily="18" charset="0"/>
                <a:cs typeface="Times New Roman" panose="02020603050405020304" pitchFamily="18" charset="0"/>
              </a:rPr>
              <a:t>the data stored on a company’s systems is worth far more than the hardware or software itself</a:t>
            </a:r>
            <a:r>
              <a:rPr lang="en-US" sz="2800" dirty="0">
                <a:latin typeface="Times New Roman" panose="02020603050405020304" pitchFamily="18" charset="0"/>
                <a:cs typeface="Times New Roman" panose="02020603050405020304" pitchFamily="18" charset="0"/>
              </a:rPr>
              <a:t>, and it is much harder to replace.</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useful example is a </a:t>
            </a:r>
            <a:r>
              <a:rPr lang="en-US" sz="2800" b="1" dirty="0">
                <a:latin typeface="Times New Roman" panose="02020603050405020304" pitchFamily="18" charset="0"/>
                <a:cs typeface="Times New Roman" panose="02020603050405020304" pitchFamily="18" charset="0"/>
              </a:rPr>
              <a:t>University degree</a:t>
            </a:r>
            <a:r>
              <a:rPr lang="en-US" sz="2800" dirty="0">
                <a:latin typeface="Times New Roman" panose="02020603050405020304" pitchFamily="18" charset="0"/>
                <a:cs typeface="Times New Roman" panose="02020603050405020304" pitchFamily="18" charset="0"/>
              </a:rPr>
              <a:t>: you pay for the knowledge, not the piece of paper. Similarly, professionals like doctors, engineers, and consultants are valued because of the information they provide.</a:t>
            </a:r>
          </a:p>
        </p:txBody>
      </p:sp>
      <p:sp>
        <p:nvSpPr>
          <p:cNvPr id="6" name="TextBox 5">
            <a:extLst>
              <a:ext uri="{FF2B5EF4-FFF2-40B4-BE49-F238E27FC236}">
                <a16:creationId xmlns:a16="http://schemas.microsoft.com/office/drawing/2014/main" id="{67A1B0F5-8480-C89D-3756-8723F48F6D05}"/>
              </a:ext>
            </a:extLst>
          </p:cNvPr>
          <p:cNvSpPr txBox="1"/>
          <p:nvPr/>
        </p:nvSpPr>
        <p:spPr>
          <a:xfrm>
            <a:off x="2672080" y="418633"/>
            <a:ext cx="77825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as an Asset</a:t>
            </a:r>
          </a:p>
        </p:txBody>
      </p:sp>
    </p:spTree>
    <p:extLst>
      <p:ext uri="{BB962C8B-B14F-4D97-AF65-F5344CB8AC3E}">
        <p14:creationId xmlns:p14="http://schemas.microsoft.com/office/powerpoint/2010/main" val="3640255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82365-D2D4-6A57-1576-EB71F7E23C4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A275AD1-C59A-66BF-2B1B-D605CD8ABB3B}"/>
              </a:ext>
            </a:extLst>
          </p:cNvPr>
          <p:cNvSpPr txBox="1"/>
          <p:nvPr/>
        </p:nvSpPr>
        <p:spPr>
          <a:xfrm>
            <a:off x="828040" y="1696670"/>
            <a:ext cx="10535920" cy="4247317"/>
          </a:xfrm>
          <a:prstGeom prst="rect">
            <a:avLst/>
          </a:prstGeom>
          <a:noFill/>
        </p:spPr>
        <p:txBody>
          <a:bodyPr wrap="square">
            <a:spAutoFit/>
          </a:bodyPr>
          <a:lstStyle/>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Data has value for two main reasons:</a:t>
            </a:r>
          </a:p>
          <a:p>
            <a:pPr marL="971550" lvl="1" indent="-514350">
              <a:buFont typeface="+mj-lt"/>
              <a:buAutoNum type="arabicPeriod"/>
            </a:pPr>
            <a:r>
              <a:rPr lang="en-US" sz="3000" b="1" dirty="0">
                <a:latin typeface="Times New Roman" panose="02020603050405020304" pitchFamily="18" charset="0"/>
                <a:cs typeface="Times New Roman" panose="02020603050405020304" pitchFamily="18" charset="0"/>
              </a:rPr>
              <a:t>Effort invested in creating it</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 Time, labor, expertise, and analysis.</a:t>
            </a:r>
          </a:p>
          <a:p>
            <a:pPr marL="971550" lvl="1" indent="-514350">
              <a:buFont typeface="+mj-lt"/>
              <a:buAutoNum type="arabicPeriod"/>
            </a:pPr>
            <a:r>
              <a:rPr lang="en-US" sz="3000" b="1" dirty="0">
                <a:latin typeface="Times New Roman" panose="02020603050405020304" pitchFamily="18" charset="0"/>
                <a:cs typeface="Times New Roman" panose="02020603050405020304" pitchFamily="18" charset="0"/>
              </a:rPr>
              <a:t>Intrinsic value of the information</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 Proprietary formulas, algorithms, statistical models, client lists, or anything that provides a </a:t>
            </a:r>
            <a:r>
              <a:rPr lang="en-US" sz="3000" b="1" dirty="0">
                <a:latin typeface="Times New Roman" panose="02020603050405020304" pitchFamily="18" charset="0"/>
                <a:cs typeface="Times New Roman" panose="02020603050405020304" pitchFamily="18" charset="0"/>
              </a:rPr>
              <a:t>competitive advantage</a:t>
            </a:r>
            <a:r>
              <a:rPr lang="en-US" sz="30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Because information is valuable, it becomes a prime target for </a:t>
            </a:r>
            <a:r>
              <a:rPr lang="en-US" sz="3000" b="1" dirty="0">
                <a:latin typeface="Times New Roman" panose="02020603050405020304" pitchFamily="18" charset="0"/>
                <a:cs typeface="Times New Roman" panose="02020603050405020304" pitchFamily="18" charset="0"/>
              </a:rPr>
              <a:t>corporate espionage</a:t>
            </a:r>
            <a:r>
              <a:rPr lang="en-US" sz="3000" dirty="0">
                <a:latin typeface="Times New Roman" panose="02020603050405020304" pitchFamily="18" charset="0"/>
                <a:cs typeface="Times New Roman" panose="02020603050405020304" pitchFamily="18" charset="0"/>
              </a:rPr>
              <a:t>. Any organization, large or small, can be targeted, so </a:t>
            </a:r>
            <a:r>
              <a:rPr lang="en-US" sz="3000" b="1" dirty="0">
                <a:latin typeface="Times New Roman" panose="02020603050405020304" pitchFamily="18" charset="0"/>
                <a:cs typeface="Times New Roman" panose="02020603050405020304" pitchFamily="18" charset="0"/>
              </a:rPr>
              <a:t>protecting data is critical</a:t>
            </a:r>
            <a:r>
              <a:rPr lang="en-US" sz="30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6FA11063-24B2-66E7-91D9-6CC2F60EE093}"/>
              </a:ext>
            </a:extLst>
          </p:cNvPr>
          <p:cNvSpPr txBox="1"/>
          <p:nvPr/>
        </p:nvSpPr>
        <p:spPr>
          <a:xfrm>
            <a:off x="2672080" y="418633"/>
            <a:ext cx="77825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as an Asset</a:t>
            </a:r>
          </a:p>
        </p:txBody>
      </p:sp>
    </p:spTree>
    <p:extLst>
      <p:ext uri="{BB962C8B-B14F-4D97-AF65-F5344CB8AC3E}">
        <p14:creationId xmlns:p14="http://schemas.microsoft.com/office/powerpoint/2010/main" val="187164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B1366-7EEA-796B-08E8-8018E79421E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F77EAA0-A4A0-30E3-A204-4EFCDA1BA115}"/>
              </a:ext>
            </a:extLst>
          </p:cNvPr>
          <p:cNvSpPr txBox="1"/>
          <p:nvPr/>
        </p:nvSpPr>
        <p:spPr>
          <a:xfrm>
            <a:off x="828040" y="1696670"/>
            <a:ext cx="10535920" cy="2554545"/>
          </a:xfrm>
          <a:prstGeom prst="rect">
            <a:avLst/>
          </a:prstGeom>
          <a:noFill/>
        </p:spPr>
        <p:txBody>
          <a:bodyPr wrap="square">
            <a:spAutoFit/>
          </a:bodyPr>
          <a:lstStyle/>
          <a:p>
            <a:pPr marL="457200" indent="-4572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The first step in protection is </a:t>
            </a:r>
            <a:r>
              <a:rPr lang="en-US" sz="3200" b="1" dirty="0">
                <a:latin typeface="Times New Roman" panose="02020603050405020304" pitchFamily="18" charset="0"/>
                <a:cs typeface="Times New Roman" panose="02020603050405020304" pitchFamily="18" charset="0"/>
              </a:rPr>
              <a:t>Asset Identification</a:t>
            </a:r>
            <a:r>
              <a:rPr lang="en-US" sz="3200" dirty="0">
                <a:latin typeface="Times New Roman" panose="02020603050405020304" pitchFamily="18" charset="0"/>
                <a:cs typeface="Times New Roman" panose="02020603050405020304" pitchFamily="18" charset="0"/>
              </a:rPr>
              <a:t>:</a:t>
            </a:r>
          </a:p>
          <a:p>
            <a:pPr marL="457200" indent="-4572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Listing all information assets that support your organization’s operations, services, or products.</a:t>
            </a:r>
          </a:p>
          <a:p>
            <a:pPr marL="457200" indent="-457200" algn="just">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Tools</a:t>
            </a:r>
            <a:r>
              <a:rPr lang="en-US" sz="3200" dirty="0">
                <a:latin typeface="Times New Roman" panose="02020603050405020304" pitchFamily="18" charset="0"/>
                <a:cs typeface="Times New Roman" panose="02020603050405020304" pitchFamily="18" charset="0"/>
              </a:rPr>
              <a:t> like </a:t>
            </a:r>
            <a:r>
              <a:rPr lang="en-US" sz="3200" b="1" dirty="0">
                <a:latin typeface="Times New Roman" panose="02020603050405020304" pitchFamily="18" charset="0"/>
                <a:cs typeface="Times New Roman" panose="02020603050405020304" pitchFamily="18" charset="0"/>
              </a:rPr>
              <a:t>CERT worksheets </a:t>
            </a:r>
            <a:r>
              <a:rPr lang="en-US" sz="3200" dirty="0">
                <a:latin typeface="Times New Roman" panose="02020603050405020304" pitchFamily="18" charset="0"/>
                <a:cs typeface="Times New Roman" panose="02020603050405020304" pitchFamily="18" charset="0"/>
              </a:rPr>
              <a:t>help organizations classify and protect these assets properly.</a:t>
            </a:r>
            <a:endParaRPr lang="en-US" sz="3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B4752B3-8C14-1B14-CF79-9CF3D85519B8}"/>
              </a:ext>
            </a:extLst>
          </p:cNvPr>
          <p:cNvSpPr txBox="1"/>
          <p:nvPr/>
        </p:nvSpPr>
        <p:spPr>
          <a:xfrm>
            <a:off x="2672080" y="418633"/>
            <a:ext cx="77825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as an Asset</a:t>
            </a:r>
          </a:p>
        </p:txBody>
      </p:sp>
      <p:sp>
        <p:nvSpPr>
          <p:cNvPr id="3" name="TextBox 2">
            <a:extLst>
              <a:ext uri="{FF2B5EF4-FFF2-40B4-BE49-F238E27FC236}">
                <a16:creationId xmlns:a16="http://schemas.microsoft.com/office/drawing/2014/main" id="{8054CC54-7588-B467-8F5F-766BFF252468}"/>
              </a:ext>
            </a:extLst>
          </p:cNvPr>
          <p:cNvSpPr txBox="1"/>
          <p:nvPr/>
        </p:nvSpPr>
        <p:spPr>
          <a:xfrm>
            <a:off x="3383280" y="5345996"/>
            <a:ext cx="6847840" cy="369332"/>
          </a:xfrm>
          <a:prstGeom prst="rect">
            <a:avLst/>
          </a:prstGeom>
          <a:noFill/>
        </p:spPr>
        <p:txBody>
          <a:bodyPr wrap="square">
            <a:spAutoFit/>
          </a:bodyPr>
          <a:lstStyle/>
          <a:p>
            <a:r>
              <a:rPr lang="fr-FR"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CRR </a:t>
            </a:r>
            <a:r>
              <a:rPr lang="fr-FR" b="1" dirty="0" err="1">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Implementation</a:t>
            </a:r>
            <a:r>
              <a:rPr lang="fr-FR"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 Guide Asset Management FINAL</a:t>
            </a:r>
            <a:endParaRPr lang="en-PK"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44F0C82-8373-4746-901E-DA7CE8DE01F9}"/>
              </a:ext>
            </a:extLst>
          </p:cNvPr>
          <p:cNvSpPr txBox="1"/>
          <p:nvPr/>
        </p:nvSpPr>
        <p:spPr>
          <a:xfrm>
            <a:off x="1879600" y="4514999"/>
            <a:ext cx="8453120" cy="830997"/>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“Asset identification is an internal list of your important information.”</a:t>
            </a:r>
            <a:endParaRPr lang="en-PK"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843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6DC53-93EB-20AD-A176-C4A3F6EC63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FCB756-0278-EC82-5B3C-EFE8746F4DDE}"/>
              </a:ext>
            </a:extLst>
          </p:cNvPr>
          <p:cNvSpPr txBox="1"/>
          <p:nvPr/>
        </p:nvSpPr>
        <p:spPr>
          <a:xfrm>
            <a:off x="1874520" y="292636"/>
            <a:ext cx="80568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How does Espionage Occur?</a:t>
            </a:r>
          </a:p>
        </p:txBody>
      </p:sp>
      <p:sp>
        <p:nvSpPr>
          <p:cNvPr id="3" name="Rectangle 1">
            <a:extLst>
              <a:ext uri="{FF2B5EF4-FFF2-40B4-BE49-F238E27FC236}">
                <a16:creationId xmlns:a16="http://schemas.microsoft.com/office/drawing/2014/main" id="{EC149C40-6FDE-DF2D-C1AD-BFA2713A975A}"/>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485815ED-9C81-210D-177B-630D0143E954}"/>
              </a:ext>
            </a:extLst>
          </p:cNvPr>
          <p:cNvSpPr txBox="1"/>
          <p:nvPr/>
        </p:nvSpPr>
        <p:spPr>
          <a:xfrm>
            <a:off x="1087120" y="1361390"/>
            <a:ext cx="10017760" cy="5170646"/>
          </a:xfrm>
          <a:prstGeom prst="rect">
            <a:avLst/>
          </a:prstGeom>
          <a:noFill/>
        </p:spPr>
        <p:txBody>
          <a:bodyPr wrap="square">
            <a:spAutoFit/>
          </a:bodyPr>
          <a:lstStyle/>
          <a:p>
            <a:pPr marL="457200" indent="-45720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Industrial espionage happens through </a:t>
            </a:r>
            <a:r>
              <a:rPr lang="en-US" sz="3000" b="1" dirty="0">
                <a:latin typeface="Times New Roman" panose="02020603050405020304" pitchFamily="18" charset="0"/>
                <a:cs typeface="Times New Roman" panose="02020603050405020304" pitchFamily="18" charset="0"/>
              </a:rPr>
              <a:t>two main methods</a:t>
            </a:r>
            <a:r>
              <a:rPr lang="en-US" sz="3000" dirty="0">
                <a:latin typeface="Times New Roman" panose="02020603050405020304" pitchFamily="18" charset="0"/>
                <a:cs typeface="Times New Roman" panose="02020603050405020304" pitchFamily="18" charset="0"/>
              </a:rPr>
              <a:t>:</a:t>
            </a:r>
          </a:p>
          <a:p>
            <a:pPr lvl="1"/>
            <a:endParaRPr lang="en-US" sz="3000" b="1" dirty="0">
              <a:latin typeface="Times New Roman" panose="02020603050405020304" pitchFamily="18" charset="0"/>
              <a:cs typeface="Times New Roman" panose="02020603050405020304" pitchFamily="18" charset="0"/>
            </a:endParaRPr>
          </a:p>
          <a:p>
            <a:pPr lvl="1"/>
            <a:r>
              <a:rPr lang="en-US" sz="3000" b="1" dirty="0">
                <a:latin typeface="Times New Roman" panose="02020603050405020304" pitchFamily="18" charset="0"/>
                <a:cs typeface="Times New Roman" panose="02020603050405020304" pitchFamily="18" charset="0"/>
              </a:rPr>
              <a:t>1. Low-Tech Espionage (Human-Based)</a:t>
            </a:r>
          </a:p>
          <a:p>
            <a:pPr lvl="1"/>
            <a:r>
              <a:rPr lang="en-US" sz="3000" dirty="0">
                <a:latin typeface="Times New Roman" panose="02020603050405020304" pitchFamily="18" charset="0"/>
                <a:cs typeface="Times New Roman" panose="02020603050405020304" pitchFamily="18" charset="0"/>
              </a:rPr>
              <a:t>No hacking needed, just people.</a:t>
            </a:r>
          </a:p>
          <a:p>
            <a:pPr lvl="1"/>
            <a:r>
              <a:rPr lang="en-US" sz="3000" b="1" dirty="0">
                <a:latin typeface="Times New Roman" panose="02020603050405020304" pitchFamily="18" charset="0"/>
                <a:cs typeface="Times New Roman" panose="02020603050405020304" pitchFamily="18" charset="0"/>
              </a:rPr>
              <a:t>Sources</a:t>
            </a: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Disgruntled employees</a:t>
            </a:r>
            <a:r>
              <a:rPr lang="en-US" sz="3000" dirty="0">
                <a:latin typeface="Times New Roman" panose="02020603050405020304" pitchFamily="18" charset="0"/>
                <a:cs typeface="Times New Roman" panose="02020603050405020304" pitchFamily="18" charset="0"/>
              </a:rPr>
              <a:t> stealing or leaking sensitive data.</a:t>
            </a: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Former employees</a:t>
            </a:r>
            <a:r>
              <a:rPr lang="en-US" sz="3000" dirty="0">
                <a:latin typeface="Times New Roman" panose="02020603050405020304" pitchFamily="18" charset="0"/>
                <a:cs typeface="Times New Roman" panose="02020603050405020304" pitchFamily="18" charset="0"/>
              </a:rPr>
              <a:t> taking confidential documents with them.</a:t>
            </a: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Social engineering</a:t>
            </a:r>
            <a:r>
              <a:rPr lang="en-US" sz="3000" dirty="0">
                <a:latin typeface="Times New Roman" panose="02020603050405020304" pitchFamily="18" charset="0"/>
                <a:cs typeface="Times New Roman" panose="02020603050405020304" pitchFamily="18" charset="0"/>
              </a:rPr>
              <a:t> tricking employees into giving information.</a:t>
            </a:r>
          </a:p>
          <a:p>
            <a:pPr marL="457200" indent="-457200" algn="just">
              <a:buFont typeface="Arial" panose="020B0604020202020204" pitchFamily="34" charset="0"/>
              <a:buChar char="•"/>
            </a:pPr>
            <a:endParaRPr kumimoji="0" lang="en-PK" altLang="en-PK"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4909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494D4-1714-684C-9BCA-91901F7048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7283C73-5DEE-7774-9AA8-D0488BCDBBDA}"/>
              </a:ext>
            </a:extLst>
          </p:cNvPr>
          <p:cNvSpPr txBox="1"/>
          <p:nvPr/>
        </p:nvSpPr>
        <p:spPr>
          <a:xfrm>
            <a:off x="1874520" y="292636"/>
            <a:ext cx="80568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How does Espionage Occur?</a:t>
            </a:r>
          </a:p>
        </p:txBody>
      </p:sp>
      <p:sp>
        <p:nvSpPr>
          <p:cNvPr id="3" name="Rectangle 1">
            <a:extLst>
              <a:ext uri="{FF2B5EF4-FFF2-40B4-BE49-F238E27FC236}">
                <a16:creationId xmlns:a16="http://schemas.microsoft.com/office/drawing/2014/main" id="{1F63D0FB-7060-EF76-E132-A0C2F91BD0DC}"/>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F4DF0941-A0DA-44AA-9815-93B41368D4CC}"/>
              </a:ext>
            </a:extLst>
          </p:cNvPr>
          <p:cNvSpPr txBox="1"/>
          <p:nvPr/>
        </p:nvSpPr>
        <p:spPr>
          <a:xfrm>
            <a:off x="1087120" y="1359654"/>
            <a:ext cx="10017760" cy="4708981"/>
          </a:xfrm>
          <a:prstGeom prst="rect">
            <a:avLst/>
          </a:prstGeom>
          <a:noFill/>
        </p:spPr>
        <p:txBody>
          <a:bodyPr wrap="square">
            <a:spAutoFit/>
          </a:bodyPr>
          <a:lstStyle/>
          <a:p>
            <a:r>
              <a:rPr lang="en-US" sz="3000" b="1" dirty="0">
                <a:latin typeface="Times New Roman" panose="02020603050405020304" pitchFamily="18" charset="0"/>
                <a:cs typeface="Times New Roman" panose="02020603050405020304" pitchFamily="18" charset="0"/>
              </a:rPr>
              <a:t>Techniques:</a:t>
            </a:r>
          </a:p>
          <a:p>
            <a:pPr marL="914400" lvl="1" indent="-457200">
              <a:buFont typeface="Wingdings" panose="05000000000000000000" pitchFamily="2" charset="2"/>
              <a:buChar char="ü"/>
            </a:pPr>
            <a:r>
              <a:rPr lang="en-US" sz="3000" dirty="0">
                <a:latin typeface="Times New Roman" panose="02020603050405020304" pitchFamily="18" charset="0"/>
                <a:cs typeface="Times New Roman" panose="02020603050405020304" pitchFamily="18" charset="0"/>
              </a:rPr>
              <a:t>Copying documents</a:t>
            </a:r>
          </a:p>
          <a:p>
            <a:pPr marL="914400" lvl="1" indent="-457200">
              <a:buFont typeface="Wingdings" panose="05000000000000000000" pitchFamily="2" charset="2"/>
              <a:buChar char="ü"/>
            </a:pPr>
            <a:r>
              <a:rPr lang="en-US" sz="3000" dirty="0">
                <a:latin typeface="Times New Roman" panose="02020603050405020304" pitchFamily="18" charset="0"/>
                <a:cs typeface="Times New Roman" panose="02020603050405020304" pitchFamily="18" charset="0"/>
              </a:rPr>
              <a:t>Using </a:t>
            </a:r>
            <a:r>
              <a:rPr lang="en-US" sz="3000" b="1" dirty="0">
                <a:latin typeface="Times New Roman" panose="02020603050405020304" pitchFamily="18" charset="0"/>
                <a:cs typeface="Times New Roman" panose="02020603050405020304" pitchFamily="18" charset="0"/>
              </a:rPr>
              <a:t>USB drives, CDs, </a:t>
            </a:r>
            <a:r>
              <a:rPr lang="en-US" sz="3000" dirty="0">
                <a:latin typeface="Times New Roman" panose="02020603050405020304" pitchFamily="18" charset="0"/>
                <a:cs typeface="Times New Roman" panose="02020603050405020304" pitchFamily="18" charset="0"/>
              </a:rPr>
              <a:t>or portable storage to take company files.</a:t>
            </a:r>
          </a:p>
          <a:p>
            <a:pPr marL="914400" lvl="1" indent="-457200">
              <a:buFont typeface="Wingdings" panose="05000000000000000000" pitchFamily="2" charset="2"/>
              <a:buChar char="ü"/>
            </a:pPr>
            <a:r>
              <a:rPr lang="en-US" sz="3000" dirty="0">
                <a:latin typeface="Times New Roman" panose="02020603050405020304" pitchFamily="18" charset="0"/>
                <a:cs typeface="Times New Roman" panose="02020603050405020304" pitchFamily="18" charset="0"/>
              </a:rPr>
              <a:t>Casual conversation where employees accidentally reveal details.</a:t>
            </a:r>
          </a:p>
          <a:p>
            <a:pPr marL="914400" lvl="1" indent="-457200">
              <a:buFont typeface="Wingdings" panose="05000000000000000000" pitchFamily="2" charset="2"/>
              <a:buChar char="ü"/>
            </a:pPr>
            <a:r>
              <a:rPr lang="en-US" sz="3000" b="1" dirty="0">
                <a:latin typeface="Times New Roman" panose="02020603050405020304" pitchFamily="18" charset="0"/>
                <a:cs typeface="Times New Roman" panose="02020603050405020304" pitchFamily="18" charset="0"/>
              </a:rPr>
              <a:t>Email scams </a:t>
            </a:r>
            <a:r>
              <a:rPr lang="en-US" sz="3000" dirty="0">
                <a:latin typeface="Times New Roman" panose="02020603050405020304" pitchFamily="18" charset="0"/>
                <a:cs typeface="Times New Roman" panose="02020603050405020304" pitchFamily="18" charset="0"/>
              </a:rPr>
              <a:t>pretending to be boss/legal department requesting data</a:t>
            </a:r>
          </a:p>
          <a:p>
            <a:pPr marL="914400" lvl="1" indent="-457200">
              <a:buFont typeface="Wingdings" panose="05000000000000000000" pitchFamily="2" charset="2"/>
              <a:buChar char="ü"/>
            </a:pPr>
            <a:r>
              <a:rPr lang="en-US" sz="3000" b="1" dirty="0">
                <a:latin typeface="Times New Roman" panose="02020603050405020304" pitchFamily="18" charset="0"/>
                <a:cs typeface="Times New Roman" panose="02020603050405020304" pitchFamily="18" charset="0"/>
              </a:rPr>
              <a:t>Fake social media </a:t>
            </a:r>
            <a:r>
              <a:rPr lang="en-US" sz="3000" dirty="0">
                <a:latin typeface="Times New Roman" panose="02020603050405020304" pitchFamily="18" charset="0"/>
                <a:cs typeface="Times New Roman" panose="02020603050405020304" pitchFamily="18" charset="0"/>
              </a:rPr>
              <a:t>profiles to befriend employees and extract info.</a:t>
            </a:r>
          </a:p>
        </p:txBody>
      </p:sp>
    </p:spTree>
    <p:extLst>
      <p:ext uri="{BB962C8B-B14F-4D97-AF65-F5344CB8AC3E}">
        <p14:creationId xmlns:p14="http://schemas.microsoft.com/office/powerpoint/2010/main" val="3282222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42E0D-5D91-0F85-8B33-82C856C302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C81314-5CD1-131D-D261-F4B6E979A4DD}"/>
              </a:ext>
            </a:extLst>
          </p:cNvPr>
          <p:cNvSpPr txBox="1"/>
          <p:nvPr/>
        </p:nvSpPr>
        <p:spPr>
          <a:xfrm>
            <a:off x="1874520" y="292636"/>
            <a:ext cx="80568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How does Espionage Occur?</a:t>
            </a:r>
          </a:p>
        </p:txBody>
      </p:sp>
      <p:sp>
        <p:nvSpPr>
          <p:cNvPr id="3" name="Rectangle 1">
            <a:extLst>
              <a:ext uri="{FF2B5EF4-FFF2-40B4-BE49-F238E27FC236}">
                <a16:creationId xmlns:a16="http://schemas.microsoft.com/office/drawing/2014/main" id="{71314C07-E457-2E9D-607C-441A7D95BA10}"/>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2103FBFD-E95C-AC2A-F862-6E7B1F4CDF94}"/>
              </a:ext>
            </a:extLst>
          </p:cNvPr>
          <p:cNvSpPr txBox="1"/>
          <p:nvPr/>
        </p:nvSpPr>
        <p:spPr>
          <a:xfrm>
            <a:off x="1249680" y="1584910"/>
            <a:ext cx="10017760" cy="5447645"/>
          </a:xfrm>
          <a:prstGeom prst="rect">
            <a:avLst/>
          </a:prstGeom>
          <a:noFill/>
        </p:spPr>
        <p:txBody>
          <a:bodyPr wrap="square">
            <a:spAutoFit/>
          </a:bodyPr>
          <a:lstStyle/>
          <a:p>
            <a:pPr algn="just"/>
            <a:r>
              <a:rPr lang="en-US" sz="3200" b="1" dirty="0">
                <a:latin typeface="Times New Roman" panose="02020603050405020304" pitchFamily="18" charset="0"/>
                <a:cs typeface="Times New Roman" panose="02020603050405020304" pitchFamily="18" charset="0"/>
              </a:rPr>
              <a:t>2. High-Tech Espionage (Technology-Based)</a:t>
            </a:r>
          </a:p>
          <a:p>
            <a:pPr marL="971550" lvl="1" indent="-514350" algn="just">
              <a:buFont typeface="+mj-lt"/>
              <a:buAutoNum type="alphaLcPeriod"/>
            </a:pPr>
            <a:r>
              <a:rPr lang="en-US" sz="3200" b="1" dirty="0">
                <a:latin typeface="Times New Roman" panose="02020603050405020304" pitchFamily="18" charset="0"/>
                <a:cs typeface="Times New Roman" panose="02020603050405020304" pitchFamily="18" charset="0"/>
              </a:rPr>
              <a:t> Spyware:</a:t>
            </a:r>
            <a:r>
              <a:rPr lang="en-US" sz="3200" dirty="0">
                <a:latin typeface="Times New Roman" panose="02020603050405020304" pitchFamily="18" charset="0"/>
                <a:cs typeface="Times New Roman" panose="02020603050405020304" pitchFamily="18" charset="0"/>
              </a:rPr>
              <a:t> Used to secretly monitor computer use.</a:t>
            </a:r>
          </a:p>
          <a:p>
            <a:pPr marL="971550" lvl="1" indent="-514350">
              <a:buFont typeface="+mj-lt"/>
              <a:buAutoNum type="alphaLcPeriod"/>
            </a:pPr>
            <a:r>
              <a:rPr lang="en-US" sz="3200" b="1" dirty="0">
                <a:latin typeface="Times New Roman" panose="02020603050405020304" pitchFamily="18" charset="0"/>
                <a:cs typeface="Times New Roman" panose="02020603050405020304" pitchFamily="18" charset="0"/>
              </a:rPr>
              <a:t>Steganography: </a:t>
            </a:r>
            <a:r>
              <a:rPr lang="en-US" sz="3200" dirty="0">
                <a:latin typeface="Times New Roman" panose="02020603050405020304" pitchFamily="18" charset="0"/>
                <a:cs typeface="Times New Roman" panose="02020603050405020304" pitchFamily="18" charset="0"/>
              </a:rPr>
              <a:t>Hiding secret messages inside images, audio, or video files.</a:t>
            </a:r>
          </a:p>
          <a:p>
            <a:pPr marL="971550" lvl="1" indent="-514350">
              <a:buFont typeface="+mj-lt"/>
              <a:buAutoNum type="alphaLcPeriod"/>
            </a:pPr>
            <a:r>
              <a:rPr lang="en-US" sz="3200" b="1" dirty="0">
                <a:latin typeface="Times New Roman" panose="02020603050405020304" pitchFamily="18" charset="0"/>
                <a:cs typeface="Times New Roman" panose="02020603050405020304" pitchFamily="18" charset="0"/>
              </a:rPr>
              <a:t>Phone Taps &amp; Bugs: </a:t>
            </a:r>
            <a:r>
              <a:rPr lang="en-US" sz="3200" dirty="0">
                <a:latin typeface="Times New Roman" panose="02020603050405020304" pitchFamily="18" charset="0"/>
                <a:cs typeface="Times New Roman" panose="02020603050405020304" pitchFamily="18" charset="0"/>
              </a:rPr>
              <a:t>Physically tapping phone lines or placing listening devices in offices.</a:t>
            </a:r>
          </a:p>
          <a:p>
            <a:pPr marL="971550" lvl="1" indent="-514350">
              <a:buFont typeface="+mj-lt"/>
              <a:buAutoNum type="alphaLcPeriod"/>
            </a:pPr>
            <a:r>
              <a:rPr lang="en-US" sz="3200" b="1" dirty="0">
                <a:latin typeface="Times New Roman" panose="02020603050405020304" pitchFamily="18" charset="0"/>
                <a:cs typeface="Times New Roman" panose="02020603050405020304" pitchFamily="18" charset="0"/>
              </a:rPr>
              <a:t>Mercenary Spies (Spy-for-Hire): </a:t>
            </a:r>
            <a:r>
              <a:rPr lang="en-US" sz="3200" dirty="0">
                <a:latin typeface="Times New Roman" panose="02020603050405020304" pitchFamily="18" charset="0"/>
                <a:cs typeface="Times New Roman" panose="02020603050405020304" pitchFamily="18" charset="0"/>
              </a:rPr>
              <a:t>Private surveillance companies or individuals hired to steal information.</a:t>
            </a:r>
          </a:p>
          <a:p>
            <a:pPr marL="457200" indent="-457200" algn="just">
              <a:buFont typeface="Arial" panose="020B0604020202020204" pitchFamily="34" charset="0"/>
              <a:buChar char="•"/>
            </a:pPr>
            <a:endParaRPr kumimoji="0" lang="en-US" altLang="en-PK"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kumimoji="0" lang="en-PK" altLang="en-PK"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134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E4334-8E6C-877E-64C2-9B273521CD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CDB4AE-6F0F-3B71-3348-B988F282DFD9}"/>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Protection Against Industrial Espionage</a:t>
            </a:r>
          </a:p>
        </p:txBody>
      </p:sp>
      <p:sp>
        <p:nvSpPr>
          <p:cNvPr id="3" name="Rectangle 1">
            <a:extLst>
              <a:ext uri="{FF2B5EF4-FFF2-40B4-BE49-F238E27FC236}">
                <a16:creationId xmlns:a16="http://schemas.microsoft.com/office/drawing/2014/main" id="{20470314-F133-C4E6-24FB-1C16B452A0F3}"/>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3112FB68-076B-18C2-4A3D-E0A0E2BF56D1}"/>
              </a:ext>
            </a:extLst>
          </p:cNvPr>
          <p:cNvSpPr txBox="1"/>
          <p:nvPr/>
        </p:nvSpPr>
        <p:spPr>
          <a:xfrm>
            <a:off x="1087120" y="1206386"/>
            <a:ext cx="10017760" cy="5262979"/>
          </a:xfrm>
          <a:prstGeom prst="rect">
            <a:avLst/>
          </a:prstGeom>
          <a:noFill/>
        </p:spPr>
        <p:txBody>
          <a:bodyPr wrap="square">
            <a:spAutoFit/>
          </a:bodyPr>
          <a:lstStyle/>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One cannot make any system </a:t>
            </a:r>
            <a:r>
              <a:rPr lang="en-US" sz="2800" b="1" dirty="0">
                <a:latin typeface="Times New Roman" panose="02020603050405020304" pitchFamily="18" charset="0"/>
                <a:cs typeface="Times New Roman" panose="02020603050405020304" pitchFamily="18" charset="0"/>
              </a:rPr>
              <a:t>100% secure</a:t>
            </a:r>
            <a:r>
              <a:rPr lang="en-US" sz="2800" dirty="0">
                <a:latin typeface="Times New Roman" panose="02020603050405020304" pitchFamily="18" charset="0"/>
                <a:cs typeface="Times New Roman" panose="02020603050405020304" pitchFamily="18" charset="0"/>
              </a:rPr>
              <a:t>, but one </a:t>
            </a:r>
            <a:r>
              <a:rPr lang="en-US" sz="2800" i="1" dirty="0">
                <a:latin typeface="Times New Roman" panose="02020603050405020304" pitchFamily="18" charset="0"/>
                <a:cs typeface="Times New Roman" panose="02020603050405020304" pitchFamily="18" charset="0"/>
              </a:rPr>
              <a:t>can</a:t>
            </a:r>
            <a:r>
              <a:rPr lang="en-US" sz="2800" dirty="0">
                <a:latin typeface="Times New Roman" panose="02020603050405020304" pitchFamily="18" charset="0"/>
                <a:cs typeface="Times New Roman" panose="02020603050405020304" pitchFamily="18" charset="0"/>
              </a:rPr>
              <a:t> reduce the risk significantly.</a:t>
            </a:r>
          </a:p>
          <a:p>
            <a:r>
              <a:rPr lang="en-US" sz="2800" b="1" dirty="0">
                <a:latin typeface="Times New Roman" panose="02020603050405020304" pitchFamily="18" charset="0"/>
                <a:cs typeface="Times New Roman" panose="02020603050405020304" pitchFamily="18" charset="0"/>
              </a:rPr>
              <a:t>Technical Protections</a:t>
            </a:r>
          </a:p>
          <a:p>
            <a:pPr marL="914400" lvl="1"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 </a:t>
            </a:r>
            <a:r>
              <a:rPr lang="en-US" sz="2800" b="1" dirty="0">
                <a:latin typeface="Times New Roman" panose="02020603050405020304" pitchFamily="18" charset="0"/>
                <a:cs typeface="Times New Roman" panose="02020603050405020304" pitchFamily="18" charset="0"/>
              </a:rPr>
              <a:t>antispyware software </a:t>
            </a:r>
            <a:r>
              <a:rPr lang="en-US" sz="2800" dirty="0">
                <a:latin typeface="Times New Roman" panose="02020603050405020304" pitchFamily="18" charset="0"/>
                <a:cs typeface="Times New Roman" panose="02020603050405020304" pitchFamily="18" charset="0"/>
              </a:rPr>
              <a:t>to detect and remove monitoring tools.</a:t>
            </a:r>
          </a:p>
          <a:p>
            <a:pPr marL="914400" lvl="1"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 </a:t>
            </a:r>
            <a:r>
              <a:rPr lang="en-US" sz="2800" b="1" dirty="0">
                <a:latin typeface="Times New Roman" panose="02020603050405020304" pitchFamily="18" charset="0"/>
                <a:cs typeface="Times New Roman" panose="02020603050405020304" pitchFamily="18" charset="0"/>
              </a:rPr>
              <a:t>firewalls &amp; intrusion detection systems (IDS) </a:t>
            </a:r>
            <a:r>
              <a:rPr lang="en-US" sz="2800" dirty="0">
                <a:latin typeface="Times New Roman" panose="02020603050405020304" pitchFamily="18" charset="0"/>
                <a:cs typeface="Times New Roman" panose="02020603050405020304" pitchFamily="18" charset="0"/>
              </a:rPr>
              <a:t>to block unauthorized access.</a:t>
            </a:r>
          </a:p>
          <a:p>
            <a:pPr marL="914400" lvl="1"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Implement </a:t>
            </a:r>
            <a:r>
              <a:rPr lang="en-US" sz="2800" b="1" dirty="0">
                <a:latin typeface="Times New Roman" panose="02020603050405020304" pitchFamily="18" charset="0"/>
                <a:cs typeface="Times New Roman" panose="02020603050405020304" pitchFamily="18" charset="0"/>
              </a:rPr>
              <a:t>strong security policies </a:t>
            </a:r>
            <a:r>
              <a:rPr lang="en-US" sz="2800" dirty="0">
                <a:latin typeface="Times New Roman" panose="02020603050405020304" pitchFamily="18" charset="0"/>
                <a:cs typeface="Times New Roman" panose="02020603050405020304" pitchFamily="18" charset="0"/>
              </a:rPr>
              <a:t>for system and data usage.</a:t>
            </a:r>
          </a:p>
          <a:p>
            <a:pPr marL="914400" lvl="1"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Encrypt all transmissions </a:t>
            </a:r>
            <a:r>
              <a:rPr lang="en-US" sz="2800" dirty="0">
                <a:latin typeface="Times New Roman" panose="02020603050405020304" pitchFamily="18" charset="0"/>
                <a:cs typeface="Times New Roman" panose="02020603050405020304" pitchFamily="18" charset="0"/>
              </a:rPr>
              <a:t>(emails, files, network traffic) to prevent interception.</a:t>
            </a:r>
          </a:p>
          <a:p>
            <a:pPr marL="457200" indent="-457200" algn="just">
              <a:buFont typeface="Wingdings" panose="05000000000000000000" pitchFamily="2" charset="2"/>
              <a:buChar char="ü"/>
            </a:pPr>
            <a:endParaRPr kumimoji="0" lang="en-PK" altLang="en-PK"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8157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93A27-374C-D6D7-689F-184CF945A4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789866-40C6-FEB5-3323-2992455F85FF}"/>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Protection Against Industrial Espionage</a:t>
            </a:r>
          </a:p>
        </p:txBody>
      </p:sp>
      <p:sp>
        <p:nvSpPr>
          <p:cNvPr id="3" name="Rectangle 1">
            <a:extLst>
              <a:ext uri="{FF2B5EF4-FFF2-40B4-BE49-F238E27FC236}">
                <a16:creationId xmlns:a16="http://schemas.microsoft.com/office/drawing/2014/main" id="{52DA523B-9653-1754-1410-BB189150A155}"/>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98D334A5-2B98-8045-954D-AAC8236A65F9}"/>
              </a:ext>
            </a:extLst>
          </p:cNvPr>
          <p:cNvSpPr txBox="1"/>
          <p:nvPr/>
        </p:nvSpPr>
        <p:spPr>
          <a:xfrm>
            <a:off x="975360" y="1226706"/>
            <a:ext cx="10017760" cy="5262979"/>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Reducing Risk of Internal Espionage</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Access Control</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Share data only on a </a:t>
            </a:r>
            <a:r>
              <a:rPr lang="en-US" sz="2800" b="1" dirty="0">
                <a:latin typeface="Times New Roman" panose="02020603050405020304" pitchFamily="18" charset="0"/>
                <a:cs typeface="Times New Roman" panose="02020603050405020304" pitchFamily="18" charset="0"/>
              </a:rPr>
              <a:t>“need-to-know” basis</a:t>
            </a:r>
            <a:r>
              <a:rPr lang="en-US" sz="28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Ensure </a:t>
            </a:r>
            <a:r>
              <a:rPr lang="en-US" sz="2800" b="1" dirty="0">
                <a:latin typeface="Times New Roman" panose="02020603050405020304" pitchFamily="18" charset="0"/>
                <a:cs typeface="Times New Roman" panose="02020603050405020304" pitchFamily="18" charset="0"/>
              </a:rPr>
              <a:t>no single employee</a:t>
            </a:r>
            <a:r>
              <a:rPr lang="en-US" sz="2800" dirty="0">
                <a:latin typeface="Times New Roman" panose="02020603050405020304" pitchFamily="18" charset="0"/>
                <a:cs typeface="Times New Roman" panose="02020603050405020304" pitchFamily="18" charset="0"/>
              </a:rPr>
              <a:t> controls all critical data.</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Device &amp; Media Restrictions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Limit use of </a:t>
            </a:r>
            <a:r>
              <a:rPr lang="en-US" sz="2800" b="1" dirty="0">
                <a:latin typeface="Times New Roman" panose="02020603050405020304" pitchFamily="18" charset="0"/>
                <a:cs typeface="Times New Roman" panose="02020603050405020304" pitchFamily="18" charset="0"/>
              </a:rPr>
              <a:t>portable storage</a:t>
            </a:r>
            <a:r>
              <a:rPr lang="en-US" sz="2800" dirty="0">
                <a:latin typeface="Times New Roman" panose="02020603050405020304" pitchFamily="18" charset="0"/>
                <a:cs typeface="Times New Roman" panose="02020603050405020304" pitchFamily="18" charset="0"/>
              </a:rPr>
              <a:t> (USBs, CDs, external drives).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Restrict or monitor </a:t>
            </a:r>
            <a:r>
              <a:rPr lang="en-US" sz="2800" b="1" dirty="0">
                <a:latin typeface="Times New Roman" panose="02020603050405020304" pitchFamily="18" charset="0"/>
                <a:cs typeface="Times New Roman" panose="02020603050405020304" pitchFamily="18" charset="0"/>
              </a:rPr>
              <a:t>cell phone use</a:t>
            </a:r>
            <a:r>
              <a:rPr lang="en-US" sz="2800" dirty="0">
                <a:latin typeface="Times New Roman" panose="02020603050405020304" pitchFamily="18" charset="0"/>
                <a:cs typeface="Times New Roman" panose="02020603050405020304" pitchFamily="18" charset="0"/>
              </a:rPr>
              <a:t> in sensitive areas.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Do </a:t>
            </a:r>
            <a:r>
              <a:rPr lang="en-US" sz="2800" b="1" dirty="0">
                <a:latin typeface="Times New Roman" panose="02020603050405020304" pitchFamily="18" charset="0"/>
                <a:cs typeface="Times New Roman" panose="02020603050405020304" pitchFamily="18" charset="0"/>
              </a:rPr>
              <a:t>not allow documents or storage media</a:t>
            </a:r>
            <a:r>
              <a:rPr lang="en-US" sz="2800" dirty="0">
                <a:latin typeface="Times New Roman" panose="02020603050405020304" pitchFamily="18" charset="0"/>
                <a:cs typeface="Times New Roman" panose="02020603050405020304" pitchFamily="18" charset="0"/>
              </a:rPr>
              <a:t> to leave the building.</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Employee Monitoring &amp; Verification</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Conduct </a:t>
            </a:r>
            <a:r>
              <a:rPr lang="en-US" sz="2800" b="1" dirty="0">
                <a:latin typeface="Times New Roman" panose="02020603050405020304" pitchFamily="18" charset="0"/>
                <a:cs typeface="Times New Roman" panose="02020603050405020304" pitchFamily="18" charset="0"/>
              </a:rPr>
              <a:t>background checks</a:t>
            </a:r>
            <a:r>
              <a:rPr lang="en-US" sz="2800" dirty="0">
                <a:latin typeface="Times New Roman" panose="02020603050405020304" pitchFamily="18" charset="0"/>
                <a:cs typeface="Times New Roman" panose="02020603050405020304" pitchFamily="18" charset="0"/>
              </a:rPr>
              <a:t> before hiring.</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Scan and audit </a:t>
            </a:r>
            <a:r>
              <a:rPr lang="en-US" sz="2800" b="1" dirty="0">
                <a:latin typeface="Times New Roman" panose="02020603050405020304" pitchFamily="18" charset="0"/>
                <a:cs typeface="Times New Roman" panose="02020603050405020304" pitchFamily="18" charset="0"/>
              </a:rPr>
              <a:t>PCs of departing employees</a:t>
            </a: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8049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264AA-66F0-BE39-25F3-DD3B62DB53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BD5DAF-58B6-9C4E-896D-9B01641CCC2E}"/>
              </a:ext>
            </a:extLst>
          </p:cNvPr>
          <p:cNvSpPr txBox="1"/>
          <p:nvPr/>
        </p:nvSpPr>
        <p:spPr>
          <a:xfrm>
            <a:off x="772160" y="222989"/>
            <a:ext cx="10647680" cy="769441"/>
          </a:xfrm>
          <a:prstGeom prst="rect">
            <a:avLst/>
          </a:prstGeom>
          <a:noFill/>
        </p:spPr>
        <p:txBody>
          <a:bodyPr wrap="square">
            <a:spAutoFit/>
          </a:bodyPr>
          <a:lstStyle/>
          <a:p>
            <a:pPr algn="ctr"/>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Real World Cases – Industrial Espionage</a:t>
            </a:r>
          </a:p>
        </p:txBody>
      </p:sp>
      <p:sp>
        <p:nvSpPr>
          <p:cNvPr id="3" name="Rectangle 1">
            <a:extLst>
              <a:ext uri="{FF2B5EF4-FFF2-40B4-BE49-F238E27FC236}">
                <a16:creationId xmlns:a16="http://schemas.microsoft.com/office/drawing/2014/main" id="{F856FD6A-6803-48ED-9F76-E3C4A2A27E4C}"/>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9CB14140-B343-C1AA-3479-0C159C9777D5}"/>
              </a:ext>
            </a:extLst>
          </p:cNvPr>
          <p:cNvGraphicFramePr>
            <a:graphicFrameLocks noGrp="1"/>
          </p:cNvGraphicFramePr>
          <p:nvPr>
            <p:extLst>
              <p:ext uri="{D42A27DB-BD31-4B8C-83A1-F6EECF244321}">
                <p14:modId xmlns:p14="http://schemas.microsoft.com/office/powerpoint/2010/main" val="918794635"/>
              </p:ext>
            </p:extLst>
          </p:nvPr>
        </p:nvGraphicFramePr>
        <p:xfrm>
          <a:off x="772160" y="1196108"/>
          <a:ext cx="11115040" cy="4971013"/>
        </p:xfrm>
        <a:graphic>
          <a:graphicData uri="http://schemas.openxmlformats.org/drawingml/2006/table">
            <a:tbl>
              <a:tblPr/>
              <a:tblGrid>
                <a:gridCol w="5557520">
                  <a:extLst>
                    <a:ext uri="{9D8B030D-6E8A-4147-A177-3AD203B41FA5}">
                      <a16:colId xmlns:a16="http://schemas.microsoft.com/office/drawing/2014/main" val="1644858341"/>
                    </a:ext>
                  </a:extLst>
                </a:gridCol>
                <a:gridCol w="5557520">
                  <a:extLst>
                    <a:ext uri="{9D8B030D-6E8A-4147-A177-3AD203B41FA5}">
                      <a16:colId xmlns:a16="http://schemas.microsoft.com/office/drawing/2014/main" val="112677636"/>
                    </a:ext>
                  </a:extLst>
                </a:gridCol>
              </a:tblGrid>
              <a:tr h="313989">
                <a:tc>
                  <a:txBody>
                    <a:bodyPr/>
                    <a:lstStyle/>
                    <a:p>
                      <a:pPr algn="ctr">
                        <a:buNone/>
                      </a:pPr>
                      <a:r>
                        <a:rPr lang="en-US" sz="1600" b="1">
                          <a:latin typeface="Times New Roman" panose="02020603050405020304" pitchFamily="18" charset="0"/>
                          <a:cs typeface="Times New Roman" panose="02020603050405020304" pitchFamily="18" charset="0"/>
                        </a:rPr>
                        <a:t>Case &amp; Date</a:t>
                      </a:r>
                    </a:p>
                  </a:txBody>
                  <a:tcPr marL="48811" marR="48811" marT="24405" marB="24405" anchor="ctr">
                    <a:lnL>
                      <a:noFill/>
                    </a:lnL>
                    <a:lnR>
                      <a:noFill/>
                    </a:lnR>
                    <a:lnT>
                      <a:noFill/>
                    </a:lnT>
                    <a:lnB>
                      <a:noFill/>
                    </a:lnB>
                    <a:noFill/>
                  </a:tcPr>
                </a:tc>
                <a:tc>
                  <a:txBody>
                    <a:bodyPr/>
                    <a:lstStyle/>
                    <a:p>
                      <a:pPr algn="ctr">
                        <a:buNone/>
                      </a:pPr>
                      <a:r>
                        <a:rPr lang="en-US" sz="1600" b="1" dirty="0">
                          <a:latin typeface="Times New Roman" panose="02020603050405020304" pitchFamily="18" charset="0"/>
                          <a:cs typeface="Times New Roman" panose="02020603050405020304" pitchFamily="18" charset="0"/>
                        </a:rPr>
                        <a:t>Summary</a:t>
                      </a:r>
                    </a:p>
                  </a:txBody>
                  <a:tcPr marL="48811" marR="48811" marT="24405" marB="24405" anchor="ctr">
                    <a:lnL>
                      <a:noFill/>
                    </a:lnL>
                    <a:lnR>
                      <a:noFill/>
                    </a:lnR>
                    <a:lnT>
                      <a:noFill/>
                    </a:lnT>
                    <a:lnB>
                      <a:noFill/>
                    </a:lnB>
                    <a:noFill/>
                  </a:tcPr>
                </a:tc>
                <a:extLst>
                  <a:ext uri="{0D108BD9-81ED-4DB2-BD59-A6C34878D82A}">
                    <a16:rowId xmlns:a16="http://schemas.microsoft.com/office/drawing/2014/main" val="2714547362"/>
                  </a:ext>
                </a:extLst>
              </a:tr>
              <a:tr h="1360471">
                <a:tc>
                  <a:txBody>
                    <a:bodyPr/>
                    <a:lstStyle/>
                    <a:p>
                      <a:pPr>
                        <a:buNone/>
                      </a:pPr>
                      <a:r>
                        <a:rPr lang="en-US" sz="1600" b="1" dirty="0">
                          <a:latin typeface="Times New Roman" panose="02020603050405020304" pitchFamily="18" charset="0"/>
                          <a:cs typeface="Times New Roman" panose="02020603050405020304" pitchFamily="18" charset="0"/>
                        </a:rPr>
                        <a:t>Google — Ex‑Engineer accused of stealing AI secrets (2025, USA)</a:t>
                      </a:r>
                      <a:endParaRPr lang="en-US" sz="1600" dirty="0">
                        <a:latin typeface="Times New Roman" panose="02020603050405020304" pitchFamily="18" charset="0"/>
                        <a:cs typeface="Times New Roman" panose="02020603050405020304" pitchFamily="18" charset="0"/>
                      </a:endParaRPr>
                    </a:p>
                  </a:txBody>
                  <a:tcPr marL="48811" marR="48811" marT="24405" marB="24405" anchor="ctr">
                    <a:lnL>
                      <a:noFill/>
                    </a:lnL>
                    <a:lnR>
                      <a:noFill/>
                    </a:lnR>
                    <a:lnT>
                      <a:noFill/>
                    </a:lnT>
                    <a:lnB>
                      <a:noFill/>
                    </a:lnB>
                    <a:noFill/>
                  </a:tcPr>
                </a:tc>
                <a:tc>
                  <a:txBody>
                    <a:bodyPr/>
                    <a:lstStyle/>
                    <a:p>
                      <a:pPr>
                        <a:buNone/>
                      </a:pPr>
                      <a:r>
                        <a:rPr lang="en-US" sz="1600" dirty="0">
                          <a:latin typeface="Times New Roman" panose="02020603050405020304" pitchFamily="18" charset="0"/>
                          <a:cs typeface="Times New Roman" panose="02020603050405020304" pitchFamily="18" charset="0"/>
                        </a:rPr>
                        <a:t>A former Google engineer (</a:t>
                      </a:r>
                      <a:r>
                        <a:rPr lang="en-US" sz="1600" dirty="0" err="1">
                          <a:latin typeface="Times New Roman" panose="02020603050405020304" pitchFamily="18" charset="0"/>
                          <a:cs typeface="Times New Roman" panose="02020603050405020304" pitchFamily="18" charset="0"/>
                        </a:rPr>
                        <a:t>Linwei</a:t>
                      </a:r>
                      <a:r>
                        <a:rPr lang="en-US" sz="1600" dirty="0">
                          <a:latin typeface="Times New Roman" panose="02020603050405020304" pitchFamily="18" charset="0"/>
                          <a:cs typeface="Times New Roman" panose="02020603050405020304" pitchFamily="18" charset="0"/>
                        </a:rPr>
                        <a:t> Ding) was indicted in 2025 on multiple counts of economic espionage and trade‑secret theft. He allegedly stole “hundreds of confidential documents” about Google’s AI infrastructure and hardware design, then passed them to Chinese companies. (</a:t>
                      </a:r>
                      <a:r>
                        <a:rPr lang="en-US" sz="1600" dirty="0">
                          <a:latin typeface="Times New Roman" panose="02020603050405020304" pitchFamily="18" charset="0"/>
                          <a:cs typeface="Times New Roman" panose="02020603050405020304" pitchFamily="18" charset="0"/>
                          <a:hlinkClick r:id="rId2" tooltip="Ex-Google engineer faces new US charges he stole AI secrets for Chinese companies"/>
                        </a:rPr>
                        <a:t>Reuters</a:t>
                      </a:r>
                      <a:r>
                        <a:rPr lang="en-US" sz="1600" dirty="0">
                          <a:latin typeface="Times New Roman" panose="02020603050405020304" pitchFamily="18" charset="0"/>
                          <a:cs typeface="Times New Roman" panose="02020603050405020304" pitchFamily="18" charset="0"/>
                        </a:rPr>
                        <a:t>)</a:t>
                      </a:r>
                    </a:p>
                  </a:txBody>
                  <a:tcPr marL="48811" marR="48811" marT="24405" marB="24405" anchor="ctr">
                    <a:lnL>
                      <a:noFill/>
                    </a:lnL>
                    <a:lnR>
                      <a:noFill/>
                    </a:lnR>
                    <a:lnT>
                      <a:noFill/>
                    </a:lnT>
                    <a:lnB>
                      <a:noFill/>
                    </a:lnB>
                    <a:noFill/>
                  </a:tcPr>
                </a:tc>
                <a:extLst>
                  <a:ext uri="{0D108BD9-81ED-4DB2-BD59-A6C34878D82A}">
                    <a16:rowId xmlns:a16="http://schemas.microsoft.com/office/drawing/2014/main" val="1087440134"/>
                  </a:ext>
                </a:extLst>
              </a:tr>
              <a:tr h="1098851">
                <a:tc>
                  <a:txBody>
                    <a:bodyPr/>
                    <a:lstStyle/>
                    <a:p>
                      <a:pPr>
                        <a:buNone/>
                      </a:pPr>
                      <a:r>
                        <a:rPr lang="en-US" sz="1600" b="1">
                          <a:latin typeface="Times New Roman" panose="02020603050405020304" pitchFamily="18" charset="0"/>
                          <a:cs typeface="Times New Roman" panose="02020603050405020304" pitchFamily="18" charset="0"/>
                        </a:rPr>
                        <a:t>TSMC (Taiwan Semiconductor Manufacturing Company) — theft of chip technology (2025, Taiwan)</a:t>
                      </a:r>
                      <a:endParaRPr lang="en-US" sz="1600">
                        <a:latin typeface="Times New Roman" panose="02020603050405020304" pitchFamily="18" charset="0"/>
                        <a:cs typeface="Times New Roman" panose="02020603050405020304" pitchFamily="18" charset="0"/>
                      </a:endParaRPr>
                    </a:p>
                  </a:txBody>
                  <a:tcPr marL="48811" marR="48811" marT="24405" marB="24405"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In 2025, TSMC reported that former employees allegedly stole proprietary chip‑manufacturing technology. The case is reported to be the first prosecuted under Taiwan’s updated national‑security law protecting critical tech. (</a:t>
                      </a:r>
                      <a:r>
                        <a:rPr lang="en-US" sz="1600">
                          <a:latin typeface="Times New Roman" panose="02020603050405020304" pitchFamily="18" charset="0"/>
                          <a:cs typeface="Times New Roman" panose="02020603050405020304" pitchFamily="18" charset="0"/>
                          <a:hlinkClick r:id="rId3" tooltip="Former TSMC staff arrested for alleged theft of chipmaker's technology"/>
                        </a:rPr>
                        <a:t>Financial Times</a:t>
                      </a:r>
                      <a:r>
                        <a:rPr lang="en-US" sz="1600">
                          <a:latin typeface="Times New Roman" panose="02020603050405020304" pitchFamily="18" charset="0"/>
                          <a:cs typeface="Times New Roman" panose="02020603050405020304" pitchFamily="18" charset="0"/>
                        </a:rPr>
                        <a:t>)</a:t>
                      </a:r>
                    </a:p>
                  </a:txBody>
                  <a:tcPr marL="48811" marR="48811" marT="24405" marB="24405" anchor="ctr">
                    <a:lnL>
                      <a:noFill/>
                    </a:lnL>
                    <a:lnR>
                      <a:noFill/>
                    </a:lnR>
                    <a:lnT>
                      <a:noFill/>
                    </a:lnT>
                    <a:lnB>
                      <a:noFill/>
                    </a:lnB>
                    <a:noFill/>
                  </a:tcPr>
                </a:tc>
                <a:extLst>
                  <a:ext uri="{0D108BD9-81ED-4DB2-BD59-A6C34878D82A}">
                    <a16:rowId xmlns:a16="http://schemas.microsoft.com/office/drawing/2014/main" val="2407467407"/>
                  </a:ext>
                </a:extLst>
              </a:tr>
              <a:tr h="1098851">
                <a:tc>
                  <a:txBody>
                    <a:bodyPr/>
                    <a:lstStyle/>
                    <a:p>
                      <a:pPr>
                        <a:buNone/>
                      </a:pPr>
                      <a:r>
                        <a:rPr lang="it-IT" sz="1600" b="1" dirty="0">
                          <a:latin typeface="Times New Roman" panose="02020603050405020304" pitchFamily="18" charset="0"/>
                          <a:cs typeface="Times New Roman" panose="02020603050405020304" pitchFamily="18" charset="0"/>
                        </a:rPr>
                        <a:t>Scale AI — Corporate espionage lawsuit (2025, USA)</a:t>
                      </a:r>
                      <a:endParaRPr lang="it-IT" sz="1600" dirty="0">
                        <a:latin typeface="Times New Roman" panose="02020603050405020304" pitchFamily="18" charset="0"/>
                        <a:cs typeface="Times New Roman" panose="02020603050405020304" pitchFamily="18" charset="0"/>
                      </a:endParaRPr>
                    </a:p>
                  </a:txBody>
                  <a:tcPr marL="48811" marR="48811" marT="24405" marB="24405"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Scale AI filed a lawsuit accusing a former employee (Eugene Ling) of stealing over 100 confidential documents (client data, internal strategies) and then approaching a competitor with them — a classic corporate‑espionage incident. (</a:t>
                      </a:r>
                      <a:r>
                        <a:rPr lang="en-US" sz="1600">
                          <a:latin typeface="Times New Roman" panose="02020603050405020304" pitchFamily="18" charset="0"/>
                          <a:cs typeface="Times New Roman" panose="02020603050405020304" pitchFamily="18" charset="0"/>
                          <a:hlinkClick r:id="rId4" tooltip="Scale AI still exists and it's suing an ex-employee over corporate espionage"/>
                        </a:rPr>
                        <a:t>The Verge</a:t>
                      </a:r>
                      <a:r>
                        <a:rPr lang="en-US" sz="1600">
                          <a:latin typeface="Times New Roman" panose="02020603050405020304" pitchFamily="18" charset="0"/>
                          <a:cs typeface="Times New Roman" panose="02020603050405020304" pitchFamily="18" charset="0"/>
                        </a:rPr>
                        <a:t>)</a:t>
                      </a:r>
                    </a:p>
                  </a:txBody>
                  <a:tcPr marL="48811" marR="48811" marT="24405" marB="24405" anchor="ctr">
                    <a:lnL>
                      <a:noFill/>
                    </a:lnL>
                    <a:lnR>
                      <a:noFill/>
                    </a:lnR>
                    <a:lnT>
                      <a:noFill/>
                    </a:lnT>
                    <a:lnB>
                      <a:noFill/>
                    </a:lnB>
                    <a:noFill/>
                  </a:tcPr>
                </a:tc>
                <a:extLst>
                  <a:ext uri="{0D108BD9-81ED-4DB2-BD59-A6C34878D82A}">
                    <a16:rowId xmlns:a16="http://schemas.microsoft.com/office/drawing/2014/main" val="709130165"/>
                  </a:ext>
                </a:extLst>
              </a:tr>
              <a:tr h="1098851">
                <a:tc>
                  <a:txBody>
                    <a:bodyPr/>
                    <a:lstStyle/>
                    <a:p>
                      <a:pPr>
                        <a:buNone/>
                      </a:pPr>
                      <a:r>
                        <a:rPr lang="en-US" sz="1600" b="1" dirty="0">
                          <a:latin typeface="Times New Roman" panose="02020603050405020304" pitchFamily="18" charset="0"/>
                          <a:cs typeface="Times New Roman" panose="02020603050405020304" pitchFamily="18" charset="0"/>
                        </a:rPr>
                        <a:t>Qantas — Ex‑Pilot accused of copying sensitive documents (2024, Australia)</a:t>
                      </a:r>
                      <a:endParaRPr lang="en-US" sz="1600" dirty="0">
                        <a:latin typeface="Times New Roman" panose="02020603050405020304" pitchFamily="18" charset="0"/>
                        <a:cs typeface="Times New Roman" panose="02020603050405020304" pitchFamily="18" charset="0"/>
                      </a:endParaRPr>
                    </a:p>
                  </a:txBody>
                  <a:tcPr marL="48811" marR="48811" marT="24405" marB="24405" anchor="ctr">
                    <a:lnL>
                      <a:noFill/>
                    </a:lnL>
                    <a:lnR>
                      <a:noFill/>
                    </a:lnR>
                    <a:lnT>
                      <a:noFill/>
                    </a:lnT>
                    <a:lnB>
                      <a:noFill/>
                    </a:lnB>
                    <a:noFill/>
                  </a:tcPr>
                </a:tc>
                <a:tc>
                  <a:txBody>
                    <a:bodyPr/>
                    <a:lstStyle/>
                    <a:p>
                      <a:pPr>
                        <a:buNone/>
                      </a:pPr>
                      <a:r>
                        <a:rPr lang="en-US" sz="1600" dirty="0">
                          <a:latin typeface="Times New Roman" panose="02020603050405020304" pitchFamily="18" charset="0"/>
                          <a:cs typeface="Times New Roman" panose="02020603050405020304" pitchFamily="18" charset="0"/>
                        </a:rPr>
                        <a:t>A former pilot of Qantas (Luke Fogarty) admitted copying thousands of sensitive internal documents and transferring them to personal storage just before resigning to join a competitor airline — accused of industrial espionage. (</a:t>
                      </a:r>
                      <a:r>
                        <a:rPr lang="en-US" sz="1600" dirty="0">
                          <a:latin typeface="Times New Roman" panose="02020603050405020304" pitchFamily="18" charset="0"/>
                          <a:cs typeface="Times New Roman" panose="02020603050405020304" pitchFamily="18" charset="0"/>
                          <a:hlinkClick r:id="rId5" tooltip="Ex-Qantas pilot denies ill intent behind document theft"/>
                        </a:rPr>
                        <a:t>The Australian</a:t>
                      </a:r>
                      <a:r>
                        <a:rPr lang="en-US" sz="1600" dirty="0">
                          <a:latin typeface="Times New Roman" panose="02020603050405020304" pitchFamily="18" charset="0"/>
                          <a:cs typeface="Times New Roman" panose="02020603050405020304" pitchFamily="18" charset="0"/>
                        </a:rPr>
                        <a:t>)</a:t>
                      </a:r>
                    </a:p>
                  </a:txBody>
                  <a:tcPr marL="48811" marR="48811" marT="24405" marB="24405" anchor="ctr">
                    <a:lnL>
                      <a:noFill/>
                    </a:lnL>
                    <a:lnR>
                      <a:noFill/>
                    </a:lnR>
                    <a:lnT>
                      <a:noFill/>
                    </a:lnT>
                    <a:lnB>
                      <a:noFill/>
                    </a:lnB>
                    <a:noFill/>
                  </a:tcPr>
                </a:tc>
                <a:extLst>
                  <a:ext uri="{0D108BD9-81ED-4DB2-BD59-A6C34878D82A}">
                    <a16:rowId xmlns:a16="http://schemas.microsoft.com/office/drawing/2014/main" val="38134835"/>
                  </a:ext>
                </a:extLst>
              </a:tr>
            </a:tbl>
          </a:graphicData>
        </a:graphic>
      </p:graphicFrame>
    </p:spTree>
    <p:extLst>
      <p:ext uri="{BB962C8B-B14F-4D97-AF65-F5344CB8AC3E}">
        <p14:creationId xmlns:p14="http://schemas.microsoft.com/office/powerpoint/2010/main" val="1950464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99DCE-A2ED-0261-5BA0-BB136FB20A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0F283E-ABEF-55C4-689F-3E0D8E0BCFB8}"/>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Denial of Service (DoS) Attacks </a:t>
            </a:r>
          </a:p>
        </p:txBody>
      </p:sp>
      <p:sp>
        <p:nvSpPr>
          <p:cNvPr id="3" name="Rectangle 1">
            <a:extLst>
              <a:ext uri="{FF2B5EF4-FFF2-40B4-BE49-F238E27FC236}">
                <a16:creationId xmlns:a16="http://schemas.microsoft.com/office/drawing/2014/main" id="{44D5F6C7-B4D0-993B-98FD-BFCF3B0CF780}"/>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15A62436-E676-3868-7C2B-D2004307584B}"/>
              </a:ext>
            </a:extLst>
          </p:cNvPr>
          <p:cNvSpPr txBox="1"/>
          <p:nvPr/>
        </p:nvSpPr>
        <p:spPr>
          <a:xfrm>
            <a:off x="975360" y="1407557"/>
            <a:ext cx="10017760" cy="5001369"/>
          </a:xfrm>
          <a:prstGeom prst="rect">
            <a:avLst/>
          </a:prstGeom>
          <a:noFill/>
        </p:spPr>
        <p:txBody>
          <a:bodyPr wrap="square">
            <a:spAutoFit/>
          </a:bodyPr>
          <a:lstStyle/>
          <a:p>
            <a:pPr marL="457200" indent="-457200">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Denial-of-Service </a:t>
            </a:r>
            <a:r>
              <a:rPr lang="en-US" sz="2900" b="1" dirty="0">
                <a:latin typeface="Times New Roman" panose="02020603050405020304" pitchFamily="18" charset="0"/>
                <a:cs typeface="Times New Roman" panose="02020603050405020304" pitchFamily="18" charset="0"/>
              </a:rPr>
              <a:t>(DoS) </a:t>
            </a:r>
            <a:r>
              <a:rPr lang="en-US" sz="2900" dirty="0">
                <a:latin typeface="Times New Roman" panose="02020603050405020304" pitchFamily="18" charset="0"/>
                <a:cs typeface="Times New Roman" panose="02020603050405020304" pitchFamily="18" charset="0"/>
              </a:rPr>
              <a:t>attacks are one of the most common types of attacks.</a:t>
            </a:r>
          </a:p>
          <a:p>
            <a:pPr marL="457200" indent="-457200">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A </a:t>
            </a:r>
            <a:r>
              <a:rPr lang="en-US" sz="2900" b="1" dirty="0">
                <a:latin typeface="Times New Roman" panose="02020603050405020304" pitchFamily="18" charset="0"/>
                <a:cs typeface="Times New Roman" panose="02020603050405020304" pitchFamily="18" charset="0"/>
              </a:rPr>
              <a:t>Denial-of-Service (DoS) attack</a:t>
            </a:r>
            <a:r>
              <a:rPr lang="en-US" sz="2900" dirty="0">
                <a:latin typeface="Times New Roman" panose="02020603050405020304" pitchFamily="18" charset="0"/>
                <a:cs typeface="Times New Roman" panose="02020603050405020304" pitchFamily="18" charset="0"/>
              </a:rPr>
              <a:t> is when a hacker </a:t>
            </a:r>
            <a:r>
              <a:rPr lang="en-US" sz="2900" b="1" dirty="0">
                <a:latin typeface="Times New Roman" panose="02020603050405020304" pitchFamily="18" charset="0"/>
                <a:cs typeface="Times New Roman" panose="02020603050405020304" pitchFamily="18" charset="0"/>
              </a:rPr>
              <a:t>floods a server or website with too much traffic</a:t>
            </a:r>
            <a:r>
              <a:rPr lang="en-US" sz="2900" dirty="0">
                <a:latin typeface="Times New Roman" panose="02020603050405020304" pitchFamily="18" charset="0"/>
                <a:cs typeface="Times New Roman" panose="02020603050405020304" pitchFamily="18" charset="0"/>
              </a:rPr>
              <a:t>, causing it to </a:t>
            </a:r>
            <a:r>
              <a:rPr lang="en-US" sz="2900" b="1" dirty="0">
                <a:latin typeface="Times New Roman" panose="02020603050405020304" pitchFamily="18" charset="0"/>
                <a:cs typeface="Times New Roman" panose="02020603050405020304" pitchFamily="18" charset="0"/>
              </a:rPr>
              <a:t>slow down or stop working</a:t>
            </a:r>
            <a:r>
              <a:rPr lang="en-US" sz="2900"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Their </a:t>
            </a:r>
            <a:r>
              <a:rPr lang="en-US" sz="2900" b="1" dirty="0">
                <a:latin typeface="Times New Roman" panose="02020603050405020304" pitchFamily="18" charset="0"/>
                <a:cs typeface="Times New Roman" panose="02020603050405020304" pitchFamily="18" charset="0"/>
              </a:rPr>
              <a:t>goal </a:t>
            </a:r>
            <a:r>
              <a:rPr lang="en-US" sz="2900" dirty="0">
                <a:latin typeface="Times New Roman" panose="02020603050405020304" pitchFamily="18" charset="0"/>
                <a:cs typeface="Times New Roman" panose="02020603050405020304" pitchFamily="18" charset="0"/>
              </a:rPr>
              <a:t>is to prevent legitimate users from accessing a system.</a:t>
            </a:r>
          </a:p>
          <a:p>
            <a:pPr marL="457200" indent="-457200">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Computers have physical limitations (</a:t>
            </a:r>
            <a:r>
              <a:rPr lang="en-US" sz="2900" b="1" dirty="0">
                <a:latin typeface="Times New Roman" panose="02020603050405020304" pitchFamily="18" charset="0"/>
                <a:cs typeface="Times New Roman" panose="02020603050405020304" pitchFamily="18" charset="0"/>
              </a:rPr>
              <a:t>users, file size, transmission speed, data storage)</a:t>
            </a:r>
            <a:r>
              <a:rPr lang="en-US" sz="2900" dirty="0">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Exceeding these limits causes the computer to stop responding.</a:t>
            </a:r>
          </a:p>
          <a:p>
            <a:pPr marL="571500" indent="-571500">
              <a:buFont typeface="Arial" panose="020B0604020202020204" pitchFamily="34" charset="0"/>
              <a:buChar char="•"/>
            </a:pPr>
            <a:endParaRPr lang="en-US"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4080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AB179-9113-FA3E-2202-CC52361718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DAAB97-328A-AA7D-BBA6-786BF8086E8C}"/>
              </a:ext>
            </a:extLst>
          </p:cNvPr>
          <p:cNvSpPr txBox="1"/>
          <p:nvPr/>
        </p:nvSpPr>
        <p:spPr>
          <a:xfrm>
            <a:off x="772160" y="222989"/>
            <a:ext cx="10647680" cy="1508105"/>
          </a:xfrm>
          <a:prstGeom prst="rect">
            <a:avLst/>
          </a:prstGeom>
          <a:noFill/>
        </p:spPr>
        <p:txBody>
          <a:bodyPr wrap="square">
            <a:spAutoFit/>
          </a:bodyPr>
          <a:lstStyle/>
          <a:p>
            <a:pPr algn="ctr"/>
            <a:r>
              <a:rPr lang="en-US" sz="4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Distributed Denial of Service (DDoS) Attacks </a:t>
            </a:r>
          </a:p>
        </p:txBody>
      </p:sp>
      <p:sp>
        <p:nvSpPr>
          <p:cNvPr id="3" name="Rectangle 1">
            <a:extLst>
              <a:ext uri="{FF2B5EF4-FFF2-40B4-BE49-F238E27FC236}">
                <a16:creationId xmlns:a16="http://schemas.microsoft.com/office/drawing/2014/main" id="{37994FFB-B8E3-C220-2F0C-E4F2E9CEDEA9}"/>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3C6B148A-99D4-D2D2-E964-0FCC3AD79D8C}"/>
              </a:ext>
            </a:extLst>
          </p:cNvPr>
          <p:cNvSpPr txBox="1"/>
          <p:nvPr/>
        </p:nvSpPr>
        <p:spPr>
          <a:xfrm>
            <a:off x="894080" y="1802919"/>
            <a:ext cx="10017760" cy="4832092"/>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DoS attack that is launched from several different machines is called a </a:t>
            </a:r>
            <a:r>
              <a:rPr lang="en-US" sz="2800" b="1" dirty="0">
                <a:latin typeface="Times New Roman" panose="02020603050405020304" pitchFamily="18" charset="0"/>
                <a:cs typeface="Times New Roman" panose="02020603050405020304" pitchFamily="18" charset="0"/>
              </a:rPr>
              <a:t>distributed denial of service (DDoS) </a:t>
            </a:r>
            <a:r>
              <a:rPr lang="en-US" sz="2800" dirty="0">
                <a:latin typeface="Times New Roman" panose="02020603050405020304" pitchFamily="18" charset="0"/>
                <a:cs typeface="Times New Roman" panose="02020603050405020304" pitchFamily="18" charset="0"/>
              </a:rPr>
              <a:t>attack.</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Distributed Denial-of-Service (DDoS)</a:t>
            </a:r>
            <a:r>
              <a:rPr lang="en-US" sz="2800" dirty="0">
                <a:latin typeface="Times New Roman" panose="02020603050405020304" pitchFamily="18" charset="0"/>
                <a:cs typeface="Times New Roman" panose="02020603050405020304" pitchFamily="18" charset="0"/>
              </a:rPr>
              <a:t> attack is just like a DoS attack , </a:t>
            </a:r>
            <a:r>
              <a:rPr lang="en-US" sz="2800" b="1" dirty="0">
                <a:latin typeface="Times New Roman" panose="02020603050405020304" pitchFamily="18" charset="0"/>
                <a:cs typeface="Times New Roman" panose="02020603050405020304" pitchFamily="18" charset="0"/>
              </a:rPr>
              <a:t>BUT using thousands or millions of devices at the same time</a:t>
            </a:r>
            <a:r>
              <a:rPr lang="en-US" sz="2800" dirty="0">
                <a:latin typeface="Times New Roman" panose="02020603050405020304" pitchFamily="18" charset="0"/>
                <a:cs typeface="Times New Roman" panose="02020603050405020304" pitchFamily="18" charset="0"/>
              </a:rPr>
              <a:t> to overload a server.</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According to </a:t>
            </a:r>
            <a:r>
              <a:rPr lang="en-US" sz="2800" b="1" dirty="0" err="1">
                <a:latin typeface="Times New Roman" panose="02020603050405020304" pitchFamily="18" charset="0"/>
                <a:cs typeface="Times New Roman" panose="02020603050405020304" pitchFamily="18" charset="0"/>
              </a:rPr>
              <a:t>Calyptix</a:t>
            </a:r>
            <a:r>
              <a:rPr lang="en-US" sz="2800" b="1" dirty="0">
                <a:latin typeface="Times New Roman" panose="02020603050405020304" pitchFamily="18" charset="0"/>
                <a:cs typeface="Times New Roman" panose="02020603050405020304" pitchFamily="18" charset="0"/>
              </a:rPr>
              <a:t> Security</a:t>
            </a:r>
            <a:r>
              <a:rPr lang="en-US" sz="2800" dirty="0">
                <a:latin typeface="Times New Roman" panose="02020603050405020304" pitchFamily="18" charset="0"/>
                <a:cs typeface="Times New Roman" panose="02020603050405020304" pitchFamily="18" charset="0"/>
              </a:rPr>
              <a:t>, the first quarter of 2018 set records for DoS and DDoS attacks.</a:t>
            </a:r>
          </a:p>
          <a:p>
            <a:pPr marL="971550" lvl="1" indent="-514350">
              <a:buFont typeface="+mj-lt"/>
              <a:buAutoNum type="arabicPeriod"/>
            </a:pPr>
            <a:r>
              <a:rPr lang="en-US" sz="2800" dirty="0">
                <a:latin typeface="Times New Roman" panose="02020603050405020304" pitchFamily="18" charset="0"/>
                <a:cs typeface="Times New Roman" panose="02020603050405020304" pitchFamily="18" charset="0"/>
              </a:rPr>
              <a:t>One of the most massive DDoS attacks in history hit the GitHub site on </a:t>
            </a:r>
            <a:r>
              <a:rPr lang="en-US" sz="2800" b="1" dirty="0">
                <a:latin typeface="Times New Roman" panose="02020603050405020304" pitchFamily="18" charset="0"/>
                <a:cs typeface="Times New Roman" panose="02020603050405020304" pitchFamily="18" charset="0"/>
              </a:rPr>
              <a:t>February 28, 2018</a:t>
            </a:r>
            <a:r>
              <a:rPr lang="en-US" sz="2800" dirty="0">
                <a:latin typeface="Times New Roman" panose="02020603050405020304" pitchFamily="18" charset="0"/>
                <a:cs typeface="Times New Roman" panose="02020603050405020304" pitchFamily="18" charset="0"/>
              </a:rPr>
              <a:t>, peaking at 1.3Tbps. That record was broken just 5 days later.</a:t>
            </a:r>
          </a:p>
          <a:p>
            <a:pPr marL="571500" indent="-5715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2881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182FA-2C46-38CF-28E7-70F3E82536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2216A9-16B6-18C5-FA26-C673EC3587B8}"/>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Overview of DoS Tools</a:t>
            </a:r>
          </a:p>
        </p:txBody>
      </p:sp>
      <p:sp>
        <p:nvSpPr>
          <p:cNvPr id="5" name="TextBox 4">
            <a:extLst>
              <a:ext uri="{FF2B5EF4-FFF2-40B4-BE49-F238E27FC236}">
                <a16:creationId xmlns:a16="http://schemas.microsoft.com/office/drawing/2014/main" id="{D9E2000B-F086-6D43-7EF5-76B53993C6B2}"/>
              </a:ext>
            </a:extLst>
          </p:cNvPr>
          <p:cNvSpPr txBox="1"/>
          <p:nvPr/>
        </p:nvSpPr>
        <p:spPr>
          <a:xfrm>
            <a:off x="975360" y="1407556"/>
            <a:ext cx="2367280" cy="3785652"/>
          </a:xfrm>
          <a:prstGeom prst="rect">
            <a:avLst/>
          </a:prstGeom>
          <a:noFill/>
        </p:spPr>
        <p:txBody>
          <a:bodyPr wrap="square">
            <a:spAutoFit/>
          </a:bodyPr>
          <a:lstStyle/>
          <a:p>
            <a:pPr algn="ctr"/>
            <a:r>
              <a:rPr lang="en-US" sz="3000" b="1" dirty="0">
                <a:latin typeface="Times New Roman" panose="02020603050405020304" pitchFamily="18" charset="0"/>
                <a:cs typeface="Times New Roman" panose="02020603050405020304" pitchFamily="18" charset="0"/>
              </a:rPr>
              <a:t>LOIC (Low Orbit Ion Cannon):</a:t>
            </a:r>
            <a:r>
              <a:rPr lang="en-US" sz="3000" dirty="0">
                <a:latin typeface="Times New Roman" panose="02020603050405020304" pitchFamily="18" charset="0"/>
                <a:cs typeface="Times New Roman" panose="02020603050405020304" pitchFamily="18" charset="0"/>
              </a:rPr>
              <a:t> </a:t>
            </a:r>
          </a:p>
          <a:p>
            <a:r>
              <a:rPr lang="en-US" sz="3000" dirty="0">
                <a:latin typeface="Times New Roman" panose="02020603050405020304" pitchFamily="18" charset="0"/>
                <a:cs typeface="Times New Roman" panose="02020603050405020304" pitchFamily="18" charset="0"/>
              </a:rPr>
              <a:t>A GUI-based tool that is easy to use for launching attacks.</a:t>
            </a:r>
          </a:p>
        </p:txBody>
      </p:sp>
      <p:pic>
        <p:nvPicPr>
          <p:cNvPr id="6" name="Picture 5">
            <a:extLst>
              <a:ext uri="{FF2B5EF4-FFF2-40B4-BE49-F238E27FC236}">
                <a16:creationId xmlns:a16="http://schemas.microsoft.com/office/drawing/2014/main" id="{F498B8D6-23EB-B2E9-6D3F-B37047B14A2A}"/>
              </a:ext>
            </a:extLst>
          </p:cNvPr>
          <p:cNvPicPr>
            <a:picLocks noChangeAspect="1"/>
          </p:cNvPicPr>
          <p:nvPr/>
        </p:nvPicPr>
        <p:blipFill>
          <a:blip r:embed="rId2"/>
          <a:stretch>
            <a:fillRect/>
          </a:stretch>
        </p:blipFill>
        <p:spPr>
          <a:xfrm>
            <a:off x="3864247" y="1053986"/>
            <a:ext cx="8134713" cy="5796270"/>
          </a:xfrm>
          <a:prstGeom prst="rect">
            <a:avLst/>
          </a:prstGeom>
        </p:spPr>
      </p:pic>
    </p:spTree>
    <p:extLst>
      <p:ext uri="{BB962C8B-B14F-4D97-AF65-F5344CB8AC3E}">
        <p14:creationId xmlns:p14="http://schemas.microsoft.com/office/powerpoint/2010/main" val="3502512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34885-98E4-B68D-92A9-F02AA4288F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34CAA9-0E79-3AC9-920E-2ADC8A794712}"/>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Overview of DoS Tools</a:t>
            </a:r>
          </a:p>
        </p:txBody>
      </p:sp>
      <p:sp>
        <p:nvSpPr>
          <p:cNvPr id="5" name="TextBox 4">
            <a:extLst>
              <a:ext uri="{FF2B5EF4-FFF2-40B4-BE49-F238E27FC236}">
                <a16:creationId xmlns:a16="http://schemas.microsoft.com/office/drawing/2014/main" id="{8FB0C0C5-830E-A94D-5ACC-2D1E45D49F1A}"/>
              </a:ext>
            </a:extLst>
          </p:cNvPr>
          <p:cNvSpPr txBox="1"/>
          <p:nvPr/>
        </p:nvSpPr>
        <p:spPr>
          <a:xfrm>
            <a:off x="975360" y="1407557"/>
            <a:ext cx="3180080" cy="2400657"/>
          </a:xfrm>
          <a:prstGeom prst="rect">
            <a:avLst/>
          </a:prstGeom>
          <a:noFill/>
        </p:spPr>
        <p:txBody>
          <a:bodyPr wrap="square">
            <a:spAutoFit/>
          </a:bodyPr>
          <a:lstStyle/>
          <a:p>
            <a:pPr algn="ctr"/>
            <a:r>
              <a:rPr lang="en-US" sz="3000" b="1" dirty="0">
                <a:latin typeface="Times New Roman" panose="02020603050405020304" pitchFamily="18" charset="0"/>
                <a:cs typeface="Times New Roman" panose="02020603050405020304" pitchFamily="18" charset="0"/>
              </a:rPr>
              <a:t>XOIC:</a:t>
            </a:r>
            <a:r>
              <a:rPr lang="en-US" sz="3000" dirty="0">
                <a:latin typeface="Times New Roman" panose="02020603050405020304" pitchFamily="18" charset="0"/>
                <a:cs typeface="Times New Roman" panose="02020603050405020304" pitchFamily="18" charset="0"/>
              </a:rPr>
              <a:t> </a:t>
            </a:r>
          </a:p>
          <a:p>
            <a:pPr algn="ctr"/>
            <a:r>
              <a:rPr lang="en-US" sz="3000" dirty="0">
                <a:latin typeface="Times New Roman" panose="02020603050405020304" pitchFamily="18" charset="0"/>
                <a:cs typeface="Times New Roman" panose="02020603050405020304" pitchFamily="18" charset="0"/>
              </a:rPr>
              <a:t>Another user-friendly GUI tool for performing DoS attacks.</a:t>
            </a:r>
          </a:p>
        </p:txBody>
      </p:sp>
      <p:pic>
        <p:nvPicPr>
          <p:cNvPr id="4" name="Picture 3">
            <a:extLst>
              <a:ext uri="{FF2B5EF4-FFF2-40B4-BE49-F238E27FC236}">
                <a16:creationId xmlns:a16="http://schemas.microsoft.com/office/drawing/2014/main" id="{0E14A704-A1EF-1515-5739-D9D0294954EA}"/>
              </a:ext>
            </a:extLst>
          </p:cNvPr>
          <p:cNvPicPr>
            <a:picLocks noChangeAspect="1"/>
          </p:cNvPicPr>
          <p:nvPr/>
        </p:nvPicPr>
        <p:blipFill>
          <a:blip r:embed="rId2"/>
          <a:stretch>
            <a:fillRect/>
          </a:stretch>
        </p:blipFill>
        <p:spPr>
          <a:xfrm>
            <a:off x="4265823" y="1943457"/>
            <a:ext cx="8007458" cy="4876800"/>
          </a:xfrm>
          <a:prstGeom prst="rect">
            <a:avLst/>
          </a:prstGeom>
        </p:spPr>
      </p:pic>
    </p:spTree>
    <p:extLst>
      <p:ext uri="{BB962C8B-B14F-4D97-AF65-F5344CB8AC3E}">
        <p14:creationId xmlns:p14="http://schemas.microsoft.com/office/powerpoint/2010/main" val="1634804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A07A-8A60-4012-C77F-E5E691A694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650EDE-E1D1-7A84-B3FC-2A6CFAAE774B}"/>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Overview of DoS Tools</a:t>
            </a:r>
          </a:p>
        </p:txBody>
      </p:sp>
      <p:sp>
        <p:nvSpPr>
          <p:cNvPr id="5" name="TextBox 4">
            <a:extLst>
              <a:ext uri="{FF2B5EF4-FFF2-40B4-BE49-F238E27FC236}">
                <a16:creationId xmlns:a16="http://schemas.microsoft.com/office/drawing/2014/main" id="{C3FA6ADB-3872-6F9F-2B91-CD60C03212DB}"/>
              </a:ext>
            </a:extLst>
          </p:cNvPr>
          <p:cNvSpPr txBox="1"/>
          <p:nvPr/>
        </p:nvSpPr>
        <p:spPr>
          <a:xfrm>
            <a:off x="1209040" y="1661557"/>
            <a:ext cx="10017760" cy="4247317"/>
          </a:xfrm>
          <a:prstGeom prst="rect">
            <a:avLst/>
          </a:prstGeom>
          <a:noFill/>
        </p:spPr>
        <p:txBody>
          <a:bodyPr wrap="square">
            <a:spAutoFit/>
          </a:bodyPr>
          <a:lstStyle/>
          <a:p>
            <a:pPr algn="just"/>
            <a:r>
              <a:rPr lang="en-US" sz="3000" b="1" dirty="0">
                <a:latin typeface="Times New Roman" panose="02020603050405020304" pitchFamily="18" charset="0"/>
                <a:cs typeface="Times New Roman" panose="02020603050405020304" pitchFamily="18" charset="0"/>
              </a:rPr>
              <a:t>TFN and TFN2K:</a:t>
            </a:r>
            <a:r>
              <a:rPr lang="en-US" sz="3000" dirty="0">
                <a:latin typeface="Times New Roman" panose="02020603050405020304" pitchFamily="18" charset="0"/>
                <a:cs typeface="Times New Roman" panose="02020603050405020304" pitchFamily="18" charset="0"/>
              </a:rPr>
              <a:t> </a:t>
            </a:r>
          </a:p>
          <a:p>
            <a:pPr marL="914400" lvl="1" indent="-45720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Common tools where a "master" controls "agents" to flood targets. </a:t>
            </a:r>
          </a:p>
          <a:p>
            <a:pPr marL="914400" lvl="1" indent="-45720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They can perform various protocol floods, use encrypted communications, and hide traffic.</a:t>
            </a:r>
          </a:p>
          <a:p>
            <a:pPr algn="just"/>
            <a:r>
              <a:rPr lang="en-US" sz="3000" b="1" dirty="0">
                <a:latin typeface="Times New Roman" panose="02020603050405020304" pitchFamily="18" charset="0"/>
                <a:cs typeface="Times New Roman" panose="02020603050405020304" pitchFamily="18" charset="0"/>
              </a:rPr>
              <a:t>Stacheldraht:</a:t>
            </a:r>
            <a:r>
              <a:rPr lang="en-US" sz="3000" dirty="0">
                <a:latin typeface="Times New Roman" panose="02020603050405020304" pitchFamily="18" charset="0"/>
                <a:cs typeface="Times New Roman" panose="02020603050405020304" pitchFamily="18" charset="0"/>
              </a:rPr>
              <a:t> </a:t>
            </a:r>
          </a:p>
          <a:p>
            <a:pPr marL="914400" lvl="1" indent="-45720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Combines features of other tools (</a:t>
            </a:r>
            <a:r>
              <a:rPr lang="en-US" sz="3000" dirty="0" err="1">
                <a:latin typeface="Times New Roman" panose="02020603050405020304" pitchFamily="18" charset="0"/>
                <a:cs typeface="Times New Roman" panose="02020603050405020304" pitchFamily="18" charset="0"/>
              </a:rPr>
              <a:t>Trinoo</a:t>
            </a:r>
            <a:r>
              <a:rPr lang="en-US" sz="3000" dirty="0">
                <a:latin typeface="Times New Roman" panose="02020603050405020304" pitchFamily="18" charset="0"/>
                <a:cs typeface="Times New Roman" panose="02020603050405020304" pitchFamily="18" charset="0"/>
              </a:rPr>
              <a:t>, TFN), can detect source address forgery, and performs a variety of attacks.</a:t>
            </a:r>
          </a:p>
        </p:txBody>
      </p:sp>
    </p:spTree>
    <p:extLst>
      <p:ext uri="{BB962C8B-B14F-4D97-AF65-F5344CB8AC3E}">
        <p14:creationId xmlns:p14="http://schemas.microsoft.com/office/powerpoint/2010/main" val="3507428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9256-63CA-15E5-809C-B9DA10F55EB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673E7E0-C181-2679-706A-7D350F045675}"/>
              </a:ext>
            </a:extLst>
          </p:cNvPr>
          <p:cNvPicPr>
            <a:picLocks noChangeAspect="1"/>
          </p:cNvPicPr>
          <p:nvPr/>
        </p:nvPicPr>
        <p:blipFill>
          <a:blip r:embed="rId2"/>
          <a:stretch>
            <a:fillRect/>
          </a:stretch>
        </p:blipFill>
        <p:spPr>
          <a:xfrm>
            <a:off x="3277723" y="1981200"/>
            <a:ext cx="8680597" cy="4683707"/>
          </a:xfrm>
          <a:prstGeom prst="rect">
            <a:avLst/>
          </a:prstGeom>
        </p:spPr>
      </p:pic>
      <p:sp>
        <p:nvSpPr>
          <p:cNvPr id="2" name="TextBox 1">
            <a:extLst>
              <a:ext uri="{FF2B5EF4-FFF2-40B4-BE49-F238E27FC236}">
                <a16:creationId xmlns:a16="http://schemas.microsoft.com/office/drawing/2014/main" id="{0501C3ED-BDEE-33CC-DF21-DC936ACC1E8C}"/>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Types of DoS Attacks</a:t>
            </a:r>
          </a:p>
        </p:txBody>
      </p:sp>
      <p:sp>
        <p:nvSpPr>
          <p:cNvPr id="5" name="TextBox 4">
            <a:extLst>
              <a:ext uri="{FF2B5EF4-FFF2-40B4-BE49-F238E27FC236}">
                <a16:creationId xmlns:a16="http://schemas.microsoft.com/office/drawing/2014/main" id="{DC434852-19CE-8819-8B89-BF71DFAB93EA}"/>
              </a:ext>
            </a:extLst>
          </p:cNvPr>
          <p:cNvSpPr txBox="1"/>
          <p:nvPr/>
        </p:nvSpPr>
        <p:spPr>
          <a:xfrm>
            <a:off x="701040" y="1195211"/>
            <a:ext cx="10017760" cy="1384995"/>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1. TCP SYN Flood Attack: </a:t>
            </a:r>
            <a:r>
              <a:rPr lang="en-US" sz="2800" dirty="0">
                <a:latin typeface="Times New Roman" panose="02020603050405020304" pitchFamily="18" charset="0"/>
                <a:cs typeface="Times New Roman" panose="02020603050405020304" pitchFamily="18" charset="0"/>
              </a:rPr>
              <a:t>The hacker sends SYN packets, and the receiver must hold space in a buffer for each. Bogus SYNs overflow this buffer.</a:t>
            </a:r>
          </a:p>
        </p:txBody>
      </p:sp>
    </p:spTree>
    <p:extLst>
      <p:ext uri="{BB962C8B-B14F-4D97-AF65-F5344CB8AC3E}">
        <p14:creationId xmlns:p14="http://schemas.microsoft.com/office/powerpoint/2010/main" val="1842302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10D80-57AF-A966-4449-0AA5573C6D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4164CD-68ED-2DCF-B6A0-E95A673D2783}"/>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Prevention: TCP SYN Flood Attack</a:t>
            </a:r>
          </a:p>
        </p:txBody>
      </p:sp>
      <p:sp>
        <p:nvSpPr>
          <p:cNvPr id="5" name="TextBox 4">
            <a:extLst>
              <a:ext uri="{FF2B5EF4-FFF2-40B4-BE49-F238E27FC236}">
                <a16:creationId xmlns:a16="http://schemas.microsoft.com/office/drawing/2014/main" id="{D8CCB699-9F60-C116-9E2B-2CA8C5FEFB87}"/>
              </a:ext>
            </a:extLst>
          </p:cNvPr>
          <p:cNvSpPr txBox="1"/>
          <p:nvPr/>
        </p:nvSpPr>
        <p:spPr>
          <a:xfrm>
            <a:off x="904240" y="1336437"/>
            <a:ext cx="10017760" cy="5878532"/>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    Prevention Methods:</a:t>
            </a:r>
          </a:p>
          <a:p>
            <a:endParaRPr lang="en-US" sz="2800" dirty="0">
              <a:latin typeface="Times New Roman" panose="02020603050405020304" pitchFamily="18" charset="0"/>
              <a:cs typeface="Times New Roman" panose="02020603050405020304" pitchFamily="18" charset="0"/>
            </a:endParaRPr>
          </a:p>
          <a:p>
            <a:pPr marL="1371600" lvl="2"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SYN Cookies:</a:t>
            </a:r>
            <a:r>
              <a:rPr lang="en-US" sz="2800" dirty="0">
                <a:latin typeface="Times New Roman" panose="02020603050405020304" pitchFamily="18" charset="0"/>
                <a:cs typeface="Times New Roman" panose="02020603050405020304" pitchFamily="18" charset="0"/>
              </a:rPr>
              <a:t> Initially, no buffer is created. A buffer is only allocated after the client's response is verified using a "cookie." This method is resource-intensive.</a:t>
            </a:r>
          </a:p>
          <a:p>
            <a:pPr marL="1371600" lvl="2"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RST Cookies:</a:t>
            </a:r>
            <a:r>
              <a:rPr lang="en-US" sz="2800" dirty="0">
                <a:latin typeface="Times New Roman" panose="02020603050405020304" pitchFamily="18" charset="0"/>
                <a:cs typeface="Times New Roman" panose="02020603050405020304" pitchFamily="18" charset="0"/>
              </a:rPr>
              <a:t> The server sends a false SYN/ACK back. A legitimate host will respond with an RST packet, thus verifying itself.</a:t>
            </a:r>
          </a:p>
          <a:p>
            <a:pPr marL="1371600" lvl="2"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Stack Tweaking: </a:t>
            </a:r>
            <a:r>
              <a:rPr lang="en-US" sz="2800" dirty="0">
                <a:latin typeface="Times New Roman" panose="02020603050405020304" pitchFamily="18" charset="0"/>
                <a:cs typeface="Times New Roman" panose="02020603050405020304" pitchFamily="18" charset="0"/>
              </a:rPr>
              <a:t>A complex method of altering the TCP stack to make attacks more difficult.</a:t>
            </a:r>
          </a:p>
          <a:p>
            <a:pPr lvl="2"/>
            <a:endParaRPr lang="en-US" sz="2800" dirty="0">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3119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5AF7A-C775-AB08-FBA8-4FC8D78B02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992064-7C93-ED9E-509E-9AB1C624C1F2}"/>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Types of DoS Attacks</a:t>
            </a:r>
          </a:p>
        </p:txBody>
      </p:sp>
      <p:sp>
        <p:nvSpPr>
          <p:cNvPr id="5" name="TextBox 4">
            <a:extLst>
              <a:ext uri="{FF2B5EF4-FFF2-40B4-BE49-F238E27FC236}">
                <a16:creationId xmlns:a16="http://schemas.microsoft.com/office/drawing/2014/main" id="{B3BF8957-8EDA-6546-9F6E-E6EE04B6EBBC}"/>
              </a:ext>
            </a:extLst>
          </p:cNvPr>
          <p:cNvSpPr txBox="1"/>
          <p:nvPr/>
        </p:nvSpPr>
        <p:spPr>
          <a:xfrm>
            <a:off x="670560" y="1887708"/>
            <a:ext cx="6014720" cy="3970318"/>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2. Smurf IP Attack: </a:t>
            </a:r>
          </a:p>
          <a:p>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hacker sends Internet Control Message Protocol (ICMP) broadcast packets with a spoofed source IP (the victim's). All intermediaries reply to the victim, flooding it with ICMP echo replies. The network essentially performs a DDoS on itself.</a:t>
            </a:r>
          </a:p>
        </p:txBody>
      </p:sp>
      <p:pic>
        <p:nvPicPr>
          <p:cNvPr id="6" name="Picture 5">
            <a:extLst>
              <a:ext uri="{FF2B5EF4-FFF2-40B4-BE49-F238E27FC236}">
                <a16:creationId xmlns:a16="http://schemas.microsoft.com/office/drawing/2014/main" id="{724E0569-EE5B-2493-AD83-CDE411B358C9}"/>
              </a:ext>
            </a:extLst>
          </p:cNvPr>
          <p:cNvPicPr>
            <a:picLocks noChangeAspect="1"/>
          </p:cNvPicPr>
          <p:nvPr/>
        </p:nvPicPr>
        <p:blipFill>
          <a:blip r:embed="rId2"/>
          <a:stretch>
            <a:fillRect/>
          </a:stretch>
        </p:blipFill>
        <p:spPr>
          <a:xfrm>
            <a:off x="7193281" y="947397"/>
            <a:ext cx="4765040" cy="5829464"/>
          </a:xfrm>
          <a:prstGeom prst="rect">
            <a:avLst/>
          </a:prstGeom>
        </p:spPr>
      </p:pic>
    </p:spTree>
    <p:extLst>
      <p:ext uri="{BB962C8B-B14F-4D97-AF65-F5344CB8AC3E}">
        <p14:creationId xmlns:p14="http://schemas.microsoft.com/office/powerpoint/2010/main" val="2128867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2ED7-01C7-0694-C7B9-0820BDC6C3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AB8B56-247F-0E9A-B7E1-9CFC88C64D04}"/>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Prevention: Smurf Attacks</a:t>
            </a:r>
          </a:p>
        </p:txBody>
      </p:sp>
      <p:sp>
        <p:nvSpPr>
          <p:cNvPr id="5" name="TextBox 4">
            <a:extLst>
              <a:ext uri="{FF2B5EF4-FFF2-40B4-BE49-F238E27FC236}">
                <a16:creationId xmlns:a16="http://schemas.microsoft.com/office/drawing/2014/main" id="{CBF97748-5231-E840-3D9A-FCBBF6FD7376}"/>
              </a:ext>
            </a:extLst>
          </p:cNvPr>
          <p:cNvSpPr txBox="1"/>
          <p:nvPr/>
        </p:nvSpPr>
        <p:spPr>
          <a:xfrm>
            <a:off x="904240" y="1519317"/>
            <a:ext cx="10017760" cy="4708981"/>
          </a:xfrm>
          <a:prstGeom prst="rect">
            <a:avLst/>
          </a:prstGeom>
          <a:noFill/>
        </p:spPr>
        <p:txBody>
          <a:bodyPr wrap="square">
            <a:spAutoFit/>
          </a:bodyPr>
          <a:lstStyle/>
          <a:p>
            <a:pPr marL="457200" indent="-45720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Prevent </a:t>
            </a:r>
            <a:r>
              <a:rPr lang="en-US" sz="3000" b="1" dirty="0">
                <a:latin typeface="Times New Roman" panose="02020603050405020304" pitchFamily="18" charset="0"/>
                <a:cs typeface="Times New Roman" panose="02020603050405020304" pitchFamily="18" charset="0"/>
              </a:rPr>
              <a:t>Trojan horses</a:t>
            </a:r>
            <a:r>
              <a:rPr lang="en-US" sz="3000" dirty="0">
                <a:latin typeface="Times New Roman" panose="02020603050405020304" pitchFamily="18" charset="0"/>
                <a:cs typeface="Times New Roman" panose="02020603050405020304" pitchFamily="18" charset="0"/>
              </a:rPr>
              <a:t> by blocking employees from downloading unapproved apps.</a:t>
            </a:r>
          </a:p>
          <a:p>
            <a:pPr marL="457200" indent="-45720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Use </a:t>
            </a:r>
            <a:r>
              <a:rPr lang="en-US" sz="3000" b="1" dirty="0">
                <a:latin typeface="Times New Roman" panose="02020603050405020304" pitchFamily="18" charset="0"/>
                <a:cs typeface="Times New Roman" panose="02020603050405020304" pitchFamily="18" charset="0"/>
              </a:rPr>
              <a:t>updated antivirus</a:t>
            </a:r>
            <a:r>
              <a:rPr lang="en-US" sz="3000" dirty="0">
                <a:latin typeface="Times New Roman" panose="02020603050405020304" pitchFamily="18" charset="0"/>
                <a:cs typeface="Times New Roman" panose="02020603050405020304" pitchFamily="18" charset="0"/>
              </a:rPr>
              <a:t> to stop malware that could launch Smurf attacks.</a:t>
            </a:r>
          </a:p>
          <a:p>
            <a:pPr marL="457200" indent="-45720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Use a </a:t>
            </a:r>
            <a:r>
              <a:rPr lang="en-US" sz="3000" b="1" dirty="0">
                <a:latin typeface="Times New Roman" panose="02020603050405020304" pitchFamily="18" charset="0"/>
                <a:cs typeface="Times New Roman" panose="02020603050405020304" pitchFamily="18" charset="0"/>
              </a:rPr>
              <a:t>proxy server</a:t>
            </a:r>
            <a:r>
              <a:rPr lang="en-US" sz="3000" dirty="0">
                <a:latin typeface="Times New Roman" panose="02020603050405020304" pitchFamily="18" charset="0"/>
                <a:cs typeface="Times New Roman" panose="02020603050405020304" pitchFamily="18" charset="0"/>
              </a:rPr>
              <a:t> so internal IPs stay hidden.</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Block inbound broadcast packets</a:t>
            </a:r>
            <a:r>
              <a:rPr lang="en-US" sz="3000" dirty="0">
                <a:latin typeface="Times New Roman" panose="02020603050405020304" pitchFamily="18" charset="0"/>
                <a:cs typeface="Times New Roman" panose="02020603050405020304" pitchFamily="18" charset="0"/>
              </a:rPr>
              <a:t> at the firewall.</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Disable directed broadcasts</a:t>
            </a:r>
            <a:r>
              <a:rPr lang="en-US" sz="3000" dirty="0">
                <a:latin typeface="Times New Roman" panose="02020603050405020304" pitchFamily="18" charset="0"/>
                <a:cs typeface="Times New Roman" panose="02020603050405020304" pitchFamily="18" charset="0"/>
              </a:rPr>
              <a:t> and patch systems so they don’t reply to broadcast requests.</a:t>
            </a:r>
          </a:p>
          <a:p>
            <a:pPr marL="457200" indent="-45720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Best protection = </a:t>
            </a:r>
            <a:r>
              <a:rPr lang="en-US" sz="3000" b="1" dirty="0">
                <a:latin typeface="Times New Roman" panose="02020603050405020304" pitchFamily="18" charset="0"/>
                <a:cs typeface="Times New Roman" panose="02020603050405020304" pitchFamily="18" charset="0"/>
              </a:rPr>
              <a:t>combine all the above defenses</a:t>
            </a:r>
            <a:endParaRPr lang="en-US" sz="30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2153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2749A-10C8-7772-BA01-2EC69867A39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0A4F44-0A14-E8AE-728A-5AFDADB5B54C}"/>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Types of DoS Attacks</a:t>
            </a:r>
          </a:p>
        </p:txBody>
      </p:sp>
      <p:sp>
        <p:nvSpPr>
          <p:cNvPr id="5" name="TextBox 4">
            <a:extLst>
              <a:ext uri="{FF2B5EF4-FFF2-40B4-BE49-F238E27FC236}">
                <a16:creationId xmlns:a16="http://schemas.microsoft.com/office/drawing/2014/main" id="{0DB43130-D7FA-C7B5-51E2-F5373D68279F}"/>
              </a:ext>
            </a:extLst>
          </p:cNvPr>
          <p:cNvSpPr txBox="1"/>
          <p:nvPr/>
        </p:nvSpPr>
        <p:spPr>
          <a:xfrm>
            <a:off x="690880" y="1298428"/>
            <a:ext cx="11145520" cy="5262979"/>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3. Flood Attack</a:t>
            </a:r>
          </a:p>
          <a:p>
            <a:pPr lvl="1"/>
            <a:r>
              <a:rPr lang="en-US" sz="2800" dirty="0">
                <a:latin typeface="Times New Roman" panose="02020603050405020304" pitchFamily="18" charset="0"/>
                <a:cs typeface="Times New Roman" panose="02020603050405020304" pitchFamily="18" charset="0"/>
              </a:rPr>
              <a:t>The hacker sends UDP packets to random ports on the victim's system. This forces the system to tie up resources by sending back "Destination Unreachable" packets.</a:t>
            </a:r>
          </a:p>
          <a:p>
            <a:r>
              <a:rPr lang="en-US" sz="2800" b="1" dirty="0">
                <a:latin typeface="Times New Roman" panose="02020603050405020304" pitchFamily="18" charset="0"/>
                <a:cs typeface="Times New Roman" panose="02020603050405020304" pitchFamily="18" charset="0"/>
              </a:rPr>
              <a:t>4. ICMP Flood Attack</a:t>
            </a: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This involves flooding a target with broadcasts of pings or UDP packets. Related attacks called "nukes" exploit known bugs in operating systems.</a:t>
            </a:r>
          </a:p>
          <a:p>
            <a:r>
              <a:rPr lang="en-US" sz="2800" b="1" dirty="0">
                <a:latin typeface="Times New Roman" panose="02020603050405020304" pitchFamily="18" charset="0"/>
                <a:cs typeface="Times New Roman" panose="02020603050405020304" pitchFamily="18" charset="0"/>
              </a:rPr>
              <a:t>5. Ping of Death (</a:t>
            </a:r>
            <a:r>
              <a:rPr lang="en-US" sz="2800" b="1" dirty="0" err="1">
                <a:latin typeface="Times New Roman" panose="02020603050405020304" pitchFamily="18" charset="0"/>
                <a:cs typeface="Times New Roman" panose="02020603050405020304" pitchFamily="18" charset="0"/>
              </a:rPr>
              <a:t>PoD</a:t>
            </a:r>
            <a:r>
              <a:rPr lang="en-US" sz="2800" b="1"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This attack involves sending a single, malformed, oversized packet. Most modern operating systems are no longer vulnerable, but keeping systems patched is critical.</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0353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E3141-DDA5-E373-8486-562A4B5B48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BE44A4-C961-FF9E-40DF-BD38A5A8FE2B}"/>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Types of DoS Attacks</a:t>
            </a:r>
          </a:p>
        </p:txBody>
      </p:sp>
      <p:sp>
        <p:nvSpPr>
          <p:cNvPr id="5" name="TextBox 4">
            <a:extLst>
              <a:ext uri="{FF2B5EF4-FFF2-40B4-BE49-F238E27FC236}">
                <a16:creationId xmlns:a16="http://schemas.microsoft.com/office/drawing/2014/main" id="{87581AE0-4526-CF23-79AE-A0FF6721DF6A}"/>
              </a:ext>
            </a:extLst>
          </p:cNvPr>
          <p:cNvSpPr txBox="1"/>
          <p:nvPr/>
        </p:nvSpPr>
        <p:spPr>
          <a:xfrm>
            <a:off x="650240" y="1053986"/>
            <a:ext cx="10647680" cy="4893647"/>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6. Teardrop Attack</a:t>
            </a:r>
            <a:endParaRPr lang="en-US" sz="26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The hacker sends fragmented messages. When the victim system attempts to reconstruct them, it crashes or halts due to a bug in the reassembly process.</a:t>
            </a:r>
          </a:p>
          <a:p>
            <a:r>
              <a:rPr lang="en-US" sz="2600" b="1" dirty="0">
                <a:latin typeface="Times New Roman" panose="02020603050405020304" pitchFamily="18" charset="0"/>
                <a:cs typeface="Times New Roman" panose="02020603050405020304" pitchFamily="18" charset="0"/>
              </a:rPr>
              <a:t>7. Land Attack</a:t>
            </a:r>
            <a:endParaRPr lang="en-US" sz="26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A simple attack where the hacker sends a packet with the same source and destination IP address. The system "hangs" as it tries to send and receive the message from itself.</a:t>
            </a:r>
          </a:p>
          <a:p>
            <a:r>
              <a:rPr lang="en-US" sz="2600" b="1" dirty="0">
                <a:latin typeface="Times New Roman" panose="02020603050405020304" pitchFamily="18" charset="0"/>
                <a:cs typeface="Times New Roman" panose="02020603050405020304" pitchFamily="18" charset="0"/>
              </a:rPr>
              <a:t>8. Echo/</a:t>
            </a:r>
            <a:r>
              <a:rPr lang="en-US" sz="2600" b="1" dirty="0" err="1">
                <a:latin typeface="Times New Roman" panose="02020603050405020304" pitchFamily="18" charset="0"/>
                <a:cs typeface="Times New Roman" panose="02020603050405020304" pitchFamily="18" charset="0"/>
              </a:rPr>
              <a:t>Chargen</a:t>
            </a:r>
            <a:r>
              <a:rPr lang="en-US" sz="2600" b="1" dirty="0">
                <a:latin typeface="Times New Roman" panose="02020603050405020304" pitchFamily="18" charset="0"/>
                <a:cs typeface="Times New Roman" panose="02020603050405020304" pitchFamily="18" charset="0"/>
              </a:rPr>
              <a:t> Attack</a:t>
            </a:r>
            <a:endParaRPr lang="en-US" sz="26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The "Echo" service sends back whatever it receives. The "</a:t>
            </a:r>
            <a:r>
              <a:rPr lang="en-US" sz="2600" dirty="0" err="1">
                <a:latin typeface="Times New Roman" panose="02020603050405020304" pitchFamily="18" charset="0"/>
                <a:cs typeface="Times New Roman" panose="02020603050405020304" pitchFamily="18" charset="0"/>
              </a:rPr>
              <a:t>Chargen</a:t>
            </a:r>
            <a:r>
              <a:rPr lang="en-US" sz="2600" dirty="0">
                <a:latin typeface="Times New Roman" panose="02020603050405020304" pitchFamily="18" charset="0"/>
                <a:cs typeface="Times New Roman" panose="02020603050405020304" pitchFamily="18" charset="0"/>
              </a:rPr>
              <a:t>" service generates a stream of characters. If manipulated to communicate with each other, they create an endless loop of data, consuming resources.</a:t>
            </a:r>
          </a:p>
        </p:txBody>
      </p:sp>
    </p:spTree>
    <p:extLst>
      <p:ext uri="{BB962C8B-B14F-4D97-AF65-F5344CB8AC3E}">
        <p14:creationId xmlns:p14="http://schemas.microsoft.com/office/powerpoint/2010/main" val="3465511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9AB1-739A-9F6C-0FEC-36C07DDE41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A8B05F-FC07-CF2F-641F-7A4A8B4486D0}"/>
              </a:ext>
            </a:extLst>
          </p:cNvPr>
          <p:cNvSpPr txBox="1"/>
          <p:nvPr/>
        </p:nvSpPr>
        <p:spPr>
          <a:xfrm>
            <a:off x="772160" y="222989"/>
            <a:ext cx="10647680" cy="830997"/>
          </a:xfrm>
          <a:prstGeom prst="rect">
            <a:avLst/>
          </a:prstGeom>
          <a:noFill/>
        </p:spPr>
        <p:txBody>
          <a:bodyPr wrap="square">
            <a:spAutoFit/>
          </a:bodyPr>
          <a:lstStyle/>
          <a:p>
            <a:pPr algn="ctr"/>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Defend Against DoS Attacks</a:t>
            </a:r>
          </a:p>
        </p:txBody>
      </p:sp>
      <p:sp>
        <p:nvSpPr>
          <p:cNvPr id="5" name="TextBox 4">
            <a:extLst>
              <a:ext uri="{FF2B5EF4-FFF2-40B4-BE49-F238E27FC236}">
                <a16:creationId xmlns:a16="http://schemas.microsoft.com/office/drawing/2014/main" id="{F094AD54-01A2-0202-C618-BD5A1C5131B8}"/>
              </a:ext>
            </a:extLst>
          </p:cNvPr>
          <p:cNvSpPr txBox="1"/>
          <p:nvPr/>
        </p:nvSpPr>
        <p:spPr>
          <a:xfrm>
            <a:off x="624840" y="1178992"/>
            <a:ext cx="10942320" cy="5262979"/>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 Firewall Configuration:</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Filter out incoming ICMP packets.</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Use egress filtering for outgoing ICMP packets.</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Disallow any unneeded incoming traffic.</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Disallow traffic that claims to originate from inside your network (spoofed internal IPs).</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Filter for both external and internal IP address spoofing.</a:t>
            </a:r>
          </a:p>
          <a:p>
            <a:r>
              <a:rPr lang="en-US" sz="2400" b="1" dirty="0">
                <a:latin typeface="Times New Roman" panose="02020603050405020304" pitchFamily="18" charset="0"/>
                <a:cs typeface="Times New Roman" panose="02020603050405020304" pitchFamily="18" charset="0"/>
              </a:rPr>
              <a:t>- Network Configuration:</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Disable all unnecessary IP-directed broadcasts on your routers.</a:t>
            </a:r>
          </a:p>
          <a:p>
            <a:r>
              <a:rPr lang="en-US" sz="2400" b="1" dirty="0">
                <a:latin typeface="Times New Roman" panose="02020603050405020304" pitchFamily="18" charset="0"/>
                <a:cs typeface="Times New Roman" panose="02020603050405020304" pitchFamily="18" charset="0"/>
              </a:rPr>
              <a:t>- System Management:</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Keep antivirus signatures updated.</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Keep operating systems and all software patched with the latest security updates.</a:t>
            </a:r>
          </a:p>
          <a:p>
            <a:r>
              <a:rPr lang="en-US" sz="2400" b="1" dirty="0">
                <a:latin typeface="Times New Roman" panose="02020603050405020304" pitchFamily="18" charset="0"/>
                <a:cs typeface="Times New Roman" panose="02020603050405020304" pitchFamily="18" charset="0"/>
              </a:rPr>
              <a:t>- Policy:</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Implement and enforce an Acceptable Use Policy.</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2502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4148328" y="142594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944880" y="3337560"/>
            <a:ext cx="10535920" cy="369332"/>
          </a:xfrm>
          <a:prstGeom prst="rect">
            <a:avLst/>
          </a:prstGeom>
          <a:noFill/>
        </p:spPr>
        <p:txBody>
          <a:bodyPr wrap="square">
            <a:spAutoFit/>
          </a:bodyPr>
          <a:lstStyle/>
          <a:p>
            <a:pPr algn="ctr"/>
            <a:r>
              <a:rPr lang="en-US" dirty="0"/>
              <a:t>“Best of Luck for Mid Terms!”</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2735</TotalTime>
  <Words>2030</Words>
  <Application>Microsoft Office PowerPoint</Application>
  <PresentationFormat>Widescreen</PresentationFormat>
  <Paragraphs>174</Paragraphs>
  <Slides>29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Rockwell</vt:lpstr>
      <vt:lpstr>Rockwell Condensed</vt:lpstr>
      <vt:lpstr>Times New Roman</vt:lpstr>
      <vt:lpstr>Wingdings</vt:lpstr>
      <vt:lpstr>Wood Type</vt:lpstr>
      <vt:lpstr>Cyber Security</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1824</cp:revision>
  <dcterms:created xsi:type="dcterms:W3CDTF">2025-10-15T06:15:30Z</dcterms:created>
  <dcterms:modified xsi:type="dcterms:W3CDTF">2025-11-28T08:49:17Z</dcterms:modified>
</cp:coreProperties>
</file>