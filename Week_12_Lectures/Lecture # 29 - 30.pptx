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8"/>
  </p:notesMasterIdLst>
  <p:sldIdLst>
    <p:sldId id="256" r:id="rId2"/>
    <p:sldId id="261" r:id="rId3"/>
    <p:sldId id="475" r:id="rId4"/>
    <p:sldId id="520" r:id="rId5"/>
    <p:sldId id="540" r:id="rId6"/>
    <p:sldId id="541" r:id="rId7"/>
    <p:sldId id="544" r:id="rId8"/>
    <p:sldId id="543" r:id="rId9"/>
    <p:sldId id="542" r:id="rId10"/>
    <p:sldId id="521" r:id="rId11"/>
    <p:sldId id="522" r:id="rId12"/>
    <p:sldId id="545" r:id="rId13"/>
    <p:sldId id="546" r:id="rId14"/>
    <p:sldId id="547" r:id="rId15"/>
    <p:sldId id="548" r:id="rId16"/>
    <p:sldId id="549" r:id="rId17"/>
    <p:sldId id="550" r:id="rId18"/>
    <p:sldId id="551" r:id="rId19"/>
    <p:sldId id="552" r:id="rId20"/>
    <p:sldId id="553" r:id="rId21"/>
    <p:sldId id="554" r:id="rId22"/>
    <p:sldId id="556" r:id="rId23"/>
    <p:sldId id="555" r:id="rId24"/>
    <p:sldId id="557" r:id="rId25"/>
    <p:sldId id="558" r:id="rId26"/>
    <p:sldId id="26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3842" autoAdjust="0"/>
  </p:normalViewPr>
  <p:slideViewPr>
    <p:cSldViewPr snapToGrid="0">
      <p:cViewPr varScale="1">
        <p:scale>
          <a:sx n="60" d="100"/>
          <a:sy n="60"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cybersecurityintelligence.com/blog/cyber-attacks-in-modern-warfare-extract-8691.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fortinet.com/uk/resources/cyberglossary/recent-cyber-attacks" TargetMode="External"/><Relationship Id="rId2" Type="http://schemas.openxmlformats.org/officeDocument/2006/relationships/hyperlink" Target="https://www.fortinet.com/uk/resources/cyberglossary/cyber-espionage"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m/search?q=electronic+warfare&amp;sca_esv=66dcb8b269873eb4&amp;rlz=1C1CHBD_en-GBPK1170PK1171&amp;sxsrf=ANbL-n61dQNjQ4wePdzRujX7Z-KkOt336A%3A1768284240550&amp;ei=UOBlafmiIbithbIPjPPe8QU&amp;ved=2ahUKEwjm-67K74eSAxULcKQEHUh_I9sQgK4QegYIAQgAEAU&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2" Type="http://schemas.openxmlformats.org/officeDocument/2006/relationships/hyperlink" Target="https://www.google.com/search?q=cyberwarfare&amp;sca_esv=66dcb8b269873eb4&amp;rlz=1C1CHBD_en-GBPK1170PK1171&amp;sxsrf=ANbL-n61dQNjQ4wePdzRujX7Z-KkOt336A%3A1768284240550&amp;ei=UOBlafmiIbithbIPjPPe8QU&amp;ved=2ahUKEwjm-67K74eSAxULcKQEHUh_I9sQgK4QegYIAQgAEAQ&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s://www.google.com/search?q=psychological+operations&amp;sca_esv=66dcb8b269873eb4&amp;rlz=1C1CHBD_en-GBPK1170PK1171&amp;sxsrf=ANbL-n61dQNjQ4wePdzRujX7Z-KkOt336A%3A1768284240550&amp;ei=UOBlafmiIbithbIPjPPe8QU&amp;ved=2ahUKEwjm-67K74eSAxULcKQEHUh_I9sQgK4QegYIAQgAEAc&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4" Type="http://schemas.openxmlformats.org/officeDocument/2006/relationships/hyperlink" Target="https://www.google.com/search?q=propaganda&amp;sca_esv=66dcb8b269873eb4&amp;rlz=1C1CHBD_en-GBPK1170PK1171&amp;sxsrf=ANbL-n61dQNjQ4wePdzRujX7Z-KkOt336A%3A1768284240550&amp;ei=UOBlafmiIbithbIPjPPe8QU&amp;ved=2ahUKEwjm-67K74eSAxULcKQEHUh_I9sQgK4QegYIAQgAEAY&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865884" y="440317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29 - 30</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016000" y="1499030"/>
            <a:ext cx="9750552" cy="4524315"/>
          </a:xfrm>
          <a:prstGeom prst="rect">
            <a:avLst/>
          </a:prstGeom>
          <a:noFill/>
        </p:spPr>
        <p:txBody>
          <a:bodyPr wrap="square">
            <a:spAutoFit/>
          </a:bodyPr>
          <a:lstStyle/>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Cyber Terrorism</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Cyber Terrorism Vs Cyber Espionage</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Cyber Attacks in Modern Warfare</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Actual Cases of Cyber Terrorism</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Weapons of Cyber Warfare</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Information Warfare </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Future Trends in Cyber Warfare</a:t>
            </a:r>
          </a:p>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Defense Against Cyber Warfare</a:t>
            </a: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D929-9745-D180-0388-2230039774E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1D470F-659D-3828-E5C7-7CDA2E10A117}"/>
              </a:ext>
            </a:extLst>
          </p:cNvPr>
          <p:cNvPicPr>
            <a:picLocks noChangeAspect="1"/>
          </p:cNvPicPr>
          <p:nvPr/>
        </p:nvPicPr>
        <p:blipFill>
          <a:blip r:embed="rId2"/>
          <a:stretch>
            <a:fillRect/>
          </a:stretch>
        </p:blipFill>
        <p:spPr>
          <a:xfrm>
            <a:off x="5962975" y="4129973"/>
            <a:ext cx="5962650" cy="2638425"/>
          </a:xfrm>
          <a:prstGeom prst="rect">
            <a:avLst/>
          </a:prstGeom>
        </p:spPr>
      </p:pic>
      <p:sp>
        <p:nvSpPr>
          <p:cNvPr id="5" name="TextBox 4">
            <a:extLst>
              <a:ext uri="{FF2B5EF4-FFF2-40B4-BE49-F238E27FC236}">
                <a16:creationId xmlns:a16="http://schemas.microsoft.com/office/drawing/2014/main" id="{F17A5277-5F6F-3B51-E8B9-429F400782CD}"/>
              </a:ext>
            </a:extLst>
          </p:cNvPr>
          <p:cNvSpPr txBox="1"/>
          <p:nvPr/>
        </p:nvSpPr>
        <p:spPr>
          <a:xfrm>
            <a:off x="647288" y="563861"/>
            <a:ext cx="10312400" cy="4154984"/>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People around the world have grown accustomed to the persistent threat of terrorist attacks, which may take various forms such </a:t>
            </a:r>
            <a:r>
              <a:rPr lang="en-US" sz="2400" b="1" dirty="0">
                <a:latin typeface="Times New Roman" panose="02020603050405020304" pitchFamily="18" charset="0"/>
                <a:cs typeface="Times New Roman" panose="02020603050405020304" pitchFamily="18" charset="0"/>
              </a:rPr>
              <a:t>as bombings, hijackings, or the release of biological agents.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modern digital era, however, an additional and equally serious threat must be considered—</a:t>
            </a:r>
            <a:r>
              <a:rPr lang="en-US" sz="2400" b="1" dirty="0">
                <a:latin typeface="Times New Roman" panose="02020603050405020304" pitchFamily="18" charset="0"/>
                <a:cs typeface="Times New Roman" panose="02020603050405020304" pitchFamily="18" charset="0"/>
              </a:rPr>
              <a:t>cyber attacks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Cyber terrorism</a:t>
            </a:r>
            <a:r>
              <a:rPr lang="en-US" sz="2400" dirty="0">
                <a:latin typeface="Times New Roman" panose="02020603050405020304" pitchFamily="18" charset="0"/>
                <a:cs typeface="Times New Roman" panose="02020603050405020304" pitchFamily="18" charset="0"/>
              </a:rPr>
              <a:t> refers to the use of computers, networks, and the Internet to carry out terrorist activities. According to the </a:t>
            </a:r>
            <a:r>
              <a:rPr lang="en-US" sz="2400" b="1" dirty="0">
                <a:latin typeface="Times New Roman" panose="02020603050405020304" pitchFamily="18" charset="0"/>
                <a:cs typeface="Times New Roman" panose="02020603050405020304" pitchFamily="18" charset="0"/>
              </a:rPr>
              <a:t>Federal Bureau of Investigation (FBI)</a:t>
            </a:r>
            <a:r>
              <a:rPr lang="en-US" sz="24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Cyber Terrorism is defined as the deliberate use of information technology and Internet connectivity to conduct attacks intended to cause fear, disruption, or harm in pursuit of political, ideological, or social objectives.</a:t>
            </a:r>
          </a:p>
        </p:txBody>
      </p:sp>
    </p:spTree>
    <p:extLst>
      <p:ext uri="{BB962C8B-B14F-4D97-AF65-F5344CB8AC3E}">
        <p14:creationId xmlns:p14="http://schemas.microsoft.com/office/powerpoint/2010/main" val="211998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7611-89DA-71AF-D10C-3E4D9813BE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071136-3A72-C05B-08F1-95736B920059}"/>
              </a:ext>
            </a:extLst>
          </p:cNvPr>
          <p:cNvSpPr txBox="1"/>
          <p:nvPr/>
        </p:nvSpPr>
        <p:spPr>
          <a:xfrm>
            <a:off x="859937" y="1882299"/>
            <a:ext cx="10312400" cy="3539430"/>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Unlike traditional terrorism, cyber terrorism may not directly result in loss of human life. However, it has the potential to cause </a:t>
            </a:r>
            <a:r>
              <a:rPr lang="en-US" sz="2800" b="1" dirty="0">
                <a:latin typeface="Times New Roman" panose="02020603050405020304" pitchFamily="18" charset="0"/>
                <a:cs typeface="Times New Roman" panose="02020603050405020304" pitchFamily="18" charset="0"/>
              </a:rPr>
              <a:t>significant economic damage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disrupt critical communication systems</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interrupt supply chains</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degrade national infrastructure</a:t>
            </a:r>
            <a:r>
              <a:rPr lang="en-US" sz="2800" dirty="0">
                <a:latin typeface="Times New Roman" panose="02020603050405020304" pitchFamily="18" charset="0"/>
                <a:cs typeface="Times New Roman" panose="02020603050405020304" pitchFamily="18" charset="0"/>
              </a:rPr>
              <a:t>, including power grids, transportation systems, financial institutions, and healthcare services. Such attacks can undermine public confidence, destabilize governments, and threaten national security without the use of physical weapons.</a:t>
            </a:r>
          </a:p>
        </p:txBody>
      </p:sp>
      <p:sp>
        <p:nvSpPr>
          <p:cNvPr id="3" name="TextBox 2">
            <a:extLst>
              <a:ext uri="{FF2B5EF4-FFF2-40B4-BE49-F238E27FC236}">
                <a16:creationId xmlns:a16="http://schemas.microsoft.com/office/drawing/2014/main" id="{8F13D39A-93CB-03D3-8D5F-2119072F24A7}"/>
              </a:ext>
            </a:extLst>
          </p:cNvPr>
          <p:cNvSpPr txBox="1"/>
          <p:nvPr/>
        </p:nvSpPr>
        <p:spPr>
          <a:xfrm>
            <a:off x="2757495" y="472807"/>
            <a:ext cx="759141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TERRORISM</a:t>
            </a:r>
          </a:p>
        </p:txBody>
      </p:sp>
    </p:spTree>
    <p:extLst>
      <p:ext uri="{BB962C8B-B14F-4D97-AF65-F5344CB8AC3E}">
        <p14:creationId xmlns:p14="http://schemas.microsoft.com/office/powerpoint/2010/main" val="138474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4BAA-0671-D02B-09CB-9F72F3BAB15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DE6D8E-2287-5EB9-CE24-D8D5304DF6B8}"/>
              </a:ext>
            </a:extLst>
          </p:cNvPr>
          <p:cNvSpPr txBox="1"/>
          <p:nvPr/>
        </p:nvSpPr>
        <p:spPr>
          <a:xfrm>
            <a:off x="742979" y="1272190"/>
            <a:ext cx="10312400" cy="5293757"/>
          </a:xfrm>
          <a:prstGeom prst="rect">
            <a:avLst/>
          </a:prstGeom>
          <a:noFill/>
        </p:spPr>
        <p:txBody>
          <a:bodyPr wrap="square">
            <a:spAutoFit/>
          </a:bodyPr>
          <a:lstStyle/>
          <a:p>
            <a:pPr marL="342900" indent="-342900" algn="just">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Cyber espionage</a:t>
            </a:r>
            <a:r>
              <a:rPr lang="en-US" sz="2600" dirty="0">
                <a:latin typeface="Times New Roman" panose="02020603050405020304" pitchFamily="18" charset="0"/>
                <a:cs typeface="Times New Roman" panose="02020603050405020304" pitchFamily="18" charset="0"/>
              </a:rPr>
              <a:t> is primarily focused on the </a:t>
            </a:r>
            <a:r>
              <a:rPr lang="en-US" sz="2600" b="1" dirty="0">
                <a:latin typeface="Times New Roman" panose="02020603050405020304" pitchFamily="18" charset="0"/>
                <a:cs typeface="Times New Roman" panose="02020603050405020304" pitchFamily="18" charset="0"/>
              </a:rPr>
              <a:t>covert collection of information</a:t>
            </a:r>
            <a:r>
              <a:rPr lang="en-US" sz="2600" dirty="0">
                <a:latin typeface="Times New Roman" panose="02020603050405020304" pitchFamily="18" charset="0"/>
                <a:cs typeface="Times New Roman" panose="02020603050405020304" pitchFamily="18" charset="0"/>
              </a:rPr>
              <a:t>. The goal of espionage, whether corporate or international, is to obtain sensitive data without detection. Ideally, the </a:t>
            </a:r>
            <a:r>
              <a:rPr lang="en-US" sz="2600" b="1" dirty="0">
                <a:latin typeface="Times New Roman" panose="02020603050405020304" pitchFamily="18" charset="0"/>
                <a:cs typeface="Times New Roman" panose="02020603050405020304" pitchFamily="18" charset="0"/>
              </a:rPr>
              <a:t>target remains unaware that any intrusion has occurred</a:t>
            </a:r>
            <a:r>
              <a:rPr lang="en-US" sz="2600" dirty="0">
                <a:latin typeface="Times New Roman" panose="02020603050405020304" pitchFamily="18" charset="0"/>
                <a:cs typeface="Times New Roman" panose="02020603050405020304" pitchFamily="18" charset="0"/>
              </a:rPr>
              <a:t>. Cyber espionage commonly involves surveillance, data exfiltration, and long-term infiltration of networks for intelligence-gathering purposes.</a:t>
            </a:r>
          </a:p>
          <a:p>
            <a:pPr marL="342900" indent="-342900" algn="jus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contrast, </a:t>
            </a:r>
            <a:r>
              <a:rPr lang="en-US" sz="2600" b="1" dirty="0">
                <a:latin typeface="Times New Roman" panose="02020603050405020304" pitchFamily="18" charset="0"/>
                <a:cs typeface="Times New Roman" panose="02020603050405020304" pitchFamily="18" charset="0"/>
              </a:rPr>
              <a:t>cyber terrorism</a:t>
            </a:r>
            <a:r>
              <a:rPr lang="en-US" sz="2600" dirty="0">
                <a:latin typeface="Times New Roman" panose="02020603050405020304" pitchFamily="18" charset="0"/>
                <a:cs typeface="Times New Roman" panose="02020603050405020304" pitchFamily="18" charset="0"/>
              </a:rPr>
              <a:t> aims to </a:t>
            </a:r>
            <a:r>
              <a:rPr lang="en-US" sz="2600" b="1" dirty="0">
                <a:latin typeface="Times New Roman" panose="02020603050405020304" pitchFamily="18" charset="0"/>
                <a:cs typeface="Times New Roman" panose="02020603050405020304" pitchFamily="18" charset="0"/>
              </a:rPr>
              <a:t>cause visible damage and widespread fear</a:t>
            </a:r>
            <a:r>
              <a:rPr lang="en-US" sz="2600" dirty="0">
                <a:latin typeface="Times New Roman" panose="02020603050405020304" pitchFamily="18" charset="0"/>
                <a:cs typeface="Times New Roman" panose="02020603050405020304" pitchFamily="18" charset="0"/>
              </a:rPr>
              <a:t>. These attacks are intentionally public and disruptive, designed to intimidate populations, destabilize governments, or coerce institutions. The psychological impact is as important as the technical damage, as the ultimate objective is to generate fear and uncertainty among civilians or decision-makers.</a:t>
            </a:r>
          </a:p>
          <a:p>
            <a:pPr marL="457200" indent="-457200" algn="just">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AE1698A-4A9C-40CD-74CF-7DD1F9C5D267}"/>
              </a:ext>
            </a:extLst>
          </p:cNvPr>
          <p:cNvSpPr txBox="1"/>
          <p:nvPr/>
        </p:nvSpPr>
        <p:spPr>
          <a:xfrm>
            <a:off x="486556" y="292053"/>
            <a:ext cx="11059161" cy="707886"/>
          </a:xfrm>
          <a:prstGeom prst="rect">
            <a:avLst/>
          </a:prstGeom>
          <a:noFill/>
        </p:spPr>
        <p:txBody>
          <a:bodyPr wrap="square">
            <a:spAutoFit/>
          </a:bodyPr>
          <a:lstStyle/>
          <a:p>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TERRORISM VS CYBER ESPIONAGE</a:t>
            </a:r>
          </a:p>
        </p:txBody>
      </p:sp>
    </p:spTree>
    <p:extLst>
      <p:ext uri="{BB962C8B-B14F-4D97-AF65-F5344CB8AC3E}">
        <p14:creationId xmlns:p14="http://schemas.microsoft.com/office/powerpoint/2010/main" val="1731179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2803C-026A-4E13-621D-6C4B66C517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C79BD0-A47E-960B-C800-D2F94E10DF90}"/>
              </a:ext>
            </a:extLst>
          </p:cNvPr>
          <p:cNvSpPr txBox="1"/>
          <p:nvPr/>
        </p:nvSpPr>
        <p:spPr>
          <a:xfrm>
            <a:off x="939800" y="1018696"/>
            <a:ext cx="10312400" cy="5632311"/>
          </a:xfrm>
          <a:prstGeom prst="rect">
            <a:avLst/>
          </a:prstGeom>
          <a:noFill/>
        </p:spPr>
        <p:txBody>
          <a:bodyPr wrap="square">
            <a:spAutoFit/>
          </a:bodyPr>
          <a:lstStyle/>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Recent global conflicts have demonstrated the growing role of cyber operations in traditional warfare. Prior to the </a:t>
            </a:r>
            <a:r>
              <a:rPr lang="en-US" sz="2400" b="1" dirty="0">
                <a:latin typeface="Times New Roman" panose="02020603050405020304" pitchFamily="18" charset="0"/>
                <a:cs typeface="Times New Roman" panose="02020603050405020304" pitchFamily="18" charset="0"/>
              </a:rPr>
              <a:t>2022 Russian invasion of Ukraine</a:t>
            </a:r>
            <a:r>
              <a:rPr lang="en-US" sz="2400" dirty="0">
                <a:latin typeface="Times New Roman" panose="02020603050405020304" pitchFamily="18" charset="0"/>
                <a:cs typeface="Times New Roman" panose="02020603050405020304" pitchFamily="18" charset="0"/>
              </a:rPr>
              <a:t>, Russia launched coordinated cyber attacks targeting Ukrainian infrastructure. </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approach represents a </a:t>
            </a:r>
            <a:r>
              <a:rPr lang="en-US" sz="2400" b="1" dirty="0">
                <a:latin typeface="Times New Roman" panose="02020603050405020304" pitchFamily="18" charset="0"/>
                <a:cs typeface="Times New Roman" panose="02020603050405020304" pitchFamily="18" charset="0"/>
              </a:rPr>
              <a:t>two-pronged strategy</a:t>
            </a:r>
            <a:r>
              <a:rPr lang="en-US" sz="2400" dirty="0">
                <a:latin typeface="Times New Roman" panose="02020603050405020304" pitchFamily="18" charset="0"/>
                <a:cs typeface="Times New Roman" panose="02020603050405020304" pitchFamily="18" charset="0"/>
              </a:rPr>
              <a:t>, combining cyber operations with conventional (kinetic) military force.</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Such tactics are expected to become increasingly common. </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By disrupting </a:t>
            </a:r>
            <a:r>
              <a:rPr lang="en-US" sz="2400" b="1" dirty="0">
                <a:latin typeface="Times New Roman" panose="02020603050405020304" pitchFamily="18" charset="0"/>
                <a:cs typeface="Times New Roman" panose="02020603050405020304" pitchFamily="18" charset="0"/>
              </a:rPr>
              <a:t>communication systems, power grids, and critical infrastructure </a:t>
            </a:r>
            <a:r>
              <a:rPr lang="en-US" sz="2400" dirty="0">
                <a:latin typeface="Times New Roman" panose="02020603050405020304" pitchFamily="18" charset="0"/>
                <a:cs typeface="Times New Roman" panose="02020603050405020304" pitchFamily="18" charset="0"/>
              </a:rPr>
              <a:t>through </a:t>
            </a:r>
            <a:r>
              <a:rPr lang="en-US" sz="2400" b="1" dirty="0">
                <a:latin typeface="Times New Roman" panose="02020603050405020304" pitchFamily="18" charset="0"/>
                <a:cs typeface="Times New Roman" panose="02020603050405020304" pitchFamily="18" charset="0"/>
              </a:rPr>
              <a:t>cyber attacks</a:t>
            </a:r>
            <a:r>
              <a:rPr lang="en-US" sz="2400" dirty="0">
                <a:latin typeface="Times New Roman" panose="02020603050405020304" pitchFamily="18" charset="0"/>
                <a:cs typeface="Times New Roman" panose="02020603050405020304" pitchFamily="18" charset="0"/>
              </a:rPr>
              <a:t>, an adversary can significantly increase the effectiveness of physical military operations. This observation highlights the evolving nature of warfare rather than commenting on the ethical or political dimensions of any specific conflict.</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Some </a:t>
            </a:r>
            <a:r>
              <a:rPr lang="en-US" sz="2400" b="1" dirty="0">
                <a:latin typeface="Times New Roman" panose="02020603050405020304" pitchFamily="18" charset="0"/>
                <a:cs typeface="Times New Roman" panose="02020603050405020304" pitchFamily="18" charset="0"/>
              </a:rPr>
              <a:t>security experts </a:t>
            </a:r>
            <a:r>
              <a:rPr lang="en-US" sz="2400" dirty="0">
                <a:latin typeface="Times New Roman" panose="02020603050405020304" pitchFamily="18" charset="0"/>
                <a:cs typeface="Times New Roman" panose="02020603050405020304" pitchFamily="18" charset="0"/>
              </a:rPr>
              <a:t>have cited the </a:t>
            </a:r>
            <a:r>
              <a:rPr lang="en-US" sz="2400" b="1" dirty="0" err="1">
                <a:latin typeface="Times New Roman" panose="02020603050405020304" pitchFamily="18" charset="0"/>
                <a:cs typeface="Times New Roman" panose="02020603050405020304" pitchFamily="18" charset="0"/>
              </a:rPr>
              <a:t>MyDoom</a:t>
            </a:r>
            <a:r>
              <a:rPr lang="en-US" sz="2400" b="1" dirty="0">
                <a:latin typeface="Times New Roman" panose="02020603050405020304" pitchFamily="18" charset="0"/>
                <a:cs typeface="Times New Roman" panose="02020603050405020304" pitchFamily="18" charset="0"/>
              </a:rPr>
              <a:t> virus </a:t>
            </a:r>
            <a:r>
              <a:rPr lang="en-US" sz="2400" dirty="0">
                <a:latin typeface="Times New Roman" panose="02020603050405020304" pitchFamily="18" charset="0"/>
                <a:cs typeface="Times New Roman" panose="02020603050405020304" pitchFamily="18" charset="0"/>
              </a:rPr>
              <a:t>as an early example of domestic economic cyber terrorism, due to the extensive financial and operational damage it caused.</a:t>
            </a:r>
          </a:p>
        </p:txBody>
      </p:sp>
      <p:sp>
        <p:nvSpPr>
          <p:cNvPr id="3" name="TextBox 2">
            <a:extLst>
              <a:ext uri="{FF2B5EF4-FFF2-40B4-BE49-F238E27FC236}">
                <a16:creationId xmlns:a16="http://schemas.microsoft.com/office/drawing/2014/main" id="{321540BD-9815-C2CA-3985-85066A84ECDC}"/>
              </a:ext>
            </a:extLst>
          </p:cNvPr>
          <p:cNvSpPr txBox="1"/>
          <p:nvPr/>
        </p:nvSpPr>
        <p:spPr>
          <a:xfrm>
            <a:off x="1879421"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Attacks in Modern Warfare</a:t>
            </a:r>
          </a:p>
        </p:txBody>
      </p:sp>
    </p:spTree>
    <p:extLst>
      <p:ext uri="{BB962C8B-B14F-4D97-AF65-F5344CB8AC3E}">
        <p14:creationId xmlns:p14="http://schemas.microsoft.com/office/powerpoint/2010/main" val="4031005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3655-634E-C23D-3F70-208855818D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506D1C-C617-6377-4C7B-FEA640E6860A}"/>
              </a:ext>
            </a:extLst>
          </p:cNvPr>
          <p:cNvSpPr txBox="1"/>
          <p:nvPr/>
        </p:nvSpPr>
        <p:spPr>
          <a:xfrm>
            <a:off x="854740" y="1465264"/>
            <a:ext cx="10312400" cy="3416320"/>
          </a:xfrm>
          <a:prstGeom prst="rect">
            <a:avLst/>
          </a:prstGeom>
          <a:noFill/>
        </p:spPr>
        <p:txBody>
          <a:bodyPr wrap="square">
            <a:spAutoFit/>
          </a:bodyPr>
          <a:lstStyle/>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On 27 August 2025, fourteen people, including three children, were killed by cyber drones and dozens more wounded in a heavy overnight Russian bombardment of Kyiv, Ukraine. Ukrainian forces said Russia had fired almost 600 drones and more than 30 ballistic and cruise missiles on the capital in August.</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wave of missiles came after more than 100,000 Ukrainian homes were left without power by Russian drone attacks on energy infrastructure on Wednesday, 27 August 2025. Another 60,000 consumers were left without power in the central Vinnytsia region in the latest attacks</a:t>
            </a: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9523E9A-D54C-7A86-04B6-9FD0E083FEC3}"/>
              </a:ext>
            </a:extLst>
          </p:cNvPr>
          <p:cNvSpPr txBox="1"/>
          <p:nvPr/>
        </p:nvSpPr>
        <p:spPr>
          <a:xfrm>
            <a:off x="1879421"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Attacks in Modern Warfare</a:t>
            </a:r>
          </a:p>
        </p:txBody>
      </p:sp>
      <p:sp>
        <p:nvSpPr>
          <p:cNvPr id="4" name="TextBox 3">
            <a:extLst>
              <a:ext uri="{FF2B5EF4-FFF2-40B4-BE49-F238E27FC236}">
                <a16:creationId xmlns:a16="http://schemas.microsoft.com/office/drawing/2014/main" id="{C265F4B8-A56D-ED0E-3B3B-B4BE34B8DFE9}"/>
              </a:ext>
            </a:extLst>
          </p:cNvPr>
          <p:cNvSpPr txBox="1"/>
          <p:nvPr/>
        </p:nvSpPr>
        <p:spPr>
          <a:xfrm>
            <a:off x="566419" y="5657671"/>
            <a:ext cx="11059161" cy="1200329"/>
          </a:xfrm>
          <a:prstGeom prst="rect">
            <a:avLst/>
          </a:prstGeom>
          <a:noFill/>
        </p:spPr>
        <p:txBody>
          <a:bodyPr wrap="square">
            <a:spAutoFit/>
          </a:bodyPr>
          <a:lstStyle/>
          <a:p>
            <a:pPr algn="ctr"/>
            <a:r>
              <a:rPr lang="en-US" b="1" dirty="0"/>
              <a:t>Source</a:t>
            </a:r>
          </a:p>
          <a:p>
            <a:pPr algn="ctr"/>
            <a:r>
              <a:rPr lang="en-PK" b="1" dirty="0">
                <a:solidFill>
                  <a:srgbClr val="00B050"/>
                </a:solidFill>
                <a:hlinkClick r:id="rId2">
                  <a:extLst>
                    <a:ext uri="{A12FA001-AC4F-418D-AE19-62706E023703}">
                      <ahyp:hlinkClr xmlns:ahyp="http://schemas.microsoft.com/office/drawing/2018/hyperlinkcolor" val="tx"/>
                    </a:ext>
                  </a:extLst>
                </a:hlinkClick>
              </a:rPr>
              <a:t>https://www.cybersecurityintelligence.com/blog/cyber-attacks-in-modern-warfare-extract-8691.html</a:t>
            </a:r>
            <a:endParaRPr lang="en-US" b="1" dirty="0">
              <a:solidFill>
                <a:srgbClr val="00B050"/>
              </a:solidFill>
            </a:endParaRPr>
          </a:p>
          <a:p>
            <a:pPr algn="ctr"/>
            <a:endParaRPr lang="en-PK" b="1" dirty="0">
              <a:solidFill>
                <a:srgbClr val="00B050"/>
              </a:solidFill>
            </a:endParaRPr>
          </a:p>
        </p:txBody>
      </p:sp>
    </p:spTree>
    <p:extLst>
      <p:ext uri="{BB962C8B-B14F-4D97-AF65-F5344CB8AC3E}">
        <p14:creationId xmlns:p14="http://schemas.microsoft.com/office/powerpoint/2010/main" val="298304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5D4F3-15BF-9170-6280-131106ED0C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698DC8-7DBB-17F9-03BD-B8A426E912BF}"/>
              </a:ext>
            </a:extLst>
          </p:cNvPr>
          <p:cNvSpPr txBox="1"/>
          <p:nvPr/>
        </p:nvSpPr>
        <p:spPr>
          <a:xfrm>
            <a:off x="849303" y="1348305"/>
            <a:ext cx="10312400" cy="5847755"/>
          </a:xfrm>
          <a:prstGeom prst="rect">
            <a:avLst/>
          </a:prstGeom>
          <a:noFill/>
        </p:spPr>
        <p:txBody>
          <a:bodyPr wrap="square">
            <a:spAutoFit/>
          </a:bodyPr>
          <a:lstStyle/>
          <a:p>
            <a:pPr marL="342900" indent="-342900" algn="just">
              <a:buAutoNum type="arabicPeriod"/>
            </a:pPr>
            <a:r>
              <a:rPr lang="en-US" sz="2200" b="1" dirty="0">
                <a:latin typeface="Times New Roman" panose="02020603050405020304" pitchFamily="18" charset="0"/>
                <a:cs typeface="Times New Roman" panose="02020603050405020304" pitchFamily="18" charset="0"/>
              </a:rPr>
              <a:t>North Korean crypto exchange hacks: </a:t>
            </a:r>
            <a:r>
              <a:rPr lang="en-US" sz="2200" dirty="0">
                <a:latin typeface="Times New Roman" panose="02020603050405020304" pitchFamily="18" charset="0"/>
                <a:cs typeface="Times New Roman" panose="02020603050405020304" pitchFamily="18" charset="0"/>
              </a:rPr>
              <a:t>North Korean hackers stole millions of dollars from crypto platforms in January 2024. The funds were moved through mixing services. The stolen funds were laundered through crypto mixing services to hide their origin. This activity helped finance North Korea’s weapons programs and impacted trust in cryptocurrency platforms.</a:t>
            </a:r>
          </a:p>
          <a:p>
            <a:pPr marL="342900" indent="-342900" algn="just">
              <a:buFontTx/>
              <a:buAutoNum type="arabicPeriod"/>
            </a:pPr>
            <a:r>
              <a:rPr lang="en-US" sz="2200" b="1" dirty="0">
                <a:latin typeface="Times New Roman" panose="02020603050405020304" pitchFamily="18" charset="0"/>
                <a:cs typeface="Times New Roman" panose="02020603050405020304" pitchFamily="18" charset="0"/>
              </a:rPr>
              <a:t>Romania election cyber targeting: </a:t>
            </a:r>
            <a:r>
              <a:rPr lang="en-US" sz="2200" dirty="0">
                <a:latin typeface="Times New Roman" panose="02020603050405020304" pitchFamily="18" charset="0"/>
                <a:cs typeface="Times New Roman" panose="02020603050405020304" pitchFamily="18" charset="0"/>
              </a:rPr>
              <a:t>The attack occurred in December 2024, ahead of Romania’s presidential election. The Russian hackers launched more than 85,000 attacks against election-related systems. The credentials they stole were later leaked on Russian hacker forums. This activity threatened election integrity and public confidence.</a:t>
            </a:r>
          </a:p>
          <a:p>
            <a:pPr marL="342900" indent="-342900" algn="just">
              <a:buFontTx/>
              <a:buAutoNum type="arabicPeriod"/>
            </a:pPr>
            <a:r>
              <a:rPr lang="en-US" sz="2200" b="1" dirty="0">
                <a:latin typeface="Times New Roman" panose="02020603050405020304" pitchFamily="18" charset="0"/>
                <a:cs typeface="Times New Roman" panose="02020603050405020304" pitchFamily="18" charset="0"/>
              </a:rPr>
              <a:t>Salt Typhoon global telecom espionage: </a:t>
            </a:r>
            <a:r>
              <a:rPr lang="en-US" sz="2200" dirty="0">
                <a:latin typeface="Times New Roman" panose="02020603050405020304" pitchFamily="18" charset="0"/>
                <a:cs typeface="Times New Roman" panose="02020603050405020304" pitchFamily="18" charset="0"/>
              </a:rPr>
              <a:t>Chinese hackers infiltrated telecom providers in the U.S. and more than twenty other countries. They gain unauthorized access to call data, surveillance requests, and private communications. The breach enabled long-term intelligence collection on political figures. The campaign was revealed publicly in November 2024.</a:t>
            </a:r>
            <a:endParaRPr lang="en-US" sz="2400" b="1"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E89F9BC-1F0F-9AD5-69ED-AD65C3B43B5E}"/>
              </a:ext>
            </a:extLst>
          </p:cNvPr>
          <p:cNvSpPr txBox="1"/>
          <p:nvPr/>
        </p:nvSpPr>
        <p:spPr>
          <a:xfrm>
            <a:off x="475923"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ACTUAL CASES OF CYBER TERRORISM</a:t>
            </a:r>
          </a:p>
        </p:txBody>
      </p:sp>
    </p:spTree>
    <p:extLst>
      <p:ext uri="{BB962C8B-B14F-4D97-AF65-F5344CB8AC3E}">
        <p14:creationId xmlns:p14="http://schemas.microsoft.com/office/powerpoint/2010/main" val="2337896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D4E8B-C5A8-4388-C8F5-2B61BBD900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AA52FB-BBA0-56C0-73E4-D79053FBCE6B}"/>
              </a:ext>
            </a:extLst>
          </p:cNvPr>
          <p:cNvSpPr txBox="1"/>
          <p:nvPr/>
        </p:nvSpPr>
        <p:spPr>
          <a:xfrm>
            <a:off x="849303" y="976434"/>
            <a:ext cx="10312400" cy="6678751"/>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4. Iranian hack of Israeli Nuclear IT: </a:t>
            </a:r>
            <a:r>
              <a:rPr lang="en-US" sz="2400" dirty="0">
                <a:latin typeface="Times New Roman" panose="02020603050405020304" pitchFamily="18" charset="0"/>
                <a:cs typeface="Times New Roman" panose="02020603050405020304" pitchFamily="18" charset="0"/>
              </a:rPr>
              <a:t>Iranian hackers breached a connected IT network. They leaked sensitive documents online. This incident took place in March 2024. The operational systems remained secure, but the incident heightened regional security and geopolitical tensions.</a:t>
            </a:r>
          </a:p>
          <a:p>
            <a:pPr algn="just"/>
            <a:r>
              <a:rPr lang="en-US" sz="2400" b="1" dirty="0">
                <a:latin typeface="Times New Roman" panose="02020603050405020304" pitchFamily="18" charset="0"/>
                <a:cs typeface="Times New Roman" panose="02020603050405020304" pitchFamily="18" charset="0"/>
              </a:rPr>
              <a:t>5. Russian hijacking of Pakistani hacker infrastructure:</a:t>
            </a:r>
            <a:r>
              <a:rPr lang="en-US" sz="2400" dirty="0">
                <a:latin typeface="Times New Roman" panose="02020603050405020304" pitchFamily="18" charset="0"/>
                <a:cs typeface="Times New Roman" panose="02020603050405020304" pitchFamily="18" charset="0"/>
              </a:rPr>
              <a:t> Russian hackers secretly took control of systems used by a Pakistani hacking group in December 2024. They viewed sensitive data stolen from South Asian government and military targets. The case showed how state actors exploit other cybercriminal groups for intelligence.</a:t>
            </a:r>
          </a:p>
          <a:p>
            <a:pPr algn="just"/>
            <a:r>
              <a:rPr lang="en-US" sz="2400" b="1" dirty="0">
                <a:latin typeface="Times New Roman" panose="02020603050405020304" pitchFamily="18" charset="0"/>
                <a:cs typeface="Times New Roman" panose="02020603050405020304" pitchFamily="18" charset="0"/>
              </a:rPr>
              <a:t>6. Kazakhstan diplomatic </a:t>
            </a:r>
            <a:r>
              <a:rPr lang="en-US" sz="2400" b="1" dirty="0" err="1">
                <a:latin typeface="Times New Roman" panose="02020603050405020304" pitchFamily="18" charset="0"/>
                <a:cs typeface="Times New Roman" panose="02020603050405020304" pitchFamily="18" charset="0"/>
              </a:rPr>
              <a:t>spearphishing</a:t>
            </a:r>
            <a:r>
              <a:rPr lang="en-US" sz="2400" b="1" dirty="0">
                <a:latin typeface="Times New Roman" panose="02020603050405020304" pitchFamily="18" charset="0"/>
                <a:cs typeface="Times New Roman" panose="02020603050405020304" pitchFamily="18" charset="0"/>
              </a:rPr>
              <a:t> attack:</a:t>
            </a:r>
            <a:r>
              <a:rPr lang="en-US" sz="2400" dirty="0">
                <a:latin typeface="Times New Roman" panose="02020603050405020304" pitchFamily="18" charset="0"/>
                <a:cs typeface="Times New Roman" panose="02020603050405020304" pitchFamily="18" charset="0"/>
              </a:rPr>
              <a:t> In January 2025, suspected Russian-linked hackers launched phishing attacks against Kazakhstan’s diplomatic institutions. The hackers embedded malicious code inside fake official-looking diplomatic documents. Their goal was </a:t>
            </a:r>
            <a:r>
              <a:rPr lang="en-US" sz="2400" b="1" dirty="0">
                <a:latin typeface="Times New Roman" panose="02020603050405020304" pitchFamily="18" charset="0"/>
                <a:cs typeface="Times New Roman" panose="02020603050405020304" pitchFamily="18" charset="0"/>
                <a:hlinkClick r:id="rId2"/>
              </a:rPr>
              <a:t>cyber espionage</a:t>
            </a:r>
            <a:r>
              <a:rPr lang="en-US" sz="2400" dirty="0">
                <a:latin typeface="Times New Roman" panose="02020603050405020304" pitchFamily="18" charset="0"/>
                <a:cs typeface="Times New Roman" panose="02020603050405020304" pitchFamily="18" charset="0"/>
              </a:rPr>
              <a:t>, focusing on sensitive foreign policy communications.</a:t>
            </a:r>
          </a:p>
          <a:p>
            <a:pPr algn="ctr"/>
            <a:r>
              <a:rPr lang="en-US" sz="2000" b="1" dirty="0">
                <a:solidFill>
                  <a:srgbClr val="00B05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https://www.fortinet.com/uk/resources/cyberglossary/recent-cyber-attacks</a:t>
            </a:r>
            <a:endParaRPr lang="en-US" sz="2000" b="1" dirty="0">
              <a:solidFill>
                <a:srgbClr val="00B050"/>
              </a:solidFill>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342900" indent="-342900" algn="just">
              <a:buAutoNum type="arabicPeriod"/>
            </a:pPr>
            <a:endParaRPr lang="en-US" sz="2400" b="1"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21CA32D-D291-73E2-E157-0E4767F2FC0D}"/>
              </a:ext>
            </a:extLst>
          </p:cNvPr>
          <p:cNvSpPr txBox="1"/>
          <p:nvPr/>
        </p:nvSpPr>
        <p:spPr>
          <a:xfrm>
            <a:off x="475923"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ACTUAL CASES OF CYBER TERRORISM</a:t>
            </a:r>
          </a:p>
        </p:txBody>
      </p:sp>
    </p:spTree>
    <p:extLst>
      <p:ext uri="{BB962C8B-B14F-4D97-AF65-F5344CB8AC3E}">
        <p14:creationId xmlns:p14="http://schemas.microsoft.com/office/powerpoint/2010/main" val="1246640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26FE4-95E9-ACCE-BEDF-DD72D89535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8A98AD-D2EE-9F08-F4C2-FB562D58C105}"/>
              </a:ext>
            </a:extLst>
          </p:cNvPr>
          <p:cNvSpPr txBox="1"/>
          <p:nvPr/>
        </p:nvSpPr>
        <p:spPr>
          <a:xfrm>
            <a:off x="899160" y="1685950"/>
            <a:ext cx="10312400" cy="3970318"/>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Cyber warfare allegations are often based on intelligence assessments, technical indicators, and geopolitical analysis. Attribution is difficult, and examples below are </a:t>
            </a:r>
            <a:r>
              <a:rPr lang="en-US" sz="2800" b="1" dirty="0">
                <a:latin typeface="Times New Roman" panose="02020603050405020304" pitchFamily="18" charset="0"/>
                <a:cs typeface="Times New Roman" panose="02020603050405020304" pitchFamily="18" charset="0"/>
              </a:rPr>
              <a:t>for academic understanding</a:t>
            </a:r>
            <a:r>
              <a:rPr lang="en-US" sz="2800" dirty="0">
                <a:latin typeface="Times New Roman" panose="02020603050405020304" pitchFamily="18" charset="0"/>
                <a:cs typeface="Times New Roman" panose="02020603050405020304" pitchFamily="18" charset="0"/>
              </a:rPr>
              <a:t>, not legal judgments.</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Pakistan and India - South 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China and North Korea - East 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Russia and Ukraine- Eastern Europe / Eurasia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Iran and Israel – Middle East</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USA and UK - West</a:t>
            </a:r>
          </a:p>
        </p:txBody>
      </p:sp>
      <p:sp>
        <p:nvSpPr>
          <p:cNvPr id="3" name="TextBox 2">
            <a:extLst>
              <a:ext uri="{FF2B5EF4-FFF2-40B4-BE49-F238E27FC236}">
                <a16:creationId xmlns:a16="http://schemas.microsoft.com/office/drawing/2014/main" id="{9E20C66A-25B4-50FD-06AF-B31C7DFDA500}"/>
              </a:ext>
            </a:extLst>
          </p:cNvPr>
          <p:cNvSpPr txBox="1"/>
          <p:nvPr/>
        </p:nvSpPr>
        <p:spPr>
          <a:xfrm>
            <a:off x="1168282" y="472807"/>
            <a:ext cx="10454640" cy="830997"/>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Emerging</a:t>
            </a:r>
            <a:r>
              <a:rPr lang="en-US" sz="4800" dirty="0"/>
              <a:t> </a:t>
            </a:r>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Threats in Cyber Warfare</a:t>
            </a:r>
          </a:p>
        </p:txBody>
      </p:sp>
    </p:spTree>
    <p:extLst>
      <p:ext uri="{BB962C8B-B14F-4D97-AF65-F5344CB8AC3E}">
        <p14:creationId xmlns:p14="http://schemas.microsoft.com/office/powerpoint/2010/main" val="156742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8B20-5961-9592-8C59-E79E43A0C1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EC1E86-C978-D3B6-9FB7-4C435A42BD31}"/>
              </a:ext>
            </a:extLst>
          </p:cNvPr>
          <p:cNvSpPr txBox="1"/>
          <p:nvPr/>
        </p:nvSpPr>
        <p:spPr>
          <a:xfrm>
            <a:off x="851490" y="1443841"/>
            <a:ext cx="10312400" cy="4832092"/>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cyber warfare and cyber terrorism, malware is still the primary weapon. Whether it is spyware, a virus, a Trojan horse, a logic bomb, or some other sort of malware, it is still the malware that is the essential vehicle for conducting a cyber conflict. </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Stuxnet </a:t>
            </a:r>
            <a:r>
              <a:rPr lang="en-US" sz="2800" dirty="0">
                <a:latin typeface="Times New Roman" panose="02020603050405020304" pitchFamily="18" charset="0"/>
                <a:cs typeface="Times New Roman" panose="02020603050405020304" pitchFamily="18" charset="0"/>
              </a:rPr>
              <a:t>– Weaponized Malware for Sabotage - </a:t>
            </a:r>
            <a:r>
              <a:rPr lang="en-US" sz="2800" b="1" dirty="0">
                <a:latin typeface="Times New Roman" panose="02020603050405020304" pitchFamily="18" charset="0"/>
                <a:cs typeface="Times New Roman" panose="02020603050405020304" pitchFamily="18" charset="0"/>
              </a:rPr>
              <a:t>Sabotage Iran’s Uranium 2009/10</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Flame</a:t>
            </a:r>
            <a:r>
              <a:rPr lang="en-US" sz="2800" dirty="0">
                <a:latin typeface="Times New Roman" panose="02020603050405020304" pitchFamily="18" charset="0"/>
                <a:cs typeface="Times New Roman" panose="02020603050405020304" pitchFamily="18" charset="0"/>
              </a:rPr>
              <a:t> – Cyber Espionage Tool</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StopGeorgia.ru Malware </a:t>
            </a:r>
            <a:r>
              <a:rPr lang="en-US" sz="2800" dirty="0">
                <a:latin typeface="Times New Roman" panose="02020603050405020304" pitchFamily="18" charset="0"/>
                <a:cs typeface="Times New Roman" panose="02020603050405020304" pitchFamily="18" charset="0"/>
              </a:rPr>
              <a:t>– Crowd-Sourced Cyber Attacks</a:t>
            </a:r>
          </a:p>
          <a:p>
            <a:pPr marL="457200" indent="-457200" algn="just">
              <a:buAutoNum type="arabicPeriod"/>
            </a:pPr>
            <a:r>
              <a:rPr lang="en-US" sz="2800" b="1" dirty="0" err="1">
                <a:latin typeface="Times New Roman" panose="02020603050405020304" pitchFamily="18" charset="0"/>
                <a:cs typeface="Times New Roman" panose="02020603050405020304" pitchFamily="18" charset="0"/>
              </a:rPr>
              <a:t>FinFisher</a:t>
            </a:r>
            <a:r>
              <a:rPr lang="en-US" sz="2800" dirty="0">
                <a:latin typeface="Times New Roman" panose="02020603050405020304" pitchFamily="18" charset="0"/>
                <a:cs typeface="Times New Roman" panose="02020603050405020304" pitchFamily="18" charset="0"/>
              </a:rPr>
              <a:t> – Surveillance Malware Turned Weapon</a:t>
            </a:r>
          </a:p>
          <a:p>
            <a:pPr marL="457200" indent="-457200" algn="just">
              <a:buAutoNum type="arabicPeriod"/>
            </a:pPr>
            <a:r>
              <a:rPr lang="en-US" sz="2800" b="1" dirty="0" err="1">
                <a:latin typeface="Times New Roman" panose="02020603050405020304" pitchFamily="18" charset="0"/>
                <a:cs typeface="Times New Roman" panose="02020603050405020304" pitchFamily="18" charset="0"/>
              </a:rPr>
              <a:t>BlackEnergy</a:t>
            </a:r>
            <a:r>
              <a:rPr lang="en-US" sz="2800" dirty="0">
                <a:latin typeface="Times New Roman" panose="02020603050405020304" pitchFamily="18" charset="0"/>
                <a:cs typeface="Times New Roman" panose="02020603050405020304" pitchFamily="18" charset="0"/>
              </a:rPr>
              <a:t> – Infrastructure Disruption Malware - Linked to </a:t>
            </a:r>
            <a:r>
              <a:rPr lang="en-US" sz="2800" b="1" dirty="0">
                <a:latin typeface="Times New Roman" panose="02020603050405020304" pitchFamily="18" charset="0"/>
                <a:cs typeface="Times New Roman" panose="02020603050405020304" pitchFamily="18" charset="0"/>
              </a:rPr>
              <a:t>Ukraine power outage 2016.</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04A938E-F010-EFE4-9452-F6F737A87344}"/>
              </a:ext>
            </a:extLst>
          </p:cNvPr>
          <p:cNvSpPr txBox="1"/>
          <p:nvPr/>
        </p:nvSpPr>
        <p:spPr>
          <a:xfrm>
            <a:off x="115777" y="446728"/>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WEAPONS OF CYBER WARFARE</a:t>
            </a:r>
          </a:p>
        </p:txBody>
      </p:sp>
    </p:spTree>
    <p:extLst>
      <p:ext uri="{BB962C8B-B14F-4D97-AF65-F5344CB8AC3E}">
        <p14:creationId xmlns:p14="http://schemas.microsoft.com/office/powerpoint/2010/main" val="3328813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E167-D409-F183-A47F-ABF557562A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E7F2E6C-5217-89E0-1F9B-9D53FE48CB59}"/>
              </a:ext>
            </a:extLst>
          </p:cNvPr>
          <p:cNvSpPr txBox="1"/>
          <p:nvPr/>
        </p:nvSpPr>
        <p:spPr>
          <a:xfrm>
            <a:off x="830225" y="1323031"/>
            <a:ext cx="10312400" cy="5262979"/>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State-sponsored cyber weapon</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First known malware to cause </a:t>
            </a:r>
            <a:r>
              <a:rPr lang="en-US" sz="2800" b="1" dirty="0">
                <a:latin typeface="Times New Roman" panose="02020603050405020304" pitchFamily="18" charset="0"/>
                <a:cs typeface="Times New Roman" panose="02020603050405020304" pitchFamily="18" charset="0"/>
              </a:rPr>
              <a:t>physical damage</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Functionality</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Spread via USB drives and networks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Specifically targeted </a:t>
            </a:r>
            <a:r>
              <a:rPr lang="en-US" sz="2800" b="1" dirty="0">
                <a:latin typeface="Times New Roman" panose="02020603050405020304" pitchFamily="18" charset="0"/>
                <a:cs typeface="Times New Roman" panose="02020603050405020304" pitchFamily="18" charset="0"/>
              </a:rPr>
              <a:t>Siemens Step7 PLCs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Altered PLC behavior while hiding changes via a rootkit</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Purpose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Sabotage Iran’s uranium enrichment centrifuges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Demonstrated that malware can destroy </a:t>
            </a:r>
            <a:r>
              <a:rPr lang="en-US" sz="2800" b="1" dirty="0">
                <a:latin typeface="Times New Roman" panose="02020603050405020304" pitchFamily="18" charset="0"/>
                <a:cs typeface="Times New Roman" panose="02020603050405020304" pitchFamily="18" charset="0"/>
              </a:rPr>
              <a:t>industrial systems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Marked the beginning of </a:t>
            </a:r>
            <a:r>
              <a:rPr lang="en-US" sz="2800" b="1" dirty="0">
                <a:latin typeface="Times New Roman" panose="02020603050405020304" pitchFamily="18" charset="0"/>
                <a:cs typeface="Times New Roman" panose="02020603050405020304" pitchFamily="18" charset="0"/>
              </a:rPr>
              <a:t>cyber weapons</a:t>
            </a:r>
            <a:r>
              <a:rPr lang="en-US" sz="2800" dirty="0">
                <a:latin typeface="Times New Roman" panose="02020603050405020304" pitchFamily="18" charset="0"/>
                <a:cs typeface="Times New Roman" panose="02020603050405020304" pitchFamily="18" charset="0"/>
              </a:rPr>
              <a:t> in warfare</a:t>
            </a:r>
          </a:p>
        </p:txBody>
      </p:sp>
      <p:sp>
        <p:nvSpPr>
          <p:cNvPr id="3" name="TextBox 2">
            <a:extLst>
              <a:ext uri="{FF2B5EF4-FFF2-40B4-BE49-F238E27FC236}">
                <a16:creationId xmlns:a16="http://schemas.microsoft.com/office/drawing/2014/main" id="{5696D967-1D3B-8D09-6C13-82AC53F42245}"/>
              </a:ext>
            </a:extLst>
          </p:cNvPr>
          <p:cNvSpPr txBox="1"/>
          <p:nvPr/>
        </p:nvSpPr>
        <p:spPr>
          <a:xfrm>
            <a:off x="606055" y="193710"/>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Stuxnet – Weaponized Malware for Sabotage</a:t>
            </a:r>
          </a:p>
        </p:txBody>
      </p:sp>
      <p:pic>
        <p:nvPicPr>
          <p:cNvPr id="4" name="Picture 3">
            <a:extLst>
              <a:ext uri="{FF2B5EF4-FFF2-40B4-BE49-F238E27FC236}">
                <a16:creationId xmlns:a16="http://schemas.microsoft.com/office/drawing/2014/main" id="{807414ED-E321-ED9B-7EFB-C8EB1D11845F}"/>
              </a:ext>
            </a:extLst>
          </p:cNvPr>
          <p:cNvPicPr>
            <a:picLocks noChangeAspect="1"/>
          </p:cNvPicPr>
          <p:nvPr/>
        </p:nvPicPr>
        <p:blipFill>
          <a:blip r:embed="rId2"/>
          <a:stretch>
            <a:fillRect/>
          </a:stretch>
        </p:blipFill>
        <p:spPr>
          <a:xfrm>
            <a:off x="503866" y="0"/>
            <a:ext cx="2505148" cy="1323031"/>
          </a:xfrm>
          <a:prstGeom prst="rect">
            <a:avLst/>
          </a:prstGeom>
        </p:spPr>
      </p:pic>
    </p:spTree>
    <p:extLst>
      <p:ext uri="{BB962C8B-B14F-4D97-AF65-F5344CB8AC3E}">
        <p14:creationId xmlns:p14="http://schemas.microsoft.com/office/powerpoint/2010/main" val="300123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C61E3-D233-2606-8D90-D8C7FA480E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C6E75A-A76F-1AA0-4D88-79C5BE5EC979}"/>
              </a:ext>
            </a:extLst>
          </p:cNvPr>
          <p:cNvSpPr txBox="1"/>
          <p:nvPr/>
        </p:nvSpPr>
        <p:spPr>
          <a:xfrm>
            <a:off x="798328" y="901596"/>
            <a:ext cx="10312400" cy="5632311"/>
          </a:xfrm>
          <a:prstGeom prst="rect">
            <a:avLst/>
          </a:prstGeom>
          <a:noFill/>
        </p:spPr>
        <p:txBody>
          <a:bodyPr wrap="square">
            <a:spAutoFit/>
          </a:bodyPr>
          <a:lstStyle/>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Nature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Advanced spyware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Designed for </a:t>
            </a:r>
            <a:r>
              <a:rPr lang="en-US" sz="2400" b="1" dirty="0">
                <a:latin typeface="Times New Roman" panose="02020603050405020304" pitchFamily="18" charset="0"/>
                <a:cs typeface="Times New Roman" panose="02020603050405020304" pitchFamily="18" charset="0"/>
              </a:rPr>
              <a:t>intelligence gathering</a:t>
            </a:r>
            <a:r>
              <a:rPr lang="en-US" sz="2400" dirty="0">
                <a:latin typeface="Times New Roman" panose="02020603050405020304" pitchFamily="18" charset="0"/>
                <a:cs typeface="Times New Roman" panose="02020603050405020304" pitchFamily="18" charset="0"/>
              </a:rPr>
              <a:t>, not destruction</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Capabilities</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Keylogging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Network traffic monitoring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Screenshot capture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Skype audio recording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Bluetooth data harvesting</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Targeting</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Concentrated in the Middle East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Included a remote </a:t>
            </a:r>
            <a:r>
              <a:rPr lang="en-US" sz="2400" b="1" dirty="0">
                <a:latin typeface="Times New Roman" panose="02020603050405020304" pitchFamily="18" charset="0"/>
                <a:cs typeface="Times New Roman" panose="02020603050405020304" pitchFamily="18" charset="0"/>
              </a:rPr>
              <a:t>self-destruct (kill switch)</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Significance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Example of </a:t>
            </a:r>
            <a:r>
              <a:rPr lang="en-US" sz="2400" b="1" dirty="0">
                <a:latin typeface="Times New Roman" panose="02020603050405020304" pitchFamily="18" charset="0"/>
                <a:cs typeface="Times New Roman" panose="02020603050405020304" pitchFamily="18" charset="0"/>
              </a:rPr>
              <a:t>covert cyber espionage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Indicates sophisticated, state-level development</a:t>
            </a:r>
          </a:p>
        </p:txBody>
      </p:sp>
      <p:sp>
        <p:nvSpPr>
          <p:cNvPr id="3" name="TextBox 2">
            <a:extLst>
              <a:ext uri="{FF2B5EF4-FFF2-40B4-BE49-F238E27FC236}">
                <a16:creationId xmlns:a16="http://schemas.microsoft.com/office/drawing/2014/main" id="{105EABF0-2856-FBA2-DD81-0137F43A6B22}"/>
              </a:ext>
            </a:extLst>
          </p:cNvPr>
          <p:cNvSpPr txBox="1"/>
          <p:nvPr/>
        </p:nvSpPr>
        <p:spPr>
          <a:xfrm>
            <a:off x="606055" y="193710"/>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Flame – Cyber Espionage Tool</a:t>
            </a:r>
          </a:p>
        </p:txBody>
      </p:sp>
    </p:spTree>
    <p:extLst>
      <p:ext uri="{BB962C8B-B14F-4D97-AF65-F5344CB8AC3E}">
        <p14:creationId xmlns:p14="http://schemas.microsoft.com/office/powerpoint/2010/main" val="350621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072F4-ABEA-324A-2FCF-865D9992B2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80BD32-E2A2-6A54-D0DE-8709ED26EDB6}"/>
              </a:ext>
            </a:extLst>
          </p:cNvPr>
          <p:cNvSpPr txBox="1"/>
          <p:nvPr/>
        </p:nvSpPr>
        <p:spPr>
          <a:xfrm>
            <a:off x="939800" y="1517149"/>
            <a:ext cx="10312400" cy="4832092"/>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Not a single malware, but an </a:t>
            </a:r>
            <a:r>
              <a:rPr lang="en-US" sz="2800" b="1" dirty="0">
                <a:latin typeface="Times New Roman" panose="02020603050405020304" pitchFamily="18" charset="0"/>
                <a:cs typeface="Times New Roman" panose="02020603050405020304" pitchFamily="18" charset="0"/>
              </a:rPr>
              <a:t>attack facilitation platform</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Functionality</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Provided tools (e.g., </a:t>
            </a:r>
            <a:r>
              <a:rPr lang="en-US" sz="2800" dirty="0" err="1">
                <a:latin typeface="Times New Roman" panose="02020603050405020304" pitchFamily="18" charset="0"/>
                <a:cs typeface="Times New Roman" panose="02020603050405020304" pitchFamily="18" charset="0"/>
              </a:rPr>
              <a:t>DoSHTTP</a:t>
            </a:r>
            <a:r>
              <a:rPr lang="en-US" sz="28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Listed Georgian targets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Offered proxy servers for anonymity</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Purpose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Enable </a:t>
            </a:r>
            <a:r>
              <a:rPr lang="en-US" sz="2800" b="1" dirty="0">
                <a:latin typeface="Times New Roman" panose="02020603050405020304" pitchFamily="18" charset="0"/>
                <a:cs typeface="Times New Roman" panose="02020603050405020304" pitchFamily="18" charset="0"/>
              </a:rPr>
              <a:t>low-skill attackers</a:t>
            </a:r>
            <a:r>
              <a:rPr lang="en-US" sz="2800" dirty="0">
                <a:latin typeface="Times New Roman" panose="02020603050405020304" pitchFamily="18" charset="0"/>
                <a:cs typeface="Times New Roman" panose="02020603050405020304" pitchFamily="18" charset="0"/>
              </a:rPr>
              <a:t> to participate in cyber attacks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Example of </a:t>
            </a:r>
            <a:r>
              <a:rPr lang="en-US" sz="2800" b="1" dirty="0">
                <a:latin typeface="Times New Roman" panose="02020603050405020304" pitchFamily="18" charset="0"/>
                <a:cs typeface="Times New Roman" panose="02020603050405020304" pitchFamily="18" charset="0"/>
              </a:rPr>
              <a:t>patriotic hacking</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Blurs line between civilians and combatants in cyber warfare</a:t>
            </a:r>
          </a:p>
        </p:txBody>
      </p:sp>
      <p:sp>
        <p:nvSpPr>
          <p:cNvPr id="3" name="TextBox 2">
            <a:extLst>
              <a:ext uri="{FF2B5EF4-FFF2-40B4-BE49-F238E27FC236}">
                <a16:creationId xmlns:a16="http://schemas.microsoft.com/office/drawing/2014/main" id="{D975898C-9361-F1A8-E2E7-C3F6B7167FD4}"/>
              </a:ext>
            </a:extLst>
          </p:cNvPr>
          <p:cNvSpPr txBox="1"/>
          <p:nvPr/>
        </p:nvSpPr>
        <p:spPr>
          <a:xfrm>
            <a:off x="606055" y="193710"/>
            <a:ext cx="11252200" cy="1323439"/>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StopGeorgia.ru Malware – Crowd-Sourced Cyber Attacks</a:t>
            </a:r>
          </a:p>
        </p:txBody>
      </p:sp>
    </p:spTree>
    <p:extLst>
      <p:ext uri="{BB962C8B-B14F-4D97-AF65-F5344CB8AC3E}">
        <p14:creationId xmlns:p14="http://schemas.microsoft.com/office/powerpoint/2010/main" val="365300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6021-8A2F-0A95-1275-CF7E8931100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B28C8A-D8FB-5307-530A-A02A87480F17}"/>
              </a:ext>
            </a:extLst>
          </p:cNvPr>
          <p:cNvSpPr txBox="1"/>
          <p:nvPr/>
        </p:nvSpPr>
        <p:spPr>
          <a:xfrm>
            <a:off x="769679" y="1050451"/>
            <a:ext cx="10312400" cy="5693866"/>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Industrial control system (ICS) malware</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Linked to Russian group </a:t>
            </a:r>
            <a:r>
              <a:rPr lang="en-US" sz="2800" b="1" dirty="0" err="1">
                <a:latin typeface="Times New Roman" panose="02020603050405020304" pitchFamily="18" charset="0"/>
                <a:cs typeface="Times New Roman" panose="02020603050405020304" pitchFamily="18" charset="0"/>
              </a:rPr>
              <a:t>SandWorm</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Capabilities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Power grid disruption</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DDoS attacks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KillDisk module to permanently damage systems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Real-World Impact</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Linked to </a:t>
            </a:r>
            <a:r>
              <a:rPr lang="en-US" sz="2800" b="1" dirty="0">
                <a:latin typeface="Times New Roman" panose="02020603050405020304" pitchFamily="18" charset="0"/>
                <a:cs typeface="Times New Roman" panose="02020603050405020304" pitchFamily="18" charset="0"/>
              </a:rPr>
              <a:t>Ukraine power outages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Affected Kiev airport in 2016</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Clear example of </a:t>
            </a:r>
            <a:r>
              <a:rPr lang="en-US" sz="2800" b="1" dirty="0">
                <a:latin typeface="Times New Roman" panose="02020603050405020304" pitchFamily="18" charset="0"/>
                <a:cs typeface="Times New Roman" panose="02020603050405020304" pitchFamily="18" charset="0"/>
              </a:rPr>
              <a:t>cyber warfare targeting civilians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Shows malware can cause </a:t>
            </a:r>
            <a:r>
              <a:rPr lang="en-US" sz="2800" b="1" dirty="0">
                <a:latin typeface="Times New Roman" panose="02020603050405020304" pitchFamily="18" charset="0"/>
                <a:cs typeface="Times New Roman" panose="02020603050405020304" pitchFamily="18" charset="0"/>
              </a:rPr>
              <a:t>national-level disruption</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886CD5F-A0B4-7655-C965-C2CCA119419E}"/>
              </a:ext>
            </a:extLst>
          </p:cNvPr>
          <p:cNvSpPr txBox="1"/>
          <p:nvPr/>
        </p:nvSpPr>
        <p:spPr>
          <a:xfrm>
            <a:off x="563525" y="342565"/>
            <a:ext cx="11252200" cy="707886"/>
          </a:xfrm>
          <a:prstGeom prst="rect">
            <a:avLst/>
          </a:prstGeom>
          <a:noFill/>
        </p:spPr>
        <p:txBody>
          <a:bodyPr wrap="square">
            <a:spAutoFit/>
          </a:bodyPr>
          <a:lstStyle/>
          <a:p>
            <a:pPr algn="ctr"/>
            <a:r>
              <a:rPr lang="en-US" sz="4000" b="1"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BlackEnergy</a:t>
            </a: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 Infrastructure Disruption Malware</a:t>
            </a:r>
          </a:p>
        </p:txBody>
      </p:sp>
    </p:spTree>
    <p:extLst>
      <p:ext uri="{BB962C8B-B14F-4D97-AF65-F5344CB8AC3E}">
        <p14:creationId xmlns:p14="http://schemas.microsoft.com/office/powerpoint/2010/main" val="1086930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69B15-E68F-36EA-5C95-A9EBD09898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307DA4-55ED-CA50-73C2-6ECA56A40F73}"/>
              </a:ext>
            </a:extLst>
          </p:cNvPr>
          <p:cNvSpPr txBox="1"/>
          <p:nvPr/>
        </p:nvSpPr>
        <p:spPr>
          <a:xfrm>
            <a:off x="799509" y="1390693"/>
            <a:ext cx="10312400" cy="3046988"/>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Information warfare (IW) is the strategic use of information and communication technologies (ICTs) to gain an advantage, involving </a:t>
            </a:r>
            <a:r>
              <a:rPr lang="en-US" sz="2400" b="1" dirty="0">
                <a:latin typeface="Times New Roman" panose="02020603050405020304" pitchFamily="18" charset="0"/>
                <a:cs typeface="Times New Roman" panose="02020603050405020304" pitchFamily="18" charset="0"/>
              </a:rPr>
              <a:t>offensive actions</a:t>
            </a:r>
            <a:r>
              <a:rPr lang="en-US" sz="2400" dirty="0">
                <a:latin typeface="Times New Roman" panose="02020603050405020304" pitchFamily="18" charset="0"/>
                <a:cs typeface="Times New Roman" panose="02020603050405020304" pitchFamily="18" charset="0"/>
              </a:rPr>
              <a:t> (like cyberattacks, disinformation) and </a:t>
            </a:r>
            <a:r>
              <a:rPr lang="en-US" sz="2400" b="1" dirty="0">
                <a:latin typeface="Times New Roman" panose="02020603050405020304" pitchFamily="18" charset="0"/>
                <a:cs typeface="Times New Roman" panose="02020603050405020304" pitchFamily="18" charset="0"/>
              </a:rPr>
              <a:t>defensive measures</a:t>
            </a:r>
            <a:r>
              <a:rPr lang="en-US" sz="2400" dirty="0">
                <a:latin typeface="Times New Roman" panose="02020603050405020304" pitchFamily="18" charset="0"/>
                <a:cs typeface="Times New Roman" panose="02020603050405020304" pitchFamily="18" charset="0"/>
              </a:rPr>
              <a:t> (like protecting systems) to influence perceptions, disrupt opponents, and control information flow, encompassing </a:t>
            </a:r>
            <a:r>
              <a:rPr lang="en-US" sz="24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cyberwarfare</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electronic warfare</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propaganda</a:t>
            </a:r>
            <a:r>
              <a:rPr lang="en-US" sz="2400" b="1"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psychological operations</a:t>
            </a:r>
            <a:r>
              <a:rPr lang="en-US" sz="2400" dirty="0">
                <a:latin typeface="Times New Roman" panose="02020603050405020304" pitchFamily="18" charset="0"/>
                <a:cs typeface="Times New Roman" panose="02020603050405020304" pitchFamily="18" charset="0"/>
              </a:rPr>
              <a:t>. It targets an adversary's decision-making by compromising their information systems, data, or public trust, aiming to manipulate outcomes without direct physical force.</a:t>
            </a:r>
          </a:p>
        </p:txBody>
      </p:sp>
      <p:sp>
        <p:nvSpPr>
          <p:cNvPr id="3" name="TextBox 2">
            <a:extLst>
              <a:ext uri="{FF2B5EF4-FFF2-40B4-BE49-F238E27FC236}">
                <a16:creationId xmlns:a16="http://schemas.microsoft.com/office/drawing/2014/main" id="{62E380CC-A3AC-8C88-0B33-C0525F13121A}"/>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pic>
        <p:nvPicPr>
          <p:cNvPr id="4" name="Picture 3">
            <a:extLst>
              <a:ext uri="{FF2B5EF4-FFF2-40B4-BE49-F238E27FC236}">
                <a16:creationId xmlns:a16="http://schemas.microsoft.com/office/drawing/2014/main" id="{A4EC26BF-22FB-0D4E-2C99-F49897255506}"/>
              </a:ext>
            </a:extLst>
          </p:cNvPr>
          <p:cNvPicPr>
            <a:picLocks noChangeAspect="1"/>
          </p:cNvPicPr>
          <p:nvPr/>
        </p:nvPicPr>
        <p:blipFill>
          <a:blip r:embed="rId6"/>
          <a:stretch>
            <a:fillRect/>
          </a:stretch>
        </p:blipFill>
        <p:spPr>
          <a:xfrm>
            <a:off x="9050854" y="4437681"/>
            <a:ext cx="3000375" cy="2266950"/>
          </a:xfrm>
          <a:prstGeom prst="rect">
            <a:avLst/>
          </a:prstGeom>
        </p:spPr>
      </p:pic>
    </p:spTree>
    <p:extLst>
      <p:ext uri="{BB962C8B-B14F-4D97-AF65-F5344CB8AC3E}">
        <p14:creationId xmlns:p14="http://schemas.microsoft.com/office/powerpoint/2010/main" val="1909961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8931-4220-BB99-F3F9-EDBA686F7D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33208E-41AE-2CA1-7D92-AF4C5435CD37}"/>
              </a:ext>
            </a:extLst>
          </p:cNvPr>
          <p:cNvSpPr txBox="1"/>
          <p:nvPr/>
        </p:nvSpPr>
        <p:spPr>
          <a:xfrm>
            <a:off x="1033425" y="1225689"/>
            <a:ext cx="10312400" cy="5632311"/>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Information warfare refers to </a:t>
            </a:r>
            <a:r>
              <a:rPr lang="en-US" sz="2400" b="1" dirty="0">
                <a:latin typeface="Times New Roman" panose="02020603050405020304" pitchFamily="18" charset="0"/>
                <a:cs typeface="Times New Roman" panose="02020603050405020304" pitchFamily="18" charset="0"/>
              </a:rPr>
              <a:t>any deliberate attempt to manipulate, control, disrupt, or exploit information</a:t>
            </a:r>
            <a:r>
              <a:rPr lang="en-US" sz="2400" dirty="0">
                <a:latin typeface="Times New Roman" panose="02020603050405020304" pitchFamily="18" charset="0"/>
                <a:cs typeface="Times New Roman" panose="02020603050405020304" pitchFamily="18" charset="0"/>
              </a:rPr>
              <a:t> to achieve </a:t>
            </a:r>
            <a:r>
              <a:rPr lang="en-US" sz="2400" b="1" dirty="0">
                <a:latin typeface="Times New Roman" panose="02020603050405020304" pitchFamily="18" charset="0"/>
                <a:cs typeface="Times New Roman" panose="02020603050405020304" pitchFamily="18" charset="0"/>
              </a:rPr>
              <a:t>military, political, or strategic objectives</a:t>
            </a:r>
            <a:r>
              <a:rPr lang="en-US" sz="24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cyber warfare, which targets systems and infrastructure, information warfare targets </a:t>
            </a:r>
            <a:r>
              <a:rPr lang="en-US" sz="2400" b="1" dirty="0">
                <a:latin typeface="Times New Roman" panose="02020603050405020304" pitchFamily="18" charset="0"/>
                <a:cs typeface="Times New Roman" panose="02020603050405020304" pitchFamily="18" charset="0"/>
              </a:rPr>
              <a:t>perception, belief, morale, and decision-making</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Importantly, information warfare </a:t>
            </a:r>
            <a:r>
              <a:rPr lang="en-US" sz="2400" b="1" dirty="0">
                <a:latin typeface="Times New Roman" panose="02020603050405020304" pitchFamily="18" charset="0"/>
                <a:cs typeface="Times New Roman" panose="02020603050405020304" pitchFamily="18" charset="0"/>
              </a:rPr>
              <a:t>predates computers</a:t>
            </a:r>
            <a:r>
              <a:rPr lang="en-US" sz="2400" dirty="0">
                <a:latin typeface="Times New Roman" panose="02020603050405020304" pitchFamily="18" charset="0"/>
                <a:cs typeface="Times New Roman" panose="02020603050405020304" pitchFamily="18" charset="0"/>
              </a:rPr>
              <a:t> and has existed as long as conventional warfare itself. Modern technology has merely </a:t>
            </a:r>
            <a:r>
              <a:rPr lang="en-US" sz="2400" b="1" dirty="0">
                <a:latin typeface="Times New Roman" panose="02020603050405020304" pitchFamily="18" charset="0"/>
                <a:cs typeface="Times New Roman" panose="02020603050405020304" pitchFamily="18" charset="0"/>
              </a:rPr>
              <a:t>amplified its reach, speed, and impact</a:t>
            </a:r>
            <a:r>
              <a:rPr lang="en-US" sz="2400"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Core Components of Information Warfare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Information warfare typically consists of </a:t>
            </a:r>
            <a:r>
              <a:rPr lang="en-US" sz="2400" b="1" dirty="0">
                <a:latin typeface="Times New Roman" panose="02020603050405020304" pitchFamily="18" charset="0"/>
                <a:cs typeface="Times New Roman" panose="02020603050405020304" pitchFamily="18" charset="0"/>
              </a:rPr>
              <a:t>three interrelated components</a:t>
            </a:r>
            <a:r>
              <a:rPr lang="en-US" sz="2400" dirty="0">
                <a:latin typeface="Times New Roman" panose="02020603050405020304" pitchFamily="18" charset="0"/>
                <a:cs typeface="Times New Roman" panose="02020603050405020304" pitchFamily="18" charset="0"/>
              </a:rPr>
              <a:t>:</a:t>
            </a: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Information Gathering (Espionage)</a:t>
            </a:r>
            <a:endParaRPr lang="en-US" sz="2400"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Propaganda</a:t>
            </a:r>
            <a:endParaRPr lang="en-US" sz="2400"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Disinformation and Information Control</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93BD40D-A751-0CD0-C065-B0C6338F69B1}"/>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519908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71A7E-A261-0A8C-CEF9-10BD38481A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EAED1E2-4879-7164-371F-DC3960C4B247}"/>
              </a:ext>
            </a:extLst>
          </p:cNvPr>
          <p:cNvSpPr txBox="1"/>
          <p:nvPr/>
        </p:nvSpPr>
        <p:spPr>
          <a:xfrm>
            <a:off x="1033425" y="1225689"/>
            <a:ext cx="10312400" cy="529375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1. Information Gathering (Espionage)</a:t>
            </a:r>
          </a:p>
          <a:p>
            <a:r>
              <a:rPr lang="en-US" sz="2600" dirty="0">
                <a:latin typeface="Times New Roman" panose="02020603050405020304" pitchFamily="18" charset="0"/>
                <a:cs typeface="Times New Roman" panose="02020603050405020304" pitchFamily="18" charset="0"/>
              </a:rPr>
              <a:t>Information gathering involves collecting intelligence about an adversary’s: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Military capabilities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Political intentions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Economic stability</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Public sentiment</a:t>
            </a:r>
          </a:p>
          <a:p>
            <a:r>
              <a:rPr lang="en-US" sz="2600" dirty="0">
                <a:latin typeface="Times New Roman" panose="02020603050405020304" pitchFamily="18" charset="0"/>
                <a:cs typeface="Times New Roman" panose="02020603050405020304" pitchFamily="18" charset="0"/>
              </a:rPr>
              <a:t>In the cyber era, </a:t>
            </a:r>
            <a:r>
              <a:rPr lang="en-US" sz="2600" b="1" dirty="0">
                <a:latin typeface="Times New Roman" panose="02020603050405020304" pitchFamily="18" charset="0"/>
                <a:cs typeface="Times New Roman" panose="02020603050405020304" pitchFamily="18" charset="0"/>
              </a:rPr>
              <a:t>computers and networks are primary tools</a:t>
            </a:r>
            <a:r>
              <a:rPr lang="en-US" sz="2600" dirty="0">
                <a:latin typeface="Times New Roman" panose="02020603050405020304" pitchFamily="18" charset="0"/>
                <a:cs typeface="Times New Roman" panose="02020603050405020304" pitchFamily="18" charset="0"/>
              </a:rPr>
              <a:t> for espionage. Techniques originally used in </a:t>
            </a:r>
            <a:r>
              <a:rPr lang="en-US" sz="2600" b="1" dirty="0">
                <a:latin typeface="Times New Roman" panose="02020603050405020304" pitchFamily="18" charset="0"/>
                <a:cs typeface="Times New Roman" panose="02020603050405020304" pitchFamily="18" charset="0"/>
              </a:rPr>
              <a:t>corporate and industrial espionage</a:t>
            </a:r>
            <a:r>
              <a:rPr lang="en-US" sz="2600" dirty="0">
                <a:latin typeface="Times New Roman" panose="02020603050405020304" pitchFamily="18" charset="0"/>
                <a:cs typeface="Times New Roman" panose="02020603050405020304" pitchFamily="18" charset="0"/>
              </a:rPr>
              <a:t> (as discussed in cyberspace security) are equally applicable in </a:t>
            </a:r>
            <a:r>
              <a:rPr lang="en-US" sz="2600" b="1" dirty="0">
                <a:latin typeface="Times New Roman" panose="02020603050405020304" pitchFamily="18" charset="0"/>
                <a:cs typeface="Times New Roman" panose="02020603050405020304" pitchFamily="18" charset="0"/>
              </a:rPr>
              <a:t>military conflicts</a:t>
            </a:r>
            <a:r>
              <a:rPr lang="en-US" sz="2600" dirty="0">
                <a:latin typeface="Times New Roman" panose="02020603050405020304" pitchFamily="18" charset="0"/>
                <a:cs typeface="Times New Roman" panose="02020603050405020304" pitchFamily="18" charset="0"/>
              </a:rPr>
              <a:t>.</a:t>
            </a:r>
          </a:p>
          <a:p>
            <a:endParaRPr lang="en-US" sz="2600" dirty="0">
              <a:latin typeface="Times New Roman" panose="02020603050405020304" pitchFamily="18" charset="0"/>
              <a:cs typeface="Times New Roman" panose="02020603050405020304" pitchFamily="18" charset="0"/>
            </a:endParaRPr>
          </a:p>
          <a:p>
            <a:pPr algn="ctr"/>
            <a:r>
              <a:rPr lang="en-US" sz="2600" dirty="0">
                <a:latin typeface="Times New Roman" panose="02020603050405020304" pitchFamily="18" charset="0"/>
                <a:cs typeface="Times New Roman" panose="02020603050405020304" pitchFamily="18" charset="0"/>
              </a:rPr>
              <a:t>Espionage is silent by design—the ideal outcome is that the target never realizes information was stolen.</a:t>
            </a:r>
          </a:p>
        </p:txBody>
      </p:sp>
      <p:sp>
        <p:nvSpPr>
          <p:cNvPr id="3" name="TextBox 2">
            <a:extLst>
              <a:ext uri="{FF2B5EF4-FFF2-40B4-BE49-F238E27FC236}">
                <a16:creationId xmlns:a16="http://schemas.microsoft.com/office/drawing/2014/main" id="{DBB2E5FB-26D3-D6E3-253A-A25CA515BA76}"/>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3906020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07BF3-4A27-BA83-2384-CD8B4F9854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E35063-EEEA-58C6-3AE6-112C7D3BA683}"/>
              </a:ext>
            </a:extLst>
          </p:cNvPr>
          <p:cNvSpPr txBox="1"/>
          <p:nvPr/>
        </p:nvSpPr>
        <p:spPr>
          <a:xfrm>
            <a:off x="1033425" y="1225689"/>
            <a:ext cx="10312400" cy="4893647"/>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2. Propaganda</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Propaganda is the </a:t>
            </a:r>
            <a:r>
              <a:rPr lang="en-US" sz="2600" b="1" dirty="0">
                <a:latin typeface="Times New Roman" panose="02020603050405020304" pitchFamily="18" charset="0"/>
                <a:cs typeface="Times New Roman" panose="02020603050405020304" pitchFamily="18" charset="0"/>
              </a:rPr>
              <a:t>deliberate dissemination of biased or selective information</a:t>
            </a:r>
            <a:r>
              <a:rPr lang="en-US" sz="2600" dirty="0">
                <a:latin typeface="Times New Roman" panose="02020603050405020304" pitchFamily="18" charset="0"/>
                <a:cs typeface="Times New Roman" panose="02020603050405020304" pitchFamily="18" charset="0"/>
              </a:rPr>
              <a:t> to influence opinions, attitudes, and behaviors during a conflict.</a:t>
            </a:r>
          </a:p>
          <a:p>
            <a:pPr algn="just"/>
            <a:r>
              <a:rPr lang="en-US" sz="2600" b="1" dirty="0">
                <a:latin typeface="Times New Roman" panose="02020603050405020304" pitchFamily="18" charset="0"/>
                <a:cs typeface="Times New Roman" panose="02020603050405020304" pitchFamily="18" charset="0"/>
              </a:rPr>
              <a:t>Role of the Internet</a:t>
            </a:r>
          </a:p>
          <a:p>
            <a:pPr algn="just"/>
            <a:r>
              <a:rPr lang="en-US" sz="2600" dirty="0">
                <a:latin typeface="Times New Roman" panose="02020603050405020304" pitchFamily="18" charset="0"/>
                <a:cs typeface="Times New Roman" panose="02020603050405020304" pitchFamily="18" charset="0"/>
              </a:rPr>
              <a:t>The Internet is a highly effective propaganda platform because:</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low-cost</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has global reach</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Many users treat online sources as primary or secondary news</a:t>
            </a:r>
          </a:p>
          <a:p>
            <a:pPr algn="just"/>
            <a:r>
              <a:rPr lang="en-US" sz="2600" dirty="0">
                <a:latin typeface="Times New Roman" panose="02020603050405020304" pitchFamily="18" charset="0"/>
                <a:cs typeface="Times New Roman" panose="02020603050405020304" pitchFamily="18" charset="0"/>
              </a:rPr>
              <a:t>A government, terrorist organization, political party, or activist group can operate </a:t>
            </a:r>
            <a:r>
              <a:rPr lang="en-US" sz="2600" b="1" dirty="0">
                <a:latin typeface="Times New Roman" panose="02020603050405020304" pitchFamily="18" charset="0"/>
                <a:cs typeface="Times New Roman" panose="02020603050405020304" pitchFamily="18" charset="0"/>
              </a:rPr>
              <a:t>apparently independent “news” websites</a:t>
            </a:r>
            <a:r>
              <a:rPr lang="en-US" sz="2600" dirty="0">
                <a:latin typeface="Times New Roman" panose="02020603050405020304" pitchFamily="18" charset="0"/>
                <a:cs typeface="Times New Roman" panose="02020603050405020304" pitchFamily="18" charset="0"/>
              </a:rPr>
              <a:t> to shape narratives without appearing directly involved.</a:t>
            </a:r>
          </a:p>
        </p:txBody>
      </p:sp>
      <p:sp>
        <p:nvSpPr>
          <p:cNvPr id="3" name="TextBox 2">
            <a:extLst>
              <a:ext uri="{FF2B5EF4-FFF2-40B4-BE49-F238E27FC236}">
                <a16:creationId xmlns:a16="http://schemas.microsoft.com/office/drawing/2014/main" id="{13708156-CCB3-3B71-46A0-3C20FEA35018}"/>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2906474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7CFB-8512-9796-185C-88E41D55EC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46E3D1-1E32-4BD2-05B7-5C5760C122BF}"/>
              </a:ext>
            </a:extLst>
          </p:cNvPr>
          <p:cNvSpPr txBox="1"/>
          <p:nvPr/>
        </p:nvSpPr>
        <p:spPr>
          <a:xfrm>
            <a:off x="1033425" y="1135498"/>
            <a:ext cx="10312400" cy="52629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3. Information Control</a:t>
            </a:r>
          </a:p>
          <a:p>
            <a:r>
              <a:rPr lang="en-US" sz="2400" dirty="0">
                <a:latin typeface="Times New Roman" panose="02020603050405020304" pitchFamily="18" charset="0"/>
                <a:cs typeface="Times New Roman" panose="02020603050405020304" pitchFamily="18" charset="0"/>
              </a:rPr>
              <a:t>Since World War II, controlling information has been recognized as a </a:t>
            </a:r>
            <a:r>
              <a:rPr lang="en-US" sz="2400" b="1" dirty="0">
                <a:latin typeface="Times New Roman" panose="02020603050405020304" pitchFamily="18" charset="0"/>
                <a:cs typeface="Times New Roman" panose="02020603050405020304" pitchFamily="18" charset="0"/>
              </a:rPr>
              <a:t>strategic necessity</a:t>
            </a:r>
            <a:r>
              <a:rPr lang="en-US" sz="2400" dirty="0">
                <a:latin typeface="Times New Roman" panose="02020603050405020304" pitchFamily="18" charset="0"/>
                <a:cs typeface="Times New Roman" panose="02020603050405020304" pitchFamily="18" charset="0"/>
              </a:rPr>
              <a:t> in warfare. Public perception directly affects:</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Troop morale</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Civilian support</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Political legitimacy</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International alliances</a:t>
            </a:r>
          </a:p>
          <a:p>
            <a:r>
              <a:rPr lang="en-US" sz="2400" b="1" dirty="0">
                <a:latin typeface="Times New Roman" panose="02020603050405020304" pitchFamily="18" charset="0"/>
                <a:cs typeface="Times New Roman" panose="02020603050405020304" pitchFamily="18" charset="0"/>
              </a:rPr>
              <a:t>Historical Examples</a:t>
            </a:r>
          </a:p>
          <a:p>
            <a:r>
              <a:rPr lang="en-US" sz="2400" b="1" dirty="0">
                <a:latin typeface="Times New Roman" panose="02020603050405020304" pitchFamily="18" charset="0"/>
                <a:cs typeface="Times New Roman" panose="02020603050405020304" pitchFamily="18" charset="0"/>
              </a:rPr>
              <a:t>1. Cold War – Radio Free Europe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Western nations broadcast messages into communist countries to encourage dissent and dissatisfaction. Most historians agree this campaign was effective.</a:t>
            </a:r>
          </a:p>
          <a:p>
            <a:r>
              <a:rPr lang="en-US" sz="2400" b="1" dirty="0">
                <a:latin typeface="Times New Roman" panose="02020603050405020304" pitchFamily="18" charset="0"/>
                <a:cs typeface="Times New Roman" panose="02020603050405020304" pitchFamily="18" charset="0"/>
              </a:rPr>
              <a:t>2. Vietnam War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Graphic television coverage significantly influenced public opinion and contributed to domestic opposition.</a:t>
            </a:r>
          </a:p>
        </p:txBody>
      </p:sp>
      <p:sp>
        <p:nvSpPr>
          <p:cNvPr id="3" name="TextBox 2">
            <a:extLst>
              <a:ext uri="{FF2B5EF4-FFF2-40B4-BE49-F238E27FC236}">
                <a16:creationId xmlns:a16="http://schemas.microsoft.com/office/drawing/2014/main" id="{2B5723CE-D638-51E0-615F-172FBCFE14F1}"/>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4080515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B07BE-EEAD-B4DE-CADE-9DE967A18E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C30678-FB51-09CF-BAB1-83F60ECF234C}"/>
              </a:ext>
            </a:extLst>
          </p:cNvPr>
          <p:cNvSpPr txBox="1"/>
          <p:nvPr/>
        </p:nvSpPr>
        <p:spPr>
          <a:xfrm>
            <a:off x="916467" y="1411390"/>
            <a:ext cx="10312400" cy="4524315"/>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1. Machine Learning (ML) and Artificial Intelligence (AI) in Cybersecurity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ML and AI are </a:t>
            </a:r>
            <a:r>
              <a:rPr lang="en-US" sz="2400" b="1" dirty="0">
                <a:latin typeface="Times New Roman" panose="02020603050405020304" pitchFamily="18" charset="0"/>
                <a:cs typeface="Times New Roman" panose="02020603050405020304" pitchFamily="18" charset="0"/>
              </a:rPr>
              <a:t>increasingly being used in offensive cyber operations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Applications in cyber warfare</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AI-generated phishing attacks that are </a:t>
            </a:r>
            <a:r>
              <a:rPr lang="en-US" sz="2400" b="1" dirty="0">
                <a:latin typeface="Times New Roman" panose="02020603050405020304" pitchFamily="18" charset="0"/>
                <a:cs typeface="Times New Roman" panose="02020603050405020304" pitchFamily="18" charset="0"/>
              </a:rPr>
              <a:t>more convincing than human-written emails</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Adversarial AI capable of </a:t>
            </a:r>
            <a:r>
              <a:rPr lang="en-US" sz="2400" b="1" dirty="0">
                <a:latin typeface="Times New Roman" panose="02020603050405020304" pitchFamily="18" charset="0"/>
                <a:cs typeface="Times New Roman" panose="02020603050405020304" pitchFamily="18" charset="0"/>
              </a:rPr>
              <a:t>planning and executing cyber attacks autonomously</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Using ML to </a:t>
            </a:r>
            <a:r>
              <a:rPr lang="en-US" sz="2400" b="1" dirty="0">
                <a:latin typeface="Times New Roman" panose="02020603050405020304" pitchFamily="18" charset="0"/>
                <a:cs typeface="Times New Roman" panose="02020603050405020304" pitchFamily="18" charset="0"/>
              </a:rPr>
              <a:t>improve malware efficiency</a:t>
            </a:r>
            <a:r>
              <a:rPr lang="en-US" sz="2400" dirty="0">
                <a:latin typeface="Times New Roman" panose="02020603050405020304" pitchFamily="18" charset="0"/>
                <a:cs typeface="Times New Roman" panose="02020603050405020304" pitchFamily="18" charset="0"/>
              </a:rPr>
              <a:t>, target vulnerabilities, and adapt attack strategies.</a:t>
            </a:r>
          </a:p>
          <a:p>
            <a:pPr algn="just"/>
            <a:r>
              <a:rPr lang="en-US" sz="2400" b="1" dirty="0">
                <a:latin typeface="Times New Roman" panose="02020603050405020304" pitchFamily="18" charset="0"/>
                <a:cs typeface="Times New Roman" panose="02020603050405020304" pitchFamily="18" charset="0"/>
              </a:rPr>
              <a:t>Example: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Malware instances can report data to a </a:t>
            </a:r>
            <a:r>
              <a:rPr lang="en-US" sz="2400" b="1" dirty="0">
                <a:latin typeface="Times New Roman" panose="02020603050405020304" pitchFamily="18" charset="0"/>
                <a:cs typeface="Times New Roman" panose="02020603050405020304" pitchFamily="18" charset="0"/>
              </a:rPr>
              <a:t>command and control (C2) server</a:t>
            </a:r>
            <a:r>
              <a:rPr lang="en-US" sz="2400" dirty="0">
                <a:latin typeface="Times New Roman" panose="02020603050405020304" pitchFamily="18" charset="0"/>
                <a:cs typeface="Times New Roman" panose="02020603050405020304" pitchFamily="18" charset="0"/>
              </a:rPr>
              <a:t>, where ML algorithms analyze the data to </a:t>
            </a:r>
            <a:r>
              <a:rPr lang="en-US" sz="2400" b="1" dirty="0">
                <a:latin typeface="Times New Roman" panose="02020603050405020304" pitchFamily="18" charset="0"/>
                <a:cs typeface="Times New Roman" panose="02020603050405020304" pitchFamily="18" charset="0"/>
              </a:rPr>
              <a:t>optimize future attacks</a:t>
            </a:r>
            <a:r>
              <a:rPr lang="en-US" sz="24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58638AAD-74D0-9FB1-EBEC-AC08F34EBC8A}"/>
              </a:ext>
            </a:extLst>
          </p:cNvPr>
          <p:cNvSpPr txBox="1"/>
          <p:nvPr/>
        </p:nvSpPr>
        <p:spPr>
          <a:xfrm>
            <a:off x="329609" y="342565"/>
            <a:ext cx="11486116"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Future Trends in Cybersecurity and Cyber Warfare</a:t>
            </a:r>
          </a:p>
        </p:txBody>
      </p:sp>
    </p:spTree>
    <p:extLst>
      <p:ext uri="{BB962C8B-B14F-4D97-AF65-F5344CB8AC3E}">
        <p14:creationId xmlns:p14="http://schemas.microsoft.com/office/powerpoint/2010/main" val="3331919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F685-92A1-2A7F-4D85-D4B9F74594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FA1A62-15E5-4D70-85C8-C0587AFC0A71}"/>
              </a:ext>
            </a:extLst>
          </p:cNvPr>
          <p:cNvSpPr txBox="1"/>
          <p:nvPr/>
        </p:nvSpPr>
        <p:spPr>
          <a:xfrm>
            <a:off x="596900" y="979368"/>
            <a:ext cx="10738882" cy="5632311"/>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Governments worldwide are taking proactive steps against cyber threats. Pakistan has likewise initiated multiple efforts to strengthen its </a:t>
            </a:r>
            <a:r>
              <a:rPr lang="en-US" sz="2400" b="1" dirty="0">
                <a:latin typeface="Times New Roman" panose="02020603050405020304" pitchFamily="18" charset="0"/>
                <a:cs typeface="Times New Roman" panose="02020603050405020304" pitchFamily="18" charset="0"/>
              </a:rPr>
              <a:t>cybersecurity posture</a:t>
            </a:r>
            <a:r>
              <a:rPr lang="en-US" sz="2400" dirty="0">
                <a:latin typeface="Times New Roman" panose="02020603050405020304" pitchFamily="18" charset="0"/>
                <a:cs typeface="Times New Roman" panose="02020603050405020304" pitchFamily="18" charset="0"/>
              </a:rPr>
              <a:t>, enhance capacity building, and improve coordination across public and private sectors.</a:t>
            </a:r>
          </a:p>
          <a:p>
            <a:pPr algn="just"/>
            <a:r>
              <a:rPr lang="en-US" sz="2400" b="1" dirty="0">
                <a:latin typeface="Times New Roman" panose="02020603050405020304" pitchFamily="18" charset="0"/>
                <a:cs typeface="Times New Roman" panose="02020603050405020304" pitchFamily="18" charset="0"/>
              </a:rPr>
              <a:t>National Policies &amp; Legal Frameworks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National Cyber Security Policy (2021)</a:t>
            </a:r>
            <a:r>
              <a:rPr lang="en-US" sz="2400" dirty="0">
                <a:latin typeface="Times New Roman" panose="02020603050405020304" pitchFamily="18" charset="0"/>
                <a:cs typeface="Times New Roman" panose="02020603050405020304" pitchFamily="18" charset="0"/>
              </a:rPr>
              <a:t>: Strategic framework to protect critical infrastructure, promote research, and develop skilled workforce.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Prevention of Electronic Crimes Act (PECA, 2016)</a:t>
            </a:r>
            <a:r>
              <a:rPr lang="en-US" sz="2400" dirty="0">
                <a:latin typeface="Times New Roman" panose="02020603050405020304" pitchFamily="18" charset="0"/>
                <a:cs typeface="Times New Roman" panose="02020603050405020304" pitchFamily="18" charset="0"/>
              </a:rPr>
              <a:t>: Criminalizes cybercrime &amp; cyber terrorism; enables digital forensics and prosecution.</a:t>
            </a:r>
          </a:p>
          <a:p>
            <a:pPr algn="just"/>
            <a:r>
              <a:rPr lang="en-US" sz="2400" b="1" dirty="0">
                <a:latin typeface="Times New Roman" panose="02020603050405020304" pitchFamily="18" charset="0"/>
                <a:cs typeface="Times New Roman" panose="02020603050405020304" pitchFamily="18" charset="0"/>
              </a:rPr>
              <a:t>Cyber Defense &amp; Response Units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PakCERT</a:t>
            </a:r>
            <a:r>
              <a:rPr lang="en-US" sz="2400" dirty="0">
                <a:latin typeface="Times New Roman" panose="02020603050405020304" pitchFamily="18" charset="0"/>
                <a:cs typeface="Times New Roman" panose="02020603050405020304" pitchFamily="18" charset="0"/>
              </a:rPr>
              <a:t>: National Computer Emergency Response Team for early warning, incident response, and threat intelligence.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FIA Cyber Crime Wing</a:t>
            </a:r>
            <a:r>
              <a:rPr lang="en-US" sz="2400" dirty="0">
                <a:latin typeface="Times New Roman" panose="02020603050405020304" pitchFamily="18" charset="0"/>
                <a:cs typeface="Times New Roman" panose="02020603050405020304" pitchFamily="18" charset="0"/>
              </a:rPr>
              <a:t>: Investigates cybercrime, cyber terrorism, and conducts digital forensics.</a:t>
            </a:r>
          </a:p>
          <a:p>
            <a:pPr marL="342900" indent="-342900"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MoITT</a:t>
            </a:r>
            <a:r>
              <a:rPr lang="en-US" sz="2400" dirty="0">
                <a:latin typeface="Times New Roman" panose="02020603050405020304" pitchFamily="18" charset="0"/>
                <a:cs typeface="Times New Roman" panose="02020603050405020304" pitchFamily="18" charset="0"/>
              </a:rPr>
              <a:t>: Coordinates national cybersecurity initiatives and strategies.</a:t>
            </a:r>
          </a:p>
          <a:p>
            <a:pPr algn="just"/>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5556FC8-88FA-2FA9-0693-0D23E40AA8E1}"/>
              </a:ext>
            </a:extLst>
          </p:cNvPr>
          <p:cNvSpPr txBox="1"/>
          <p:nvPr/>
        </p:nvSpPr>
        <p:spPr>
          <a:xfrm>
            <a:off x="223283" y="151179"/>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Positive Trends - Cybersecurity Legislation &amp; Strategy</a:t>
            </a:r>
          </a:p>
        </p:txBody>
      </p:sp>
    </p:spTree>
    <p:extLst>
      <p:ext uri="{BB962C8B-B14F-4D97-AF65-F5344CB8AC3E}">
        <p14:creationId xmlns:p14="http://schemas.microsoft.com/office/powerpoint/2010/main" val="3672659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1FB5-ADBD-0F67-7C29-482A8ED890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5C961A-3772-2730-5B60-185A2B73427B}"/>
              </a:ext>
            </a:extLst>
          </p:cNvPr>
          <p:cNvSpPr txBox="1"/>
          <p:nvPr/>
        </p:nvSpPr>
        <p:spPr>
          <a:xfrm>
            <a:off x="873347" y="1075061"/>
            <a:ext cx="10556653" cy="5293757"/>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Capacity Building &amp; Education</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National Center of Cyber Security (NCCS)</a:t>
            </a:r>
            <a:r>
              <a:rPr lang="en-US" sz="2600" dirty="0">
                <a:latin typeface="Times New Roman" panose="02020603050405020304" pitchFamily="18" charset="0"/>
                <a:cs typeface="Times New Roman" panose="02020603050405020304" pitchFamily="18" charset="0"/>
              </a:rPr>
              <a:t>: R&amp;D, academic programs, and industry collaboration.</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Universities offer </a:t>
            </a:r>
            <a:r>
              <a:rPr lang="en-US" sz="2600" b="1" dirty="0">
                <a:latin typeface="Times New Roman" panose="02020603050405020304" pitchFamily="18" charset="0"/>
                <a:cs typeface="Times New Roman" panose="02020603050405020304" pitchFamily="18" charset="0"/>
              </a:rPr>
              <a:t>BS/MS degrees, certifications, and ethical hacking courses</a:t>
            </a:r>
            <a:r>
              <a:rPr lang="en-US" sz="2600" dirty="0">
                <a:latin typeface="Times New Roman" panose="02020603050405020304" pitchFamily="18" charset="0"/>
                <a:cs typeface="Times New Roman" panose="02020603050405020304" pitchFamily="18" charset="0"/>
              </a:rPr>
              <a:t>.</a:t>
            </a:r>
          </a:p>
          <a:p>
            <a:pPr algn="just"/>
            <a:r>
              <a:rPr lang="en-US" sz="2600" b="1" dirty="0">
                <a:latin typeface="Times New Roman" panose="02020603050405020304" pitchFamily="18" charset="0"/>
                <a:cs typeface="Times New Roman" panose="02020603050405020304" pitchFamily="18" charset="0"/>
              </a:rPr>
              <a:t>Law Enforcement &amp; Task Forces</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Digital Forensics Labs</a:t>
            </a:r>
            <a:r>
              <a:rPr lang="en-US" sz="2600" dirty="0">
                <a:latin typeface="Times New Roman" panose="02020603050405020304" pitchFamily="18" charset="0"/>
                <a:cs typeface="Times New Roman" panose="02020603050405020304" pitchFamily="18" charset="0"/>
              </a:rPr>
              <a:t> in FIA and provincial agencies.</a:t>
            </a: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Joint Cybercrime Task Forces</a:t>
            </a:r>
            <a:r>
              <a:rPr lang="en-US" sz="2600" dirty="0">
                <a:latin typeface="Times New Roman" panose="02020603050405020304" pitchFamily="18" charset="0"/>
                <a:cs typeface="Times New Roman" panose="02020603050405020304" pitchFamily="18" charset="0"/>
              </a:rPr>
              <a:t>: Multi-agency coordination for incident response and evidence collection.</a:t>
            </a:r>
          </a:p>
          <a:p>
            <a:pPr algn="just"/>
            <a:r>
              <a:rPr lang="en-US" sz="2600" b="1" dirty="0">
                <a:latin typeface="Times New Roman" panose="02020603050405020304" pitchFamily="18" charset="0"/>
                <a:cs typeface="Times New Roman" panose="02020603050405020304" pitchFamily="18" charset="0"/>
              </a:rPr>
              <a:t>Public Awareness &amp; Outreach</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Safe Internet usage campaigns.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Training programs for schools, universities, and general public.</a:t>
            </a:r>
          </a:p>
          <a:p>
            <a:pPr algn="just"/>
            <a:endParaRPr lang="en-US"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FC682C1-2952-69DE-242F-5396419BFA86}"/>
              </a:ext>
            </a:extLst>
          </p:cNvPr>
          <p:cNvSpPr txBox="1"/>
          <p:nvPr/>
        </p:nvSpPr>
        <p:spPr>
          <a:xfrm>
            <a:off x="223283" y="151179"/>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Positive Trends - Cyber Defense &amp; Awareness</a:t>
            </a:r>
          </a:p>
        </p:txBody>
      </p:sp>
    </p:spTree>
    <p:extLst>
      <p:ext uri="{BB962C8B-B14F-4D97-AF65-F5344CB8AC3E}">
        <p14:creationId xmlns:p14="http://schemas.microsoft.com/office/powerpoint/2010/main" val="1737647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AD123-1ED6-80A3-5A8B-977EA8BE4B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78DFFC-34B0-C4E2-5C29-D4E8230C54A5}"/>
              </a:ext>
            </a:extLst>
          </p:cNvPr>
          <p:cNvSpPr txBox="1"/>
          <p:nvPr/>
        </p:nvSpPr>
        <p:spPr>
          <a:xfrm>
            <a:off x="990305" y="1521629"/>
            <a:ext cx="10556653" cy="4401205"/>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Threats continue to grow</a:t>
            </a:r>
            <a:r>
              <a:rPr lang="en-US" sz="2800" dirty="0">
                <a:latin typeface="Times New Roman" panose="02020603050405020304" pitchFamily="18" charset="0"/>
                <a:cs typeface="Times New Roman" panose="02020603050405020304" pitchFamily="18" charset="0"/>
              </a:rPr>
              <a:t> as attackers become more sophisticated.</a:t>
            </a:r>
          </a:p>
          <a:p>
            <a:pPr algn="just"/>
            <a:r>
              <a:rPr lang="en-US" sz="2800" dirty="0">
                <a:latin typeface="Times New Roman" panose="02020603050405020304" pitchFamily="18" charset="0"/>
                <a:cs typeface="Times New Roman" panose="02020603050405020304" pitchFamily="18" charset="0"/>
              </a:rPr>
              <a:t>Even groups that </a:t>
            </a:r>
            <a:r>
              <a:rPr lang="en-US" sz="2800" b="1" dirty="0">
                <a:latin typeface="Times New Roman" panose="02020603050405020304" pitchFamily="18" charset="0"/>
                <a:cs typeface="Times New Roman" panose="02020603050405020304" pitchFamily="18" charset="0"/>
              </a:rPr>
              <a:t>haven’t used cyber terrorism directly</a:t>
            </a:r>
            <a:r>
              <a:rPr lang="en-US" sz="2800" dirty="0">
                <a:latin typeface="Times New Roman" panose="02020603050405020304" pitchFamily="18" charset="0"/>
                <a:cs typeface="Times New Roman" panose="02020603050405020304" pitchFamily="18" charset="0"/>
              </a:rPr>
              <a:t> (e.g., Al-Qaeda) exploit the Internet for planning and coordination.</a:t>
            </a:r>
          </a:p>
          <a:p>
            <a:pPr algn="just"/>
            <a:r>
              <a:rPr lang="en-US" sz="2800" b="1" dirty="0">
                <a:latin typeface="Times New Roman" panose="02020603050405020304" pitchFamily="18" charset="0"/>
                <a:cs typeface="Times New Roman" panose="02020603050405020304" pitchFamily="18" charset="0"/>
              </a:rPr>
              <a:t>High-risk attack scenarios</a:t>
            </a:r>
            <a:r>
              <a:rPr lang="en-US" sz="2800" dirty="0">
                <a:latin typeface="Times New Roman" panose="02020603050405020304" pitchFamily="18" charset="0"/>
                <a:cs typeface="Times New Roman" panose="02020603050405020304" pitchFamily="18" charset="0"/>
              </a:rPr>
              <a:t> include:</a:t>
            </a:r>
          </a:p>
          <a:p>
            <a:pPr marL="800100" lvl="1"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Disruption or sabotage of critical infrastructure (power plants, water systems, chemical plants).</a:t>
            </a:r>
          </a:p>
          <a:p>
            <a:pPr marL="800100" lvl="1"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Manipulation of computer-controlled machinery to cause </a:t>
            </a:r>
            <a:r>
              <a:rPr lang="en-US" sz="2800" b="1" dirty="0">
                <a:latin typeface="Times New Roman" panose="02020603050405020304" pitchFamily="18" charset="0"/>
                <a:cs typeface="Times New Roman" panose="02020603050405020304" pitchFamily="18" charset="0"/>
              </a:rPr>
              <a:t>physical harm or environmental damage</a:t>
            </a:r>
            <a:r>
              <a:rPr lang="en-US" sz="2800" dirty="0">
                <a:latin typeface="Times New Roman" panose="02020603050405020304" pitchFamily="18" charset="0"/>
                <a:cs typeface="Times New Roman" panose="02020603050405020304" pitchFamily="18" charset="0"/>
              </a:rPr>
              <a:t>.</a:t>
            </a:r>
          </a:p>
          <a:p>
            <a:pPr algn="just"/>
            <a:r>
              <a:rPr lang="en-US" sz="2800" b="1" dirty="0">
                <a:latin typeface="Times New Roman" panose="02020603050405020304" pitchFamily="18" charset="0"/>
                <a:cs typeface="Times New Roman" panose="02020603050405020304" pitchFamily="18" charset="0"/>
              </a:rPr>
              <a:t>Mass casualties or economic damage</a:t>
            </a:r>
            <a:r>
              <a:rPr lang="en-US" sz="2800" dirty="0">
                <a:latin typeface="Times New Roman" panose="02020603050405020304" pitchFamily="18" charset="0"/>
                <a:cs typeface="Times New Roman" panose="02020603050405020304" pitchFamily="18" charset="0"/>
              </a:rPr>
              <a:t> could result from targeted cyber attacks on critical infrastructure</a:t>
            </a:r>
          </a:p>
        </p:txBody>
      </p:sp>
      <p:sp>
        <p:nvSpPr>
          <p:cNvPr id="3" name="TextBox 2">
            <a:extLst>
              <a:ext uri="{FF2B5EF4-FFF2-40B4-BE49-F238E27FC236}">
                <a16:creationId xmlns:a16="http://schemas.microsoft.com/office/drawing/2014/main" id="{E2CA0072-5462-2E5D-22FE-BABC5EA7CF03}"/>
              </a:ext>
            </a:extLst>
          </p:cNvPr>
          <p:cNvSpPr txBox="1"/>
          <p:nvPr/>
        </p:nvSpPr>
        <p:spPr>
          <a:xfrm>
            <a:off x="352942" y="438258"/>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Negative Trends - Cybersecurity and Cyber Warfare</a:t>
            </a:r>
          </a:p>
        </p:txBody>
      </p:sp>
    </p:spTree>
    <p:extLst>
      <p:ext uri="{BB962C8B-B14F-4D97-AF65-F5344CB8AC3E}">
        <p14:creationId xmlns:p14="http://schemas.microsoft.com/office/powerpoint/2010/main" val="578554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B549-4AF5-71C1-C8DF-C6306DDC80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8BDB5B-A467-E4A4-3D04-7C9A85A1FFA0}"/>
              </a:ext>
            </a:extLst>
          </p:cNvPr>
          <p:cNvSpPr txBox="1"/>
          <p:nvPr/>
        </p:nvSpPr>
        <p:spPr>
          <a:xfrm>
            <a:off x="1149793" y="1010716"/>
            <a:ext cx="10950057" cy="563231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 Strengthening Academic &amp; Research Programs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Dedicated academic programs in computer security.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Encourage research focused on cyber threats and countermeasures.</a:t>
            </a:r>
          </a:p>
          <a:p>
            <a:r>
              <a:rPr lang="en-US" sz="2400" b="1" dirty="0">
                <a:latin typeface="Times New Roman" panose="02020603050405020304" pitchFamily="18" charset="0"/>
                <a:cs typeface="Times New Roman" panose="02020603050405020304" pitchFamily="18" charset="0"/>
              </a:rPr>
              <a:t>2. Law Enforcement &amp; Skilled Professionals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Treat cyber crime more seriously with stricter punishments.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Train highly skilled computer experts in law enforcement.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IT knowledge is insufficient; specialized cybersecurity expertise is essential.</a:t>
            </a:r>
          </a:p>
          <a:p>
            <a:r>
              <a:rPr lang="en-US" sz="2400" b="1" dirty="0">
                <a:latin typeface="Times New Roman" panose="02020603050405020304" pitchFamily="18" charset="0"/>
                <a:cs typeface="Times New Roman" panose="02020603050405020304" pitchFamily="18" charset="0"/>
              </a:rPr>
              <a:t>3. Coordination &amp; Emergency Reporting</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centralized reporting systems for attacks.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 real-time information sharing among security professionals.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detect coordinated cyber attacks early.</a:t>
            </a:r>
          </a:p>
          <a:p>
            <a:r>
              <a:rPr lang="en-US" sz="2400" b="1" dirty="0">
                <a:latin typeface="Times New Roman" panose="02020603050405020304" pitchFamily="18" charset="0"/>
                <a:cs typeface="Times New Roman" panose="02020603050405020304" pitchFamily="18" charset="0"/>
              </a:rPr>
              <a:t>4. Enhanced Security Measures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Maintain recovery processes for critical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Prioritize protection of high-value and sensitive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 that even low-value data can reveal critical information.</a:t>
            </a:r>
          </a:p>
        </p:txBody>
      </p:sp>
      <p:sp>
        <p:nvSpPr>
          <p:cNvPr id="3" name="TextBox 2">
            <a:extLst>
              <a:ext uri="{FF2B5EF4-FFF2-40B4-BE49-F238E27FC236}">
                <a16:creationId xmlns:a16="http://schemas.microsoft.com/office/drawing/2014/main" id="{51BEDF05-2D61-1ABC-FFB3-2F3A9673E6C7}"/>
              </a:ext>
            </a:extLst>
          </p:cNvPr>
          <p:cNvSpPr txBox="1"/>
          <p:nvPr/>
        </p:nvSpPr>
        <p:spPr>
          <a:xfrm>
            <a:off x="161556" y="214973"/>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Defense Against Cyber Terrorism</a:t>
            </a:r>
          </a:p>
        </p:txBody>
      </p:sp>
    </p:spTree>
    <p:extLst>
      <p:ext uri="{BB962C8B-B14F-4D97-AF65-F5344CB8AC3E}">
        <p14:creationId xmlns:p14="http://schemas.microsoft.com/office/powerpoint/2010/main" val="2428986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“Cyber Terrorism is more dangerous than </a:t>
            </a:r>
            <a:r>
              <a:rPr lang="en-US" dirty="0" err="1"/>
              <a:t>Terorism</a:t>
            </a:r>
            <a:r>
              <a:rPr lang="en-US" dirty="0"/>
              <a:t>”</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3956</TotalTime>
  <Words>2367</Words>
  <Application>Microsoft Office PowerPoint</Application>
  <PresentationFormat>Widescreen</PresentationFormat>
  <Paragraphs>205</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2746</cp:revision>
  <dcterms:created xsi:type="dcterms:W3CDTF">2025-10-15T06:15:30Z</dcterms:created>
  <dcterms:modified xsi:type="dcterms:W3CDTF">2026-01-18T15:01:03Z</dcterms:modified>
</cp:coreProperties>
</file>