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20"/>
  </p:notesMasterIdLst>
  <p:sldIdLst>
    <p:sldId id="256" r:id="rId2"/>
    <p:sldId id="261" r:id="rId3"/>
    <p:sldId id="401" r:id="rId4"/>
    <p:sldId id="402" r:id="rId5"/>
    <p:sldId id="403" r:id="rId6"/>
    <p:sldId id="415" r:id="rId7"/>
    <p:sldId id="404" r:id="rId8"/>
    <p:sldId id="405" r:id="rId9"/>
    <p:sldId id="406" r:id="rId10"/>
    <p:sldId id="416" r:id="rId11"/>
    <p:sldId id="407" r:id="rId12"/>
    <p:sldId id="417" r:id="rId13"/>
    <p:sldId id="410" r:id="rId14"/>
    <p:sldId id="418" r:id="rId15"/>
    <p:sldId id="419" r:id="rId16"/>
    <p:sldId id="420" r:id="rId17"/>
    <p:sldId id="421" r:id="rId18"/>
    <p:sldId id="26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842" autoAdjust="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E7D3E-4D6D-4A9E-AA24-8E11DFA8298B}" type="datetimeFigureOut">
              <a:rPr lang="en-PK" smtClean="0"/>
              <a:t>27/11/2025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406AE-9E8D-4B19-A8A6-37C9AB1FA0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808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06AE-9E8D-4B19-A8A6-37C9AB1FA07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1284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11/27/2025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CB6B-98B0-7DD3-973D-99D900F051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Security</a:t>
            </a:r>
            <a:endParaRPr lang="en-PK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B46766-25E3-5BCC-FCFC-68333EE8C7DA}"/>
              </a:ext>
            </a:extLst>
          </p:cNvPr>
          <p:cNvSpPr txBox="1">
            <a:spLocks/>
          </p:cNvSpPr>
          <p:nvPr/>
        </p:nvSpPr>
        <p:spPr>
          <a:xfrm>
            <a:off x="1276604" y="4321893"/>
            <a:ext cx="8053832" cy="1273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# 16 &amp; 17</a:t>
            </a:r>
            <a:endParaRPr lang="en-PK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50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506D-D8CE-6C1D-091D-252ED657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1294-A245-19C5-6231-4502DD71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448" y="372692"/>
            <a:ext cx="8053832" cy="127304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Overview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32F36A-3A53-922C-C868-BF2D2A9357FE}"/>
              </a:ext>
            </a:extLst>
          </p:cNvPr>
          <p:cNvSpPr txBox="1"/>
          <p:nvPr/>
        </p:nvSpPr>
        <p:spPr>
          <a:xfrm>
            <a:off x="1425448" y="2042161"/>
            <a:ext cx="975055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Attacks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Script Injections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Defenses Against SQL Injections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Site Scripting and Other Web Attacks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Attacks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 Phone Attacks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Dark Web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06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5CAF-403C-69C5-2A65-204909667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CCC200A-0BA4-9400-CD30-3792106888DA}"/>
              </a:ext>
            </a:extLst>
          </p:cNvPr>
          <p:cNvSpPr txBox="1"/>
          <p:nvPr/>
        </p:nvSpPr>
        <p:spPr>
          <a:xfrm>
            <a:off x="828040" y="2021790"/>
            <a:ext cx="105359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that we already understand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attackers scan a target system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techniques like ping sweeps, port scanning, OS fingerprinting, and vulnerability scanning, the next step in an attack chain is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exploitation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“Scanning only tells the attacker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attack.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next phase is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attack”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41340E-3661-E44A-0E76-6AF904134C14}"/>
              </a:ext>
            </a:extLst>
          </p:cNvPr>
          <p:cNvSpPr txBox="1"/>
          <p:nvPr/>
        </p:nvSpPr>
        <p:spPr>
          <a:xfrm>
            <a:off x="3048000" y="57911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	CTUAL ATTACKS</a:t>
            </a:r>
          </a:p>
        </p:txBody>
      </p:sp>
    </p:spTree>
    <p:extLst>
      <p:ext uri="{BB962C8B-B14F-4D97-AF65-F5344CB8AC3E}">
        <p14:creationId xmlns:p14="http://schemas.microsoft.com/office/powerpoint/2010/main" val="3664232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6DC53-93EB-20AD-A176-C4A3F6EC6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FCB756-0278-EC82-5B3C-EFE8746F4DDE}"/>
              </a:ext>
            </a:extLst>
          </p:cNvPr>
          <p:cNvSpPr txBox="1"/>
          <p:nvPr/>
        </p:nvSpPr>
        <p:spPr>
          <a:xfrm>
            <a:off x="1874520" y="292636"/>
            <a:ext cx="80568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SQL SCRIPT INJECTION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C149C40-6FDE-DF2D-C1AD-BFA2713A9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815ED-9C81-210D-177B-630D0143E954}"/>
              </a:ext>
            </a:extLst>
          </p:cNvPr>
          <p:cNvSpPr txBox="1"/>
          <p:nvPr/>
        </p:nvSpPr>
        <p:spPr>
          <a:xfrm>
            <a:off x="1087120" y="1576834"/>
            <a:ext cx="1001776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most common and dangerous attacks on websites.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Script Injection is one of the most widely used attacks against web applications.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though modern websites have better defenses,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thousands of sites are still vulnerable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older or poorly coded systems.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 happens when an attacker inserts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malicious SQL commands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an input field (like login boxes, search bars, forms) and the website mistakenly runs those commands on the database.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kumimoji="0" lang="en-PK" altLang="en-PK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909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67DEB-D07A-41E3-D2E2-7CF3FF16F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57344C-8FED-8079-A420-7093416B5BD8}"/>
              </a:ext>
            </a:extLst>
          </p:cNvPr>
          <p:cNvSpPr txBox="1"/>
          <p:nvPr/>
        </p:nvSpPr>
        <p:spPr>
          <a:xfrm>
            <a:off x="1275080" y="289680"/>
            <a:ext cx="9398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SQL &amp; RELATIONAL DATABASES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06B3C37-2587-E49C-4A22-0989E6A08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FC9B68-203A-9347-1681-D6871E6E5C03}"/>
              </a:ext>
            </a:extLst>
          </p:cNvPr>
          <p:cNvSpPr txBox="1"/>
          <p:nvPr/>
        </p:nvSpPr>
        <p:spPr>
          <a:xfrm>
            <a:off x="1117600" y="1172428"/>
            <a:ext cx="99568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understanding SQL Injection, we must understand how relational databases 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Database Basics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in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row =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record / entity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column =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attribute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table has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(unique ID)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connect using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(primary key of another table)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tblUsers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(PK), Username, Password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tblOrders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(PK),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(FK)</a:t>
            </a:r>
          </a:p>
        </p:txBody>
      </p:sp>
    </p:spTree>
    <p:extLst>
      <p:ext uri="{BB962C8B-B14F-4D97-AF65-F5344CB8AC3E}">
        <p14:creationId xmlns:p14="http://schemas.microsoft.com/office/powerpoint/2010/main" val="3314632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9C24A1-656B-8FBE-631A-AB762E97C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650" y="1009650"/>
            <a:ext cx="9410700" cy="58483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483F94-3CF3-CDB4-EF95-9DC9E7F4D743}"/>
              </a:ext>
            </a:extLst>
          </p:cNvPr>
          <p:cNvSpPr txBox="1"/>
          <p:nvPr/>
        </p:nvSpPr>
        <p:spPr>
          <a:xfrm>
            <a:off x="1275080" y="289680"/>
            <a:ext cx="9398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DATABASE RELATIONS</a:t>
            </a:r>
          </a:p>
        </p:txBody>
      </p:sp>
    </p:spTree>
    <p:extLst>
      <p:ext uri="{BB962C8B-B14F-4D97-AF65-F5344CB8AC3E}">
        <p14:creationId xmlns:p14="http://schemas.microsoft.com/office/powerpoint/2010/main" val="816689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4CBD9-7503-18CE-A2C6-9B42C0681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F6D058-7221-F24C-587F-657E7914691F}"/>
              </a:ext>
            </a:extLst>
          </p:cNvPr>
          <p:cNvSpPr txBox="1"/>
          <p:nvPr/>
        </p:nvSpPr>
        <p:spPr>
          <a:xfrm>
            <a:off x="1805940" y="254337"/>
            <a:ext cx="8194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LOGIN WORKS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6EFF086-4447-1768-5EA8-07071DDD3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17946-394F-DDCC-BFC1-256E7DE86529}"/>
              </a:ext>
            </a:extLst>
          </p:cNvPr>
          <p:cNvSpPr txBox="1"/>
          <p:nvPr/>
        </p:nvSpPr>
        <p:spPr>
          <a:xfrm>
            <a:off x="1056640" y="1359654"/>
            <a:ext cx="1053592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normal login page takes: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checks them in the database.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this combination exists → user logs 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not → access denied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CE3F61-1D67-4AC6-5266-887B4D192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80" y="4217233"/>
            <a:ext cx="11681546" cy="12811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FCF901-8C61-5281-9DC2-CA14ECF86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80" y="5569466"/>
            <a:ext cx="11548805" cy="117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095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26B20-3E6A-6A60-6024-5917C7EE3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AE8B74-A4E5-8CDC-9A95-9C327C82207D}"/>
              </a:ext>
            </a:extLst>
          </p:cNvPr>
          <p:cNvSpPr txBox="1"/>
          <p:nvPr/>
        </p:nvSpPr>
        <p:spPr>
          <a:xfrm>
            <a:off x="1805940" y="197346"/>
            <a:ext cx="8194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SQL IJECTION HAPPENS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35C0718-5079-9688-B651-5BDB3BFED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3EC007-7872-B362-F38B-46EEEDBED5EF}"/>
              </a:ext>
            </a:extLst>
          </p:cNvPr>
          <p:cNvSpPr txBox="1"/>
          <p:nvPr/>
        </p:nvSpPr>
        <p:spPr>
          <a:xfrm>
            <a:off x="772160" y="1156454"/>
            <a:ext cx="105359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programmer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uses user input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inside SQL commands, attackers can inject SQL code.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 works by putting some SQL into the username and password block that is always true.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‘’ OR X=X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54EE9C-E55A-1209-619D-AD5446AB7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114" y="3403223"/>
            <a:ext cx="9948411" cy="14689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19C854-2893-110B-7F21-004FEF890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624" y="4922004"/>
            <a:ext cx="10028351" cy="115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169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3AE21-9AA8-8059-550B-501F3FFA9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1DDA6A-EFDC-9106-705D-30493DDA7D5B}"/>
              </a:ext>
            </a:extLst>
          </p:cNvPr>
          <p:cNvSpPr txBox="1"/>
          <p:nvPr/>
        </p:nvSpPr>
        <p:spPr>
          <a:xfrm>
            <a:off x="1026160" y="272564"/>
            <a:ext cx="103936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DEFENSES AGAISNT SQL INJECTION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0D44DFB-0B9C-D199-71F6-38F2F703A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DA9A8A-C3D3-E038-0324-CF2C672EB968}"/>
              </a:ext>
            </a:extLst>
          </p:cNvPr>
          <p:cNvSpPr txBox="1"/>
          <p:nvPr/>
        </p:nvSpPr>
        <p:spPr>
          <a:xfrm>
            <a:off x="772160" y="1164828"/>
            <a:ext cx="1053592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Input Validation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for dangerous characters: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found → block input and log an error. But attackers sometimes bypass this, so more defenses are needed.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Parameterized Queries / Prepared Statements (Best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mixing user input in SQL: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tblUsers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USERNAME = ? AND PASSWORD = ?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is treated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as SQL code.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074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DA847-7C62-F478-A957-1E38BAB18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C17DB4-D720-0813-D95E-B19B2D102CA8}"/>
              </a:ext>
            </a:extLst>
          </p:cNvPr>
          <p:cNvSpPr txBox="1"/>
          <p:nvPr/>
        </p:nvSpPr>
        <p:spPr>
          <a:xfrm>
            <a:off x="899160" y="418386"/>
            <a:ext cx="103936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DEFENSES AGAISNT SQL INJECTION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02A75FD-59F2-52D7-7F14-C89A4385C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60A975-FC43-A9CE-3F89-5BE8CB37245B}"/>
              </a:ext>
            </a:extLst>
          </p:cNvPr>
          <p:cNvSpPr txBox="1"/>
          <p:nvPr/>
        </p:nvSpPr>
        <p:spPr>
          <a:xfrm>
            <a:off x="955040" y="1703308"/>
            <a:ext cx="105359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Stored Procedures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predefined database queries.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Escaping Input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Escape or sanitize special characters.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ORM Frameworks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frameworks (Django, Laravel, Spring Boot) automatically avoid SQLi.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Web Application Firewalls (WAF)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detect SQL injection patterns.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6034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579E6-F123-BA00-63C7-CB3B90203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8E615A-74B8-5C01-F813-4268DD8BB2AA}"/>
              </a:ext>
            </a:extLst>
          </p:cNvPr>
          <p:cNvSpPr txBox="1"/>
          <p:nvPr/>
        </p:nvSpPr>
        <p:spPr>
          <a:xfrm>
            <a:off x="1998980" y="402719"/>
            <a:ext cx="8194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Cross-Site Scripting (XSS)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3628160-6439-807E-FCC7-59AD7CD25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33BB8-5E4B-4F62-21C9-E44C49F1005F}"/>
              </a:ext>
            </a:extLst>
          </p:cNvPr>
          <p:cNvSpPr txBox="1"/>
          <p:nvPr/>
        </p:nvSpPr>
        <p:spPr>
          <a:xfrm>
            <a:off x="772160" y="1938774"/>
            <a:ext cx="105359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powerful attack where malicious scripts run inside another user’s browser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Cross-Site Scripting (XSS) is a web attack in which an attacker injects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malicious client-side scripts (usually JavaScript)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 website so that the script runs in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users’ browsers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website should only run its own code.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due to poor input filtering, it ends up running the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attacker’s code.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010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6FB6B-2A8D-F0C2-F193-642F331D9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2E180C-BB43-3F59-3AA5-6285AF4F1904}"/>
              </a:ext>
            </a:extLst>
          </p:cNvPr>
          <p:cNvSpPr txBox="1"/>
          <p:nvPr/>
        </p:nvSpPr>
        <p:spPr>
          <a:xfrm>
            <a:off x="1998980" y="402719"/>
            <a:ext cx="8194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Cross-Site Scripting (XSS)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D37823-48C6-CD4C-4167-00263E413353}"/>
              </a:ext>
            </a:extLst>
          </p:cNvPr>
          <p:cNvSpPr txBox="1"/>
          <p:nvPr/>
        </p:nvSpPr>
        <p:spPr>
          <a:xfrm>
            <a:off x="751840" y="1573014"/>
            <a:ext cx="105359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website </a:t>
            </a:r>
            <a:r>
              <a:rPr lang="en-PK" altLang="en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accepts user input</a:t>
            </a: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(comments, reviews, messages, profile fields, search bars).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input is </a:t>
            </a:r>
            <a:r>
              <a:rPr lang="en-PK" altLang="en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filtered or sanitized</a:t>
            </a: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malicious input is </a:t>
            </a:r>
            <a:r>
              <a:rPr lang="en-PK" altLang="en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or displayed</a:t>
            </a: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other users.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another user visits that page, the </a:t>
            </a:r>
            <a:r>
              <a:rPr lang="en-PK" altLang="en-PK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attacker’s script executes</a:t>
            </a:r>
            <a:r>
              <a:rPr lang="en-PK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normal site behaviour</a:t>
            </a:r>
            <a:r>
              <a:rPr lang="en-US" altLang="en-PK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major online shopping portals, such as </a:t>
            </a:r>
            <a:r>
              <a:rPr lang="en-US" sz="32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Amazon.com</a:t>
            </a:r>
            <a:r>
              <a:rPr lang="en-US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filter input and are not susceptible to this attack. </a:t>
            </a:r>
            <a:endParaRPr lang="en-PK" altLang="en-PK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5086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02654-DE50-C522-7CA2-D1C202A08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BDE25D-D276-1E53-11D9-965E345E047F}"/>
              </a:ext>
            </a:extLst>
          </p:cNvPr>
          <p:cNvSpPr txBox="1"/>
          <p:nvPr/>
        </p:nvSpPr>
        <p:spPr>
          <a:xfrm>
            <a:off x="1805940" y="354380"/>
            <a:ext cx="8194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Other Common Web Attacks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8801316-0BC5-60EB-5FA3-AE5DCAB35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080" y="1359654"/>
            <a:ext cx="11033760" cy="26332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45FC30-F16B-38ED-5BF9-368AC337CE83}"/>
              </a:ext>
            </a:extLst>
          </p:cNvPr>
          <p:cNvSpPr txBox="1"/>
          <p:nvPr/>
        </p:nvSpPr>
        <p:spPr>
          <a:xfrm>
            <a:off x="828040" y="1359654"/>
            <a:ext cx="10535920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Directory Traversal (Path Traversal) 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“Attacker escapes the web folder and accesses sensitive system files.”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Cookie Poisoning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“Modifying cookies to impersonate users or manipulate application behavior.”</a:t>
            </a:r>
          </a:p>
          <a:p>
            <a:pPr algn="ctr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Hijacking (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Typosquatting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“Attacker creates fake URLs that look similar to real websites.”</a:t>
            </a:r>
          </a:p>
          <a:p>
            <a:pPr algn="ctr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Injection (Shell Injection)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“Attacker forces the server to run system commands.”</a:t>
            </a:r>
          </a:p>
          <a:p>
            <a:pPr marL="342900" lvl="0" indent="-342900" algn="just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PK" altLang="en-PK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BE9BA2-D680-6C05-BA2E-3493DC530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02599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271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137FD-BDB3-2F9F-A98B-D2A197854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5E2B88-03EA-B2AC-6C0C-E7AD74CB0CF5}"/>
              </a:ext>
            </a:extLst>
          </p:cNvPr>
          <p:cNvSpPr txBox="1"/>
          <p:nvPr/>
        </p:nvSpPr>
        <p:spPr>
          <a:xfrm>
            <a:off x="1998980" y="402719"/>
            <a:ext cx="8194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WIRELESS ATTACKS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9E27C0-F2BD-FB31-A8A1-EF59A8361FD8}"/>
              </a:ext>
            </a:extLst>
          </p:cNvPr>
          <p:cNvSpPr txBox="1"/>
          <p:nvPr/>
        </p:nvSpPr>
        <p:spPr>
          <a:xfrm>
            <a:off x="828040" y="1471910"/>
            <a:ext cx="1053592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Evil Twin Attack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evil twin attack uses a fake wireless access point that looks identical to a real one.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copy the same SSID so users think they are connecting to a trusted network.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DoS attack may be used to knock the real access point offline.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then automatically connect to the attacker’s fake WAP.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lets the attacker steal data or monitor user traffic.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WPS PIN Attack – Simple Explanation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WPS uses an 8-digit PIN to make connecting to Wi-Fi easier.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exploit weaknesses in how this PIN is transmitted.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intercept or brute-force the PIN to gain access to the router.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they have the PIN, they can extract the WPA2 password.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attack works mainly on routers with WPS enabled.</a:t>
            </a:r>
          </a:p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72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92F20-2C59-562D-2B37-239487D6A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507A23-0D27-EFFA-DA67-F11AB2B015F1}"/>
              </a:ext>
            </a:extLst>
          </p:cNvPr>
          <p:cNvSpPr txBox="1"/>
          <p:nvPr/>
        </p:nvSpPr>
        <p:spPr>
          <a:xfrm>
            <a:off x="1998980" y="402719"/>
            <a:ext cx="8194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CELL PHONES  ATTACKS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D14B3D-47A5-7847-D23E-178A471BB074}"/>
              </a:ext>
            </a:extLst>
          </p:cNvPr>
          <p:cNvSpPr txBox="1"/>
          <p:nvPr/>
        </p:nvSpPr>
        <p:spPr>
          <a:xfrm>
            <a:off x="828040" y="1248232"/>
            <a:ext cx="1053592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Bluesnarfing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Bluesnarfing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unauthorized access to a phone via Bluetooth.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can steal contacts, messages, or files without the user knowing.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happens when Bluetooth is left discoverable or unsecured.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Bluejacking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Bluejacking sends unsolicited messages to nearby Bluetooth devices.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doesn’t steal data but can annoy or trick users.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only when the target device has discoverable Bluetooth.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are Bluebugging (Bluetooth) &amp; Pod Slurping (USB)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546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E416A-D2FF-E449-5D0C-198575049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7CE8EA-669F-82F0-3986-B4F549BC1306}"/>
              </a:ext>
            </a:extLst>
          </p:cNvPr>
          <p:cNvSpPr txBox="1"/>
          <p:nvPr/>
        </p:nvSpPr>
        <p:spPr>
          <a:xfrm>
            <a:off x="1998980" y="402719"/>
            <a:ext cx="81940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Dark Web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0878E8-2656-3C85-5742-A49DD595AAE3}"/>
              </a:ext>
            </a:extLst>
          </p:cNvPr>
          <p:cNvSpPr txBox="1"/>
          <p:nvPr/>
        </p:nvSpPr>
        <p:spPr>
          <a:xfrm>
            <a:off x="929640" y="1679605"/>
            <a:ext cx="1053592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Dark Web is a part of the Internet accessible only through special networks like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Tor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onion routing.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packets are encrypted in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layers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routed through several proxy servers.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proxy only knows the previous and next hop, keeping the origin and destination anonymous.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the Dark Web highly private, but it is often used for both legal privacy and illegal activities</a:t>
            </a:r>
          </a:p>
        </p:txBody>
      </p:sp>
    </p:spTree>
    <p:extLst>
      <p:ext uri="{BB962C8B-B14F-4D97-AF65-F5344CB8AC3E}">
        <p14:creationId xmlns:p14="http://schemas.microsoft.com/office/powerpoint/2010/main" val="3669581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B01E82-CB2A-372B-A35B-4CC6549E9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92735"/>
            <a:ext cx="9652000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867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4840-87B7-5C2F-E6CB-CE9BD61D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8328" y="1425940"/>
            <a:ext cx="6194552" cy="2807208"/>
          </a:xfrm>
        </p:spPr>
        <p:txBody>
          <a:bodyPr>
            <a:normAutofit/>
          </a:bodyPr>
          <a:lstStyle/>
          <a:p>
            <a:r>
              <a:rPr lang="en-US" sz="8000" dirty="0"/>
              <a:t>Thank you!</a:t>
            </a:r>
            <a:endParaRPr lang="en-PK" sz="8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9812F-AABC-0688-A538-8A303FE5DAE1}"/>
              </a:ext>
            </a:extLst>
          </p:cNvPr>
          <p:cNvSpPr txBox="1"/>
          <p:nvPr/>
        </p:nvSpPr>
        <p:spPr>
          <a:xfrm>
            <a:off x="640080" y="3429000"/>
            <a:ext cx="10535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“Thank you for your attention! Stay curious, stay safe, and always remember: cybersecurity starts with awareness”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95868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{45F63935-1AF4-4F8C-991F-4D25D3E9C223}TF2ec419c9-97c3-4958-b02a-0886397d33afcfe10e4b-d68909c4b1b0</Template>
  <TotalTime>2490</TotalTime>
  <Words>1029</Words>
  <Application>Microsoft Office PowerPoint</Application>
  <PresentationFormat>Widescreen</PresentationFormat>
  <Paragraphs>121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Rockwell</vt:lpstr>
      <vt:lpstr>Rockwell Condensed</vt:lpstr>
      <vt:lpstr>Times New Roman</vt:lpstr>
      <vt:lpstr>Wingdings</vt:lpstr>
      <vt:lpstr>Wood Type</vt:lpstr>
      <vt:lpstr>Cyber Security</vt:lpstr>
      <vt:lpstr>Lecture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Adil Ahmed</cp:lastModifiedBy>
  <cp:revision>1608</cp:revision>
  <dcterms:created xsi:type="dcterms:W3CDTF">2025-10-15T06:15:30Z</dcterms:created>
  <dcterms:modified xsi:type="dcterms:W3CDTF">2025-11-27T10:39:15Z</dcterms:modified>
</cp:coreProperties>
</file>