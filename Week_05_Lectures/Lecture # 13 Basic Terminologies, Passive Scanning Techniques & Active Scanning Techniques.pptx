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9"/>
  </p:notesMasterIdLst>
  <p:sldIdLst>
    <p:sldId id="256" r:id="rId2"/>
    <p:sldId id="261" r:id="rId3"/>
    <p:sldId id="349" r:id="rId4"/>
    <p:sldId id="401" r:id="rId5"/>
    <p:sldId id="402" r:id="rId6"/>
    <p:sldId id="403" r:id="rId7"/>
    <p:sldId id="404" r:id="rId8"/>
    <p:sldId id="405" r:id="rId9"/>
    <p:sldId id="406" r:id="rId10"/>
    <p:sldId id="351" r:id="rId11"/>
    <p:sldId id="407" r:id="rId12"/>
    <p:sldId id="409" r:id="rId13"/>
    <p:sldId id="410" r:id="rId14"/>
    <p:sldId id="412" r:id="rId15"/>
    <p:sldId id="413" r:id="rId16"/>
    <p:sldId id="414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21/11/2025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11/21/2025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250000000000*/microsoft.com" TargetMode="External"/><Relationship Id="rId2" Type="http://schemas.openxmlformats.org/officeDocument/2006/relationships/hyperlink" Target="https://www.netcraft.com/book-a-demo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nmap.org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lang="en-PK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2170684" y="458605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15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448" y="37269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F36A-3A53-922C-C868-BF2D2A9357FE}"/>
              </a:ext>
            </a:extLst>
          </p:cNvPr>
          <p:cNvSpPr txBox="1"/>
          <p:nvPr/>
        </p:nvSpPr>
        <p:spPr>
          <a:xfrm>
            <a:off x="1425448" y="2042161"/>
            <a:ext cx="97505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Terminologies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Scanning Techniques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Scanning Techniques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10B2F0-00F2-490A-BDAC-0BCB912C36EF}"/>
              </a:ext>
            </a:extLst>
          </p:cNvPr>
          <p:cNvSpPr txBox="1"/>
          <p:nvPr/>
        </p:nvSpPr>
        <p:spPr>
          <a:xfrm>
            <a:off x="2753360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Hacker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A14DCA8-C30D-FBF2-C808-43ECA7E91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E304B6-FC20-066E-1872-1CC22DEE0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989706"/>
              </p:ext>
            </p:extLst>
          </p:nvPr>
        </p:nvGraphicFramePr>
        <p:xfrm>
          <a:off x="457200" y="891956"/>
          <a:ext cx="11115040" cy="58336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1547">
                  <a:extLst>
                    <a:ext uri="{9D8B030D-6E8A-4147-A177-3AD203B41FA5}">
                      <a16:colId xmlns:a16="http://schemas.microsoft.com/office/drawing/2014/main" val="3854698064"/>
                    </a:ext>
                  </a:extLst>
                </a:gridCol>
                <a:gridCol w="4356853">
                  <a:extLst>
                    <a:ext uri="{9D8B030D-6E8A-4147-A177-3AD203B41FA5}">
                      <a16:colId xmlns:a16="http://schemas.microsoft.com/office/drawing/2014/main" val="1175816177"/>
                    </a:ext>
                  </a:extLst>
                </a:gridCol>
                <a:gridCol w="1533964">
                  <a:extLst>
                    <a:ext uri="{9D8B030D-6E8A-4147-A177-3AD203B41FA5}">
                      <a16:colId xmlns:a16="http://schemas.microsoft.com/office/drawing/2014/main" val="1903147249"/>
                    </a:ext>
                  </a:extLst>
                </a:gridCol>
                <a:gridCol w="3332676">
                  <a:extLst>
                    <a:ext uri="{9D8B030D-6E8A-4147-A177-3AD203B41FA5}">
                      <a16:colId xmlns:a16="http://schemas.microsoft.com/office/drawing/2014/main" val="3148274575"/>
                    </a:ext>
                  </a:extLst>
                </a:gridCol>
              </a:tblGrid>
              <a:tr h="782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/>
                        <a:t>Type of Hacker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Purpose / Motivation</a:t>
                      </a:r>
                      <a:endParaRPr lang="en-US" sz="26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/>
                        <a:t>Legality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/>
                        <a:t>Example / Activity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extLst>
                  <a:ext uri="{0D108BD9-81ED-4DB2-BD59-A6C34878D82A}">
                    <a16:rowId xmlns:a16="http://schemas.microsoft.com/office/drawing/2014/main" val="3088498875"/>
                  </a:ext>
                </a:extLst>
              </a:tr>
              <a:tr h="11341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White Hat</a:t>
                      </a:r>
                      <a:endParaRPr lang="en-US" sz="26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Helps organizations improve security by finding vulnerabilities</a:t>
                      </a:r>
                      <a:endParaRPr lang="en-US" sz="26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Legal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Penetration testing, security audits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extLst>
                  <a:ext uri="{0D108BD9-81ED-4DB2-BD59-A6C34878D82A}">
                    <a16:rowId xmlns:a16="http://schemas.microsoft.com/office/drawing/2014/main" val="1866179409"/>
                  </a:ext>
                </a:extLst>
              </a:tr>
              <a:tr h="14861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/>
                        <a:t>Black Hat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Exploits systems for personal gain, theft, or damage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Illegal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Data theft, ransomware attacks, hacking websites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extLst>
                  <a:ext uri="{0D108BD9-81ED-4DB2-BD59-A6C34878D82A}">
                    <a16:rowId xmlns:a16="http://schemas.microsoft.com/office/drawing/2014/main" val="21683822"/>
                  </a:ext>
                </a:extLst>
              </a:tr>
              <a:tr h="2190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/>
                        <a:t>Gray Hat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Exploits systems without permission but does not have malicious intent; may notify organization afterward</a:t>
                      </a:r>
                      <a:endParaRPr lang="en-US" sz="26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/>
                        <a:t>Semi-legal / unethical</a:t>
                      </a:r>
                      <a:endParaRPr lang="en-US" sz="260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dirty="0"/>
                        <a:t>Finding vulnerabilities without permission, then reporting or exploiting them</a:t>
                      </a:r>
                      <a:endParaRPr lang="en-US" sz="26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072" marR="88072" marT="44036" marB="44036" anchor="ctr"/>
                </a:tc>
                <a:extLst>
                  <a:ext uri="{0D108BD9-81ED-4DB2-BD59-A6C34878D82A}">
                    <a16:rowId xmlns:a16="http://schemas.microsoft.com/office/drawing/2014/main" val="217772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51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5CAF-403C-69C5-2A65-20490966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CC200A-0BA4-9400-CD30-3792106888DA}"/>
              </a:ext>
            </a:extLst>
          </p:cNvPr>
          <p:cNvSpPr txBox="1"/>
          <p:nvPr/>
        </p:nvSpPr>
        <p:spPr>
          <a:xfrm>
            <a:off x="828040" y="1310590"/>
            <a:ext cx="1053592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a lot of people who download tools and perform cyber attacks without really understanding what they are doing.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PK" altLang="en-PK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Inexperienced hackers </a:t>
            </a:r>
            <a:r>
              <a:rPr lang="en-PK" altLang="en-P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use pre-made tools or scripts to attack systems without really understanding how they work. Often opportunistic and not very skilled</a:t>
            </a:r>
            <a:r>
              <a:rPr lang="en-US" altLang="en-P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PK" altLang="en-PK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Kiddies</a:t>
            </a:r>
            <a:r>
              <a:rPr lang="en-US" altLang="en-PK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important term,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phreaking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refers to hacking into phones (which predates hacking into computer systems).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PK" altLang="en-P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practice of hacking into telephone networks to make free calls, listen to calls, or exploit the system. It was popular before computer hacking became widespread</a:t>
            </a:r>
            <a:r>
              <a:rPr lang="en-US" altLang="en-P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altLang="en-PK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Phreaking,</a:t>
            </a:r>
            <a:endParaRPr lang="en-PK" altLang="en-PK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PK" altLang="en-PK" sz="2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1340E-3661-E44A-0E76-6AF904134C14}"/>
              </a:ext>
            </a:extLst>
          </p:cNvPr>
          <p:cNvSpPr txBox="1"/>
          <p:nvPr/>
        </p:nvSpPr>
        <p:spPr>
          <a:xfrm>
            <a:off x="2458720" y="21335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Hacker </a:t>
            </a:r>
          </a:p>
        </p:txBody>
      </p:sp>
    </p:spTree>
    <p:extLst>
      <p:ext uri="{BB962C8B-B14F-4D97-AF65-F5344CB8AC3E}">
        <p14:creationId xmlns:p14="http://schemas.microsoft.com/office/powerpoint/2010/main" val="366423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DC53-93EB-20AD-A176-C4A3F6EC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CB756-0278-EC82-5B3C-EFE8746F4DDE}"/>
              </a:ext>
            </a:extLst>
          </p:cNvPr>
          <p:cNvSpPr txBox="1"/>
          <p:nvPr/>
        </p:nvSpPr>
        <p:spPr>
          <a:xfrm>
            <a:off x="2372360" y="323116"/>
            <a:ext cx="6913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Red Team Vs Blue Team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149C40-6FDE-DF2D-C1AD-BFA2713A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815ED-9C81-210D-177B-630D0143E954}"/>
              </a:ext>
            </a:extLst>
          </p:cNvPr>
          <p:cNvSpPr txBox="1"/>
          <p:nvPr/>
        </p:nvSpPr>
        <p:spPr>
          <a:xfrm>
            <a:off x="1087120" y="1523950"/>
            <a:ext cx="100177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penetration testing is conducted to emulate a specific adversary or type of adversary. This is done by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Red Team.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organization is concerned primarily about nation-state attacks, then a red team can conduct a penetration test utilizing the same techniques that are commonly used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nation-state attacks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contrast to the red team is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Team,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defensive team attempting to stop the red team’s attack.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0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7DEB-D07A-41E3-D2E2-7CF3FF16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57344C-8FED-8079-A420-7093416B5BD8}"/>
              </a:ext>
            </a:extLst>
          </p:cNvPr>
          <p:cNvSpPr txBox="1"/>
          <p:nvPr/>
        </p:nvSpPr>
        <p:spPr>
          <a:xfrm>
            <a:off x="2021840" y="252521"/>
            <a:ext cx="776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Reconnaissance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Phase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6B3C37-2587-E49C-4A22-0989E6A0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C9B68-203A-9347-1681-D6871E6E5C03}"/>
              </a:ext>
            </a:extLst>
          </p:cNvPr>
          <p:cNvSpPr txBox="1"/>
          <p:nvPr/>
        </p:nvSpPr>
        <p:spPr>
          <a:xfrm>
            <a:off x="995680" y="1528028"/>
            <a:ext cx="9956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intelligent/experienced hacker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going to attempt to find out information about a target before actually attempting an attack.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robber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want to know about a bank’s alarm systems, number of guards, police response time, and so on, a black hat hacker would want to know about your system’s security.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may surprise you is how much information can be found easily on the Internet without even attaching to the target system.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63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4CBD9-7503-18CE-A2C6-9B42C068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6D058-7221-F24C-587F-657E7914691F}"/>
              </a:ext>
            </a:extLst>
          </p:cNvPr>
          <p:cNvSpPr txBox="1"/>
          <p:nvPr/>
        </p:nvSpPr>
        <p:spPr>
          <a:xfrm>
            <a:off x="1805940" y="254337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Passive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EFF086-4447-1768-5EA8-07071DDD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17946-394F-DDCC-BFC1-256E7DE86529}"/>
              </a:ext>
            </a:extLst>
          </p:cNvPr>
          <p:cNvSpPr txBox="1"/>
          <p:nvPr/>
        </p:nvSpPr>
        <p:spPr>
          <a:xfrm>
            <a:off x="772160" y="1337548"/>
            <a:ext cx="105359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company XYZ shows “Asad– IT Manager” on their website, a hacker can search his name online. If former employees complain that he is strict and fires people quickly, the hacker can call a staff member pretending to work under Asad. By acting worried about losing his job, the hacker may trick the employee into sharing their password.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also check: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staff questions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discussion forums → reveals system problems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shows technologies used (e.g., ASP.NET = Windows servers)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hiring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indicates new or inexperienced admins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this information helps attackers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a believable and effective social engineering attack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09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6B20-3E6A-6A60-6024-5917C7EE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E8B74-A4E5-8CDC-9A95-9C327C82207D}"/>
              </a:ext>
            </a:extLst>
          </p:cNvPr>
          <p:cNvSpPr txBox="1"/>
          <p:nvPr/>
        </p:nvSpPr>
        <p:spPr>
          <a:xfrm>
            <a:off x="1805940" y="197346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Passive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5C0718-5079-9688-B651-5BDB3BFE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EC007-7872-B362-F38B-46EEEDBED5EF}"/>
              </a:ext>
            </a:extLst>
          </p:cNvPr>
          <p:cNvSpPr txBox="1"/>
          <p:nvPr/>
        </p:nvSpPr>
        <p:spPr>
          <a:xfrm>
            <a:off x="772160" y="1156454"/>
            <a:ext cx="105359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Discussion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check forums, bulletin boards, and chat rooms to see if IT staff from the target company are asking technical questions.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 admin posts about a server problem, the hacker learns what software or system the company is using.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Ads Revealing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postings can expose what technologies a company uses.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company advertises for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developers only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hacker knows they likely use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+ IIS servers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attacks can be focused on that stack.</a:t>
            </a:r>
          </a:p>
        </p:txBody>
      </p:sp>
    </p:spTree>
    <p:extLst>
      <p:ext uri="{BB962C8B-B14F-4D97-AF65-F5344CB8AC3E}">
        <p14:creationId xmlns:p14="http://schemas.microsoft.com/office/powerpoint/2010/main" val="285416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AE21-9AA8-8059-550B-501F3FFA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1DDA6A-EFDC-9106-705D-30493DDA7D5B}"/>
              </a:ext>
            </a:extLst>
          </p:cNvPr>
          <p:cNvSpPr txBox="1"/>
          <p:nvPr/>
        </p:nvSpPr>
        <p:spPr>
          <a:xfrm>
            <a:off x="1805940" y="223857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Passive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D44DFB-0B9C-D199-71F6-38F2F703A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A9A8A-C3D3-E038-0324-CF2C672EB968}"/>
              </a:ext>
            </a:extLst>
          </p:cNvPr>
          <p:cNvSpPr txBox="1"/>
          <p:nvPr/>
        </p:nvSpPr>
        <p:spPr>
          <a:xfrm>
            <a:off x="772160" y="1307068"/>
            <a:ext cx="105359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Ads Showing Weakness or High Turnover: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job ads for the same IT position can reveal internal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small company keeps hiring network admins, the hacker assumes high turnover or inexperienced staff—making the company easier to exploit.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specific websites that provide information an attacker may find useful.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Netcraft: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technical details about websites.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hacker can see what web server a company uses and when it was last rebooted, information useful for planning attacks.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Archive.org: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old versions of websites.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hacker can view older pages that might reveal outdated info, exposed files, or previous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81807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CD21B-A8DA-67C0-4DE2-FD29F0BB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3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79E6-F123-BA00-63C7-CB3B9020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E615A-74B8-5C01-F813-4268DD8BB2AA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628160-6439-807E-FCC7-59AD7CD2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3BB8-5E4B-4F62-21C9-E44C49F1005F}"/>
              </a:ext>
            </a:extLst>
          </p:cNvPr>
          <p:cNvSpPr txBox="1"/>
          <p:nvPr/>
        </p:nvSpPr>
        <p:spPr>
          <a:xfrm>
            <a:off x="772160" y="1622148"/>
            <a:ext cx="10535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previously mentioned techniques are all considered passive, as they do not require the attacker to connect to the target system.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attacker is not actually connecting to the target system, it is impossible for an intrusion detection system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(IDS)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the scan.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scans are far more reliable but may be detected by the target system. There are a few types of active scans: Ping Sweep, Port Scanning, Vulnerability Scan and so on. </a:t>
            </a:r>
          </a:p>
        </p:txBody>
      </p:sp>
    </p:spTree>
    <p:extLst>
      <p:ext uri="{BB962C8B-B14F-4D97-AF65-F5344CB8AC3E}">
        <p14:creationId xmlns:p14="http://schemas.microsoft.com/office/powerpoint/2010/main" val="1140010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21A7-F934-E9A5-450C-8307E1E7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EB9CE8-C6EA-4B19-600A-83A518B84687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02DFB8-F6F9-780C-7D89-C8CCE28F4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778DD-AE93-C106-F854-2572BB5CA795}"/>
              </a:ext>
            </a:extLst>
          </p:cNvPr>
          <p:cNvSpPr txBox="1"/>
          <p:nvPr/>
        </p:nvSpPr>
        <p:spPr>
          <a:xfrm>
            <a:off x="772160" y="1502400"/>
            <a:ext cx="105359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PING SWEEP, </a:t>
            </a:r>
            <a:r>
              <a:rPr lang="en-PK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an ICMP scan, works by sending a series of ICMP "echo request" packets (pings) to a range of IP addresses within a network to identify which hosts are active and "alive“</a:t>
            </a:r>
            <a:r>
              <a:rPr lang="en-US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observing which devices respond with an "echo reply," an attacker or network administrator can create a map of active targets</a:t>
            </a:r>
            <a:r>
              <a:rPr lang="en-US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PK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network with 50 potential IP addresses, if only 22 respond to the echo requests, those 22 are known to be active devices. </a:t>
            </a:r>
            <a:endParaRPr lang="en-US" altLang="en-PK" sz="28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activity is often detectable by Intrusion Detection Systems (IDS) because it generates a noticeable spike in ICMP traffic, which is unusual for normal network operations</a:t>
            </a:r>
            <a:r>
              <a:rPr lang="en-US" altLang="en-PK" sz="28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alt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D0581A-9666-8716-FC40-8A9F79CA2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21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2654-DE50-C522-7CA2-D1C202A0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DE25D-D276-1E53-11D9-965E345E047F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801316-0BC5-60EB-5FA3-AE5DCAB3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5FC30-F16B-38ED-5BF9-368AC337CE83}"/>
              </a:ext>
            </a:extLst>
          </p:cNvPr>
          <p:cNvSpPr txBox="1"/>
          <p:nvPr/>
        </p:nvSpPr>
        <p:spPr>
          <a:xfrm>
            <a:off x="772160" y="1502400"/>
            <a:ext cx="105359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Scanning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attempting to contact each network port on the target system and see which ones are open.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1024 well-known ports that are usually associated with specific services.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161 is associated with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Network Management Protocol (SNMP).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attacker detects port 161 open on the target system, he might decide to try SNMP-related attacks.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Google search for port scanner will reveal a host of well-known, widely used, and often free port scanners. However, the most popular port scanner in the hacking and security community is the free tool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https://nmap.org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PK" altLang="en-PK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BE9BA2-D680-6C05-BA2E-3493DC53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27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859A-F1F4-EA80-5924-5CF7A49B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2E9EC-1513-48C7-E0E8-812AB800FB7A}"/>
              </a:ext>
            </a:extLst>
          </p:cNvPr>
          <p:cNvSpPr txBox="1"/>
          <p:nvPr/>
        </p:nvSpPr>
        <p:spPr>
          <a:xfrm>
            <a:off x="1998980" y="7556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Common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Port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 Types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532E98-C177-05D4-79EF-94D6F9B58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9DD52-B3BE-31AE-1981-617C4740A118}"/>
              </a:ext>
            </a:extLst>
          </p:cNvPr>
          <p:cNvSpPr txBox="1"/>
          <p:nvPr/>
        </p:nvSpPr>
        <p:spPr>
          <a:xfrm>
            <a:off x="635000" y="856357"/>
            <a:ext cx="1053592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TCP Connect Scan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the full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3-way handshake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(SYN → SYN/ACK → ACK).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but easily detected.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exactly which ports accept connections.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SYN Scan (Half-Open Scan)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SYN packet and waits for SYN/ACK.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 handshake → stealthier.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popular with attackers because it reveals open ports with less chance of detection.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FIN, NULL, and XMAS Scans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unusual TCP packets (no flags, FIN only, or all flags).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bypass simple firewalls.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can still detect them.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UDP Scan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UDP packets to discover open UDP ports.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and less reliable, but helps detect services like DNS, DHCP, SNMP.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5A9FC0-AFB3-3903-CC9F-2A6E4A4B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93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9E35-3750-8F7E-1C24-4D30709B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23CE8-48CF-38F5-875B-59DC5122C47A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DEED1F-7E13-92B0-77E5-0000A411B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1CEB0-17E8-4450-8F4B-BD6A68D369FD}"/>
              </a:ext>
            </a:extLst>
          </p:cNvPr>
          <p:cNvSpPr txBox="1"/>
          <p:nvPr/>
        </p:nvSpPr>
        <p:spPr>
          <a:xfrm>
            <a:off x="772160" y="1502400"/>
            <a:ext cx="1053592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Assessment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checking a system to see if it is vulnerable to specific attacks.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hackers can use vulnerability assessment tools to assess your system, these tools are designed to allow you to assess your system. 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are not particularly stealthy and thus will probably be detected by an intrusion detection system.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(Nessus, OpenVAS, Nexpose) to search for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weaknesses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software version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security patches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3B9FE8-758A-436E-E93C-AC147EB62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04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F03B-5BD4-7C0E-3008-4A2CCE5F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00180-2D21-9BC0-AB7F-47165F25BC82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Active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Scanning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Techniques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01D48C3-18DA-9493-ACB2-FAD3CF23B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E6A54D-63E5-5E86-1D0F-BF4430989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9A6495-D44F-37AE-B3AD-4E992BFFE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2566"/>
              </p:ext>
            </p:extLst>
          </p:nvPr>
        </p:nvGraphicFramePr>
        <p:xfrm>
          <a:off x="919480" y="1452880"/>
          <a:ext cx="10353040" cy="487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13762">
                  <a:extLst>
                    <a:ext uri="{9D8B030D-6E8A-4147-A177-3AD203B41FA5}">
                      <a16:colId xmlns:a16="http://schemas.microsoft.com/office/drawing/2014/main" val="2313524261"/>
                    </a:ext>
                  </a:extLst>
                </a:gridCol>
                <a:gridCol w="6539278">
                  <a:extLst>
                    <a:ext uri="{9D8B030D-6E8A-4147-A177-3AD203B41FA5}">
                      <a16:colId xmlns:a16="http://schemas.microsoft.com/office/drawing/2014/main" val="992927746"/>
                    </a:ext>
                  </a:extLst>
                </a:gridCol>
              </a:tblGrid>
              <a:tr h="1007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Active Scanning Technique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Purpose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103606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Ping Sweep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Find which hosts are alive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64337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Port Scanning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Identify open/closed ports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994053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Vulnerability Scan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Find security weaknesses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69132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Banner Grabbing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Learn service + version info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441688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OS Fingerprinting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Detect operating system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737148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Service Detection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Map services running on each port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199486"/>
                  </a:ext>
                </a:extLst>
              </a:tr>
              <a:tr h="55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/>
                        <a:t>Packet Crafting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Bypass filters, gather more info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47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40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328" y="142594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“The Red Team exposes the weaknesses; the Blue Team fortifies the defenses — together they build an unbreakable security.”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2390</TotalTime>
  <Words>1379</Words>
  <Application>Microsoft Office PowerPoint</Application>
  <PresentationFormat>Widescreen</PresentationFormat>
  <Paragraphs>117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Cyber Security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1520</cp:revision>
  <dcterms:created xsi:type="dcterms:W3CDTF">2025-10-15T06:15:30Z</dcterms:created>
  <dcterms:modified xsi:type="dcterms:W3CDTF">2025-11-21T08:55:09Z</dcterms:modified>
</cp:coreProperties>
</file>