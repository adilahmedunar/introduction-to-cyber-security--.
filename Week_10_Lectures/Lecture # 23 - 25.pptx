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9"/>
  </p:notesMasterIdLst>
  <p:sldIdLst>
    <p:sldId id="256" r:id="rId2"/>
    <p:sldId id="261" r:id="rId3"/>
    <p:sldId id="475" r:id="rId4"/>
    <p:sldId id="497" r:id="rId5"/>
    <p:sldId id="498" r:id="rId6"/>
    <p:sldId id="499" r:id="rId7"/>
    <p:sldId id="500" r:id="rId8"/>
    <p:sldId id="501" r:id="rId9"/>
    <p:sldId id="502" r:id="rId10"/>
    <p:sldId id="503" r:id="rId11"/>
    <p:sldId id="506" r:id="rId12"/>
    <p:sldId id="504" r:id="rId13"/>
    <p:sldId id="505" r:id="rId14"/>
    <p:sldId id="507" r:id="rId15"/>
    <p:sldId id="508" r:id="rId16"/>
    <p:sldId id="509" r:id="rId17"/>
    <p:sldId id="510" r:id="rId18"/>
    <p:sldId id="511" r:id="rId19"/>
    <p:sldId id="512" r:id="rId20"/>
    <p:sldId id="513" r:id="rId21"/>
    <p:sldId id="514" r:id="rId22"/>
    <p:sldId id="515" r:id="rId23"/>
    <p:sldId id="516" r:id="rId24"/>
    <p:sldId id="518" r:id="rId25"/>
    <p:sldId id="517" r:id="rId26"/>
    <p:sldId id="519" r:id="rId27"/>
    <p:sldId id="26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3842" autoAdjust="0"/>
  </p:normalViewPr>
  <p:slideViewPr>
    <p:cSldViewPr snapToGrid="0">
      <p:cViewPr varScale="1">
        <p:scale>
          <a:sx n="60" d="100"/>
          <a:sy n="60"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cisecurity.org/" TargetMode="External"/><Relationship Id="rId2" Type="http://schemas.openxmlformats.org/officeDocument/2006/relationships/hyperlink" Target="https://nsacyber.github.io/publications.html" TargetMode="External"/><Relationship Id="rId1" Type="http://schemas.openxmlformats.org/officeDocument/2006/relationships/slideLayout" Target="../slideLayouts/slideLayout7.xml"/><Relationship Id="rId4" Type="http://schemas.openxmlformats.org/officeDocument/2006/relationships/hyperlink" Target="http://www.sans.org/resources/polici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subgraph.com/vega/download/" TargetMode="External"/><Relationship Id="rId2" Type="http://schemas.openxmlformats.org/officeDocument/2006/relationships/hyperlink" Target="https://www.shodan.io/" TargetMode="External"/><Relationship Id="rId1" Type="http://schemas.openxmlformats.org/officeDocument/2006/relationships/slideLayout" Target="../slideLayouts/slideLayout7.xml"/><Relationship Id="rId4" Type="http://schemas.openxmlformats.org/officeDocument/2006/relationships/hyperlink" Target="https://github.com/greenbone/openvas-scanne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865884" y="440317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a:t>
            </a:r>
            <a:r>
              <a:rPr lang="en-US" sz="7200" b="1">
                <a:latin typeface="Times New Roman" panose="02020603050405020304" pitchFamily="18" charset="0"/>
                <a:cs typeface="Times New Roman" panose="02020603050405020304" pitchFamily="18" charset="0"/>
              </a:rPr>
              <a:t># 23 - 25</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987044" y="1468550"/>
            <a:ext cx="9750552" cy="5016758"/>
          </a:xfrm>
          <a:prstGeom prst="rect">
            <a:avLst/>
          </a:prstGeom>
          <a:noFill/>
        </p:spPr>
        <p:txBody>
          <a:bodyPr wrap="square">
            <a:spAutoFit/>
          </a:bodyPr>
          <a:lstStyle/>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 Virus Scanners</a:t>
            </a:r>
          </a:p>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Signature – Based Detection</a:t>
            </a:r>
          </a:p>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Behavior – Based Detection</a:t>
            </a:r>
          </a:p>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Virus Scanning Techniques</a:t>
            </a:r>
          </a:p>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How to Secure a System – 6Ps</a:t>
            </a:r>
          </a:p>
          <a:p>
            <a:pPr marL="914400" lvl="1"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Securing Own System</a:t>
            </a:r>
          </a:p>
          <a:p>
            <a:pPr marL="914400" lvl="1"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Securing a Server</a:t>
            </a:r>
          </a:p>
          <a:p>
            <a:pPr marL="914400" lvl="1"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Securing a Network</a:t>
            </a:r>
          </a:p>
          <a:p>
            <a:pPr marL="457200" indent="-457200">
              <a:buFont typeface="Wingdings" panose="05000000000000000000" pitchFamily="2" charset="2"/>
              <a:buChar char="q"/>
            </a:pPr>
            <a:r>
              <a:rPr lang="en-US" sz="3200" b="1" dirty="0">
                <a:latin typeface="Times New Roman" panose="02020603050405020304" pitchFamily="18" charset="0"/>
                <a:ea typeface="Tahoma" panose="020B0604030504040204" pitchFamily="34" charset="0"/>
                <a:cs typeface="Times New Roman" panose="02020603050405020304" pitchFamily="18" charset="0"/>
              </a:rPr>
              <a:t>Vulnerability Scanners</a:t>
            </a:r>
          </a:p>
          <a:p>
            <a:pPr marL="457200"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D929-9745-D180-0388-2230039774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7A5277-5F6F-3B51-E8B9-429F400782CD}"/>
              </a:ext>
            </a:extLst>
          </p:cNvPr>
          <p:cNvSpPr txBox="1"/>
          <p:nvPr/>
        </p:nvSpPr>
        <p:spPr>
          <a:xfrm>
            <a:off x="828040" y="1449199"/>
            <a:ext cx="10312400" cy="5293757"/>
          </a:xfrm>
          <a:prstGeom prst="rect">
            <a:avLst/>
          </a:prstGeom>
          <a:noFill/>
        </p:spPr>
        <p:txBody>
          <a:bodyPr wrap="square">
            <a:spAutoFit/>
          </a:bodyPr>
          <a:lstStyle/>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a:t>
            </a:r>
            <a:r>
              <a:rPr lang="en-US" sz="2600" b="1" dirty="0">
                <a:latin typeface="Times New Roman" panose="02020603050405020304" pitchFamily="18" charset="0"/>
                <a:cs typeface="Times New Roman" panose="02020603050405020304" pitchFamily="18" charset="0"/>
              </a:rPr>
              <a:t>virus scanner (antivirus)</a:t>
            </a:r>
            <a:r>
              <a:rPr lang="en-US" sz="2600" dirty="0">
                <a:latin typeface="Times New Roman" panose="02020603050405020304" pitchFamily="18" charset="0"/>
                <a:cs typeface="Times New Roman" panose="02020603050405020304" pitchFamily="18" charset="0"/>
              </a:rPr>
              <a:t> is security software designed to </a:t>
            </a:r>
            <a:r>
              <a:rPr lang="en-US" sz="2600" b="1" dirty="0">
                <a:latin typeface="Times New Roman" panose="02020603050405020304" pitchFamily="18" charset="0"/>
                <a:cs typeface="Times New Roman" panose="02020603050405020304" pitchFamily="18" charset="0"/>
              </a:rPr>
              <a:t>detect, prevent, and remove malicious software</a:t>
            </a:r>
            <a:r>
              <a:rPr lang="en-US" sz="2600" dirty="0">
                <a:latin typeface="Times New Roman" panose="02020603050405020304" pitchFamily="18" charset="0"/>
                <a:cs typeface="Times New Roman" panose="02020603050405020304" pitchFamily="18" charset="0"/>
              </a:rPr>
              <a:t> from a system.</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Its primary goal is to </a:t>
            </a:r>
            <a:r>
              <a:rPr lang="en-US" sz="2600" b="1" dirty="0">
                <a:latin typeface="Times New Roman" panose="02020603050405020304" pitchFamily="18" charset="0"/>
                <a:cs typeface="Times New Roman" panose="02020603050405020304" pitchFamily="18" charset="0"/>
              </a:rPr>
              <a:t>stop malware before it infects or damages the system</a:t>
            </a:r>
            <a:r>
              <a:rPr lang="en-US" sz="26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Virus scanners are a </a:t>
            </a:r>
            <a:r>
              <a:rPr lang="en-US" sz="2600" b="1" dirty="0">
                <a:latin typeface="Times New Roman" panose="02020603050405020304" pitchFamily="18" charset="0"/>
                <a:cs typeface="Times New Roman" panose="02020603050405020304" pitchFamily="18" charset="0"/>
              </a:rPr>
              <a:t>core component of endpoint security</a:t>
            </a:r>
            <a:r>
              <a:rPr lang="en-US" sz="2600" dirty="0">
                <a:latin typeface="Times New Roman" panose="02020603050405020304" pitchFamily="18" charset="0"/>
                <a:cs typeface="Times New Roman" panose="02020603050405020304" pitchFamily="18" charset="0"/>
              </a:rPr>
              <a:t> in personal computers, servers, and enterprise networks.</a:t>
            </a: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Examples</a:t>
            </a:r>
            <a:r>
              <a:rPr lang="en-US" sz="2600" dirty="0">
                <a:latin typeface="Times New Roman" panose="02020603050405020304" pitchFamily="18" charset="0"/>
                <a:cs typeface="Times New Roman" panose="02020603050405020304" pitchFamily="18" charset="0"/>
              </a:rPr>
              <a:t> of modern antivirus software include </a:t>
            </a:r>
            <a:r>
              <a:rPr lang="en-US" sz="2600" b="1" dirty="0">
                <a:latin typeface="Times New Roman" panose="02020603050405020304" pitchFamily="18" charset="0"/>
                <a:cs typeface="Times New Roman" panose="02020603050405020304" pitchFamily="18" charset="0"/>
              </a:rPr>
              <a:t>Windows Defender, Kaspersky, Bitdefender, Sophos, and McAfee</a:t>
            </a:r>
            <a:r>
              <a:rPr lang="en-US" sz="2600" dirty="0">
                <a:latin typeface="Times New Roman" panose="02020603050405020304" pitchFamily="18" charset="0"/>
                <a:cs typeface="Times New Roman" panose="02020603050405020304" pitchFamily="18" charset="0"/>
              </a:rPr>
              <a:t>.</a:t>
            </a:r>
          </a:p>
          <a:p>
            <a:endParaRPr lang="en-US" sz="2600" b="1"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Real-time example:</a:t>
            </a:r>
          </a:p>
          <a:p>
            <a:pPr algn="just"/>
            <a:r>
              <a:rPr lang="en-US" sz="2600" dirty="0">
                <a:latin typeface="Times New Roman" panose="02020603050405020304" pitchFamily="18" charset="0"/>
                <a:cs typeface="Times New Roman" panose="02020603050405020304" pitchFamily="18" charset="0"/>
              </a:rPr>
              <a:t>Windows Defender is enabled by default in Windows 10 and 11 and provides real-time protection against ransomware, trojans, and spyware.</a:t>
            </a:r>
          </a:p>
          <a:p>
            <a:pPr marL="457200" indent="-457200" algn="just">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3F170C-A032-A237-B56C-83381D2E532B}"/>
              </a:ext>
            </a:extLst>
          </p:cNvPr>
          <p:cNvSpPr txBox="1"/>
          <p:nvPr/>
        </p:nvSpPr>
        <p:spPr>
          <a:xfrm>
            <a:off x="3383280" y="415002"/>
            <a:ext cx="557784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 Scanners</a:t>
            </a:r>
          </a:p>
        </p:txBody>
      </p:sp>
    </p:spTree>
    <p:extLst>
      <p:ext uri="{BB962C8B-B14F-4D97-AF65-F5344CB8AC3E}">
        <p14:creationId xmlns:p14="http://schemas.microsoft.com/office/powerpoint/2010/main" val="211998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BF92-460F-3A7F-B91D-A67ACE3CCC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107643-48FF-B363-92E4-1D340E52365C}"/>
              </a:ext>
            </a:extLst>
          </p:cNvPr>
          <p:cNvSpPr txBox="1"/>
          <p:nvPr/>
        </p:nvSpPr>
        <p:spPr>
          <a:xfrm>
            <a:off x="828040" y="1449199"/>
            <a:ext cx="10312400" cy="4708981"/>
          </a:xfrm>
          <a:prstGeom prst="rect">
            <a:avLst/>
          </a:prstGeom>
          <a:noFill/>
        </p:spPr>
        <p:txBody>
          <a:bodyPr wrap="square">
            <a:spAutoFit/>
          </a:bodyPr>
          <a:lstStyle/>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Virus scanners mainly operate using </a:t>
            </a:r>
            <a:r>
              <a:rPr lang="en-US" sz="3000" b="1" dirty="0">
                <a:latin typeface="Times New Roman" panose="02020603050405020304" pitchFamily="18" charset="0"/>
                <a:cs typeface="Times New Roman" panose="02020603050405020304" pitchFamily="18" charset="0"/>
              </a:rPr>
              <a:t>two detection approaches</a:t>
            </a:r>
            <a:r>
              <a:rPr lang="en-US" sz="3000" dirty="0">
                <a:latin typeface="Times New Roman" panose="02020603050405020304" pitchFamily="18" charset="0"/>
                <a:cs typeface="Times New Roman" panose="02020603050405020304" pitchFamily="18" charset="0"/>
              </a:rPr>
              <a:t>:</a:t>
            </a:r>
          </a:p>
          <a:p>
            <a:pPr marL="971550" lvl="1" indent="-514350">
              <a:buFont typeface="+mj-lt"/>
              <a:buAutoNum type="arabicPeriod"/>
            </a:pPr>
            <a:r>
              <a:rPr lang="en-US" sz="3000" b="1" dirty="0">
                <a:latin typeface="Times New Roman" panose="02020603050405020304" pitchFamily="18" charset="0"/>
                <a:cs typeface="Times New Roman" panose="02020603050405020304" pitchFamily="18" charset="0"/>
              </a:rPr>
              <a:t>Signature-based detection</a:t>
            </a:r>
            <a:endParaRPr lang="en-US" sz="3000"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3000" b="1" dirty="0">
                <a:latin typeface="Times New Roman" panose="02020603050405020304" pitchFamily="18" charset="0"/>
                <a:cs typeface="Times New Roman" panose="02020603050405020304" pitchFamily="18" charset="0"/>
              </a:rPr>
              <a:t>Behavior-based (heuristic) detection</a:t>
            </a:r>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Most modern antivirus solutions use a </a:t>
            </a:r>
            <a:r>
              <a:rPr lang="en-US" sz="3000" b="1" dirty="0">
                <a:latin typeface="Times New Roman" panose="02020603050405020304" pitchFamily="18" charset="0"/>
                <a:cs typeface="Times New Roman" panose="02020603050405020304" pitchFamily="18" charset="0"/>
              </a:rPr>
              <a:t>combination of both</a:t>
            </a:r>
            <a:r>
              <a:rPr lang="en-US" sz="3000" dirty="0">
                <a:latin typeface="Times New Roman" panose="02020603050405020304" pitchFamily="18" charset="0"/>
                <a:cs typeface="Times New Roman" panose="02020603050405020304" pitchFamily="18" charset="0"/>
              </a:rPr>
              <a:t> to improve accuracy</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An Ongoing Virus Scanner </a:t>
            </a:r>
            <a:r>
              <a:rPr lang="en-US" sz="3000" dirty="0">
                <a:latin typeface="Times New Roman" panose="02020603050405020304" pitchFamily="18" charset="0"/>
                <a:cs typeface="Times New Roman" panose="02020603050405020304" pitchFamily="18" charset="0"/>
              </a:rPr>
              <a:t>runs in the background and is constantly checking the PC for any sign of a virus. </a:t>
            </a:r>
          </a:p>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On-demand Virus Scanners </a:t>
            </a:r>
            <a:r>
              <a:rPr lang="en-US" sz="3000" dirty="0">
                <a:latin typeface="Times New Roman" panose="02020603050405020304" pitchFamily="18" charset="0"/>
                <a:cs typeface="Times New Roman" panose="02020603050405020304" pitchFamily="18" charset="0"/>
              </a:rPr>
              <a:t>run only when you launch them.</a:t>
            </a:r>
          </a:p>
          <a:p>
            <a:pPr marL="457200" indent="-457200" algn="just">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Many modern antivirus scanners offer both options.</a:t>
            </a:r>
          </a:p>
        </p:txBody>
      </p:sp>
      <p:sp>
        <p:nvSpPr>
          <p:cNvPr id="3" name="TextBox 2">
            <a:extLst>
              <a:ext uri="{FF2B5EF4-FFF2-40B4-BE49-F238E27FC236}">
                <a16:creationId xmlns:a16="http://schemas.microsoft.com/office/drawing/2014/main" id="{1BEAC5E6-6190-DB6B-8E70-FD42FF52D7CA}"/>
              </a:ext>
            </a:extLst>
          </p:cNvPr>
          <p:cNvSpPr txBox="1"/>
          <p:nvPr/>
        </p:nvSpPr>
        <p:spPr>
          <a:xfrm>
            <a:off x="2164080" y="354042"/>
            <a:ext cx="1020064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How Virus Scanners Work </a:t>
            </a:r>
          </a:p>
        </p:txBody>
      </p:sp>
    </p:spTree>
    <p:extLst>
      <p:ext uri="{BB962C8B-B14F-4D97-AF65-F5344CB8AC3E}">
        <p14:creationId xmlns:p14="http://schemas.microsoft.com/office/powerpoint/2010/main" val="2789507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C90C2-8445-38E4-6C1C-292CE0EF65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E31FD7-D376-F6E2-50F6-15097ADB93C8}"/>
              </a:ext>
            </a:extLst>
          </p:cNvPr>
          <p:cNvSpPr txBox="1"/>
          <p:nvPr/>
        </p:nvSpPr>
        <p:spPr>
          <a:xfrm>
            <a:off x="716280" y="1216749"/>
            <a:ext cx="11066780" cy="4893647"/>
          </a:xfrm>
          <a:prstGeom prst="rect">
            <a:avLst/>
          </a:prstGeom>
          <a:noFill/>
        </p:spPr>
        <p:txBody>
          <a:bodyPr wrap="square">
            <a:spAutoFit/>
          </a:bodyPr>
          <a:lstStyle/>
          <a:p>
            <a:pPr marL="342900"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Antivirus software maintains a </a:t>
            </a:r>
            <a:r>
              <a:rPr lang="en-US" sz="2600" b="1" dirty="0">
                <a:latin typeface="Times New Roman" panose="02020603050405020304" pitchFamily="18" charset="0"/>
                <a:cs typeface="Times New Roman" panose="02020603050405020304" pitchFamily="18" charset="0"/>
              </a:rPr>
              <a:t>database of known virus signatures</a:t>
            </a:r>
            <a:r>
              <a:rPr lang="en-US" sz="26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These signatures contain:</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File hashes</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File size</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Code patterns</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Known behaviors</a:t>
            </a:r>
          </a:p>
          <a:p>
            <a:pPr marL="342900"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database is stored in </a:t>
            </a:r>
            <a:r>
              <a:rPr lang="en-US" sz="2600" b="1" dirty="0">
                <a:latin typeface="Times New Roman" panose="02020603050405020304" pitchFamily="18" charset="0"/>
                <a:cs typeface="Times New Roman" panose="02020603050405020304" pitchFamily="18" charset="0"/>
              </a:rPr>
              <a:t>virus definition files</a:t>
            </a:r>
            <a:r>
              <a:rPr lang="en-US" sz="2600" dirty="0">
                <a:latin typeface="Times New Roman" panose="02020603050405020304" pitchFamily="18" charset="0"/>
                <a:cs typeface="Times New Roman" panose="02020603050405020304" pitchFamily="18" charset="0"/>
              </a:rPr>
              <a:t>, commonly called </a:t>
            </a:r>
            <a:r>
              <a:rPr lang="en-US" sz="2600" b="1" dirty="0">
                <a:latin typeface="Times New Roman" panose="02020603050405020304" pitchFamily="18" charset="0"/>
                <a:cs typeface="Times New Roman" panose="02020603050405020304" pitchFamily="18" charset="0"/>
              </a:rPr>
              <a:t>.</a:t>
            </a:r>
            <a:r>
              <a:rPr lang="en-US" sz="2600" b="1" dirty="0" err="1">
                <a:latin typeface="Times New Roman" panose="02020603050405020304" pitchFamily="18" charset="0"/>
                <a:cs typeface="Times New Roman" panose="02020603050405020304" pitchFamily="18" charset="0"/>
              </a:rPr>
              <a:t>dat</a:t>
            </a:r>
            <a:r>
              <a:rPr lang="en-US" sz="2600" b="1" dirty="0">
                <a:latin typeface="Times New Roman" panose="02020603050405020304" pitchFamily="18" charset="0"/>
                <a:cs typeface="Times New Roman" panose="02020603050405020304" pitchFamily="18" charset="0"/>
              </a:rPr>
              <a:t> files</a:t>
            </a:r>
            <a:r>
              <a:rPr lang="en-US" sz="26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Vendors regularly release updates to detect </a:t>
            </a:r>
            <a:r>
              <a:rPr lang="en-US" sz="2600" b="1" dirty="0">
                <a:latin typeface="Times New Roman" panose="02020603050405020304" pitchFamily="18" charset="0"/>
                <a:cs typeface="Times New Roman" panose="02020603050405020304" pitchFamily="18" charset="0"/>
              </a:rPr>
              <a:t>newly discovered malware</a:t>
            </a:r>
            <a:r>
              <a:rPr lang="en-US" sz="26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How it works:</a:t>
            </a:r>
            <a:endParaRPr lang="en-US" sz="26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Files on disk, email attachments, downloads, and USB devices are scanned.</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Each file is compared against the virus definition database.</a:t>
            </a:r>
          </a:p>
          <a:p>
            <a:pPr marL="800100" lvl="1" indent="-3429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If a match is found, the file is flagged or quarantined.</a:t>
            </a:r>
          </a:p>
        </p:txBody>
      </p:sp>
      <p:sp>
        <p:nvSpPr>
          <p:cNvPr id="3" name="TextBox 2">
            <a:extLst>
              <a:ext uri="{FF2B5EF4-FFF2-40B4-BE49-F238E27FC236}">
                <a16:creationId xmlns:a16="http://schemas.microsoft.com/office/drawing/2014/main" id="{6BE00CF1-1BFC-CE8C-01DC-00B283A05BD4}"/>
              </a:ext>
            </a:extLst>
          </p:cNvPr>
          <p:cNvSpPr txBox="1"/>
          <p:nvPr/>
        </p:nvSpPr>
        <p:spPr>
          <a:xfrm>
            <a:off x="307340" y="130522"/>
            <a:ext cx="12189460" cy="1508105"/>
          </a:xfrm>
          <a:prstGeom prst="rect">
            <a:avLst/>
          </a:prstGeom>
          <a:noFill/>
        </p:spPr>
        <p:txBody>
          <a:bodyPr wrap="square">
            <a:spAutoFit/>
          </a:bodyPr>
          <a:lstStyle/>
          <a:p>
            <a:r>
              <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Signature-Based Detection (Virus Definitions)</a:t>
            </a:r>
          </a:p>
          <a:p>
            <a:endPar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49231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95BB-4521-BFFB-C23E-A29C6361EA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246071-5404-205E-5DFE-A6E756602F2B}"/>
              </a:ext>
            </a:extLst>
          </p:cNvPr>
          <p:cNvSpPr txBox="1"/>
          <p:nvPr/>
        </p:nvSpPr>
        <p:spPr>
          <a:xfrm>
            <a:off x="716280" y="1216749"/>
            <a:ext cx="11066780" cy="5632311"/>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Real-time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When a new ransomware strain is discovered, vendors like Kaspersky or Microsoft release </a:t>
            </a:r>
            <a:r>
              <a:rPr lang="en-US" sz="2400" b="1" dirty="0">
                <a:latin typeface="Times New Roman" panose="02020603050405020304" pitchFamily="18" charset="0"/>
                <a:cs typeface="Times New Roman" panose="02020603050405020304" pitchFamily="18" charset="0"/>
              </a:rPr>
              <a:t>definition updates within hours</a:t>
            </a:r>
            <a:r>
              <a:rPr lang="en-US" sz="2400" dirty="0">
                <a:latin typeface="Times New Roman" panose="02020603050405020304" pitchFamily="18" charset="0"/>
                <a:cs typeface="Times New Roman" panose="02020603050405020304" pitchFamily="18" charset="0"/>
              </a:rPr>
              <a:t> to protect users globally.</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Importance of Antivirus Updates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Virus scanners are only effective if </a:t>
            </a:r>
            <a:r>
              <a:rPr lang="en-US" sz="2400" b="1" dirty="0">
                <a:latin typeface="Times New Roman" panose="02020603050405020304" pitchFamily="18" charset="0"/>
                <a:cs typeface="Times New Roman" panose="02020603050405020304" pitchFamily="18" charset="0"/>
              </a:rPr>
              <a:t>definitions are up to date</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Outdated antivirus software </a:t>
            </a:r>
            <a:r>
              <a:rPr lang="en-US" sz="2400" b="1" dirty="0">
                <a:latin typeface="Times New Roman" panose="02020603050405020304" pitchFamily="18" charset="0"/>
                <a:cs typeface="Times New Roman" panose="02020603050405020304" pitchFamily="18" charset="0"/>
              </a:rPr>
              <a:t>cannot detect new malware</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Updates usually occur:</a:t>
            </a:r>
          </a:p>
          <a:p>
            <a:pPr marL="914400" lvl="1" indent="-457200">
              <a:buFont typeface="+mj-lt"/>
              <a:buAutoNum type="arabicPeriod"/>
            </a:pPr>
            <a:r>
              <a:rPr lang="en-US" sz="2400" dirty="0">
                <a:latin typeface="Times New Roman" panose="02020603050405020304" pitchFamily="18" charset="0"/>
                <a:cs typeface="Times New Roman" panose="02020603050405020304" pitchFamily="18" charset="0"/>
              </a:rPr>
              <a:t>Automatically (recommended)</a:t>
            </a:r>
          </a:p>
          <a:p>
            <a:pPr marL="914400" lvl="1" indent="-457200">
              <a:buFont typeface="+mj-lt"/>
              <a:buAutoNum type="arabicPeriod"/>
            </a:pPr>
            <a:r>
              <a:rPr lang="en-US" sz="2400" dirty="0">
                <a:latin typeface="Times New Roman" panose="02020603050405020304" pitchFamily="18" charset="0"/>
                <a:cs typeface="Times New Roman" panose="02020603050405020304" pitchFamily="18" charset="0"/>
              </a:rPr>
              <a:t>Manually (in restricted environments)</a:t>
            </a:r>
          </a:p>
          <a:p>
            <a:pPr lvl="1"/>
            <a:endParaRPr lang="en-US" sz="2400"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Cybersecurity case: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Many systems infected by </a:t>
            </a:r>
            <a:r>
              <a:rPr lang="en-US" sz="2400" b="1" dirty="0">
                <a:latin typeface="Times New Roman" panose="02020603050405020304" pitchFamily="18" charset="0"/>
                <a:cs typeface="Times New Roman" panose="02020603050405020304" pitchFamily="18" charset="0"/>
              </a:rPr>
              <a:t>WannaCry ransomware (2017)</a:t>
            </a:r>
            <a:r>
              <a:rPr lang="en-US" sz="2400" dirty="0">
                <a:latin typeface="Times New Roman" panose="02020603050405020304" pitchFamily="18" charset="0"/>
                <a:cs typeface="Times New Roman" panose="02020603050405020304" pitchFamily="18" charset="0"/>
              </a:rPr>
              <a:t> were running outdated security software and unpatched systems.</a:t>
            </a:r>
          </a:p>
          <a:p>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44B320-960F-B8F2-B7D7-CD4B80AD0A94}"/>
              </a:ext>
            </a:extLst>
          </p:cNvPr>
          <p:cNvSpPr txBox="1"/>
          <p:nvPr/>
        </p:nvSpPr>
        <p:spPr>
          <a:xfrm>
            <a:off x="307340" y="130522"/>
            <a:ext cx="12189460" cy="1508105"/>
          </a:xfrm>
          <a:prstGeom prst="rect">
            <a:avLst/>
          </a:prstGeom>
          <a:noFill/>
        </p:spPr>
        <p:txBody>
          <a:bodyPr wrap="square">
            <a:spAutoFit/>
          </a:bodyPr>
          <a:lstStyle/>
          <a:p>
            <a:r>
              <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Signature-Based Detection (Virus Definitions)</a:t>
            </a:r>
          </a:p>
          <a:p>
            <a:endPar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519477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13632-85AD-7AF1-2332-F3948740A4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AA8B53-9AD4-FB77-5908-E971AFC4A4E5}"/>
              </a:ext>
            </a:extLst>
          </p:cNvPr>
          <p:cNvSpPr txBox="1"/>
          <p:nvPr/>
        </p:nvSpPr>
        <p:spPr>
          <a:xfrm>
            <a:off x="695960" y="1409789"/>
            <a:ext cx="11066780" cy="5093702"/>
          </a:xfrm>
          <a:prstGeom prst="rect">
            <a:avLst/>
          </a:prstGeom>
          <a:noFill/>
        </p:spPr>
        <p:txBody>
          <a:bodyPr wrap="square">
            <a:spAutoFit/>
          </a:bodyPr>
          <a:lstStyle/>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This method does </a:t>
            </a:r>
            <a:r>
              <a:rPr lang="en-US" sz="2500" b="1" dirty="0">
                <a:latin typeface="Times New Roman" panose="02020603050405020304" pitchFamily="18" charset="0"/>
                <a:cs typeface="Times New Roman" panose="02020603050405020304" pitchFamily="18" charset="0"/>
              </a:rPr>
              <a:t>not rely on known signatures</a:t>
            </a:r>
            <a:r>
              <a:rPr lang="en-US" sz="25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antivirus observes how a program behaves in real time.</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It looks for </a:t>
            </a:r>
            <a:r>
              <a:rPr lang="en-US" sz="2500" b="1" dirty="0">
                <a:latin typeface="Times New Roman" panose="02020603050405020304" pitchFamily="18" charset="0"/>
                <a:cs typeface="Times New Roman" panose="02020603050405020304" pitchFamily="18" charset="0"/>
              </a:rPr>
              <a:t>suspicious activities</a:t>
            </a:r>
            <a:r>
              <a:rPr lang="en-US" sz="2500" dirty="0">
                <a:latin typeface="Times New Roman" panose="02020603050405020304" pitchFamily="18" charset="0"/>
                <a:cs typeface="Times New Roman" panose="02020603050405020304" pitchFamily="18" charset="0"/>
              </a:rPr>
              <a:t>, such as:</a:t>
            </a:r>
          </a:p>
          <a:p>
            <a:pPr marL="800100" lvl="1" indent="-342900">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Modifying the Windows Registry</a:t>
            </a:r>
          </a:p>
          <a:p>
            <a:pPr marL="800100" lvl="1" indent="-342900">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Accessing address books or contact lists</a:t>
            </a:r>
          </a:p>
          <a:p>
            <a:pPr marL="800100" lvl="1" indent="-342900">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Injecting code into other processes</a:t>
            </a:r>
          </a:p>
          <a:p>
            <a:pPr marL="800100" lvl="1" indent="-342900">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Attempting to disable security services</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If behavior matches known malware patterns, the program is blocked.</a:t>
            </a:r>
          </a:p>
          <a:p>
            <a:pPr marL="342900" indent="-34290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Limitation:</a:t>
            </a:r>
            <a:endParaRPr lang="en-US" sz="25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It is based on </a:t>
            </a:r>
            <a:r>
              <a:rPr lang="en-US" sz="2500" b="1" dirty="0">
                <a:latin typeface="Times New Roman" panose="02020603050405020304" pitchFamily="18" charset="0"/>
                <a:cs typeface="Times New Roman" panose="02020603050405020304" pitchFamily="18" charset="0"/>
              </a:rPr>
              <a:t>probability and estimation</a:t>
            </a:r>
            <a:r>
              <a:rPr lang="en-US" sz="2500" dirty="0">
                <a:latin typeface="Times New Roman" panose="02020603050405020304" pitchFamily="18" charset="0"/>
                <a:cs typeface="Times New Roman" panose="02020603050405020304" pitchFamily="18" charset="0"/>
              </a:rPr>
              <a:t>, so false positives can occur.</a:t>
            </a:r>
          </a:p>
          <a:p>
            <a:pPr algn="ctr"/>
            <a:r>
              <a:rPr lang="en-US" sz="2500" b="1" dirty="0">
                <a:latin typeface="Times New Roman" panose="02020603050405020304" pitchFamily="18" charset="0"/>
                <a:cs typeface="Times New Roman" panose="02020603050405020304" pitchFamily="18" charset="0"/>
              </a:rPr>
              <a:t>Real-time example:</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Zero-day malware attacks (unknown threats) are often detected using heuristic analysis before signatures are available.</a:t>
            </a:r>
          </a:p>
        </p:txBody>
      </p:sp>
      <p:sp>
        <p:nvSpPr>
          <p:cNvPr id="3" name="TextBox 2">
            <a:extLst>
              <a:ext uri="{FF2B5EF4-FFF2-40B4-BE49-F238E27FC236}">
                <a16:creationId xmlns:a16="http://schemas.microsoft.com/office/drawing/2014/main" id="{63C24BCA-3121-42C3-1222-2F4179C60E03}"/>
              </a:ext>
            </a:extLst>
          </p:cNvPr>
          <p:cNvSpPr txBox="1"/>
          <p:nvPr/>
        </p:nvSpPr>
        <p:spPr>
          <a:xfrm>
            <a:off x="1221740" y="171162"/>
            <a:ext cx="12189460" cy="800219"/>
          </a:xfrm>
          <a:prstGeom prst="rect">
            <a:avLst/>
          </a:prstGeom>
          <a:noFill/>
        </p:spPr>
        <p:txBody>
          <a:bodyPr wrap="square">
            <a:spAutoFit/>
          </a:bodyPr>
          <a:lstStyle/>
          <a:p>
            <a:r>
              <a:rPr lang="en-US" sz="4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Behavior-Based / Heuristic Detection</a:t>
            </a:r>
          </a:p>
        </p:txBody>
      </p:sp>
    </p:spTree>
    <p:extLst>
      <p:ext uri="{BB962C8B-B14F-4D97-AF65-F5344CB8AC3E}">
        <p14:creationId xmlns:p14="http://schemas.microsoft.com/office/powerpoint/2010/main" val="2319913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B311-70C1-84AB-D3C1-C1B60BC7A30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BEEF51-29B6-8E16-B4F1-47CB0C61F427}"/>
              </a:ext>
            </a:extLst>
          </p:cNvPr>
          <p:cNvSpPr txBox="1"/>
          <p:nvPr/>
        </p:nvSpPr>
        <p:spPr>
          <a:xfrm>
            <a:off x="695960" y="1409789"/>
            <a:ext cx="11066780" cy="5216813"/>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Modern antivirus systems now include:</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Anti-ransomware protection</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Web and email filtering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Sandbox execution</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Cloud-based threat intelligence</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AI and machine learning detection</a:t>
            </a:r>
          </a:p>
          <a:p>
            <a:pPr lvl="1"/>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Real-time example:</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Microsoft Defender uses </a:t>
            </a:r>
            <a:r>
              <a:rPr lang="en-US" sz="2800" b="1" dirty="0">
                <a:latin typeface="Times New Roman" panose="02020603050405020304" pitchFamily="18" charset="0"/>
                <a:cs typeface="Times New Roman" panose="02020603050405020304" pitchFamily="18" charset="0"/>
              </a:rPr>
              <a:t>cloud-based AI models</a:t>
            </a:r>
            <a:r>
              <a:rPr lang="en-US" sz="2800" dirty="0">
                <a:latin typeface="Times New Roman" panose="02020603050405020304" pitchFamily="18" charset="0"/>
                <a:cs typeface="Times New Roman" panose="02020603050405020304" pitchFamily="18" charset="0"/>
              </a:rPr>
              <a:t> to detect new threats across millions of devices.</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163D94-71AD-514E-41A8-223BCAD33A13}"/>
              </a:ext>
            </a:extLst>
          </p:cNvPr>
          <p:cNvSpPr txBox="1"/>
          <p:nvPr/>
        </p:nvSpPr>
        <p:spPr>
          <a:xfrm>
            <a:off x="287020" y="277564"/>
            <a:ext cx="1218946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Modern Antivirus Capabilities (Beyond Viruses)</a:t>
            </a:r>
          </a:p>
        </p:txBody>
      </p:sp>
    </p:spTree>
    <p:extLst>
      <p:ext uri="{BB962C8B-B14F-4D97-AF65-F5344CB8AC3E}">
        <p14:creationId xmlns:p14="http://schemas.microsoft.com/office/powerpoint/2010/main" val="3627848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64A65-3DFA-0C2E-C70E-7372687079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796E5F-26CC-9E88-DFDB-C09D6AE2CEF2}"/>
              </a:ext>
            </a:extLst>
          </p:cNvPr>
          <p:cNvSpPr txBox="1"/>
          <p:nvPr/>
        </p:nvSpPr>
        <p:spPr>
          <a:xfrm>
            <a:off x="685800" y="1237069"/>
            <a:ext cx="11066780" cy="5216813"/>
          </a:xfrm>
          <a:prstGeom prst="rect">
            <a:avLst/>
          </a:prstGeom>
          <a:noFill/>
        </p:spPr>
        <p:txBody>
          <a:bodyPr wrap="square">
            <a:spAutoFit/>
          </a:bodyPr>
          <a:lstStyle/>
          <a:p>
            <a:pPr marL="457200" lvl="0" indent="-457200" defTabSz="914400" eaLnBrk="0" fontAlgn="base" hangingPunct="0">
              <a:spcBef>
                <a:spcPct val="0"/>
              </a:spcBef>
              <a:spcAft>
                <a:spcPct val="0"/>
              </a:spcAft>
              <a:buFont typeface="Arial" panose="020B0604020202020204" pitchFamily="34" charset="0"/>
              <a:buChar char="•"/>
            </a:pPr>
            <a:r>
              <a:rPr lang="en-PK" altLang="en-PK" sz="2800" dirty="0">
                <a:latin typeface="Times New Roman" panose="02020603050405020304" pitchFamily="18" charset="0"/>
                <a:cs typeface="Times New Roman" panose="02020603050405020304" pitchFamily="18" charset="0"/>
              </a:rPr>
              <a:t>Virus scanners use multiple techniques to detect malware</a:t>
            </a:r>
          </a:p>
          <a:p>
            <a:pPr marL="457200" lvl="0" indent="-457200" defTabSz="914400" eaLnBrk="0" fontAlgn="base" hangingPunct="0">
              <a:spcBef>
                <a:spcPct val="0"/>
              </a:spcBef>
              <a:spcAft>
                <a:spcPct val="0"/>
              </a:spcAft>
              <a:buFont typeface="Arial" panose="020B0604020202020204" pitchFamily="34" charset="0"/>
              <a:buChar char="•"/>
            </a:pPr>
            <a:r>
              <a:rPr lang="en-PK" altLang="en-PK" sz="2800" dirty="0">
                <a:latin typeface="Times New Roman" panose="02020603050405020304" pitchFamily="18" charset="0"/>
                <a:cs typeface="Times New Roman" panose="02020603050405020304" pitchFamily="18" charset="0"/>
              </a:rPr>
              <a:t>No single method can detect all threats</a:t>
            </a:r>
          </a:p>
          <a:p>
            <a:pPr marL="457200" lvl="0" indent="-457200" defTabSz="914400" eaLnBrk="0" fontAlgn="base" hangingPunct="0">
              <a:spcBef>
                <a:spcPct val="0"/>
              </a:spcBef>
              <a:spcAft>
                <a:spcPct val="0"/>
              </a:spcAft>
              <a:buFont typeface="Arial" panose="020B0604020202020204" pitchFamily="34" charset="0"/>
              <a:buChar char="•"/>
            </a:pPr>
            <a:r>
              <a:rPr lang="en-PK" altLang="en-PK" sz="2800" dirty="0">
                <a:latin typeface="Times New Roman" panose="02020603050405020304" pitchFamily="18" charset="0"/>
                <a:cs typeface="Times New Roman" panose="02020603050405020304" pitchFamily="18" charset="0"/>
              </a:rPr>
              <a:t>Modern antivirus uses signature-based and </a:t>
            </a:r>
            <a:r>
              <a:rPr lang="en-PK" altLang="en-PK" sz="2800" dirty="0" err="1">
                <a:latin typeface="Times New Roman" panose="02020603050405020304" pitchFamily="18" charset="0"/>
                <a:cs typeface="Times New Roman" panose="02020603050405020304" pitchFamily="18" charset="0"/>
              </a:rPr>
              <a:t>behavior</a:t>
            </a:r>
            <a:r>
              <a:rPr lang="en-PK" altLang="en-PK" sz="2800" dirty="0">
                <a:latin typeface="Times New Roman" panose="02020603050405020304" pitchFamily="18" charset="0"/>
                <a:cs typeface="Times New Roman" panose="02020603050405020304" pitchFamily="18" charset="0"/>
              </a:rPr>
              <a:t>-based detection</a:t>
            </a:r>
          </a:p>
          <a:p>
            <a:r>
              <a:rPr lang="en-US" sz="2800" b="1" dirty="0">
                <a:latin typeface="Times New Roman" panose="02020603050405020304" pitchFamily="18" charset="0"/>
                <a:cs typeface="Times New Roman" panose="02020603050405020304" pitchFamily="18" charset="0"/>
              </a:rPr>
              <a:t>1. Email and Attachment Scanning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Primary malware delivery method is email</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Scans emails and attachments before opening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Can be server-side or local scanning</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Prevents execution of malicious files</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Real-Time Example: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Phishing emails spreading ransomware (</a:t>
            </a:r>
            <a:r>
              <a:rPr lang="en-US" sz="2800" dirty="0" err="1">
                <a:latin typeface="Times New Roman" panose="02020603050405020304" pitchFamily="18" charset="0"/>
                <a:cs typeface="Times New Roman" panose="02020603050405020304" pitchFamily="18" charset="0"/>
              </a:rPr>
              <a:t>LockBit</a:t>
            </a:r>
            <a:r>
              <a:rPr lang="en-US" sz="2800" dirty="0">
                <a:latin typeface="Times New Roman" panose="02020603050405020304" pitchFamily="18" charset="0"/>
                <a:cs typeface="Times New Roman" panose="02020603050405020304" pitchFamily="18" charset="0"/>
              </a:rPr>
              <a:t>, WannaCry)</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Gmail &amp; Microsoft Defender block malicious attachments</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C4835B4-9BAB-D25B-3801-AB88566024B4}"/>
              </a:ext>
            </a:extLst>
          </p:cNvPr>
          <p:cNvSpPr txBox="1"/>
          <p:nvPr/>
        </p:nvSpPr>
        <p:spPr>
          <a:xfrm>
            <a:off x="2522220" y="145484"/>
            <a:ext cx="876554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Virus-Scanning Techniques</a:t>
            </a:r>
          </a:p>
        </p:txBody>
      </p:sp>
    </p:spTree>
    <p:extLst>
      <p:ext uri="{BB962C8B-B14F-4D97-AF65-F5344CB8AC3E}">
        <p14:creationId xmlns:p14="http://schemas.microsoft.com/office/powerpoint/2010/main" val="277076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C86B-9231-4490-69BC-15B78005FC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B040CF-6788-C5FC-9EA7-9587F6AEC566}"/>
              </a:ext>
            </a:extLst>
          </p:cNvPr>
          <p:cNvSpPr txBox="1"/>
          <p:nvPr/>
        </p:nvSpPr>
        <p:spPr>
          <a:xfrm>
            <a:off x="635000" y="1115149"/>
            <a:ext cx="11066780" cy="5216813"/>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2. Download Scanning</a:t>
            </a:r>
          </a:p>
          <a:p>
            <a:pPr algn="just"/>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Another common method is </a:t>
            </a:r>
            <a:r>
              <a:rPr lang="en-US" sz="2800" b="1" dirty="0">
                <a:latin typeface="Times New Roman" panose="02020603050405020304" pitchFamily="18" charset="0"/>
                <a:cs typeface="Times New Roman" panose="02020603050405020304" pitchFamily="18" charset="0"/>
              </a:rPr>
              <a:t>download scanning</a:t>
            </a:r>
            <a:r>
              <a:rPr lang="en-US" sz="2800" dirty="0">
                <a:latin typeface="Times New Roman" panose="02020603050405020304" pitchFamily="18" charset="0"/>
                <a:cs typeface="Times New Roman" panose="02020603050405020304" pitchFamily="18" charset="0"/>
              </a:rPr>
              <a:t>, which checks files downloaded from websites, cloud storage, or FTP servers. Whenever a user downloads software, cracked applications, or browser extensions, the antivirus scans the file for known malware signatures. For instance, many fake software installers hosted on unofficial websites contain </a:t>
            </a:r>
            <a:r>
              <a:rPr lang="en-US" sz="2800" b="1" dirty="0">
                <a:latin typeface="Times New Roman" panose="02020603050405020304" pitchFamily="18" charset="0"/>
                <a:cs typeface="Times New Roman" panose="02020603050405020304" pitchFamily="18" charset="0"/>
              </a:rPr>
              <a:t>trojans or spyware</a:t>
            </a:r>
            <a:r>
              <a:rPr lang="en-US" sz="2800" dirty="0">
                <a:latin typeface="Times New Roman" panose="02020603050405020304" pitchFamily="18" charset="0"/>
                <a:cs typeface="Times New Roman" panose="02020603050405020304" pitchFamily="18" charset="0"/>
              </a:rPr>
              <a:t>, which are detected during the download phase by tools like </a:t>
            </a:r>
            <a:r>
              <a:rPr lang="en-US" sz="2800" b="1" dirty="0">
                <a:latin typeface="Times New Roman" panose="02020603050405020304" pitchFamily="18" charset="0"/>
                <a:cs typeface="Times New Roman" panose="02020603050405020304" pitchFamily="18" charset="0"/>
              </a:rPr>
              <a:t>Kaspersky or Bitdefender</a:t>
            </a:r>
            <a:r>
              <a:rPr lang="en-US" sz="28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Real-Time Example:</a:t>
            </a:r>
            <a:endParaRPr lang="en-US" sz="2800" dirty="0">
              <a:latin typeface="Times New Roman" panose="02020603050405020304" pitchFamily="18" charset="0"/>
              <a:cs typeface="Times New Roman" panose="02020603050405020304" pitchFamily="18" charset="0"/>
            </a:endParaRPr>
          </a:p>
          <a:p>
            <a:pPr marL="914400" lvl="1"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Fake software installers containing trojans</a:t>
            </a:r>
          </a:p>
          <a:p>
            <a:pPr marL="914400" lvl="1"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Antivirus scans file before saving or execution</a:t>
            </a:r>
          </a:p>
          <a:p>
            <a:pPr lvl="0" algn="just" defTabSz="914400" eaLnBrk="0" fontAlgn="base" hangingPunct="0">
              <a:spcBef>
                <a:spcPct val="0"/>
              </a:spcBef>
              <a:spcAft>
                <a:spcPct val="0"/>
              </a:spcAft>
            </a:pPr>
            <a:endParaRPr lang="en-US" sz="25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2743660-EB69-9A1E-8D60-0B4D8FB53B8F}"/>
              </a:ext>
            </a:extLst>
          </p:cNvPr>
          <p:cNvSpPr txBox="1"/>
          <p:nvPr/>
        </p:nvSpPr>
        <p:spPr>
          <a:xfrm>
            <a:off x="2522220" y="145484"/>
            <a:ext cx="876554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Virus-Scanning Techniques</a:t>
            </a:r>
          </a:p>
        </p:txBody>
      </p:sp>
    </p:spTree>
    <p:extLst>
      <p:ext uri="{BB962C8B-B14F-4D97-AF65-F5344CB8AC3E}">
        <p14:creationId xmlns:p14="http://schemas.microsoft.com/office/powerpoint/2010/main" val="156234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318C4-A363-76DD-0FB0-8832577A88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D614DF-BEFD-B259-56BE-8D7B28DD22A7}"/>
              </a:ext>
            </a:extLst>
          </p:cNvPr>
          <p:cNvSpPr txBox="1"/>
          <p:nvPr/>
        </p:nvSpPr>
        <p:spPr>
          <a:xfrm>
            <a:off x="995680" y="1389469"/>
            <a:ext cx="9946640" cy="4355038"/>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3. File scanning</a:t>
            </a:r>
            <a:r>
              <a:rPr lang="en-US" sz="2800" dirty="0">
                <a:latin typeface="Times New Roman" panose="02020603050405020304" pitchFamily="18" charset="0"/>
                <a:cs typeface="Times New Roman" panose="02020603050405020304" pitchFamily="18" charset="0"/>
              </a:rPr>
              <a:t> involves scanning files already present on the system to detect known viruses. This is typically done through on-demand or scheduled scans rather than continuous monitoring. Organizations often schedule weekly or nightly full system scans to detect dormant malware that may not yet be active. For example, a USB-borne virus copied earlier may only be detected during a scheduled scan.</a:t>
            </a:r>
          </a:p>
          <a:p>
            <a:r>
              <a:rPr lang="en-US" sz="2800" b="1" dirty="0">
                <a:latin typeface="Times New Roman" panose="02020603050405020304" pitchFamily="18" charset="0"/>
                <a:cs typeface="Times New Roman" panose="02020603050405020304" pitchFamily="18" charset="0"/>
              </a:rPr>
              <a:t>Best Practice: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Schedule weekly full system scans</a:t>
            </a:r>
          </a:p>
          <a:p>
            <a:pPr algn="just"/>
            <a:endParaRPr lang="en-US" sz="25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56D51A7-B833-5BCC-77A9-3AE60BBFA81F}"/>
              </a:ext>
            </a:extLst>
          </p:cNvPr>
          <p:cNvSpPr txBox="1"/>
          <p:nvPr/>
        </p:nvSpPr>
        <p:spPr>
          <a:xfrm>
            <a:off x="2522220" y="145484"/>
            <a:ext cx="876554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Virus-Scanning Techniques</a:t>
            </a:r>
          </a:p>
        </p:txBody>
      </p:sp>
    </p:spTree>
    <p:extLst>
      <p:ext uri="{BB962C8B-B14F-4D97-AF65-F5344CB8AC3E}">
        <p14:creationId xmlns:p14="http://schemas.microsoft.com/office/powerpoint/2010/main" val="3390828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EF867-FE54-BD57-E597-2E11271322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A7B32C-8B88-EF39-E6F3-5EC06A68CBB6}"/>
              </a:ext>
            </a:extLst>
          </p:cNvPr>
          <p:cNvSpPr txBox="1"/>
          <p:nvPr/>
        </p:nvSpPr>
        <p:spPr>
          <a:xfrm>
            <a:off x="645160" y="1225689"/>
            <a:ext cx="11066780" cy="5632311"/>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4. Heuristic Scanning</a:t>
            </a:r>
          </a:p>
          <a:p>
            <a:pPr algn="just"/>
            <a:r>
              <a:rPr lang="en-US" sz="3000" dirty="0">
                <a:latin typeface="Times New Roman" panose="02020603050405020304" pitchFamily="18" charset="0"/>
                <a:cs typeface="Times New Roman" panose="02020603050405020304" pitchFamily="18" charset="0"/>
              </a:rPr>
              <a:t>	A more advanced technique is </a:t>
            </a:r>
            <a:r>
              <a:rPr lang="en-US" sz="3000" b="1" dirty="0">
                <a:latin typeface="Times New Roman" panose="02020603050405020304" pitchFamily="18" charset="0"/>
                <a:cs typeface="Times New Roman" panose="02020603050405020304" pitchFamily="18" charset="0"/>
              </a:rPr>
              <a:t>heuristic scanning</a:t>
            </a:r>
            <a:r>
              <a:rPr lang="en-US" sz="3000" dirty="0">
                <a:latin typeface="Times New Roman" panose="02020603050405020304" pitchFamily="18" charset="0"/>
                <a:cs typeface="Times New Roman" panose="02020603050405020304" pitchFamily="18" charset="0"/>
              </a:rPr>
              <a:t>, which focuses on behavior rather than known signatures. Since new malware variants appear daily, they may not exist in virus definition databases. Heuristic scanning detects suspicious behaviors such as unauthorized file modification, registry changes, or self-replication. However, this method may generate </a:t>
            </a:r>
            <a:r>
              <a:rPr lang="en-US" sz="3000" b="1" dirty="0">
                <a:latin typeface="Times New Roman" panose="02020603050405020304" pitchFamily="18" charset="0"/>
                <a:cs typeface="Times New Roman" panose="02020603050405020304" pitchFamily="18" charset="0"/>
              </a:rPr>
              <a:t>false positives</a:t>
            </a:r>
            <a:r>
              <a:rPr lang="en-US" sz="3000" dirty="0">
                <a:latin typeface="Times New Roman" panose="02020603050405020304" pitchFamily="18" charset="0"/>
                <a:cs typeface="Times New Roman" panose="02020603050405020304" pitchFamily="18" charset="0"/>
              </a:rPr>
              <a:t>, where legitimate software is mistakenly flagged.</a:t>
            </a:r>
            <a:endParaRPr lang="en-US" sz="30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Limitations:</a:t>
            </a:r>
            <a:endParaRPr lang="en-US" sz="30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May miss some malware</a:t>
            </a:r>
          </a:p>
          <a:p>
            <a:pPr marL="914400" lvl="1" indent="-457200">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May generate false positives</a:t>
            </a:r>
          </a:p>
          <a:p>
            <a:pPr marL="457200" indent="-457200">
              <a:buFont typeface="Arial" panose="020B0604020202020204" pitchFamily="34" charset="0"/>
              <a:buChar char="•"/>
            </a:pPr>
            <a:endParaRPr lang="en-US"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981E9A9-707E-7C31-96BD-3FE131F91C09}"/>
              </a:ext>
            </a:extLst>
          </p:cNvPr>
          <p:cNvSpPr txBox="1"/>
          <p:nvPr/>
        </p:nvSpPr>
        <p:spPr>
          <a:xfrm>
            <a:off x="2522220" y="145484"/>
            <a:ext cx="876554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Virus-Scanning Techniques</a:t>
            </a:r>
          </a:p>
        </p:txBody>
      </p:sp>
    </p:spTree>
    <p:extLst>
      <p:ext uri="{BB962C8B-B14F-4D97-AF65-F5344CB8AC3E}">
        <p14:creationId xmlns:p14="http://schemas.microsoft.com/office/powerpoint/2010/main" val="209937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2A0C9-8BF7-3F62-54C3-2B657487E8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5B8F83-0A35-455E-154E-B1CC9ED2D132}"/>
              </a:ext>
            </a:extLst>
          </p:cNvPr>
          <p:cNvSpPr txBox="1"/>
          <p:nvPr/>
        </p:nvSpPr>
        <p:spPr>
          <a:xfrm>
            <a:off x="645160" y="1138445"/>
            <a:ext cx="11066780" cy="526297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5. Sandbox Technique</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Sandboxing</a:t>
            </a:r>
            <a:r>
              <a:rPr lang="en-US" sz="2800" dirty="0">
                <a:latin typeface="Times New Roman" panose="02020603050405020304" pitchFamily="18" charset="0"/>
                <a:cs typeface="Times New Roman" panose="02020603050405020304" pitchFamily="18" charset="0"/>
              </a:rPr>
              <a:t> provides an isolated environment where suspicious files are executed safely. The antivirus monitors file behavior without allowing it to affect the </a:t>
            </a:r>
            <a:r>
              <a:rPr lang="en-US" sz="2800" b="1" dirty="0">
                <a:latin typeface="Times New Roman" panose="02020603050405020304" pitchFamily="18" charset="0"/>
                <a:cs typeface="Times New Roman" panose="02020603050405020304" pitchFamily="18" charset="0"/>
              </a:rPr>
              <a:t>actual operating system</a:t>
            </a:r>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Sandboxing can also be </a:t>
            </a:r>
            <a:r>
              <a:rPr lang="en-US" sz="2800" b="1" dirty="0">
                <a:latin typeface="Times New Roman" panose="02020603050405020304" pitchFamily="18" charset="0"/>
                <a:cs typeface="Times New Roman" panose="02020603050405020304" pitchFamily="18" charset="0"/>
              </a:rPr>
              <a:t>implemented</a:t>
            </a:r>
            <a:r>
              <a:rPr lang="en-US" sz="2800" dirty="0">
                <a:latin typeface="Times New Roman" panose="02020603050405020304" pitchFamily="18" charset="0"/>
                <a:cs typeface="Times New Roman" panose="02020603050405020304" pitchFamily="18" charset="0"/>
              </a:rPr>
              <a:t> at the operating system level by allocating a protected memory area where files are opened and monitored. While not completely foolproof, this method significantly reduces risk compared to directly opening files on the main system.</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For example</a:t>
            </a:r>
            <a:r>
              <a:rPr lang="en-US" sz="2800" dirty="0">
                <a:latin typeface="Times New Roman" panose="02020603050405020304" pitchFamily="18" charset="0"/>
                <a:cs typeface="Times New Roman" panose="02020603050405020304" pitchFamily="18" charset="0"/>
              </a:rPr>
              <a:t>, modern browsers like </a:t>
            </a:r>
            <a:r>
              <a:rPr lang="en-US" sz="2800" b="1" dirty="0">
                <a:latin typeface="Times New Roman" panose="02020603050405020304" pitchFamily="18" charset="0"/>
                <a:cs typeface="Times New Roman" panose="02020603050405020304" pitchFamily="18" charset="0"/>
              </a:rPr>
              <a:t>Google Chrome and Windows Defender Application Guard</a:t>
            </a:r>
            <a:r>
              <a:rPr lang="en-US" sz="2800" dirty="0">
                <a:latin typeface="Times New Roman" panose="02020603050405020304" pitchFamily="18" charset="0"/>
                <a:cs typeface="Times New Roman" panose="02020603050405020304" pitchFamily="18" charset="0"/>
              </a:rPr>
              <a:t> open unknown files in sandboxes.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Sheep dip and virtual machines (VMs) are </a:t>
            </a:r>
            <a:r>
              <a:rPr lang="en-US" sz="2800" dirty="0">
                <a:latin typeface="Times New Roman" panose="02020603050405020304" pitchFamily="18" charset="0"/>
                <a:cs typeface="Times New Roman" panose="02020603050405020304" pitchFamily="18" charset="0"/>
              </a:rPr>
              <a:t>Advanced Isolation Techniques. </a:t>
            </a:r>
          </a:p>
        </p:txBody>
      </p:sp>
      <p:sp>
        <p:nvSpPr>
          <p:cNvPr id="3" name="TextBox 2">
            <a:extLst>
              <a:ext uri="{FF2B5EF4-FFF2-40B4-BE49-F238E27FC236}">
                <a16:creationId xmlns:a16="http://schemas.microsoft.com/office/drawing/2014/main" id="{9815264D-AC1A-37EF-F9B5-FB22E9096256}"/>
              </a:ext>
            </a:extLst>
          </p:cNvPr>
          <p:cNvSpPr txBox="1"/>
          <p:nvPr/>
        </p:nvSpPr>
        <p:spPr>
          <a:xfrm>
            <a:off x="2522220" y="145484"/>
            <a:ext cx="876554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Virus-Scanning Techniques</a:t>
            </a:r>
          </a:p>
        </p:txBody>
      </p:sp>
    </p:spTree>
    <p:extLst>
      <p:ext uri="{BB962C8B-B14F-4D97-AF65-F5344CB8AC3E}">
        <p14:creationId xmlns:p14="http://schemas.microsoft.com/office/powerpoint/2010/main" val="3496739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8A8-D48B-A6BD-FFEE-62C9F98A3D1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047329-ABEB-AD1C-3078-D965F44A6886}"/>
              </a:ext>
            </a:extLst>
          </p:cNvPr>
          <p:cNvSpPr txBox="1"/>
          <p:nvPr/>
        </p:nvSpPr>
        <p:spPr>
          <a:xfrm>
            <a:off x="645160" y="1290845"/>
            <a:ext cx="11066780" cy="4708981"/>
          </a:xfrm>
          <a:prstGeom prst="rect">
            <a:avLst/>
          </a:prstGeom>
          <a:noFill/>
        </p:spPr>
        <p:txBody>
          <a:bodyPr wrap="square">
            <a:spAutoFit/>
          </a:bodyPr>
          <a:lstStyle/>
          <a:p>
            <a:pPr marL="457200" indent="-457200" algn="just">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Four brands </a:t>
            </a:r>
            <a:r>
              <a:rPr lang="en-US" sz="3000" dirty="0">
                <a:latin typeface="Times New Roman" panose="02020603050405020304" pitchFamily="18" charset="0"/>
                <a:cs typeface="Times New Roman" panose="02020603050405020304" pitchFamily="18" charset="0"/>
              </a:rPr>
              <a:t>of antivirus software virtually dominate the antivirus market today, and it is typical for a company that offers a commercial scanner to also offer a free version that does not provide as many features as the commercial product. </a:t>
            </a:r>
          </a:p>
          <a:p>
            <a:pPr marL="971550" lvl="1" indent="-514350" algn="just">
              <a:buFont typeface="+mj-lt"/>
              <a:buAutoNum type="arabicPeriod"/>
            </a:pPr>
            <a:r>
              <a:rPr lang="en-US" sz="3000" b="1" dirty="0">
                <a:latin typeface="Times New Roman" panose="02020603050405020304" pitchFamily="18" charset="0"/>
                <a:cs typeface="Times New Roman" panose="02020603050405020304" pitchFamily="18" charset="0"/>
              </a:rPr>
              <a:t>AVG </a:t>
            </a:r>
            <a:r>
              <a:rPr lang="en-US" sz="3000" b="1" dirty="0" err="1">
                <a:latin typeface="Times New Roman" panose="02020603050405020304" pitchFamily="18" charset="0"/>
                <a:cs typeface="Times New Roman" panose="02020603050405020304" pitchFamily="18" charset="0"/>
              </a:rPr>
              <a:t>AntiVirus</a:t>
            </a:r>
            <a:r>
              <a:rPr lang="en-US" sz="3000" dirty="0">
                <a:latin typeface="Times New Roman" panose="02020603050405020304" pitchFamily="18" charset="0"/>
                <a:cs typeface="Times New Roman" panose="02020603050405020304" pitchFamily="18" charset="0"/>
              </a:rPr>
              <a:t>, available from </a:t>
            </a:r>
            <a:r>
              <a:rPr lang="en-US" sz="3000" b="1" dirty="0">
                <a:latin typeface="Times New Roman" panose="02020603050405020304" pitchFamily="18" charset="0"/>
                <a:cs typeface="Times New Roman" panose="02020603050405020304" pitchFamily="18" charset="0"/>
              </a:rPr>
              <a:t>www.avg.com</a:t>
            </a:r>
            <a:r>
              <a:rPr lang="en-US" sz="3000" dirty="0">
                <a:latin typeface="Times New Roman" panose="02020603050405020304" pitchFamily="18" charset="0"/>
                <a:cs typeface="Times New Roman" panose="02020603050405020304" pitchFamily="18" charset="0"/>
              </a:rPr>
              <a:t>, is a commercial product, but the company also offers the AVG </a:t>
            </a:r>
            <a:r>
              <a:rPr lang="en-US" sz="3000" dirty="0" err="1">
                <a:latin typeface="Times New Roman" panose="02020603050405020304" pitchFamily="18" charset="0"/>
                <a:cs typeface="Times New Roman" panose="02020603050405020304" pitchFamily="18" charset="0"/>
              </a:rPr>
              <a:t>AntiVirus</a:t>
            </a:r>
            <a:r>
              <a:rPr lang="en-US" sz="3000" dirty="0">
                <a:latin typeface="Times New Roman" panose="02020603050405020304" pitchFamily="18" charset="0"/>
                <a:cs typeface="Times New Roman" panose="02020603050405020304" pitchFamily="18" charset="0"/>
              </a:rPr>
              <a:t> Free Edition. </a:t>
            </a:r>
          </a:p>
          <a:p>
            <a:pPr marL="971550" lvl="1" indent="-514350" algn="just">
              <a:buFont typeface="+mj-lt"/>
              <a:buAutoNum type="arabicPeriod"/>
            </a:pPr>
            <a:r>
              <a:rPr lang="en-US" sz="3000" b="1" dirty="0">
                <a:latin typeface="Times New Roman" panose="02020603050405020304" pitchFamily="18" charset="0"/>
                <a:cs typeface="Times New Roman" panose="02020603050405020304" pitchFamily="18" charset="0"/>
              </a:rPr>
              <a:t>McAfee</a:t>
            </a:r>
          </a:p>
          <a:p>
            <a:pPr marL="971550" lvl="1" indent="-514350" algn="just">
              <a:buFont typeface="+mj-lt"/>
              <a:buAutoNum type="arabicPeriod"/>
            </a:pPr>
            <a:r>
              <a:rPr lang="en-US" sz="3000" b="1" dirty="0">
                <a:latin typeface="Times New Roman" panose="02020603050405020304" pitchFamily="18" charset="0"/>
                <a:cs typeface="Times New Roman" panose="02020603050405020304" pitchFamily="18" charset="0"/>
              </a:rPr>
              <a:t>Norton</a:t>
            </a:r>
            <a:r>
              <a:rPr lang="en-US" sz="3000" dirty="0">
                <a:latin typeface="Times New Roman" panose="02020603050405020304" pitchFamily="18" charset="0"/>
                <a:cs typeface="Times New Roman" panose="02020603050405020304" pitchFamily="18" charset="0"/>
              </a:rPr>
              <a:t>, and </a:t>
            </a:r>
          </a:p>
          <a:p>
            <a:pPr marL="971550" lvl="1" indent="-514350" algn="just">
              <a:buFont typeface="+mj-lt"/>
              <a:buAutoNum type="arabicPeriod"/>
            </a:pPr>
            <a:r>
              <a:rPr lang="en-US" sz="3000" b="1" dirty="0">
                <a:latin typeface="Times New Roman" panose="02020603050405020304" pitchFamily="18" charset="0"/>
                <a:cs typeface="Times New Roman" panose="02020603050405020304" pitchFamily="18" charset="0"/>
              </a:rPr>
              <a:t>Kaspersky</a:t>
            </a:r>
            <a:r>
              <a:rPr lang="en-US" sz="3000" dirty="0">
                <a:latin typeface="Times New Roman" panose="02020603050405020304" pitchFamily="18" charset="0"/>
                <a:cs typeface="Times New Roman" panose="02020603050405020304" pitchFamily="18" charset="0"/>
              </a:rPr>
              <a:t> are three other very well-known antivirus vendors.</a:t>
            </a:r>
          </a:p>
        </p:txBody>
      </p:sp>
      <p:sp>
        <p:nvSpPr>
          <p:cNvPr id="3" name="TextBox 2">
            <a:extLst>
              <a:ext uri="{FF2B5EF4-FFF2-40B4-BE49-F238E27FC236}">
                <a16:creationId xmlns:a16="http://schemas.microsoft.com/office/drawing/2014/main" id="{511738C7-DF8E-C1EB-3780-CCA7573D095F}"/>
              </a:ext>
            </a:extLst>
          </p:cNvPr>
          <p:cNvSpPr txBox="1"/>
          <p:nvPr/>
        </p:nvSpPr>
        <p:spPr>
          <a:xfrm>
            <a:off x="774700" y="257244"/>
            <a:ext cx="10807700"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Commercial Antivirus Software Techniques</a:t>
            </a:r>
          </a:p>
        </p:txBody>
      </p:sp>
    </p:spTree>
    <p:extLst>
      <p:ext uri="{BB962C8B-B14F-4D97-AF65-F5344CB8AC3E}">
        <p14:creationId xmlns:p14="http://schemas.microsoft.com/office/powerpoint/2010/main" val="4206080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70FD-0730-31F4-4D96-7859730E75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DA2BA1-57E8-825D-6E25-A50A43414D6F}"/>
              </a:ext>
            </a:extLst>
          </p:cNvPr>
          <p:cNvSpPr txBox="1"/>
          <p:nvPr/>
        </p:nvSpPr>
        <p:spPr>
          <a:xfrm>
            <a:off x="562610" y="1085095"/>
            <a:ext cx="11066780" cy="6001643"/>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system assessment can be remembered using the </a:t>
            </a:r>
            <a:r>
              <a:rPr lang="en-US" sz="2400" b="1" dirty="0">
                <a:latin typeface="Times New Roman" panose="02020603050405020304" pitchFamily="18" charset="0"/>
                <a:cs typeface="Times New Roman" panose="02020603050405020304" pitchFamily="18" charset="0"/>
              </a:rPr>
              <a:t>6 Ps</a:t>
            </a:r>
            <a:r>
              <a:rPr lang="en-US" sz="2400" dirty="0">
                <a:latin typeface="Times New Roman" panose="02020603050405020304" pitchFamily="18" charset="0"/>
                <a:cs typeface="Times New Roman" panose="02020603050405020304" pitchFamily="18" charset="0"/>
              </a:rPr>
              <a:t>:</a:t>
            </a:r>
          </a:p>
          <a:p>
            <a:pPr marL="914400" lvl="1" indent="-457200" defTabSz="914400" eaLnBrk="0" fontAlgn="base" hangingPunct="0">
              <a:spcBef>
                <a:spcPct val="0"/>
              </a:spcBef>
              <a:spcAft>
                <a:spcPct val="0"/>
              </a:spcAft>
              <a:buFont typeface="+mj-lt"/>
              <a:buAutoNum type="arabicPeriod"/>
            </a:pPr>
            <a:r>
              <a:rPr lang="en-PK" altLang="en-PK" sz="2400" b="1" dirty="0">
                <a:latin typeface="Times New Roman" panose="02020603050405020304" pitchFamily="18" charset="0"/>
                <a:cs typeface="Times New Roman" panose="02020603050405020304" pitchFamily="18" charset="0"/>
              </a:rPr>
              <a:t>Patch</a:t>
            </a:r>
            <a:r>
              <a:rPr lang="en-PK" altLang="en-PK" sz="2400" dirty="0">
                <a:latin typeface="Times New Roman" panose="02020603050405020304" pitchFamily="18" charset="0"/>
                <a:cs typeface="Times New Roman" panose="02020603050405020304" pitchFamily="18" charset="0"/>
              </a:rPr>
              <a:t> – Make sure all software is updated with security patches.</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Important/critical patches must be applied.</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Optional patches are for minor improvements, not security.</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Test patches first on a small system before rolling them out network-wide.</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Document what each patch does to avoid conflicts with other software.</a:t>
            </a:r>
          </a:p>
          <a:p>
            <a:pPr lvl="0"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      2. </a:t>
            </a:r>
            <a:r>
              <a:rPr lang="en-PK" altLang="en-PK" sz="2400" b="1" dirty="0">
                <a:latin typeface="Times New Roman" panose="02020603050405020304" pitchFamily="18" charset="0"/>
                <a:cs typeface="Times New Roman" panose="02020603050405020304" pitchFamily="18" charset="0"/>
              </a:rPr>
              <a:t>Ports</a:t>
            </a:r>
            <a:r>
              <a:rPr lang="en-PK" altLang="en-PK" sz="2400" dirty="0">
                <a:latin typeface="Times New Roman" panose="02020603050405020304" pitchFamily="18" charset="0"/>
                <a:cs typeface="Times New Roman" panose="02020603050405020304" pitchFamily="18" charset="0"/>
              </a:rPr>
              <a:t> – Check open ports on computers and routers.</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Open ports can be exploited by attackers.</a:t>
            </a:r>
          </a:p>
          <a:p>
            <a:pPr marL="1257300" lvl="2"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Routers in large networks should have </a:t>
            </a:r>
            <a:r>
              <a:rPr lang="en-PK" altLang="en-PK" sz="2400" b="1" dirty="0">
                <a:latin typeface="Times New Roman" panose="02020603050405020304" pitchFamily="18" charset="0"/>
                <a:cs typeface="Times New Roman" panose="02020603050405020304" pitchFamily="18" charset="0"/>
              </a:rPr>
              <a:t>filtered/closed ports</a:t>
            </a:r>
            <a:r>
              <a:rPr lang="en-PK" altLang="en-PK" sz="2400" dirty="0">
                <a:latin typeface="Times New Roman" panose="02020603050405020304" pitchFamily="18" charset="0"/>
                <a:cs typeface="Times New Roman" panose="02020603050405020304" pitchFamily="18" charset="0"/>
              </a:rPr>
              <a:t> to prevent unauthorized access.</a:t>
            </a:r>
          </a:p>
          <a:p>
            <a:pPr lvl="1"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3. </a:t>
            </a:r>
            <a:r>
              <a:rPr lang="en-PK" altLang="en-PK" sz="2400" b="1" dirty="0">
                <a:latin typeface="Times New Roman" panose="02020603050405020304" pitchFamily="18" charset="0"/>
                <a:cs typeface="Times New Roman" panose="02020603050405020304" pitchFamily="18" charset="0"/>
              </a:rPr>
              <a:t>Protect</a:t>
            </a:r>
            <a:r>
              <a:rPr lang="en-PK" altLang="en-PK" sz="2400" dirty="0">
                <a:latin typeface="Times New Roman" panose="02020603050405020304" pitchFamily="18" charset="0"/>
                <a:cs typeface="Times New Roman" panose="02020603050405020304" pitchFamily="18" charset="0"/>
              </a:rPr>
              <a:t> – Implement firewalls, antivirus, and other protections.</a:t>
            </a:r>
            <a:endParaRPr lang="en-US" altLang="en-PK" sz="24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4. </a:t>
            </a:r>
            <a:r>
              <a:rPr lang="en-PK" altLang="en-PK" sz="2400" b="1" dirty="0">
                <a:latin typeface="Times New Roman" panose="02020603050405020304" pitchFamily="18" charset="0"/>
                <a:cs typeface="Times New Roman" panose="02020603050405020304" pitchFamily="18" charset="0"/>
              </a:rPr>
              <a:t>Policies</a:t>
            </a:r>
            <a:r>
              <a:rPr lang="en-PK" altLang="en-PK" sz="2400" dirty="0">
                <a:latin typeface="Times New Roman" panose="02020603050405020304" pitchFamily="18" charset="0"/>
                <a:cs typeface="Times New Roman" panose="02020603050405020304" pitchFamily="18" charset="0"/>
              </a:rPr>
              <a:t> – Have clear security policies for users and IT staff.</a:t>
            </a:r>
          </a:p>
          <a:p>
            <a:pPr lvl="1"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5. </a:t>
            </a:r>
            <a:r>
              <a:rPr lang="en-PK" altLang="en-PK" sz="2400" b="1" dirty="0">
                <a:latin typeface="Times New Roman" panose="02020603050405020304" pitchFamily="18" charset="0"/>
                <a:cs typeface="Times New Roman" panose="02020603050405020304" pitchFamily="18" charset="0"/>
              </a:rPr>
              <a:t>Probe</a:t>
            </a:r>
            <a:r>
              <a:rPr lang="en-PK" altLang="en-PK" sz="2400" dirty="0">
                <a:latin typeface="Times New Roman" panose="02020603050405020304" pitchFamily="18" charset="0"/>
                <a:cs typeface="Times New Roman" panose="02020603050405020304" pitchFamily="18" charset="0"/>
              </a:rPr>
              <a:t> – Actively scan your system for weaknesses using tools.</a:t>
            </a:r>
            <a:endParaRPr lang="en-US" altLang="en-PK" sz="24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6. </a:t>
            </a:r>
            <a:r>
              <a:rPr lang="en-PK" altLang="en-PK" sz="2400" b="1" dirty="0">
                <a:latin typeface="Times New Roman" panose="02020603050405020304" pitchFamily="18" charset="0"/>
                <a:cs typeface="Times New Roman" panose="02020603050405020304" pitchFamily="18" charset="0"/>
              </a:rPr>
              <a:t>Physical</a:t>
            </a:r>
            <a:r>
              <a:rPr lang="en-PK" altLang="en-PK" sz="2400" dirty="0">
                <a:latin typeface="Times New Roman" panose="02020603050405020304" pitchFamily="18" charset="0"/>
                <a:cs typeface="Times New Roman" panose="02020603050405020304" pitchFamily="18" charset="0"/>
              </a:rPr>
              <a:t> – Ensure physical security, like locked server rooms or restricted access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9AD091C-4CB8-9B46-6737-A6555CB3FBE9}"/>
              </a:ext>
            </a:extLst>
          </p:cNvPr>
          <p:cNvSpPr txBox="1"/>
          <p:nvPr/>
        </p:nvSpPr>
        <p:spPr>
          <a:xfrm>
            <a:off x="774700" y="257244"/>
            <a:ext cx="10807700" cy="1323439"/>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Basics of Assessing a System</a:t>
            </a:r>
          </a:p>
          <a:p>
            <a:pPr algn="ct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513256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CE012-4C6B-E295-0265-5D04DC284C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CDDE5D-789E-84F5-75F3-B0A7189679F7}"/>
              </a:ext>
            </a:extLst>
          </p:cNvPr>
          <p:cNvSpPr txBox="1"/>
          <p:nvPr/>
        </p:nvSpPr>
        <p:spPr>
          <a:xfrm>
            <a:off x="515620" y="1246337"/>
            <a:ext cx="11066780" cy="5262979"/>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Examining various security specifics for an individual workstation, a server, and a network.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number of very reputable organizations, including the following, have put together step-by-step guides, or security templates, that you can use in your network setting: </a:t>
            </a:r>
          </a:p>
          <a:p>
            <a:pPr marL="800100" lvl="1" indent="-3429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National Security Agency</a:t>
            </a:r>
            <a:r>
              <a:rPr lang="en-US" sz="2800" dirty="0">
                <a:latin typeface="Times New Roman" panose="02020603050405020304" pitchFamily="18" charset="0"/>
                <a:cs typeface="Times New Roman" panose="02020603050405020304" pitchFamily="18" charset="0"/>
              </a:rPr>
              <a:t>: The NSA’s website offers a number of specific network security guides. See </a:t>
            </a:r>
            <a:r>
              <a:rPr lang="en-US" sz="2800" dirty="0">
                <a:latin typeface="Times New Roman" panose="02020603050405020304" pitchFamily="18" charset="0"/>
                <a:cs typeface="Times New Roman" panose="02020603050405020304" pitchFamily="18" charset="0"/>
                <a:hlinkClick r:id="rId2"/>
              </a:rPr>
              <a:t>https://nsacyber.github.io/publications.html</a:t>
            </a:r>
            <a:endParaRPr lang="en-US" sz="28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Center for Internet Security (CIS): </a:t>
            </a:r>
            <a:r>
              <a:rPr lang="en-US" sz="2800" dirty="0">
                <a:latin typeface="Times New Roman" panose="02020603050405020304" pitchFamily="18" charset="0"/>
                <a:cs typeface="Times New Roman" panose="02020603050405020304" pitchFamily="18" charset="0"/>
              </a:rPr>
              <a:t>CIS offers a number of security guides and benchmarks at </a:t>
            </a:r>
            <a:r>
              <a:rPr lang="en-US" sz="2800" dirty="0">
                <a:latin typeface="Times New Roman" panose="02020603050405020304" pitchFamily="18" charset="0"/>
                <a:cs typeface="Times New Roman" panose="02020603050405020304" pitchFamily="18" charset="0"/>
                <a:hlinkClick r:id="rId3"/>
              </a:rPr>
              <a:t>https://www.cisecurity.org</a:t>
            </a:r>
            <a:endParaRPr lang="en-US" sz="28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SANS Institute:</a:t>
            </a:r>
            <a:r>
              <a:rPr lang="en-US" sz="2800" dirty="0">
                <a:latin typeface="Times New Roman" panose="02020603050405020304" pitchFamily="18" charset="0"/>
                <a:cs typeface="Times New Roman" panose="02020603050405020304" pitchFamily="18" charset="0"/>
              </a:rPr>
              <a:t> SANS has a number of sample policies you can download and use or modify. See </a:t>
            </a:r>
            <a:r>
              <a:rPr lang="en-US" sz="2800" dirty="0">
                <a:latin typeface="Times New Roman" panose="02020603050405020304" pitchFamily="18" charset="0"/>
                <a:cs typeface="Times New Roman" panose="02020603050405020304" pitchFamily="18" charset="0"/>
                <a:hlinkClick r:id="rId4"/>
              </a:rPr>
              <a:t>www.sans.org/resources/policies/</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24764EE-B88C-EDBE-94B1-253F5817A617}"/>
              </a:ext>
            </a:extLst>
          </p:cNvPr>
          <p:cNvSpPr txBox="1"/>
          <p:nvPr/>
        </p:nvSpPr>
        <p:spPr>
          <a:xfrm>
            <a:off x="774700" y="257244"/>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a:t>
            </a:r>
            <a:r>
              <a:rPr lang="en-US" sz="4000" dirty="0"/>
              <a:t> </a:t>
            </a: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Computer Systems </a:t>
            </a:r>
          </a:p>
        </p:txBody>
      </p:sp>
    </p:spTree>
    <p:extLst>
      <p:ext uri="{BB962C8B-B14F-4D97-AF65-F5344CB8AC3E}">
        <p14:creationId xmlns:p14="http://schemas.microsoft.com/office/powerpoint/2010/main" val="316461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4684-799B-75A9-21ED-970BA1B25F9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C29D72-1DC1-54A4-4A04-918711D47203}"/>
              </a:ext>
            </a:extLst>
          </p:cNvPr>
          <p:cNvSpPr txBox="1"/>
          <p:nvPr/>
        </p:nvSpPr>
        <p:spPr>
          <a:xfrm>
            <a:off x="515620" y="1215857"/>
            <a:ext cx="11066780" cy="5816977"/>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Hardening a System </a:t>
            </a:r>
            <a:r>
              <a:rPr lang="en-US" sz="2400" dirty="0">
                <a:latin typeface="Times New Roman" panose="02020603050405020304" pitchFamily="18" charset="0"/>
                <a:cs typeface="Times New Roman" panose="02020603050405020304" pitchFamily="18" charset="0"/>
              </a:rPr>
              <a:t>The process of securing a computer system against hackers, malware, and other intruders is sometimes referred to as hardening a system. </a:t>
            </a:r>
          </a:p>
          <a:p>
            <a:pPr marL="800100" lvl="1" indent="-342900" algn="just">
              <a:buFont typeface="Arial" panose="020B0604020202020204" pitchFamily="34" charset="0"/>
              <a:buChar char="•"/>
            </a:pPr>
            <a:r>
              <a:rPr lang="en-US" sz="2400" b="1" dirty="0">
                <a:highlight>
                  <a:srgbClr val="FFFF00"/>
                </a:highlight>
                <a:latin typeface="Times New Roman" panose="02020603050405020304" pitchFamily="18" charset="0"/>
                <a:cs typeface="Times New Roman" panose="02020603050405020304" pitchFamily="18" charset="0"/>
              </a:rPr>
              <a:t>Step 1: Apply Patches</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Keep </a:t>
            </a:r>
            <a:r>
              <a:rPr lang="en-US" sz="2400" b="1" dirty="0">
                <a:latin typeface="Times New Roman" panose="02020603050405020304" pitchFamily="18" charset="0"/>
                <a:cs typeface="Times New Roman" panose="02020603050405020304" pitchFamily="18" charset="0"/>
              </a:rPr>
              <a:t>all software updated</a:t>
            </a:r>
            <a:r>
              <a:rPr lang="en-US" sz="2400" dirty="0">
                <a:latin typeface="Times New Roman" panose="02020603050405020304" pitchFamily="18" charset="0"/>
                <a:cs typeface="Times New Roman" panose="02020603050405020304" pitchFamily="18" charset="0"/>
              </a:rPr>
              <a:t>: OS, Office, browsers, other applications.</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Regularly check for updates (at least once every 3 months).</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Many virus attacks happen because </a:t>
            </a:r>
            <a:r>
              <a:rPr lang="en-US" sz="2400" b="1" dirty="0">
                <a:latin typeface="Times New Roman" panose="02020603050405020304" pitchFamily="18" charset="0"/>
                <a:cs typeface="Times New Roman" panose="02020603050405020304" pitchFamily="18" charset="0"/>
              </a:rPr>
              <a:t>patches were available but not applied</a:t>
            </a:r>
            <a:r>
              <a:rPr lang="en-US" sz="2400" dirty="0">
                <a:latin typeface="Times New Roman" panose="02020603050405020304" pitchFamily="18" charset="0"/>
                <a:cs typeface="Times New Roman" panose="02020603050405020304" pitchFamily="18" charset="0"/>
              </a:rPr>
              <a:t>.</a:t>
            </a:r>
          </a:p>
          <a:p>
            <a:pPr marL="800100" lvl="1" indent="-342900" algn="just">
              <a:buFont typeface="Arial" panose="020B0604020202020204" pitchFamily="34" charset="0"/>
              <a:buChar char="•"/>
            </a:pPr>
            <a:r>
              <a:rPr lang="en-US" sz="2400" b="1" dirty="0">
                <a:highlight>
                  <a:srgbClr val="FFFF00"/>
                </a:highlight>
                <a:latin typeface="Times New Roman" panose="02020603050405020304" pitchFamily="18" charset="0"/>
                <a:cs typeface="Times New Roman" panose="02020603050405020304" pitchFamily="18" charset="0"/>
              </a:rPr>
              <a:t>Step 2: Restrict Installation and Configuration</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Limit who can install software or change settings.</a:t>
            </a:r>
          </a:p>
          <a:p>
            <a:pPr marL="1714500" lvl="3"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Network:</a:t>
            </a:r>
            <a:r>
              <a:rPr lang="en-US" sz="2400" dirty="0">
                <a:latin typeface="Times New Roman" panose="02020603050405020304" pitchFamily="18" charset="0"/>
                <a:cs typeface="Times New Roman" panose="02020603050405020304" pitchFamily="18" charset="0"/>
              </a:rPr>
              <a:t> Only admins can install software.</a:t>
            </a:r>
          </a:p>
          <a:p>
            <a:pPr marL="1714500" lvl="3"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Home:</a:t>
            </a:r>
            <a:r>
              <a:rPr lang="en-US" sz="2400" dirty="0">
                <a:latin typeface="Times New Roman" panose="02020603050405020304" pitchFamily="18" charset="0"/>
                <a:cs typeface="Times New Roman" panose="02020603050405020304" pitchFamily="18" charset="0"/>
              </a:rPr>
              <a:t> Only responsible users (like parents) install programs.</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Prevents accidental installation of </a:t>
            </a:r>
            <a:r>
              <a:rPr lang="en-US" sz="2400" b="1" dirty="0">
                <a:latin typeface="Times New Roman" panose="02020603050405020304" pitchFamily="18" charset="0"/>
                <a:cs typeface="Times New Roman" panose="02020603050405020304" pitchFamily="18" charset="0"/>
              </a:rPr>
              <a:t>Trojan horses, malware, adware</a:t>
            </a:r>
            <a:r>
              <a:rPr lang="en-US" sz="2400" dirty="0">
                <a:latin typeface="Times New Roman" panose="02020603050405020304" pitchFamily="18" charset="0"/>
                <a:cs typeface="Times New Roman" panose="02020603050405020304" pitchFamily="18" charset="0"/>
              </a:rPr>
              <a:t>.</a:t>
            </a:r>
          </a:p>
          <a:p>
            <a:pPr marL="1257300" lvl="2"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Prevents users from turning on unsafe services.</a:t>
            </a:r>
          </a:p>
          <a:p>
            <a:pPr marL="1714500" lvl="3"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a:t>
            </a:r>
            <a:r>
              <a:rPr lang="en-US" sz="2400" b="1" dirty="0">
                <a:latin typeface="Times New Roman" panose="02020603050405020304" pitchFamily="18" charset="0"/>
                <a:cs typeface="Times New Roman" panose="02020603050405020304" pitchFamily="18" charset="0"/>
              </a:rPr>
              <a:t>Windows Messenger service</a:t>
            </a:r>
            <a:r>
              <a:rPr lang="en-US" sz="2400" dirty="0">
                <a:latin typeface="Times New Roman" panose="02020603050405020304" pitchFamily="18" charset="0"/>
                <a:cs typeface="Times New Roman" panose="02020603050405020304" pitchFamily="18" charset="0"/>
              </a:rPr>
              <a:t> – not for chat, can be misused by adware.</a:t>
            </a:r>
          </a:p>
          <a:p>
            <a:pPr marL="342900" indent="-342900" algn="jus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D80322-C4E1-AB9F-ADAA-044E49B9E7E6}"/>
              </a:ext>
            </a:extLst>
          </p:cNvPr>
          <p:cNvSpPr txBox="1"/>
          <p:nvPr/>
        </p:nvSpPr>
        <p:spPr>
          <a:xfrm>
            <a:off x="774700" y="257244"/>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Secure Your Own Computer?</a:t>
            </a:r>
          </a:p>
        </p:txBody>
      </p:sp>
    </p:spTree>
    <p:extLst>
      <p:ext uri="{BB962C8B-B14F-4D97-AF65-F5344CB8AC3E}">
        <p14:creationId xmlns:p14="http://schemas.microsoft.com/office/powerpoint/2010/main" val="2285778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27F51-6477-CFC4-903B-9B21A58BC25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967643-DDA3-1DCA-3C22-03B5E13A1B14}"/>
              </a:ext>
            </a:extLst>
          </p:cNvPr>
          <p:cNvSpPr txBox="1"/>
          <p:nvPr/>
        </p:nvSpPr>
        <p:spPr>
          <a:xfrm>
            <a:off x="515620" y="1104097"/>
            <a:ext cx="11066780" cy="5262979"/>
          </a:xfrm>
          <a:prstGeom prst="rect">
            <a:avLst/>
          </a:prstGeom>
          <a:noFill/>
        </p:spPr>
        <p:txBody>
          <a:bodyPr wrap="square">
            <a:spAutoFit/>
          </a:bodyPr>
          <a:lstStyle/>
          <a:p>
            <a:pPr marL="342900" indent="-342900">
              <a:buFont typeface="Arial" panose="020B0604020202020204" pitchFamily="34" charset="0"/>
              <a:buChar char="•"/>
            </a:pPr>
            <a:r>
              <a:rPr lang="en-US" sz="2400" b="1" dirty="0">
                <a:highlight>
                  <a:srgbClr val="FFFF00"/>
                </a:highlight>
                <a:latin typeface="Times New Roman" panose="02020603050405020304" pitchFamily="18" charset="0"/>
                <a:cs typeface="Times New Roman" panose="02020603050405020304" pitchFamily="18" charset="0"/>
              </a:rPr>
              <a:t>Step 3: Install Antivirus and Antispyware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Install </a:t>
            </a:r>
            <a:r>
              <a:rPr lang="en-US" sz="2400" b="1" dirty="0">
                <a:latin typeface="Times New Roman" panose="02020603050405020304" pitchFamily="18" charset="0"/>
                <a:cs typeface="Times New Roman" panose="02020603050405020304" pitchFamily="18" charset="0"/>
              </a:rPr>
              <a:t>antivirus and antispyware software</a:t>
            </a:r>
            <a:r>
              <a:rPr lang="en-US" sz="2400" dirty="0">
                <a:latin typeface="Times New Roman" panose="02020603050405020304" pitchFamily="18" charset="0"/>
                <a:cs typeface="Times New Roman" panose="02020603050405020304" pitchFamily="18" charset="0"/>
              </a:rPr>
              <a:t> on every machine.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Make sure it </a:t>
            </a:r>
            <a:r>
              <a:rPr lang="en-US" sz="2400" b="1" dirty="0">
                <a:latin typeface="Times New Roman" panose="02020603050405020304" pitchFamily="18" charset="0"/>
                <a:cs typeface="Times New Roman" panose="02020603050405020304" pitchFamily="18" charset="0"/>
              </a:rPr>
              <a:t>updates virus definitions automatically</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Some analysts say antispyware is optional, but spyware is becoming a serious threat.</a:t>
            </a:r>
          </a:p>
          <a:p>
            <a:pPr marL="342900" indent="-342900">
              <a:buFont typeface="Arial" panose="020B0604020202020204" pitchFamily="34" charset="0"/>
              <a:buChar char="•"/>
            </a:pPr>
            <a:r>
              <a:rPr lang="en-US" sz="2400" b="1" dirty="0">
                <a:highlight>
                  <a:srgbClr val="FFFF00"/>
                </a:highlight>
                <a:latin typeface="Times New Roman" panose="02020603050405020304" pitchFamily="18" charset="0"/>
                <a:cs typeface="Times New Roman" panose="02020603050405020304" pitchFamily="18" charset="0"/>
              </a:rPr>
              <a:t>Step 4: Enable Firewall</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Most OSs (Windows 10/11, Linux) have </a:t>
            </a:r>
            <a:r>
              <a:rPr lang="en-US" sz="2400" b="1" dirty="0">
                <a:latin typeface="Times New Roman" panose="02020603050405020304" pitchFamily="18" charset="0"/>
                <a:cs typeface="Times New Roman" panose="02020603050405020304" pitchFamily="18" charset="0"/>
              </a:rPr>
              <a:t>built-in firewalls</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Configure and turn it </a:t>
            </a:r>
            <a:r>
              <a:rPr lang="en-US" sz="2400" b="1" dirty="0">
                <a:latin typeface="Times New Roman" panose="02020603050405020304" pitchFamily="18" charset="0"/>
                <a:cs typeface="Times New Roman" panose="02020603050405020304" pitchFamily="18" charset="0"/>
              </a:rPr>
              <a:t>ON</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Home:</a:t>
            </a:r>
            <a:r>
              <a:rPr lang="en-US" sz="2400" dirty="0">
                <a:latin typeface="Times New Roman" panose="02020603050405020304" pitchFamily="18" charset="0"/>
                <a:cs typeface="Times New Roman" panose="02020603050405020304" pitchFamily="18" charset="0"/>
              </a:rPr>
              <a:t> Block all incoming traffic.</a:t>
            </a:r>
          </a:p>
          <a:p>
            <a:pPr marL="800100" lvl="1"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Network:</a:t>
            </a:r>
            <a:r>
              <a:rPr lang="en-US" sz="2400" dirty="0">
                <a:latin typeface="Times New Roman" panose="02020603050405020304" pitchFamily="18" charset="0"/>
                <a:cs typeface="Times New Roman" panose="02020603050405020304" pitchFamily="18" charset="0"/>
              </a:rPr>
              <a:t> Allow only necessary traffic (DNS, servers).</a:t>
            </a:r>
          </a:p>
          <a:p>
            <a:pPr marL="342900" indent="-342900">
              <a:buFont typeface="Arial" panose="020B0604020202020204" pitchFamily="34" charset="0"/>
              <a:buChar char="•"/>
            </a:pPr>
            <a:r>
              <a:rPr lang="en-US" sz="2400" b="1" dirty="0">
                <a:highlight>
                  <a:srgbClr val="FFFF00"/>
                </a:highlight>
                <a:latin typeface="Times New Roman" panose="02020603050405020304" pitchFamily="18" charset="0"/>
                <a:cs typeface="Times New Roman" panose="02020603050405020304" pitchFamily="18" charset="0"/>
              </a:rPr>
              <a:t>Step 5: Strong Passwords &amp; Physical Security</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Passwords should be </a:t>
            </a:r>
            <a:r>
              <a:rPr lang="en-US" sz="2400" b="1" dirty="0">
                <a:latin typeface="Times New Roman" panose="02020603050405020304" pitchFamily="18" charset="0"/>
                <a:cs typeface="Times New Roman" panose="02020603050405020304" pitchFamily="18" charset="0"/>
              </a:rPr>
              <a:t>at least 8 characters</a:t>
            </a:r>
            <a:r>
              <a:rPr lang="en-US" sz="2400" dirty="0">
                <a:latin typeface="Times New Roman" panose="02020603050405020304" pitchFamily="18" charset="0"/>
                <a:cs typeface="Times New Roman" panose="02020603050405020304" pitchFamily="18" charset="0"/>
              </a:rPr>
              <a:t> with </a:t>
            </a:r>
            <a:r>
              <a:rPr lang="en-US" sz="2400" b="1" dirty="0">
                <a:latin typeface="Times New Roman" panose="02020603050405020304" pitchFamily="18" charset="0"/>
                <a:cs typeface="Times New Roman" panose="02020603050405020304" pitchFamily="18" charset="0"/>
              </a:rPr>
              <a:t>letters, numbers, symbols</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Follow a </a:t>
            </a:r>
            <a:r>
              <a:rPr lang="en-US" sz="2400" b="1" dirty="0">
                <a:latin typeface="Times New Roman" panose="02020603050405020304" pitchFamily="18" charset="0"/>
                <a:cs typeface="Times New Roman" panose="02020603050405020304" pitchFamily="18" charset="0"/>
              </a:rPr>
              <a:t>password policy</a:t>
            </a:r>
            <a:r>
              <a:rPr lang="en-US" sz="2400" dirty="0">
                <a:latin typeface="Times New Roman" panose="02020603050405020304" pitchFamily="18" charset="0"/>
                <a:cs typeface="Times New Roman" panose="02020603050405020304" pitchFamily="18" charset="0"/>
              </a:rPr>
              <a:t> in organizations.</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Physical security (locking rooms, limiting access) is also important.</a:t>
            </a:r>
          </a:p>
        </p:txBody>
      </p:sp>
      <p:sp>
        <p:nvSpPr>
          <p:cNvPr id="3" name="TextBox 2">
            <a:extLst>
              <a:ext uri="{FF2B5EF4-FFF2-40B4-BE49-F238E27FC236}">
                <a16:creationId xmlns:a16="http://schemas.microsoft.com/office/drawing/2014/main" id="{416EC3FC-770F-A21B-D9A0-3893A14A65F4}"/>
              </a:ext>
            </a:extLst>
          </p:cNvPr>
          <p:cNvSpPr txBox="1"/>
          <p:nvPr/>
        </p:nvSpPr>
        <p:spPr>
          <a:xfrm>
            <a:off x="774700" y="257244"/>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Secure Your Own Computer?</a:t>
            </a:r>
          </a:p>
        </p:txBody>
      </p:sp>
    </p:spTree>
    <p:extLst>
      <p:ext uri="{BB962C8B-B14F-4D97-AF65-F5344CB8AC3E}">
        <p14:creationId xmlns:p14="http://schemas.microsoft.com/office/powerpoint/2010/main" val="366615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09A95-E278-5522-5434-6C65D7EF71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43E907-2745-D756-85FD-F904FF6A159C}"/>
              </a:ext>
            </a:extLst>
          </p:cNvPr>
          <p:cNvSpPr txBox="1"/>
          <p:nvPr/>
        </p:nvSpPr>
        <p:spPr>
          <a:xfrm>
            <a:off x="774700" y="257244"/>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Server</a:t>
            </a:r>
          </a:p>
        </p:txBody>
      </p:sp>
      <p:sp>
        <p:nvSpPr>
          <p:cNvPr id="6" name="TextBox 5">
            <a:extLst>
              <a:ext uri="{FF2B5EF4-FFF2-40B4-BE49-F238E27FC236}">
                <a16:creationId xmlns:a16="http://schemas.microsoft.com/office/drawing/2014/main" id="{CED3EDB9-90C8-0D68-CBA6-550A09476D4F}"/>
              </a:ext>
            </a:extLst>
          </p:cNvPr>
          <p:cNvSpPr txBox="1"/>
          <p:nvPr/>
        </p:nvSpPr>
        <p:spPr>
          <a:xfrm>
            <a:off x="528320" y="1078637"/>
            <a:ext cx="11135360" cy="563231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Servers are the </a:t>
            </a:r>
            <a:r>
              <a:rPr kumimoji="0" lang="en-PK" altLang="en-PK"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heart of a network</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servers, web servers, DNS, file servers, etc.</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store the </a:t>
            </a:r>
            <a:r>
              <a:rPr kumimoji="0" lang="en-PK" altLang="en-PK"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important data</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them prime targets for attackers.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Securing servers is </a:t>
            </a:r>
            <a:r>
              <a:rPr kumimoji="0" lang="en-PK" altLang="en-PK"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critical than securing workstations</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PK" sz="2400" dirty="0">
                <a:latin typeface="Times New Roman" panose="02020603050405020304" pitchFamily="18" charset="0"/>
                <a:cs typeface="Times New Roman" panose="02020603050405020304" pitchFamily="18" charset="0"/>
              </a:rPr>
              <a:t>It will follow the same steps as we follow for securing own system but it requires additional security steps</a:t>
            </a:r>
          </a:p>
          <a:p>
            <a:pPr lvl="1"/>
            <a:r>
              <a:rPr lang="en-US" sz="2400" b="1" dirty="0">
                <a:latin typeface="Times New Roman" panose="02020603050405020304" pitchFamily="18" charset="0"/>
                <a:cs typeface="Times New Roman" panose="02020603050405020304" pitchFamily="18" charset="0"/>
              </a:rPr>
              <a:t>a. Enable Logging</a:t>
            </a:r>
          </a:p>
          <a:p>
            <a:pPr marL="1257300" lvl="2"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Log important activities: failed logins, software installs, changes.</a:t>
            </a:r>
          </a:p>
          <a:p>
            <a:pPr marL="1257300" lvl="2"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Check logs </a:t>
            </a:r>
            <a:r>
              <a:rPr lang="en-US" sz="2400" b="1" dirty="0">
                <a:latin typeface="Times New Roman" panose="02020603050405020304" pitchFamily="18" charset="0"/>
                <a:cs typeface="Times New Roman" panose="02020603050405020304" pitchFamily="18" charset="0"/>
              </a:rPr>
              <a:t>periodically</a:t>
            </a:r>
            <a:r>
              <a:rPr lang="en-US" sz="2400" dirty="0">
                <a:latin typeface="Times New Roman" panose="02020603050405020304" pitchFamily="18" charset="0"/>
                <a:cs typeface="Times New Roman" panose="02020603050405020304" pitchFamily="18" charset="0"/>
              </a:rPr>
              <a:t> to spot unusual activity.</a:t>
            </a:r>
          </a:p>
          <a:p>
            <a:pPr lvl="1"/>
            <a:r>
              <a:rPr lang="en-US" sz="2400" b="1" dirty="0">
                <a:latin typeface="Times New Roman" panose="02020603050405020304" pitchFamily="18" charset="0"/>
                <a:cs typeface="Times New Roman" panose="02020603050405020304" pitchFamily="18" charset="0"/>
              </a:rPr>
              <a:t>b. Back Up Data</a:t>
            </a:r>
          </a:p>
          <a:p>
            <a:pPr marL="1257300" lvl="2"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Servers hold </a:t>
            </a:r>
            <a:r>
              <a:rPr lang="en-US" sz="2400" b="1" dirty="0">
                <a:latin typeface="Times New Roman" panose="02020603050405020304" pitchFamily="18" charset="0"/>
                <a:cs typeface="Times New Roman" panose="02020603050405020304" pitchFamily="18" charset="0"/>
              </a:rPr>
              <a:t>valuable data</a:t>
            </a:r>
            <a:r>
              <a:rPr lang="en-US" sz="2400" dirty="0">
                <a:latin typeface="Times New Roman" panose="02020603050405020304" pitchFamily="18" charset="0"/>
                <a:cs typeface="Times New Roman" panose="02020603050405020304" pitchFamily="18" charset="0"/>
              </a:rPr>
              <a:t>, so backups are critical.</a:t>
            </a:r>
          </a:p>
          <a:p>
            <a:pPr marL="1257300" lvl="2"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Daily backups</a:t>
            </a:r>
            <a:r>
              <a:rPr lang="en-US" sz="2400" dirty="0">
                <a:latin typeface="Times New Roman" panose="02020603050405020304" pitchFamily="18" charset="0"/>
                <a:cs typeface="Times New Roman" panose="02020603050405020304" pitchFamily="18" charset="0"/>
              </a:rPr>
              <a:t> are preferred; weekly may be okay in some cases.</a:t>
            </a:r>
          </a:p>
          <a:p>
            <a:pPr marL="1257300" lvl="2"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Store backups </a:t>
            </a:r>
            <a:r>
              <a:rPr lang="en-US" sz="2400" b="1" dirty="0">
                <a:latin typeface="Times New Roman" panose="02020603050405020304" pitchFamily="18" charset="0"/>
                <a:cs typeface="Times New Roman" panose="02020603050405020304" pitchFamily="18" charset="0"/>
              </a:rPr>
              <a:t>offsite or in a fireproof safe</a:t>
            </a:r>
            <a:r>
              <a:rPr lang="en-US" sz="2400" dirty="0">
                <a:latin typeface="Times New Roman" panose="02020603050405020304" pitchFamily="18" charset="0"/>
                <a:cs typeface="Times New Roman" panose="02020603050405020304" pitchFamily="18" charset="0"/>
              </a:rPr>
              <a:t>.</a:t>
            </a:r>
          </a:p>
          <a:p>
            <a:pPr marL="1257300" lvl="2"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Limit access to backup media like you do for the server.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728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5967-A97C-7158-6FF4-63CFCB686A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812F31-AB21-C6A8-47F1-FA2676387818}"/>
              </a:ext>
            </a:extLst>
          </p:cNvPr>
          <p:cNvSpPr txBox="1"/>
          <p:nvPr/>
        </p:nvSpPr>
        <p:spPr>
          <a:xfrm>
            <a:off x="692150" y="135324"/>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Server</a:t>
            </a:r>
          </a:p>
        </p:txBody>
      </p:sp>
      <p:sp>
        <p:nvSpPr>
          <p:cNvPr id="6" name="TextBox 5">
            <a:extLst>
              <a:ext uri="{FF2B5EF4-FFF2-40B4-BE49-F238E27FC236}">
                <a16:creationId xmlns:a16="http://schemas.microsoft.com/office/drawing/2014/main" id="{6209D05D-1DAB-BEB1-C03D-179420B04961}"/>
              </a:ext>
            </a:extLst>
          </p:cNvPr>
          <p:cNvSpPr txBox="1"/>
          <p:nvPr/>
        </p:nvSpPr>
        <p:spPr>
          <a:xfrm>
            <a:off x="528320" y="1078637"/>
            <a:ext cx="5130800" cy="5170646"/>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c. Remove Unnecessary Software</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Only keep software needed for the server’s function.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Example: No games or office software; browsers only if needed to update patches.</a:t>
            </a:r>
          </a:p>
          <a:p>
            <a:r>
              <a:rPr lang="en-US" sz="2200" b="1" dirty="0">
                <a:latin typeface="Times New Roman" panose="02020603050405020304" pitchFamily="18" charset="0"/>
                <a:cs typeface="Times New Roman" panose="02020603050405020304" pitchFamily="18" charset="0"/>
              </a:rPr>
              <a:t>d. Secure User Accounts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Default accounts (Administrator, Guest, Power User) are known to hackers.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Disable default accounts</a:t>
            </a:r>
            <a:r>
              <a:rPr lang="en-US" sz="2200" dirty="0">
                <a:latin typeface="Times New Roman" panose="02020603050405020304" pitchFamily="18" charset="0"/>
                <a:cs typeface="Times New Roman" panose="02020603050405020304" pitchFamily="18" charset="0"/>
              </a:rPr>
              <a:t> and create new ones with </a:t>
            </a:r>
            <a:r>
              <a:rPr lang="en-US" sz="2200" b="1" dirty="0">
                <a:latin typeface="Times New Roman" panose="02020603050405020304" pitchFamily="18" charset="0"/>
                <a:cs typeface="Times New Roman" panose="02020603050405020304" pitchFamily="18" charset="0"/>
              </a:rPr>
              <a:t>non-obvious names</a:t>
            </a:r>
            <a:r>
              <a:rPr lang="en-US" sz="22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Example: Rename Administrator to </a:t>
            </a:r>
            <a:r>
              <a:rPr lang="en-US" sz="2200" dirty="0" err="1">
                <a:latin typeface="Times New Roman" panose="02020603050405020304" pitchFamily="18" charset="0"/>
                <a:cs typeface="Times New Roman" panose="02020603050405020304" pitchFamily="18" charset="0"/>
              </a:rPr>
              <a:t>basic_user</a:t>
            </a:r>
            <a:r>
              <a:rPr lang="en-US" sz="22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Only give </a:t>
            </a:r>
            <a:r>
              <a:rPr lang="en-US" sz="2200" b="1" dirty="0">
                <a:latin typeface="Times New Roman" panose="02020603050405020304" pitchFamily="18" charset="0"/>
                <a:cs typeface="Times New Roman" panose="02020603050405020304" pitchFamily="18" charset="0"/>
              </a:rPr>
              <a:t>admin access</a:t>
            </a:r>
            <a:r>
              <a:rPr lang="en-US" sz="2200" dirty="0">
                <a:latin typeface="Times New Roman" panose="02020603050405020304" pitchFamily="18" charset="0"/>
                <a:cs typeface="Times New Roman" panose="02020603050405020304" pitchFamily="18" charset="0"/>
              </a:rPr>
              <a:t> to trusted people.</a:t>
            </a:r>
          </a:p>
        </p:txBody>
      </p:sp>
      <p:sp>
        <p:nvSpPr>
          <p:cNvPr id="4" name="TextBox 3">
            <a:extLst>
              <a:ext uri="{FF2B5EF4-FFF2-40B4-BE49-F238E27FC236}">
                <a16:creationId xmlns:a16="http://schemas.microsoft.com/office/drawing/2014/main" id="{33E36C63-CB70-33F2-E04E-751297B18827}"/>
              </a:ext>
            </a:extLst>
          </p:cNvPr>
          <p:cNvSpPr txBox="1"/>
          <p:nvPr/>
        </p:nvSpPr>
        <p:spPr>
          <a:xfrm>
            <a:off x="5750560" y="1091556"/>
            <a:ext cx="6096000" cy="5509200"/>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e. Secure Old Backup Media</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Never throw old backups in the trash!</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Malicious people can recover sensitive data.</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Destroy old media physically:</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DVDs → break</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Tapes → melt</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Hard drives → magnetize</a:t>
            </a:r>
          </a:p>
          <a:p>
            <a:r>
              <a:rPr lang="en-US" sz="2200" b="1" dirty="0">
                <a:latin typeface="Times New Roman" panose="02020603050405020304" pitchFamily="18" charset="0"/>
                <a:cs typeface="Times New Roman" panose="02020603050405020304" pitchFamily="18" charset="0"/>
              </a:rPr>
              <a:t>f. Registry Settings (Windows Servers)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Some settings in Windows Registry can reduce security. Examples:</a:t>
            </a:r>
          </a:p>
          <a:p>
            <a:pPr marL="800100" lvl="1"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Show last logged-in user</a:t>
            </a:r>
            <a:r>
              <a:rPr lang="en-US" sz="2200" dirty="0">
                <a:latin typeface="Times New Roman" panose="02020603050405020304" pitchFamily="18" charset="0"/>
                <a:cs typeface="Times New Roman" panose="02020603050405020304" pitchFamily="18" charset="0"/>
              </a:rPr>
              <a:t> → gives hackers half the login info.</a:t>
            </a:r>
          </a:p>
          <a:p>
            <a:pPr marL="800100" lvl="1"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Default shared folders/drives</a:t>
            </a:r>
            <a:r>
              <a:rPr lang="en-US" sz="2200" dirty="0">
                <a:latin typeface="Times New Roman" panose="02020603050405020304" pitchFamily="18" charset="0"/>
                <a:cs typeface="Times New Roman" panose="02020603050405020304" pitchFamily="18" charset="0"/>
              </a:rPr>
              <a:t> → attackers can access them.</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 tools like </a:t>
            </a:r>
            <a:r>
              <a:rPr lang="en-US" sz="2200" b="1" dirty="0">
                <a:latin typeface="Times New Roman" panose="02020603050405020304" pitchFamily="18" charset="0"/>
                <a:cs typeface="Times New Roman" panose="02020603050405020304" pitchFamily="18" charset="0"/>
              </a:rPr>
              <a:t>Cerberus</a:t>
            </a:r>
            <a:r>
              <a:rPr lang="en-US" sz="2200" dirty="0">
                <a:latin typeface="Times New Roman" panose="02020603050405020304" pitchFamily="18" charset="0"/>
                <a:cs typeface="Times New Roman" panose="02020603050405020304" pitchFamily="18" charset="0"/>
              </a:rPr>
              <a:t> to scan and fix Registry issues.</a:t>
            </a:r>
          </a:p>
        </p:txBody>
      </p:sp>
    </p:spTree>
    <p:extLst>
      <p:ext uri="{BB962C8B-B14F-4D97-AF65-F5344CB8AC3E}">
        <p14:creationId xmlns:p14="http://schemas.microsoft.com/office/powerpoint/2010/main" val="3497974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E174-BF6A-9B81-5C75-D4B45F2E57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423297-02A1-73FE-404F-AB8501F6E28F}"/>
              </a:ext>
            </a:extLst>
          </p:cNvPr>
          <p:cNvSpPr txBox="1"/>
          <p:nvPr/>
        </p:nvSpPr>
        <p:spPr>
          <a:xfrm>
            <a:off x="645160" y="994856"/>
            <a:ext cx="11066780" cy="5863144"/>
          </a:xfrm>
          <a:prstGeom prst="rect">
            <a:avLst/>
          </a:prstGeom>
          <a:noFill/>
        </p:spPr>
        <p:txBody>
          <a:bodyPr wrap="square">
            <a:spAutoFit/>
          </a:bodyPr>
          <a:lstStyle/>
          <a:p>
            <a:pPr marL="457200" indent="-457200">
              <a:buAutoNum type="arabicPeriod"/>
            </a:pPr>
            <a:r>
              <a:rPr lang="en-US" sz="2500" b="1" dirty="0">
                <a:latin typeface="Times New Roman" panose="02020603050405020304" pitchFamily="18" charset="0"/>
                <a:cs typeface="Times New Roman" panose="02020603050405020304" pitchFamily="18" charset="0"/>
              </a:rPr>
              <a:t>Secure all computers first</a:t>
            </a:r>
          </a:p>
          <a:p>
            <a:pPr marL="800100" lvl="1"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first step in securing a network is to secure all computers that take part in that network, including all workstations and servers.</a:t>
            </a:r>
          </a:p>
          <a:p>
            <a:r>
              <a:rPr lang="en-US" sz="2500" b="1" dirty="0">
                <a:latin typeface="Times New Roman" panose="02020603050405020304" pitchFamily="18" charset="0"/>
                <a:cs typeface="Times New Roman" panose="02020603050405020304" pitchFamily="18" charset="0"/>
              </a:rPr>
              <a:t>2. Use Firewalls and Proxies</a:t>
            </a:r>
            <a:endParaRPr lang="en-US" sz="25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Firewall:</a:t>
            </a:r>
            <a:r>
              <a:rPr lang="en-US" sz="2500" dirty="0">
                <a:latin typeface="Times New Roman" panose="02020603050405020304" pitchFamily="18" charset="0"/>
                <a:cs typeface="Times New Roman" panose="02020603050405020304" pitchFamily="18" charset="0"/>
              </a:rPr>
              <a:t> Controls traffic between your network and the internet. Blocks unwanted access.</a:t>
            </a:r>
          </a:p>
          <a:p>
            <a:pPr marL="800100" lvl="1" indent="-34290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Proxy server:</a:t>
            </a:r>
            <a:r>
              <a:rPr lang="en-US" sz="2500" dirty="0">
                <a:latin typeface="Times New Roman" panose="02020603050405020304" pitchFamily="18" charset="0"/>
                <a:cs typeface="Times New Roman" panose="02020603050405020304" pitchFamily="18" charset="0"/>
              </a:rPr>
              <a:t> Acts as an intermediary for requests from clients seeking resources.</a:t>
            </a:r>
          </a:p>
          <a:p>
            <a:pPr marL="800100" lvl="1"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Both are </a:t>
            </a:r>
            <a:r>
              <a:rPr lang="en-US" sz="2500" b="1" dirty="0">
                <a:latin typeface="Times New Roman" panose="02020603050405020304" pitchFamily="18" charset="0"/>
                <a:cs typeface="Times New Roman" panose="02020603050405020304" pitchFamily="18" charset="0"/>
              </a:rPr>
              <a:t>critical for network security</a:t>
            </a:r>
            <a:r>
              <a:rPr lang="en-US" sz="2500" dirty="0">
                <a:latin typeface="Times New Roman" panose="02020603050405020304" pitchFamily="18" charset="0"/>
                <a:cs typeface="Times New Roman" panose="02020603050405020304" pitchFamily="18" charset="0"/>
              </a:rPr>
              <a:t>.</a:t>
            </a:r>
          </a:p>
          <a:p>
            <a:r>
              <a:rPr lang="en-US" sz="2500" b="1" dirty="0">
                <a:latin typeface="Times New Roman" panose="02020603050405020304" pitchFamily="18" charset="0"/>
                <a:cs typeface="Times New Roman" panose="02020603050405020304" pitchFamily="18" charset="0"/>
              </a:rPr>
              <a:t>3. Add IDS for Monitoring</a:t>
            </a:r>
            <a:endParaRPr lang="en-US" sz="25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IDS (Intrusion Detection System)</a:t>
            </a:r>
            <a:r>
              <a:rPr lang="en-US" sz="2500" dirty="0">
                <a:latin typeface="Times New Roman" panose="02020603050405020304" pitchFamily="18" charset="0"/>
                <a:cs typeface="Times New Roman" panose="02020603050405020304" pitchFamily="18" charset="0"/>
              </a:rPr>
              <a:t> monitors network activity for suspicious actions (e.g., port scans).</a:t>
            </a:r>
          </a:p>
          <a:p>
            <a:pPr marL="800100" lvl="1"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Some IDS tools are free; larger networks benefit from having them.</a:t>
            </a:r>
          </a:p>
          <a:p>
            <a:pPr marL="800100" lvl="1"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IDS helps </a:t>
            </a:r>
            <a:r>
              <a:rPr lang="en-US" sz="2500" b="1" dirty="0">
                <a:latin typeface="Times New Roman" panose="02020603050405020304" pitchFamily="18" charset="0"/>
                <a:cs typeface="Times New Roman" panose="02020603050405020304" pitchFamily="18" charset="0"/>
              </a:rPr>
              <a:t>detect attacks before they happen</a:t>
            </a:r>
            <a:r>
              <a:rPr lang="en-US" sz="25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350F7B-3200-C3EB-5540-833406D21A23}"/>
              </a:ext>
            </a:extLst>
          </p:cNvPr>
          <p:cNvSpPr txBox="1"/>
          <p:nvPr/>
        </p:nvSpPr>
        <p:spPr>
          <a:xfrm>
            <a:off x="774700" y="184666"/>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Network</a:t>
            </a:r>
          </a:p>
        </p:txBody>
      </p:sp>
      <p:sp>
        <p:nvSpPr>
          <p:cNvPr id="6" name="Rectangle 3">
            <a:extLst>
              <a:ext uri="{FF2B5EF4-FFF2-40B4-BE49-F238E27FC236}">
                <a16:creationId xmlns:a16="http://schemas.microsoft.com/office/drawing/2014/main" id="{2ADDA563-41A5-435A-F4C9-2F2981F357C6}"/>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786B0A50-05E9-770A-2513-DF3DEC62A3DF}"/>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8660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F531-A144-7788-E6A5-C554D3CAE5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2C0EA3-06CC-176D-21F6-A2F400A7E9AA}"/>
              </a:ext>
            </a:extLst>
          </p:cNvPr>
          <p:cNvSpPr txBox="1"/>
          <p:nvPr/>
        </p:nvSpPr>
        <p:spPr>
          <a:xfrm>
            <a:off x="645160" y="1137096"/>
            <a:ext cx="11066780" cy="563231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4. Segment the Network for Safety</a:t>
            </a:r>
            <a:endParaRPr lang="en-US"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Large networks can be split into </a:t>
            </a:r>
            <a:r>
              <a:rPr lang="en-US" sz="2400" b="1" dirty="0">
                <a:latin typeface="Times New Roman" panose="02020603050405020304" pitchFamily="18" charset="0"/>
                <a:cs typeface="Times New Roman" panose="02020603050405020304" pitchFamily="18" charset="0"/>
              </a:rPr>
              <a:t>smaller segments</a:t>
            </a:r>
            <a:r>
              <a:rPr lang="en-US" sz="2400" dirty="0">
                <a:latin typeface="Times New Roman" panose="02020603050405020304" pitchFamily="18" charset="0"/>
                <a:cs typeface="Times New Roman" panose="02020603050405020304" pitchFamily="18" charset="0"/>
              </a:rPr>
              <a:t> with firewalls between them.</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Benefits:</a:t>
            </a:r>
            <a:endParaRPr lang="en-US" sz="24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one segment is attacked, the rest remain safe.</a:t>
            </a: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Critical servers (database, file) can be isolated in a </a:t>
            </a:r>
            <a:r>
              <a:rPr lang="en-US" sz="2400" b="1" dirty="0">
                <a:latin typeface="Times New Roman" panose="02020603050405020304" pitchFamily="18" charset="0"/>
                <a:cs typeface="Times New Roman" panose="02020603050405020304" pitchFamily="18" charset="0"/>
              </a:rPr>
              <a:t>secure segment</a:t>
            </a:r>
            <a:r>
              <a:rPr lang="en-US" sz="2400" dirty="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5. Protect Web Servers Separately</a:t>
            </a:r>
            <a:endParaRPr lang="en-US"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Web servers are </a:t>
            </a:r>
            <a:r>
              <a:rPr lang="en-US" sz="2400" b="1" dirty="0">
                <a:latin typeface="Times New Roman" panose="02020603050405020304" pitchFamily="18" charset="0"/>
                <a:cs typeface="Times New Roman" panose="02020603050405020304" pitchFamily="18" charset="0"/>
              </a:rPr>
              <a:t>exposed to the internet</a:t>
            </a:r>
            <a:r>
              <a:rPr lang="en-US" sz="2400" dirty="0">
                <a:latin typeface="Times New Roman" panose="02020603050405020304" pitchFamily="18" charset="0"/>
                <a:cs typeface="Times New Roman" panose="02020603050405020304" pitchFamily="18" charset="0"/>
              </a:rPr>
              <a:t> → common attack point.</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Recommendations:</a:t>
            </a:r>
            <a:endParaRPr lang="en-US" sz="24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Place them in a </a:t>
            </a:r>
            <a:r>
              <a:rPr lang="en-US" sz="2400" b="1" dirty="0">
                <a:latin typeface="Times New Roman" panose="02020603050405020304" pitchFamily="18" charset="0"/>
                <a:cs typeface="Times New Roman" panose="02020603050405020304" pitchFamily="18" charset="0"/>
              </a:rPr>
              <a:t>separate segment</a:t>
            </a:r>
            <a:r>
              <a:rPr lang="en-US" sz="2400" dirty="0">
                <a:latin typeface="Times New Roman" panose="02020603050405020304" pitchFamily="18" charset="0"/>
                <a:cs typeface="Times New Roman" panose="02020603050405020304" pitchFamily="18" charset="0"/>
              </a:rPr>
              <a:t> from other servers.</a:t>
            </a: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a </a:t>
            </a:r>
            <a:r>
              <a:rPr lang="en-US" sz="2400" b="1" dirty="0">
                <a:latin typeface="Times New Roman" panose="02020603050405020304" pitchFamily="18" charset="0"/>
                <a:cs typeface="Times New Roman" panose="02020603050405020304" pitchFamily="18" charset="0"/>
              </a:rPr>
              <a:t>second firewall</a:t>
            </a:r>
            <a:r>
              <a:rPr lang="en-US" sz="2400" dirty="0">
                <a:latin typeface="Times New Roman" panose="02020603050405020304" pitchFamily="18" charset="0"/>
                <a:cs typeface="Times New Roman" panose="02020603050405020304" pitchFamily="18" charset="0"/>
              </a:rPr>
              <a:t> between the web server and the network.</a:t>
            </a: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run what is needed:</a:t>
            </a:r>
          </a:p>
          <a:p>
            <a:pPr marL="1714500" lvl="3"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OS + web server software</a:t>
            </a:r>
          </a:p>
          <a:p>
            <a:pPr marL="1714500" lvl="3"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Optional: IDS</a:t>
            </a:r>
          </a:p>
          <a:p>
            <a:pPr marL="1257300" lvl="2"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 </a:t>
            </a:r>
            <a:r>
              <a:rPr lang="en-US" sz="2400" b="1" dirty="0">
                <a:latin typeface="Times New Roman" panose="02020603050405020304" pitchFamily="18" charset="0"/>
                <a:cs typeface="Times New Roman" panose="02020603050405020304" pitchFamily="18" charset="0"/>
              </a:rPr>
              <a:t>not store sensitive data</a:t>
            </a:r>
            <a:r>
              <a:rPr lang="en-US" sz="2400" dirty="0">
                <a:latin typeface="Times New Roman" panose="02020603050405020304" pitchFamily="18" charset="0"/>
                <a:cs typeface="Times New Roman" panose="02020603050405020304" pitchFamily="18" charset="0"/>
              </a:rPr>
              <a:t> or install extra software on web servers.</a:t>
            </a:r>
          </a:p>
          <a:p>
            <a:pPr lvl="1"/>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3A7799-032C-CFD9-90D0-4D4B5E4DDA3A}"/>
              </a:ext>
            </a:extLst>
          </p:cNvPr>
          <p:cNvSpPr txBox="1"/>
          <p:nvPr/>
        </p:nvSpPr>
        <p:spPr>
          <a:xfrm>
            <a:off x="774700" y="184666"/>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Network</a:t>
            </a:r>
          </a:p>
        </p:txBody>
      </p:sp>
      <p:sp>
        <p:nvSpPr>
          <p:cNvPr id="6" name="Rectangle 3">
            <a:extLst>
              <a:ext uri="{FF2B5EF4-FFF2-40B4-BE49-F238E27FC236}">
                <a16:creationId xmlns:a16="http://schemas.microsoft.com/office/drawing/2014/main" id="{2522DA2A-45E5-CB04-06DD-5BBE4AB20234}"/>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A90A5CA8-FB25-C3A0-14A7-524018D2EED4}"/>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5380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92C07-B9C8-20BF-9FB2-94C1BC433C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9FF5F8-AB23-A241-2786-E8B0DEAC9C1A}"/>
              </a:ext>
            </a:extLst>
          </p:cNvPr>
          <p:cNvSpPr txBox="1"/>
          <p:nvPr/>
        </p:nvSpPr>
        <p:spPr>
          <a:xfrm>
            <a:off x="645160" y="1137096"/>
            <a:ext cx="11066780" cy="538609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6. Use a DMZ for Public Resources</a:t>
            </a:r>
            <a:endParaRPr lang="en-US" sz="28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DMZ (Demilitarized Zone):</a:t>
            </a:r>
            <a:r>
              <a:rPr lang="en-US" sz="2800" dirty="0">
                <a:latin typeface="Times New Roman" panose="02020603050405020304" pitchFamily="18" charset="0"/>
                <a:cs typeface="Times New Roman" panose="02020603050405020304" pitchFamily="18" charset="0"/>
              </a:rPr>
              <a:t> A network area </a:t>
            </a:r>
            <a:r>
              <a:rPr lang="en-US" sz="2800" b="1" dirty="0">
                <a:latin typeface="Times New Roman" panose="02020603050405020304" pitchFamily="18" charset="0"/>
                <a:cs typeface="Times New Roman" panose="02020603050405020304" pitchFamily="18" charset="0"/>
              </a:rPr>
              <a:t>between two firewalls</a:t>
            </a:r>
            <a:r>
              <a:rPr lang="en-US" sz="2800" dirty="0">
                <a:latin typeface="Times New Roman" panose="02020603050405020304" pitchFamily="18" charset="0"/>
                <a:cs typeface="Times New Roman" panose="02020603050405020304" pitchFamily="18" charset="0"/>
              </a:rPr>
              <a:t>.</a:t>
            </a:r>
          </a:p>
          <a:p>
            <a:pPr marL="1257300" lvl="2"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Outer firewall:</a:t>
            </a:r>
            <a:r>
              <a:rPr lang="en-US" sz="2800" dirty="0">
                <a:latin typeface="Times New Roman" panose="02020603050405020304" pitchFamily="18" charset="0"/>
                <a:cs typeface="Times New Roman" panose="02020603050405020304" pitchFamily="18" charset="0"/>
              </a:rPr>
              <a:t> Permissive, allows public access.</a:t>
            </a:r>
          </a:p>
          <a:p>
            <a:pPr marL="1257300" lvl="2"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Inner firewall:</a:t>
            </a:r>
            <a:r>
              <a:rPr lang="en-US" sz="2800" dirty="0">
                <a:latin typeface="Times New Roman" panose="02020603050405020304" pitchFamily="18" charset="0"/>
                <a:cs typeface="Times New Roman" panose="02020603050405020304" pitchFamily="18" charset="0"/>
              </a:rPr>
              <a:t> Strict, protects the internal network.</a:t>
            </a:r>
          </a:p>
          <a:p>
            <a:pPr marL="800100"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Public-facing resources (web servers, email gateways) are placed in the DMZ.</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7. Enforce User Policies</a:t>
            </a:r>
            <a:endParaRPr lang="en-US" sz="28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Security is not just technical; humans matter.</a:t>
            </a:r>
          </a:p>
          <a:p>
            <a:pPr marL="800100"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Have clear </a:t>
            </a:r>
            <a:r>
              <a:rPr lang="en-US" sz="2800" b="1" dirty="0">
                <a:latin typeface="Times New Roman" panose="02020603050405020304" pitchFamily="18" charset="0"/>
                <a:cs typeface="Times New Roman" panose="02020603050405020304" pitchFamily="18" charset="0"/>
              </a:rPr>
              <a:t>policies</a:t>
            </a:r>
            <a:r>
              <a:rPr lang="en-US" sz="2800" dirty="0">
                <a:latin typeface="Times New Roman" panose="02020603050405020304" pitchFamily="18" charset="0"/>
                <a:cs typeface="Times New Roman" panose="02020603050405020304" pitchFamily="18" charset="0"/>
              </a:rPr>
              <a:t> on appropriate use of systems.</a:t>
            </a:r>
          </a:p>
          <a:p>
            <a:pPr marL="800100"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Even strong security can </a:t>
            </a:r>
            <a:r>
              <a:rPr lang="en-US" sz="2800" b="1" dirty="0">
                <a:latin typeface="Times New Roman" panose="02020603050405020304" pitchFamily="18" charset="0"/>
                <a:cs typeface="Times New Roman" panose="02020603050405020304" pitchFamily="18" charset="0"/>
              </a:rPr>
              <a:t>fail if users are careless</a:t>
            </a:r>
            <a:r>
              <a:rPr lang="en-US" sz="2800" dirty="0">
                <a:latin typeface="Times New Roman" panose="02020603050405020304" pitchFamily="18" charset="0"/>
                <a:cs typeface="Times New Roman" panose="02020603050405020304" pitchFamily="18" charset="0"/>
              </a:rPr>
              <a:t>.</a:t>
            </a:r>
          </a:p>
          <a:p>
            <a:pPr lvl="1"/>
            <a:endParaRPr lang="en-US"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38393B-CB4B-4A15-54CD-5CD8AB7874D8}"/>
              </a:ext>
            </a:extLst>
          </p:cNvPr>
          <p:cNvSpPr txBox="1"/>
          <p:nvPr/>
        </p:nvSpPr>
        <p:spPr>
          <a:xfrm>
            <a:off x="774700" y="184666"/>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Network</a:t>
            </a:r>
          </a:p>
        </p:txBody>
      </p:sp>
      <p:sp>
        <p:nvSpPr>
          <p:cNvPr id="6" name="Rectangle 3">
            <a:extLst>
              <a:ext uri="{FF2B5EF4-FFF2-40B4-BE49-F238E27FC236}">
                <a16:creationId xmlns:a16="http://schemas.microsoft.com/office/drawing/2014/main" id="{533BBFD6-2362-5A46-E333-E34DDFBDED98}"/>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95F03F5A-337D-884C-1840-DB16B86EF62C}"/>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697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6F1B33-B234-18AD-1839-FF6B92509C00}"/>
              </a:ext>
            </a:extLst>
          </p:cNvPr>
          <p:cNvPicPr>
            <a:picLocks noChangeAspect="1"/>
          </p:cNvPicPr>
          <p:nvPr/>
        </p:nvPicPr>
        <p:blipFill>
          <a:blip r:embed="rId2"/>
          <a:stretch>
            <a:fillRect/>
          </a:stretch>
        </p:blipFill>
        <p:spPr>
          <a:xfrm>
            <a:off x="2915921" y="242272"/>
            <a:ext cx="6098222" cy="5961043"/>
          </a:xfrm>
          <a:prstGeom prst="rect">
            <a:avLst/>
          </a:prstGeom>
        </p:spPr>
      </p:pic>
      <p:sp>
        <p:nvSpPr>
          <p:cNvPr id="5" name="TextBox 4">
            <a:extLst>
              <a:ext uri="{FF2B5EF4-FFF2-40B4-BE49-F238E27FC236}">
                <a16:creationId xmlns:a16="http://schemas.microsoft.com/office/drawing/2014/main" id="{FC1A47B6-BFFD-5EC0-5836-217B54CB0592}"/>
              </a:ext>
            </a:extLst>
          </p:cNvPr>
          <p:cNvSpPr txBox="1"/>
          <p:nvPr/>
        </p:nvSpPr>
        <p:spPr>
          <a:xfrm>
            <a:off x="3942080" y="6203315"/>
            <a:ext cx="6096000" cy="523220"/>
          </a:xfrm>
          <a:prstGeom prst="rect">
            <a:avLst/>
          </a:prstGeom>
          <a:noFill/>
        </p:spPr>
        <p:txBody>
          <a:bodyPr wrap="square">
            <a:spAutoFit/>
          </a:bodyPr>
          <a:lstStyle/>
          <a:p>
            <a:r>
              <a:rPr lang="en-US" sz="2800" b="1" dirty="0">
                <a:solidFill>
                  <a:srgbClr val="00B0F0"/>
                </a:solidFill>
                <a:latin typeface="Times New Roman" panose="02020603050405020304" pitchFamily="18" charset="0"/>
                <a:cs typeface="Times New Roman" panose="02020603050405020304" pitchFamily="18" charset="0"/>
              </a:rPr>
              <a:t>DMZ (Demilitarized Zone): </a:t>
            </a:r>
            <a:endParaRPr lang="en-PK" sz="2800" b="1" dirty="0">
              <a:solidFill>
                <a:srgbClr val="00B0F0"/>
              </a:solidFill>
            </a:endParaRPr>
          </a:p>
        </p:txBody>
      </p:sp>
    </p:spTree>
    <p:extLst>
      <p:ext uri="{BB962C8B-B14F-4D97-AF65-F5344CB8AC3E}">
        <p14:creationId xmlns:p14="http://schemas.microsoft.com/office/powerpoint/2010/main" val="1815577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9B86B-BE8B-6471-86B5-5AE859EF13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4AF5F0F-0214-631F-8BE9-2C9F1633E95E}"/>
              </a:ext>
            </a:extLst>
          </p:cNvPr>
          <p:cNvSpPr txBox="1"/>
          <p:nvPr/>
        </p:nvSpPr>
        <p:spPr>
          <a:xfrm>
            <a:off x="645160" y="1065976"/>
            <a:ext cx="11066780" cy="526297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8. Hardening Routers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Routers are key for network security. Steps include:</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Passwords: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Strong, complex passwords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Encrypt passwords if the router allows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Follow password rules like on servers</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Logging:</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Turn on logging for monitoring suspicious activity</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Security Rules: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Don’t respond to ARP requests from unknown hosts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Close unused ports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Block packets not originating from your LAN</a:t>
            </a:r>
          </a:p>
        </p:txBody>
      </p:sp>
      <p:sp>
        <p:nvSpPr>
          <p:cNvPr id="3" name="TextBox 2">
            <a:extLst>
              <a:ext uri="{FF2B5EF4-FFF2-40B4-BE49-F238E27FC236}">
                <a16:creationId xmlns:a16="http://schemas.microsoft.com/office/drawing/2014/main" id="{4BB77972-78D1-50A3-7B61-8B2FF938C11F}"/>
              </a:ext>
            </a:extLst>
          </p:cNvPr>
          <p:cNvSpPr txBox="1"/>
          <p:nvPr/>
        </p:nvSpPr>
        <p:spPr>
          <a:xfrm>
            <a:off x="774700" y="184666"/>
            <a:ext cx="108077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Securing a Network</a:t>
            </a:r>
          </a:p>
        </p:txBody>
      </p:sp>
      <p:sp>
        <p:nvSpPr>
          <p:cNvPr id="6" name="Rectangle 3">
            <a:extLst>
              <a:ext uri="{FF2B5EF4-FFF2-40B4-BE49-F238E27FC236}">
                <a16:creationId xmlns:a16="http://schemas.microsoft.com/office/drawing/2014/main" id="{E605EE30-5EF0-A8D2-0EA5-CEEE7478CC1C}"/>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DE983BE2-3ABC-27E4-FCF3-F2254AD4AF23}"/>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7684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10C2D-3973-73E2-5660-DF5AAA9DCE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B2C3EF-CBC7-8885-1C97-1F73714B7A41}"/>
              </a:ext>
            </a:extLst>
          </p:cNvPr>
          <p:cNvSpPr txBox="1"/>
          <p:nvPr/>
        </p:nvSpPr>
        <p:spPr>
          <a:xfrm>
            <a:off x="774700" y="184666"/>
            <a:ext cx="10807700" cy="707886"/>
          </a:xfrm>
          <a:prstGeom prst="rect">
            <a:avLst/>
          </a:prstGeom>
          <a:noFill/>
        </p:spPr>
        <p:txBody>
          <a:bodyPr wrap="square">
            <a:spAutoFit/>
          </a:bodyPr>
          <a:lstStyle/>
          <a:p>
            <a:pPr algn="ctr"/>
            <a:r>
              <a:rPr lang="en-US" alt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Vulnerability</a:t>
            </a:r>
            <a:r>
              <a:rPr lang="en-US" altLang="en-US" sz="4000" dirty="0"/>
              <a:t> </a:t>
            </a:r>
            <a:r>
              <a:rPr lang="en-US" alt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Scanner - Network</a:t>
            </a: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A6B8B16-DCAA-D358-1A26-29672B5DA3C8}"/>
              </a:ext>
            </a:extLst>
          </p:cNvPr>
          <p:cNvGraphicFramePr>
            <a:graphicFrameLocks noGrp="1"/>
          </p:cNvGraphicFramePr>
          <p:nvPr>
            <p:extLst>
              <p:ext uri="{D42A27DB-BD31-4B8C-83A1-F6EECF244321}">
                <p14:modId xmlns:p14="http://schemas.microsoft.com/office/powerpoint/2010/main" val="3367762928"/>
              </p:ext>
            </p:extLst>
          </p:nvPr>
        </p:nvGraphicFramePr>
        <p:xfrm>
          <a:off x="304800" y="1081629"/>
          <a:ext cx="11277600" cy="5684817"/>
        </p:xfrm>
        <a:graphic>
          <a:graphicData uri="http://schemas.openxmlformats.org/drawingml/2006/table">
            <a:tbl>
              <a:tblPr>
                <a:tableStyleId>{5940675A-B579-460E-94D1-54222C63F5DA}</a:tableStyleId>
              </a:tblPr>
              <a:tblGrid>
                <a:gridCol w="1270000">
                  <a:extLst>
                    <a:ext uri="{9D8B030D-6E8A-4147-A177-3AD203B41FA5}">
                      <a16:colId xmlns:a16="http://schemas.microsoft.com/office/drawing/2014/main" val="62433286"/>
                    </a:ext>
                  </a:extLst>
                </a:gridCol>
                <a:gridCol w="10007600">
                  <a:extLst>
                    <a:ext uri="{9D8B030D-6E8A-4147-A177-3AD203B41FA5}">
                      <a16:colId xmlns:a16="http://schemas.microsoft.com/office/drawing/2014/main" val="1989405042"/>
                    </a:ext>
                  </a:extLst>
                </a:gridCol>
              </a:tblGrid>
              <a:tr h="742325">
                <a:tc>
                  <a:txBody>
                    <a:bodyPr/>
                    <a:lstStyle/>
                    <a:p>
                      <a:pPr algn="ctr">
                        <a:buNone/>
                      </a:pPr>
                      <a:r>
                        <a:rPr lang="en-US" sz="2000" b="1" dirty="0"/>
                        <a:t>Tool</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b="1" dirty="0"/>
                        <a:t>Details</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954450705"/>
                  </a:ext>
                </a:extLst>
              </a:tr>
              <a:tr h="762989">
                <a:tc>
                  <a:txBody>
                    <a:bodyPr/>
                    <a:lstStyle/>
                    <a:p>
                      <a:pPr algn="ctr">
                        <a:buNone/>
                      </a:pPr>
                      <a:r>
                        <a:rPr lang="en-US" sz="2000" b="1"/>
                        <a:t>NESSUS</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Premier network vulnerability scanner, Used widely by penetration testers- Constantly updated for new vulnerabilities- Web interface</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420489377"/>
                  </a:ext>
                </a:extLst>
              </a:tr>
              <a:tr h="742325">
                <a:tc>
                  <a:txBody>
                    <a:bodyPr/>
                    <a:lstStyle/>
                    <a:p>
                      <a:pPr algn="ctr">
                        <a:buNone/>
                      </a:pPr>
                      <a:r>
                        <a:rPr lang="en-US" sz="2000" b="1"/>
                        <a:t>OWASP ZAP</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Free web application vulnerability scanner- Provided by Open Web Application Security Project (OWASP</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1306839525"/>
                  </a:ext>
                </a:extLst>
              </a:tr>
              <a:tr h="762989">
                <a:tc>
                  <a:txBody>
                    <a:bodyPr/>
                    <a:lstStyle/>
                    <a:p>
                      <a:pPr algn="ctr">
                        <a:buNone/>
                      </a:pPr>
                      <a:r>
                        <a:rPr lang="en-US" sz="2000" b="1"/>
                        <a:t>Shodan</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Search engine for vulnerabilities (</a:t>
                      </a:r>
                      <a:r>
                        <a:rPr lang="en-US" sz="2000" dirty="0">
                          <a:hlinkClick r:id="rId2"/>
                        </a:rPr>
                        <a:t>https://www.shodan.io</a:t>
                      </a:r>
                      <a:r>
                        <a:rPr lang="en-US" sz="2000" dirty="0"/>
                        <a:t>)- Free account available. Useful for penetration testing of your domain or client’s domain.</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3086457264"/>
                  </a:ext>
                </a:extLst>
              </a:tr>
              <a:tr h="742325">
                <a:tc>
                  <a:txBody>
                    <a:bodyPr/>
                    <a:lstStyle/>
                    <a:p>
                      <a:pPr algn="ctr">
                        <a:buNone/>
                      </a:pPr>
                      <a:r>
                        <a:rPr lang="en-US" sz="2000" b="1"/>
                        <a:t>Kali Linux Tools</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a:t>
                      </a:r>
                      <a:r>
                        <a:rPr lang="en-US" sz="2000" b="1" dirty="0" err="1"/>
                        <a:t>Lynsis</a:t>
                      </a:r>
                      <a:r>
                        <a:rPr lang="en-US" sz="2000" b="1" dirty="0"/>
                        <a:t>:</a:t>
                      </a:r>
                      <a:r>
                        <a:rPr lang="en-US" sz="2000" dirty="0"/>
                        <a:t> Host-based security auditing for Linux/UNIX systems.- </a:t>
                      </a:r>
                      <a:r>
                        <a:rPr lang="en-US" sz="2000" b="1" dirty="0" err="1"/>
                        <a:t>Nikto</a:t>
                      </a:r>
                      <a:r>
                        <a:rPr lang="en-US" sz="2000" b="1" dirty="0"/>
                        <a:t>:</a:t>
                      </a:r>
                      <a:r>
                        <a:rPr lang="en-US" sz="2000" dirty="0"/>
                        <a:t> Website scanner for common vulnerabilities</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602867775"/>
                  </a:ext>
                </a:extLst>
              </a:tr>
              <a:tr h="488313">
                <a:tc>
                  <a:txBody>
                    <a:bodyPr/>
                    <a:lstStyle/>
                    <a:p>
                      <a:pPr algn="ctr">
                        <a:buNone/>
                      </a:pPr>
                      <a:r>
                        <a:rPr lang="en-US" sz="2000" b="1"/>
                        <a:t>Vega</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Free, open-source web application scanner (</a:t>
                      </a:r>
                      <a:r>
                        <a:rPr lang="en-US" sz="2000" dirty="0">
                          <a:hlinkClick r:id="rId3"/>
                        </a:rPr>
                        <a:t>https://subgraph.com/vega/download</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344710886"/>
                  </a:ext>
                </a:extLst>
              </a:tr>
              <a:tr h="1098227">
                <a:tc>
                  <a:txBody>
                    <a:bodyPr/>
                    <a:lstStyle/>
                    <a:p>
                      <a:pPr algn="ctr">
                        <a:buNone/>
                      </a:pPr>
                      <a:r>
                        <a:rPr lang="en-US" sz="2000" b="1"/>
                        <a:t>OpenVAS</a:t>
                      </a:r>
                      <a:endParaRPr lang="en-US" sz="2000">
                        <a:latin typeface="Times New Roman" panose="02020603050405020304" pitchFamily="18" charset="0"/>
                        <a:cs typeface="Times New Roman" panose="02020603050405020304" pitchFamily="18" charset="0"/>
                      </a:endParaRPr>
                    </a:p>
                  </a:txBody>
                  <a:tcPr marL="26137" marR="26137" marT="13069" marB="13069" anchor="ctr"/>
                </a:tc>
                <a:tc>
                  <a:txBody>
                    <a:bodyPr/>
                    <a:lstStyle/>
                    <a:p>
                      <a:pPr algn="ctr">
                        <a:buNone/>
                      </a:pPr>
                      <a:r>
                        <a:rPr lang="en-US" sz="2000" dirty="0"/>
                        <a:t>- Open-source vulnerability scanner by </a:t>
                      </a:r>
                      <a:r>
                        <a:rPr lang="en-US" sz="2000" dirty="0" err="1"/>
                        <a:t>Greenbone</a:t>
                      </a:r>
                      <a:r>
                        <a:rPr lang="en-US" sz="2000" dirty="0"/>
                        <a:t> Networks (</a:t>
                      </a:r>
                      <a:r>
                        <a:rPr lang="en-US" sz="2000" dirty="0">
                          <a:hlinkClick r:id="rId4"/>
                        </a:rPr>
                        <a:t>https://github.com/greenbone/openvas-scanner</a:t>
                      </a:r>
                      <a:r>
                        <a:rPr lang="en-US" sz="2000" dirty="0"/>
                        <a:t>)- Framework includes services/tools for scanning hosts and networks- API available for automated scanning- Free version available</a:t>
                      </a:r>
                      <a:endParaRPr lang="en-US" sz="2000" dirty="0">
                        <a:latin typeface="Times New Roman" panose="02020603050405020304" pitchFamily="18" charset="0"/>
                        <a:cs typeface="Times New Roman" panose="02020603050405020304" pitchFamily="18" charset="0"/>
                      </a:endParaRPr>
                    </a:p>
                  </a:txBody>
                  <a:tcPr marL="26137" marR="26137" marT="13069" marB="13069" anchor="ctr"/>
                </a:tc>
                <a:extLst>
                  <a:ext uri="{0D108BD9-81ED-4DB2-BD59-A6C34878D82A}">
                    <a16:rowId xmlns:a16="http://schemas.microsoft.com/office/drawing/2014/main" val="2450657345"/>
                  </a:ext>
                </a:extLst>
              </a:tr>
            </a:tbl>
          </a:graphicData>
        </a:graphic>
      </p:graphicFrame>
    </p:spTree>
    <p:extLst>
      <p:ext uri="{BB962C8B-B14F-4D97-AF65-F5344CB8AC3E}">
        <p14:creationId xmlns:p14="http://schemas.microsoft.com/office/powerpoint/2010/main" val="923709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“Certifications -Indicator, not guarantee of skill”</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3690</TotalTime>
  <Words>2524</Words>
  <Application>Microsoft Office PowerPoint</Application>
  <PresentationFormat>Widescreen</PresentationFormat>
  <Paragraphs>272</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2419</cp:revision>
  <dcterms:created xsi:type="dcterms:W3CDTF">2025-10-15T06:15:30Z</dcterms:created>
  <dcterms:modified xsi:type="dcterms:W3CDTF">2026-01-18T14:58:44Z</dcterms:modified>
</cp:coreProperties>
</file>