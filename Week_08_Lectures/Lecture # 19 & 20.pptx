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26"/>
  </p:notesMasterIdLst>
  <p:sldIdLst>
    <p:sldId id="256" r:id="rId2"/>
    <p:sldId id="261" r:id="rId3"/>
    <p:sldId id="464" r:id="rId4"/>
    <p:sldId id="465" r:id="rId5"/>
    <p:sldId id="455" r:id="rId6"/>
    <p:sldId id="466" r:id="rId7"/>
    <p:sldId id="456" r:id="rId8"/>
    <p:sldId id="467" r:id="rId9"/>
    <p:sldId id="469" r:id="rId10"/>
    <p:sldId id="470" r:id="rId11"/>
    <p:sldId id="463" r:id="rId12"/>
    <p:sldId id="471" r:id="rId13"/>
    <p:sldId id="472" r:id="rId14"/>
    <p:sldId id="473" r:id="rId15"/>
    <p:sldId id="474" r:id="rId16"/>
    <p:sldId id="475" r:id="rId17"/>
    <p:sldId id="476" r:id="rId18"/>
    <p:sldId id="480" r:id="rId19"/>
    <p:sldId id="482" r:id="rId20"/>
    <p:sldId id="481" r:id="rId21"/>
    <p:sldId id="477" r:id="rId22"/>
    <p:sldId id="483" r:id="rId23"/>
    <p:sldId id="478" r:id="rId24"/>
    <p:sldId id="26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842" autoAdjust="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BE7D3E-4D6D-4A9E-AA24-8E11DFA8298B}" type="datetimeFigureOut">
              <a:rPr lang="en-PK" smtClean="0"/>
              <a:t>18/01/2026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A406AE-9E8D-4B19-A8A6-37C9AB1FA076}" type="slidenum">
              <a:rPr lang="en-PK" smtClean="0"/>
              <a:t>‹#›</a:t>
            </a:fld>
            <a:endParaRPr lang="en-PK"/>
          </a:p>
        </p:txBody>
      </p:sp>
    </p:spTree>
    <p:extLst>
      <p:ext uri="{BB962C8B-B14F-4D97-AF65-F5344CB8AC3E}">
        <p14:creationId xmlns:p14="http://schemas.microsoft.com/office/powerpoint/2010/main" val="2438086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39A406AE-9E8D-4B19-A8A6-37C9AB1FA076}" type="slidenum">
              <a:rPr lang="en-PK" smtClean="0"/>
              <a:t>1</a:t>
            </a:fld>
            <a:endParaRPr lang="en-PK"/>
          </a:p>
        </p:txBody>
      </p:sp>
    </p:spTree>
    <p:extLst>
      <p:ext uri="{BB962C8B-B14F-4D97-AF65-F5344CB8AC3E}">
        <p14:creationId xmlns:p14="http://schemas.microsoft.com/office/powerpoint/2010/main" val="314128462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PK"/>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PK"/>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1/18/2026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PK"/>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PK"/>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1/18/2026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PK"/>
            </a:p>
          </p:txBody>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1/18/2026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PK"/>
            </a:p>
          </p:txBody>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1/18/2026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PK"/>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ECB6B-98B0-7DD3-973D-99D900F05140}"/>
              </a:ext>
            </a:extLst>
          </p:cNvPr>
          <p:cNvSpPr>
            <a:spLocks noGrp="1"/>
          </p:cNvSpPr>
          <p:nvPr>
            <p:ph type="ctrTitle"/>
          </p:nvPr>
        </p:nvSpPr>
        <p:spPr/>
        <p:txBody>
          <a:bodyPr/>
          <a:lstStyle/>
          <a:p>
            <a:pPr algn="ctr"/>
            <a:r>
              <a:rPr lang="en-US" sz="8000" b="1" dirty="0">
                <a:latin typeface="Times New Roman" panose="02020603050405020304" pitchFamily="18" charset="0"/>
                <a:cs typeface="Times New Roman" panose="02020603050405020304" pitchFamily="18" charset="0"/>
              </a:rPr>
              <a:t>Cyber Security</a:t>
            </a:r>
            <a:endParaRPr lang="en-PK" sz="8000" b="1" dirty="0">
              <a:latin typeface="Times New Roman" panose="020206030504050203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A4B46766-25E3-5BCC-FCFC-68333EE8C7DA}"/>
              </a:ext>
            </a:extLst>
          </p:cNvPr>
          <p:cNvSpPr txBox="1">
            <a:spLocks/>
          </p:cNvSpPr>
          <p:nvPr/>
        </p:nvSpPr>
        <p:spPr>
          <a:xfrm>
            <a:off x="1276604" y="4321893"/>
            <a:ext cx="8053832" cy="1273048"/>
          </a:xfrm>
          <a:prstGeom prst="rect">
            <a:avLst/>
          </a:prstGeom>
        </p:spPr>
        <p:txBody>
          <a:bodyPr vert="horz" lIns="91440" tIns="45720" rIns="91440" bIns="45720" rtlCol="0" anchor="ctr">
            <a:normAutofit fontScale="92500"/>
          </a:bodyPr>
          <a:lstStyle>
            <a:lvl1pPr algn="l" defTabSz="914400" rtl="0" eaLnBrk="1" latinLnBrk="0" hangingPunct="1">
              <a:lnSpc>
                <a:spcPct val="80000"/>
              </a:lnSpc>
              <a:spcBef>
                <a:spcPct val="0"/>
              </a:spcBef>
              <a:buNone/>
              <a:defRPr sz="9600" kern="1200" cap="all" baseline="0">
                <a:blipFill dpi="0" rotWithShape="1">
                  <a:blip r:embed="rId3"/>
                  <a:srcRect/>
                  <a:tile tx="6350" ty="-127000" sx="65000" sy="64000" flip="none" algn="tl"/>
                </a:blipFill>
                <a:latin typeface="+mj-lt"/>
                <a:ea typeface="+mj-ea"/>
                <a:cs typeface="+mj-cs"/>
              </a:defRPr>
            </a:lvl1pPr>
          </a:lstStyle>
          <a:p>
            <a:r>
              <a:rPr lang="en-US" sz="7200" b="1" dirty="0">
                <a:latin typeface="Times New Roman" panose="02020603050405020304" pitchFamily="18" charset="0"/>
                <a:cs typeface="Times New Roman" panose="02020603050405020304" pitchFamily="18" charset="0"/>
              </a:rPr>
              <a:t>Lecture # 19 &amp; 20</a:t>
            </a:r>
            <a:endParaRPr lang="en-PK" sz="7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7502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B506D-D8CE-6C1D-091D-252ED6579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51294-A245-19C5-6231-4502DD714494}"/>
              </a:ext>
            </a:extLst>
          </p:cNvPr>
          <p:cNvSpPr>
            <a:spLocks noGrp="1"/>
          </p:cNvSpPr>
          <p:nvPr>
            <p:ph type="title"/>
          </p:nvPr>
        </p:nvSpPr>
        <p:spPr>
          <a:xfrm>
            <a:off x="1425448" y="372692"/>
            <a:ext cx="8053832" cy="1273048"/>
          </a:xfrm>
        </p:spPr>
        <p:txBody>
          <a:bodyPr>
            <a:normAutofit/>
          </a:bodyPr>
          <a:lstStyle/>
          <a:p>
            <a:r>
              <a:rPr lang="en-US" b="1" dirty="0">
                <a:latin typeface="Times New Roman" panose="02020603050405020304" pitchFamily="18" charset="0"/>
                <a:cs typeface="Times New Roman" panose="02020603050405020304" pitchFamily="18" charset="0"/>
              </a:rPr>
              <a:t>Lecture Overview</a:t>
            </a:r>
            <a:endParaRPr lang="en-PK"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A32F36A-3A53-922C-C868-BF2D2A9357FE}"/>
              </a:ext>
            </a:extLst>
          </p:cNvPr>
          <p:cNvSpPr txBox="1"/>
          <p:nvPr/>
        </p:nvSpPr>
        <p:spPr>
          <a:xfrm>
            <a:off x="1425448" y="1645740"/>
            <a:ext cx="9750552" cy="5016758"/>
          </a:xfrm>
          <a:prstGeom prst="rect">
            <a:avLst/>
          </a:prstGeom>
          <a:noFill/>
        </p:spPr>
        <p:txBody>
          <a:bodyPr wrap="square">
            <a:spAutoFit/>
          </a:bodyPr>
          <a:lstStyle/>
          <a:p>
            <a:pPr marL="457200" indent="-457200">
              <a:buFont typeface="Wingdings" panose="05000000000000000000" pitchFamily="2" charset="2"/>
              <a:buChar char="§"/>
            </a:pPr>
            <a:r>
              <a:rPr lang="en-US" sz="4000" b="1" dirty="0">
                <a:latin typeface="Times New Roman" panose="02020603050405020304" pitchFamily="18" charset="0"/>
                <a:cs typeface="Times New Roman" panose="02020603050405020304" pitchFamily="18" charset="0"/>
              </a:rPr>
              <a:t>Cryptography Term</a:t>
            </a:r>
          </a:p>
          <a:p>
            <a:pPr marL="457200" indent="-457200">
              <a:buFont typeface="Wingdings" panose="05000000000000000000" pitchFamily="2" charset="2"/>
              <a:buChar char="§"/>
            </a:pPr>
            <a:r>
              <a:rPr lang="en-US" sz="4000" b="1" dirty="0">
                <a:latin typeface="Times New Roman" panose="02020603050405020304" pitchFamily="18" charset="0"/>
                <a:cs typeface="Times New Roman" panose="02020603050405020304" pitchFamily="18" charset="0"/>
              </a:rPr>
              <a:t>Modern Cryptography Methods</a:t>
            </a:r>
          </a:p>
          <a:p>
            <a:pPr marL="914400" lvl="1" indent="-457200">
              <a:buFont typeface="Wingdings" panose="05000000000000000000" pitchFamily="2" charset="2"/>
              <a:buChar char="§"/>
            </a:pPr>
            <a:r>
              <a:rPr lang="en-US" sz="4000" b="1" dirty="0">
                <a:latin typeface="Times New Roman" panose="02020603050405020304" pitchFamily="18" charset="0"/>
                <a:cs typeface="Times New Roman" panose="02020603050405020304" pitchFamily="18" charset="0"/>
              </a:rPr>
              <a:t>Symmetric Encryption</a:t>
            </a:r>
          </a:p>
          <a:p>
            <a:pPr marL="1371600" lvl="2" indent="-457200">
              <a:buFont typeface="Wingdings" panose="05000000000000000000" pitchFamily="2" charset="2"/>
              <a:buChar char="§"/>
            </a:pPr>
            <a:r>
              <a:rPr lang="en-US" sz="4000" b="1" dirty="0">
                <a:latin typeface="Times New Roman" panose="02020603050405020304" pitchFamily="18" charset="0"/>
                <a:cs typeface="Times New Roman" panose="02020603050405020304" pitchFamily="18" charset="0"/>
              </a:rPr>
              <a:t>DES</a:t>
            </a:r>
          </a:p>
          <a:p>
            <a:pPr marL="1371600" lvl="2" indent="-457200">
              <a:buFont typeface="Wingdings" panose="05000000000000000000" pitchFamily="2" charset="2"/>
              <a:buChar char="§"/>
            </a:pPr>
            <a:r>
              <a:rPr lang="en-US" sz="4000" b="1" dirty="0">
                <a:latin typeface="Times New Roman" panose="02020603050405020304" pitchFamily="18" charset="0"/>
                <a:cs typeface="Times New Roman" panose="02020603050405020304" pitchFamily="18" charset="0"/>
              </a:rPr>
              <a:t>AES</a:t>
            </a:r>
          </a:p>
          <a:p>
            <a:pPr lvl="1"/>
            <a:endParaRPr lang="en-US" sz="40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endParaRPr lang="en-US" sz="40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endParaRPr lang="en-US"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2067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484C0-4203-1C65-1680-8DA5F94D2D6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1BFC734-CCC3-F9A7-3E89-495077412C65}"/>
              </a:ext>
            </a:extLst>
          </p:cNvPr>
          <p:cNvSpPr txBox="1"/>
          <p:nvPr/>
        </p:nvSpPr>
        <p:spPr>
          <a:xfrm>
            <a:off x="1838960" y="408473"/>
            <a:ext cx="1122680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CRYPTOGRAPHY TERMS</a:t>
            </a:r>
          </a:p>
        </p:txBody>
      </p:sp>
      <p:sp>
        <p:nvSpPr>
          <p:cNvPr id="5" name="TextBox 4">
            <a:extLst>
              <a:ext uri="{FF2B5EF4-FFF2-40B4-BE49-F238E27FC236}">
                <a16:creationId xmlns:a16="http://schemas.microsoft.com/office/drawing/2014/main" id="{4BFCBE90-47FC-E7A8-DABF-721A4B8D4EDA}"/>
              </a:ext>
            </a:extLst>
          </p:cNvPr>
          <p:cNvSpPr txBox="1"/>
          <p:nvPr/>
        </p:nvSpPr>
        <p:spPr>
          <a:xfrm>
            <a:off x="929640" y="1624598"/>
            <a:ext cx="9966960" cy="4524315"/>
          </a:xfrm>
          <a:prstGeom prst="rect">
            <a:avLst/>
          </a:prstGeom>
          <a:noFill/>
        </p:spPr>
        <p:txBody>
          <a:bodyPr wrap="square">
            <a:spAutoFit/>
          </a:bodyPr>
          <a:lstStyle/>
          <a:p>
            <a:pPr marL="457200" indent="-457200" algn="just" eaLnBrk="1" hangingPunct="1">
              <a:buFont typeface="Wingdings" panose="05000000000000000000" pitchFamily="2" charset="2"/>
              <a:buChar char="§"/>
            </a:pPr>
            <a:r>
              <a:rPr lang="en-US" altLang="en-US" sz="3600" b="1" dirty="0">
                <a:latin typeface="Times New Roman" panose="02020603050405020304" pitchFamily="18" charset="0"/>
                <a:cs typeface="Times New Roman" panose="02020603050405020304" pitchFamily="18" charset="0"/>
              </a:rPr>
              <a:t>Key: </a:t>
            </a:r>
            <a:r>
              <a:rPr lang="en-US" altLang="en-US" sz="3600" dirty="0">
                <a:latin typeface="Times New Roman" panose="02020603050405020304" pitchFamily="18" charset="0"/>
                <a:cs typeface="Times New Roman" panose="02020603050405020304" pitchFamily="18" charset="0"/>
              </a:rPr>
              <a:t>The bits that are combined with the plain text to encrypt it. In some cases, this is random numbers; in other cases, it is the result of some mathematical operation.</a:t>
            </a:r>
          </a:p>
          <a:p>
            <a:pPr marL="457200" indent="-457200" algn="just" eaLnBrk="1" hangingPunct="1">
              <a:buFont typeface="Wingdings" panose="05000000000000000000" pitchFamily="2" charset="2"/>
              <a:buChar char="§"/>
            </a:pPr>
            <a:r>
              <a:rPr lang="en-US" altLang="en-US" sz="3600" b="1" dirty="0">
                <a:latin typeface="Times New Roman" panose="02020603050405020304" pitchFamily="18" charset="0"/>
                <a:cs typeface="Times New Roman" panose="02020603050405020304" pitchFamily="18" charset="0"/>
              </a:rPr>
              <a:t>Plain text: </a:t>
            </a:r>
            <a:r>
              <a:rPr lang="en-US" altLang="en-US" sz="3600" dirty="0">
                <a:latin typeface="Times New Roman" panose="02020603050405020304" pitchFamily="18" charset="0"/>
                <a:cs typeface="Times New Roman" panose="02020603050405020304" pitchFamily="18" charset="0"/>
              </a:rPr>
              <a:t>The unencrypted text.</a:t>
            </a:r>
          </a:p>
          <a:p>
            <a:pPr marL="457200" indent="-457200" algn="just" eaLnBrk="1" hangingPunct="1">
              <a:buFont typeface="Wingdings" panose="05000000000000000000" pitchFamily="2" charset="2"/>
              <a:buChar char="§"/>
            </a:pPr>
            <a:r>
              <a:rPr lang="en-US" altLang="en-US" sz="3600" b="1" dirty="0">
                <a:latin typeface="Times New Roman" panose="02020603050405020304" pitchFamily="18" charset="0"/>
                <a:cs typeface="Times New Roman" panose="02020603050405020304" pitchFamily="18" charset="0"/>
              </a:rPr>
              <a:t>Cipher text: </a:t>
            </a:r>
            <a:r>
              <a:rPr lang="en-US" altLang="en-US" sz="3600" dirty="0">
                <a:latin typeface="Times New Roman" panose="02020603050405020304" pitchFamily="18" charset="0"/>
                <a:cs typeface="Times New Roman" panose="02020603050405020304" pitchFamily="18" charset="0"/>
              </a:rPr>
              <a:t>The encrypted text.</a:t>
            </a:r>
          </a:p>
          <a:p>
            <a:pPr marL="457200" indent="-457200" algn="just" eaLnBrk="1" hangingPunct="1">
              <a:buFont typeface="Wingdings" panose="05000000000000000000" pitchFamily="2" charset="2"/>
              <a:buChar char="§"/>
            </a:pPr>
            <a:r>
              <a:rPr lang="en-US" altLang="en-US" sz="3600" b="1" dirty="0">
                <a:latin typeface="Times New Roman" panose="02020603050405020304" pitchFamily="18" charset="0"/>
                <a:cs typeface="Times New Roman" panose="02020603050405020304" pitchFamily="18" charset="0"/>
              </a:rPr>
              <a:t>Algorithm: </a:t>
            </a:r>
            <a:r>
              <a:rPr lang="en-US" altLang="en-US" sz="3600" dirty="0">
                <a:latin typeface="Times New Roman" panose="02020603050405020304" pitchFamily="18" charset="0"/>
                <a:cs typeface="Times New Roman" panose="02020603050405020304" pitchFamily="18" charset="0"/>
              </a:rPr>
              <a:t>A mathematical process for doing something.</a:t>
            </a:r>
          </a:p>
        </p:txBody>
      </p:sp>
    </p:spTree>
    <p:extLst>
      <p:ext uri="{BB962C8B-B14F-4D97-AF65-F5344CB8AC3E}">
        <p14:creationId xmlns:p14="http://schemas.microsoft.com/office/powerpoint/2010/main" val="3188575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74A46B-622D-7114-22F9-4C7750713800}"/>
              </a:ext>
            </a:extLst>
          </p:cNvPr>
          <p:cNvPicPr>
            <a:picLocks noChangeAspect="1"/>
          </p:cNvPicPr>
          <p:nvPr/>
        </p:nvPicPr>
        <p:blipFill>
          <a:blip r:embed="rId2"/>
          <a:stretch>
            <a:fillRect/>
          </a:stretch>
        </p:blipFill>
        <p:spPr>
          <a:xfrm>
            <a:off x="119657" y="314960"/>
            <a:ext cx="11952686" cy="5765165"/>
          </a:xfrm>
          <a:prstGeom prst="rect">
            <a:avLst/>
          </a:prstGeom>
        </p:spPr>
      </p:pic>
      <p:cxnSp>
        <p:nvCxnSpPr>
          <p:cNvPr id="4" name="Straight Arrow Connector 3">
            <a:extLst>
              <a:ext uri="{FF2B5EF4-FFF2-40B4-BE49-F238E27FC236}">
                <a16:creationId xmlns:a16="http://schemas.microsoft.com/office/drawing/2014/main" id="{020A209E-58AA-380A-FBDC-336B456F7009}"/>
              </a:ext>
            </a:extLst>
          </p:cNvPr>
          <p:cNvCxnSpPr/>
          <p:nvPr/>
        </p:nvCxnSpPr>
        <p:spPr>
          <a:xfrm>
            <a:off x="5618480" y="4521200"/>
            <a:ext cx="0" cy="136144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6315493-2D2B-0BAC-4136-3725F1502EEB}"/>
              </a:ext>
            </a:extLst>
          </p:cNvPr>
          <p:cNvSpPr txBox="1"/>
          <p:nvPr/>
        </p:nvSpPr>
        <p:spPr>
          <a:xfrm>
            <a:off x="3942080" y="6080125"/>
            <a:ext cx="3698239" cy="523220"/>
          </a:xfrm>
          <a:prstGeom prst="rect">
            <a:avLst/>
          </a:prstGeom>
          <a:noFill/>
        </p:spPr>
        <p:txBody>
          <a:bodyPr wrap="square">
            <a:spAutoFit/>
          </a:bodyPr>
          <a:lstStyle/>
          <a:p>
            <a:r>
              <a:rPr lang="en-US" sz="2800" b="1" dirty="0">
                <a:latin typeface="Rockwell Extra Bold" panose="02060903040505020403" pitchFamily="18" charset="0"/>
                <a:cs typeface="Times New Roman" panose="02020603050405020304" pitchFamily="18" charset="0"/>
              </a:rPr>
              <a:t>Hash Functions</a:t>
            </a:r>
            <a:endParaRPr lang="en-PK" sz="2800" b="1" dirty="0">
              <a:latin typeface="Rockwell Extra Bold" panose="02060903040505020403" pitchFamily="18" charset="0"/>
            </a:endParaRPr>
          </a:p>
        </p:txBody>
      </p:sp>
    </p:spTree>
    <p:extLst>
      <p:ext uri="{BB962C8B-B14F-4D97-AF65-F5344CB8AC3E}">
        <p14:creationId xmlns:p14="http://schemas.microsoft.com/office/powerpoint/2010/main" val="1794331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27E97-FD75-FFA7-311F-E0F93B63419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B866F4-C02E-C1C2-D0BA-79EE92D56BA9}"/>
              </a:ext>
            </a:extLst>
          </p:cNvPr>
          <p:cNvSpPr txBox="1"/>
          <p:nvPr/>
        </p:nvSpPr>
        <p:spPr>
          <a:xfrm>
            <a:off x="924560" y="1164134"/>
            <a:ext cx="10566400" cy="5693866"/>
          </a:xfrm>
          <a:prstGeom prst="rect">
            <a:avLst/>
          </a:prstGeom>
          <a:noFill/>
        </p:spPr>
        <p:txBody>
          <a:bodyPr wrap="square">
            <a:spAutoFit/>
          </a:bodyPr>
          <a:lstStyle/>
          <a:p>
            <a:pPr algn="just"/>
            <a:r>
              <a:rPr lang="en-US" sz="2600" dirty="0">
                <a:latin typeface="Times New Roman" panose="02020603050405020304" pitchFamily="18" charset="0"/>
                <a:cs typeface="Times New Roman" panose="02020603050405020304" pitchFamily="18" charset="0"/>
              </a:rPr>
              <a:t>There are two/three main types of encryption: </a:t>
            </a:r>
            <a:r>
              <a:rPr lang="en-US" sz="2600" b="1" dirty="0">
                <a:latin typeface="Times New Roman" panose="02020603050405020304" pitchFamily="18" charset="0"/>
                <a:cs typeface="Times New Roman" panose="02020603050405020304" pitchFamily="18" charset="0"/>
              </a:rPr>
              <a:t>symmetric, asymmetric </a:t>
            </a:r>
            <a:r>
              <a:rPr lang="en-US" sz="2600" dirty="0">
                <a:latin typeface="Times New Roman" panose="02020603050405020304" pitchFamily="18" charset="0"/>
                <a:cs typeface="Times New Roman" panose="02020603050405020304" pitchFamily="18" charset="0"/>
              </a:rPr>
              <a:t>and </a:t>
            </a:r>
            <a:r>
              <a:rPr lang="en-US" sz="2600" b="1" dirty="0">
                <a:latin typeface="Times New Roman" panose="02020603050405020304" pitchFamily="18" charset="0"/>
                <a:cs typeface="Times New Roman" panose="02020603050405020304" pitchFamily="18" charset="0"/>
              </a:rPr>
              <a:t>hash functions</a:t>
            </a:r>
            <a:r>
              <a:rPr lang="en-US" sz="2600" dirty="0">
                <a:latin typeface="Times New Roman" panose="02020603050405020304" pitchFamily="18" charset="0"/>
                <a:cs typeface="Times New Roman" panose="02020603050405020304" pitchFamily="18" charset="0"/>
              </a:rPr>
              <a:t>.</a:t>
            </a:r>
          </a:p>
          <a:p>
            <a:pPr marL="514350" indent="-514350" algn="just">
              <a:buAutoNum type="arabicPeriod"/>
            </a:pPr>
            <a:r>
              <a:rPr lang="en-US" sz="2600" b="1" dirty="0">
                <a:latin typeface="Times New Roman" panose="02020603050405020304" pitchFamily="18" charset="0"/>
                <a:cs typeface="Times New Roman" panose="02020603050405020304" pitchFamily="18" charset="0"/>
              </a:rPr>
              <a:t>Symmetric Encryption:</a:t>
            </a:r>
          </a:p>
          <a:p>
            <a:pPr marL="800100" lvl="1"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Known as a </a:t>
            </a:r>
            <a:r>
              <a:rPr lang="en-US" sz="2600" b="1" dirty="0">
                <a:latin typeface="Times New Roman" panose="02020603050405020304" pitchFamily="18" charset="0"/>
                <a:cs typeface="Times New Roman" panose="02020603050405020304" pitchFamily="18" charset="0"/>
              </a:rPr>
              <a:t>shared key or private key algorithm.</a:t>
            </a:r>
          </a:p>
          <a:p>
            <a:pPr marL="800100" lvl="1"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Uses the same key for encryption and decryption. </a:t>
            </a:r>
          </a:p>
          <a:p>
            <a:pPr marL="800100" lvl="1"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Symmetric key ciphers are considered </a:t>
            </a:r>
            <a:r>
              <a:rPr lang="en-US" sz="2600" b="1" dirty="0">
                <a:latin typeface="Times New Roman" panose="02020603050405020304" pitchFamily="18" charset="0"/>
                <a:cs typeface="Times New Roman" panose="02020603050405020304" pitchFamily="18" charset="0"/>
              </a:rPr>
              <a:t>less expensive </a:t>
            </a:r>
            <a:r>
              <a:rPr lang="en-US" sz="2600" dirty="0">
                <a:latin typeface="Times New Roman" panose="02020603050405020304" pitchFamily="18" charset="0"/>
                <a:cs typeface="Times New Roman" panose="02020603050405020304" pitchFamily="18" charset="0"/>
              </a:rPr>
              <a:t>to produce and do not take as much computing power to encrypt and decrypt, meaning there is less of delay in decoding the data. </a:t>
            </a:r>
          </a:p>
          <a:p>
            <a:pPr marL="800100" lvl="1"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a:t>
            </a:r>
            <a:r>
              <a:rPr lang="en-US" sz="2600" b="1" dirty="0">
                <a:latin typeface="Times New Roman" panose="02020603050405020304" pitchFamily="18" charset="0"/>
                <a:cs typeface="Times New Roman" panose="02020603050405020304" pitchFamily="18" charset="0"/>
              </a:rPr>
              <a:t>drawback </a:t>
            </a:r>
            <a:r>
              <a:rPr lang="en-US" sz="2600" dirty="0">
                <a:latin typeface="Times New Roman" panose="02020603050405020304" pitchFamily="18" charset="0"/>
                <a:cs typeface="Times New Roman" panose="02020603050405020304" pitchFamily="18" charset="0"/>
              </a:rPr>
              <a:t>is that if an </a:t>
            </a:r>
            <a:r>
              <a:rPr lang="en-US" sz="2600" b="1" dirty="0">
                <a:latin typeface="Times New Roman" panose="02020603050405020304" pitchFamily="18" charset="0"/>
                <a:cs typeface="Times New Roman" panose="02020603050405020304" pitchFamily="18" charset="0"/>
              </a:rPr>
              <a:t>unauthorized person </a:t>
            </a:r>
            <a:r>
              <a:rPr lang="en-US" sz="2600" dirty="0">
                <a:latin typeface="Times New Roman" panose="02020603050405020304" pitchFamily="18" charset="0"/>
                <a:cs typeface="Times New Roman" panose="02020603050405020304" pitchFamily="18" charset="0"/>
              </a:rPr>
              <a:t>gets their hands on the key, they will be able to decrypt any messages and data sent between the parties.</a:t>
            </a:r>
          </a:p>
          <a:p>
            <a:pPr marL="800100" lvl="1"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As such, the transfer of the </a:t>
            </a:r>
            <a:r>
              <a:rPr lang="en-US" sz="2600" b="1" dirty="0">
                <a:latin typeface="Times New Roman" panose="02020603050405020304" pitchFamily="18" charset="0"/>
                <a:cs typeface="Times New Roman" panose="02020603050405020304" pitchFamily="18" charset="0"/>
              </a:rPr>
              <a:t>shared key </a:t>
            </a:r>
            <a:r>
              <a:rPr lang="en-US" sz="2600" dirty="0">
                <a:latin typeface="Times New Roman" panose="02020603050405020304" pitchFamily="18" charset="0"/>
                <a:cs typeface="Times New Roman" panose="02020603050405020304" pitchFamily="18" charset="0"/>
              </a:rPr>
              <a:t>needs to be encrypted with a different cryptographic key, leading to a cycle of dependency.</a:t>
            </a:r>
          </a:p>
          <a:p>
            <a:pPr marL="514350" indent="-514350" algn="just">
              <a:buAutoNum type="arabicPeriod"/>
            </a:pPr>
            <a:endParaRPr lang="en-US" sz="26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B39F16DE-92E8-06EC-D98A-4BD42BC4A432}"/>
              </a:ext>
            </a:extLst>
          </p:cNvPr>
          <p:cNvSpPr txBox="1"/>
          <p:nvPr/>
        </p:nvSpPr>
        <p:spPr>
          <a:xfrm>
            <a:off x="2743200" y="245913"/>
            <a:ext cx="885952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MODERN METHODS</a:t>
            </a:r>
          </a:p>
        </p:txBody>
      </p:sp>
    </p:spTree>
    <p:extLst>
      <p:ext uri="{BB962C8B-B14F-4D97-AF65-F5344CB8AC3E}">
        <p14:creationId xmlns:p14="http://schemas.microsoft.com/office/powerpoint/2010/main" val="1744601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E61C076-8647-E50E-9AAB-AC0ED69E0678}"/>
              </a:ext>
            </a:extLst>
          </p:cNvPr>
          <p:cNvPicPr>
            <a:picLocks noChangeAspect="1"/>
          </p:cNvPicPr>
          <p:nvPr/>
        </p:nvPicPr>
        <p:blipFill>
          <a:blip r:embed="rId2"/>
          <a:stretch>
            <a:fillRect/>
          </a:stretch>
        </p:blipFill>
        <p:spPr>
          <a:xfrm>
            <a:off x="407352" y="270506"/>
            <a:ext cx="11478895" cy="6479547"/>
          </a:xfrm>
          <a:prstGeom prst="rect">
            <a:avLst/>
          </a:prstGeom>
        </p:spPr>
      </p:pic>
    </p:spTree>
    <p:extLst>
      <p:ext uri="{BB962C8B-B14F-4D97-AF65-F5344CB8AC3E}">
        <p14:creationId xmlns:p14="http://schemas.microsoft.com/office/powerpoint/2010/main" val="922578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BB2C1-FD95-B7B2-C248-C62664F9ABA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A81662D-7FAE-B000-63CF-E08621F47DBA}"/>
              </a:ext>
            </a:extLst>
          </p:cNvPr>
          <p:cNvSpPr txBox="1"/>
          <p:nvPr/>
        </p:nvSpPr>
        <p:spPr>
          <a:xfrm>
            <a:off x="1005840" y="1318330"/>
            <a:ext cx="10566400" cy="5078313"/>
          </a:xfrm>
          <a:prstGeom prst="rect">
            <a:avLst/>
          </a:prstGeom>
          <a:noFill/>
        </p:spPr>
        <p:txBody>
          <a:bodyPr wrap="square">
            <a:spAutoFit/>
          </a:bodyPr>
          <a:lstStyle/>
          <a:p>
            <a:pPr algn="just"/>
            <a:r>
              <a:rPr lang="en-US" sz="2700" b="1" dirty="0">
                <a:latin typeface="Times New Roman" panose="02020603050405020304" pitchFamily="18" charset="0"/>
                <a:cs typeface="Times New Roman" panose="02020603050405020304" pitchFamily="18" charset="0"/>
              </a:rPr>
              <a:t>2. Asymmetric Encryption:</a:t>
            </a:r>
          </a:p>
          <a:p>
            <a:pPr marL="914400" lvl="1" indent="-457200" algn="just">
              <a:buFont typeface="Arial" panose="020B0604020202020204" pitchFamily="34" charset="0"/>
              <a:buChar char="•"/>
            </a:pPr>
            <a:r>
              <a:rPr lang="en-US" sz="2700" dirty="0">
                <a:latin typeface="Times New Roman" panose="02020603050405020304" pitchFamily="18" charset="0"/>
                <a:cs typeface="Times New Roman" panose="02020603050405020304" pitchFamily="18" charset="0"/>
              </a:rPr>
              <a:t>Known as </a:t>
            </a:r>
            <a:r>
              <a:rPr lang="en-US" sz="2700" b="1" dirty="0">
                <a:latin typeface="Times New Roman" panose="02020603050405020304" pitchFamily="18" charset="0"/>
                <a:cs typeface="Times New Roman" panose="02020603050405020304" pitchFamily="18" charset="0"/>
              </a:rPr>
              <a:t>public-key cryptography.</a:t>
            </a:r>
          </a:p>
          <a:p>
            <a:pPr marL="914400" lvl="1" indent="-457200" algn="just">
              <a:buFont typeface="Arial" panose="020B0604020202020204" pitchFamily="34" charset="0"/>
              <a:buChar char="•"/>
            </a:pPr>
            <a:r>
              <a:rPr lang="en-US" sz="2700" dirty="0">
                <a:latin typeface="Times New Roman" panose="02020603050405020304" pitchFamily="18" charset="0"/>
                <a:cs typeface="Times New Roman" panose="02020603050405020304" pitchFamily="18" charset="0"/>
              </a:rPr>
              <a:t>Uses </a:t>
            </a:r>
            <a:r>
              <a:rPr lang="en-US" sz="2700" b="1" dirty="0">
                <a:latin typeface="Times New Roman" panose="02020603050405020304" pitchFamily="18" charset="0"/>
                <a:cs typeface="Times New Roman" panose="02020603050405020304" pitchFamily="18" charset="0"/>
              </a:rPr>
              <a:t>two separate keys </a:t>
            </a:r>
            <a:r>
              <a:rPr lang="en-US" sz="2700" dirty="0">
                <a:latin typeface="Times New Roman" panose="02020603050405020304" pitchFamily="18" charset="0"/>
                <a:cs typeface="Times New Roman" panose="02020603050405020304" pitchFamily="18" charset="0"/>
              </a:rPr>
              <a:t>to encrypt and decrypt data. </a:t>
            </a:r>
          </a:p>
          <a:p>
            <a:pPr marL="914400" lvl="1" indent="-457200" algn="just">
              <a:buFont typeface="Arial" panose="020B0604020202020204" pitchFamily="34" charset="0"/>
              <a:buChar char="•"/>
            </a:pPr>
            <a:r>
              <a:rPr lang="en-US" sz="2700" dirty="0">
                <a:latin typeface="Times New Roman" panose="02020603050405020304" pitchFamily="18" charset="0"/>
                <a:cs typeface="Times New Roman" panose="02020603050405020304" pitchFamily="18" charset="0"/>
              </a:rPr>
              <a:t>One is a </a:t>
            </a:r>
            <a:r>
              <a:rPr lang="en-US" sz="2700" b="1" dirty="0">
                <a:latin typeface="Times New Roman" panose="02020603050405020304" pitchFamily="18" charset="0"/>
                <a:cs typeface="Times New Roman" panose="02020603050405020304" pitchFamily="18" charset="0"/>
              </a:rPr>
              <a:t>public key </a:t>
            </a:r>
            <a:r>
              <a:rPr lang="en-US" sz="2700" dirty="0">
                <a:latin typeface="Times New Roman" panose="02020603050405020304" pitchFamily="18" charset="0"/>
                <a:cs typeface="Times New Roman" panose="02020603050405020304" pitchFamily="18" charset="0"/>
              </a:rPr>
              <a:t>shared among all parties for encryption. </a:t>
            </a:r>
          </a:p>
          <a:p>
            <a:pPr marL="914400" lvl="1" indent="-457200" algn="just">
              <a:buFont typeface="Arial" panose="020B0604020202020204" pitchFamily="34" charset="0"/>
              <a:buChar char="•"/>
            </a:pPr>
            <a:r>
              <a:rPr lang="en-US" sz="2700" dirty="0">
                <a:latin typeface="Times New Roman" panose="02020603050405020304" pitchFamily="18" charset="0"/>
                <a:cs typeface="Times New Roman" panose="02020603050405020304" pitchFamily="18" charset="0"/>
              </a:rPr>
              <a:t>Anyone with the public key can then send an encrypted message, but only the holders of the second, private key can decrypt the message. </a:t>
            </a:r>
          </a:p>
          <a:p>
            <a:pPr marL="914400" lvl="1" indent="-457200" algn="just">
              <a:buFont typeface="Arial" panose="020B0604020202020204" pitchFamily="34" charset="0"/>
              <a:buChar char="•"/>
            </a:pPr>
            <a:r>
              <a:rPr lang="en-US" sz="2700" dirty="0">
                <a:latin typeface="Times New Roman" panose="02020603050405020304" pitchFamily="18" charset="0"/>
                <a:cs typeface="Times New Roman" panose="02020603050405020304" pitchFamily="18" charset="0"/>
              </a:rPr>
              <a:t>Asymmetric encryption is considered </a:t>
            </a:r>
            <a:r>
              <a:rPr lang="en-US" sz="2700" b="1" dirty="0">
                <a:latin typeface="Times New Roman" panose="02020603050405020304" pitchFamily="18" charset="0"/>
                <a:cs typeface="Times New Roman" panose="02020603050405020304" pitchFamily="18" charset="0"/>
              </a:rPr>
              <a:t>more expensive </a:t>
            </a:r>
            <a:r>
              <a:rPr lang="en-US" sz="2700" dirty="0">
                <a:latin typeface="Times New Roman" panose="02020603050405020304" pitchFamily="18" charset="0"/>
                <a:cs typeface="Times New Roman" panose="02020603050405020304" pitchFamily="18" charset="0"/>
              </a:rPr>
              <a:t>to produce and takes more computing power to decrypt as the public encryption key is often large, between 1,024 and 2,048 bits. </a:t>
            </a:r>
          </a:p>
          <a:p>
            <a:pPr marL="914400" lvl="1" indent="-457200" algn="just">
              <a:buFont typeface="Arial" panose="020B0604020202020204" pitchFamily="34" charset="0"/>
              <a:buChar char="•"/>
            </a:pPr>
            <a:r>
              <a:rPr lang="en-US" sz="2700" dirty="0">
                <a:latin typeface="Times New Roman" panose="02020603050405020304" pitchFamily="18" charset="0"/>
                <a:cs typeface="Times New Roman" panose="02020603050405020304" pitchFamily="18" charset="0"/>
              </a:rPr>
              <a:t>As such, asymmetric encryption is often not suited for large packets of data.</a:t>
            </a:r>
          </a:p>
          <a:p>
            <a:pPr marL="514350" indent="-514350" algn="just">
              <a:buAutoNum type="arabicPeriod"/>
            </a:pPr>
            <a:endParaRPr lang="en-US" sz="27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4522684-6D9C-933A-A167-F79436D4CEDC}"/>
              </a:ext>
            </a:extLst>
          </p:cNvPr>
          <p:cNvSpPr txBox="1"/>
          <p:nvPr/>
        </p:nvSpPr>
        <p:spPr>
          <a:xfrm>
            <a:off x="2225040" y="195113"/>
            <a:ext cx="883920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MODERN METHODS</a:t>
            </a:r>
          </a:p>
        </p:txBody>
      </p:sp>
    </p:spTree>
    <p:extLst>
      <p:ext uri="{BB962C8B-B14F-4D97-AF65-F5344CB8AC3E}">
        <p14:creationId xmlns:p14="http://schemas.microsoft.com/office/powerpoint/2010/main" val="2787671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69CE52-DEC9-4883-5C54-554E8FEB4EBF}"/>
              </a:ext>
            </a:extLst>
          </p:cNvPr>
          <p:cNvPicPr>
            <a:picLocks noChangeAspect="1"/>
          </p:cNvPicPr>
          <p:nvPr/>
        </p:nvPicPr>
        <p:blipFill>
          <a:blip r:embed="rId2"/>
          <a:stretch>
            <a:fillRect/>
          </a:stretch>
        </p:blipFill>
        <p:spPr>
          <a:xfrm>
            <a:off x="417988" y="314960"/>
            <a:ext cx="11501279" cy="6437947"/>
          </a:xfrm>
          <a:prstGeom prst="rect">
            <a:avLst/>
          </a:prstGeom>
        </p:spPr>
      </p:pic>
    </p:spTree>
    <p:extLst>
      <p:ext uri="{BB962C8B-B14F-4D97-AF65-F5344CB8AC3E}">
        <p14:creationId xmlns:p14="http://schemas.microsoft.com/office/powerpoint/2010/main" val="3444757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E2014-7C4B-579F-5C96-82700DB72C3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BBB1C1E-1259-B136-0671-40C8DE9F16D1}"/>
              </a:ext>
            </a:extLst>
          </p:cNvPr>
          <p:cNvSpPr txBox="1"/>
          <p:nvPr/>
        </p:nvSpPr>
        <p:spPr>
          <a:xfrm>
            <a:off x="975360" y="1071801"/>
            <a:ext cx="10566400" cy="5786199"/>
          </a:xfrm>
          <a:prstGeom prst="rect">
            <a:avLst/>
          </a:prstGeom>
          <a:noFill/>
        </p:spPr>
        <p:txBody>
          <a:bodyPr wrap="square">
            <a:spAutoFit/>
          </a:bodyPr>
          <a:lstStyle/>
          <a:p>
            <a:pPr algn="just"/>
            <a:r>
              <a:rPr lang="en-US" sz="2700" b="1" dirty="0">
                <a:latin typeface="Times New Roman" panose="02020603050405020304" pitchFamily="18" charset="0"/>
                <a:cs typeface="Times New Roman" panose="02020603050405020304" pitchFamily="18" charset="0"/>
              </a:rPr>
              <a:t>3. Hash Functions: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hash function is a </a:t>
            </a:r>
            <a:r>
              <a:rPr lang="en-US" sz="2400" b="1" dirty="0">
                <a:latin typeface="Times New Roman" panose="02020603050405020304" pitchFamily="18" charset="0"/>
                <a:cs typeface="Times New Roman" panose="02020603050405020304" pitchFamily="18" charset="0"/>
              </a:rPr>
              <a:t>one-way cryptographic process</a:t>
            </a:r>
            <a:r>
              <a:rPr lang="en-US" sz="2400" dirty="0">
                <a:latin typeface="Times New Roman" panose="02020603050405020304" pitchFamily="18" charset="0"/>
                <a:cs typeface="Times New Roman" panose="02020603050405020304" pitchFamily="18" charset="0"/>
              </a:rPr>
              <a:t> used to convert data into a fixed-length string, called a </a:t>
            </a:r>
            <a:r>
              <a:rPr lang="en-US" sz="2400" b="1" dirty="0">
                <a:latin typeface="Times New Roman" panose="02020603050405020304" pitchFamily="18" charset="0"/>
                <a:cs typeface="Times New Roman" panose="02020603050405020304" pitchFamily="18" charset="0"/>
              </a:rPr>
              <a:t>hash</a:t>
            </a:r>
            <a:r>
              <a:rPr lang="en-US" sz="2400" dirty="0">
                <a:latin typeface="Times New Roman" panose="02020603050405020304" pitchFamily="18" charset="0"/>
                <a:cs typeface="Times New Roman" panose="02020603050405020304" pitchFamily="18" charset="0"/>
              </a:rPr>
              <a:t> or </a:t>
            </a:r>
            <a:r>
              <a:rPr lang="en-US" sz="2400" b="1" dirty="0">
                <a:latin typeface="Times New Roman" panose="02020603050405020304" pitchFamily="18" charset="0"/>
                <a:cs typeface="Times New Roman" panose="02020603050405020304" pitchFamily="18" charset="0"/>
              </a:rPr>
              <a:t>digest</a:t>
            </a:r>
            <a:r>
              <a:rPr lang="en-US" sz="24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a:t>
            </a:r>
            <a:r>
              <a:rPr lang="en-US" sz="2400" b="1" dirty="0">
                <a:latin typeface="Times New Roman" panose="02020603050405020304" pitchFamily="18" charset="0"/>
                <a:cs typeface="Times New Roman" panose="02020603050405020304" pitchFamily="18" charset="0"/>
              </a:rPr>
              <a:t>does not use any key</a:t>
            </a:r>
            <a:r>
              <a:rPr lang="en-US" sz="2400" dirty="0">
                <a:latin typeface="Times New Roman" panose="02020603050405020304" pitchFamily="18" charset="0"/>
                <a:cs typeface="Times New Roman" panose="02020603050405020304" pitchFamily="18" charset="0"/>
              </a:rPr>
              <a:t> for encryption or decryption because hash functions are </a:t>
            </a:r>
            <a:r>
              <a:rPr lang="en-US" sz="2400" b="1" dirty="0">
                <a:latin typeface="Times New Roman" panose="02020603050405020304" pitchFamily="18" charset="0"/>
                <a:cs typeface="Times New Roman" panose="02020603050405020304" pitchFamily="18" charset="0"/>
              </a:rPr>
              <a:t>not reversible</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Once data is hashed, you </a:t>
            </a:r>
            <a:r>
              <a:rPr lang="en-US" sz="2400" b="1" dirty="0">
                <a:latin typeface="Times New Roman" panose="02020603050405020304" pitchFamily="18" charset="0"/>
                <a:cs typeface="Times New Roman" panose="02020603050405020304" pitchFamily="18" charset="0"/>
              </a:rPr>
              <a:t>cannot retrieve the original message</a:t>
            </a:r>
            <a:r>
              <a:rPr lang="en-US" sz="2400" dirty="0">
                <a:latin typeface="Times New Roman" panose="02020603050405020304" pitchFamily="18" charset="0"/>
                <a:cs typeface="Times New Roman" panose="02020603050405020304" pitchFamily="18" charset="0"/>
              </a:rPr>
              <a:t> from the hash.</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Hash functions take an input of any size and generate a </a:t>
            </a:r>
            <a:r>
              <a:rPr lang="en-US" sz="2400" b="1" dirty="0">
                <a:latin typeface="Times New Roman" panose="02020603050405020304" pitchFamily="18" charset="0"/>
                <a:cs typeface="Times New Roman" panose="02020603050405020304" pitchFamily="18" charset="0"/>
              </a:rPr>
              <a:t>fixed-size output</a:t>
            </a:r>
            <a:r>
              <a:rPr lang="en-US" sz="2400" dirty="0">
                <a:latin typeface="Times New Roman" panose="02020603050405020304" pitchFamily="18" charset="0"/>
                <a:cs typeface="Times New Roman" panose="02020603050405020304" pitchFamily="18" charset="0"/>
              </a:rPr>
              <a:t>, such as 128-bit, 160-bit, or 256-bit (e.g., MD5, SHA-1, SHA-256).</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Even a small change in input produces a completely different hash value—this is known as the </a:t>
            </a:r>
            <a:r>
              <a:rPr lang="en-US" sz="2400" b="1" dirty="0">
                <a:latin typeface="Times New Roman" panose="02020603050405020304" pitchFamily="18" charset="0"/>
                <a:cs typeface="Times New Roman" panose="02020603050405020304" pitchFamily="18" charset="0"/>
              </a:rPr>
              <a:t>avalanche effect</a:t>
            </a:r>
            <a:r>
              <a:rPr lang="en-US" sz="24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Hash functions are lightweight, fast, and widely used for </a:t>
            </a:r>
            <a:r>
              <a:rPr lang="en-US" sz="2400" b="1" dirty="0">
                <a:latin typeface="Times New Roman" panose="02020603050405020304" pitchFamily="18" charset="0"/>
                <a:cs typeface="Times New Roman" panose="02020603050405020304" pitchFamily="18" charset="0"/>
              </a:rPr>
              <a:t>password storage, file integrity checking, digital signatures, and data verification</a:t>
            </a:r>
            <a:r>
              <a:rPr lang="en-US" sz="2400" dirty="0">
                <a:latin typeface="Times New Roman" panose="02020603050405020304" pitchFamily="18" charset="0"/>
                <a:cs typeface="Times New Roman" panose="02020603050405020304" pitchFamily="18" charset="0"/>
              </a:rPr>
              <a:t>, but </a:t>
            </a:r>
            <a:r>
              <a:rPr lang="en-US" sz="2400" b="1" dirty="0">
                <a:latin typeface="Times New Roman" panose="02020603050405020304" pitchFamily="18" charset="0"/>
                <a:cs typeface="Times New Roman" panose="02020603050405020304" pitchFamily="18" charset="0"/>
              </a:rPr>
              <a:t>not for encrypting large data</a:t>
            </a:r>
            <a:r>
              <a:rPr lang="en-US" sz="2400" dirty="0">
                <a:latin typeface="Times New Roman" panose="02020603050405020304" pitchFamily="18" charset="0"/>
                <a:cs typeface="Times New Roman" panose="02020603050405020304" pitchFamily="18" charset="0"/>
              </a:rPr>
              <a:t>, since the output cannot be reversed into the original message</a:t>
            </a:r>
            <a:r>
              <a:rPr lang="en-US" sz="2800" dirty="0"/>
              <a:t>.</a:t>
            </a:r>
          </a:p>
          <a:p>
            <a:pPr algn="just"/>
            <a:endParaRPr lang="en-US" sz="27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82A1427-4591-3948-F10B-8F7FC73A00DE}"/>
              </a:ext>
            </a:extLst>
          </p:cNvPr>
          <p:cNvSpPr txBox="1"/>
          <p:nvPr/>
        </p:nvSpPr>
        <p:spPr>
          <a:xfrm>
            <a:off x="2021840" y="235753"/>
            <a:ext cx="883920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MODERN METHODS</a:t>
            </a:r>
          </a:p>
        </p:txBody>
      </p:sp>
    </p:spTree>
    <p:extLst>
      <p:ext uri="{BB962C8B-B14F-4D97-AF65-F5344CB8AC3E}">
        <p14:creationId xmlns:p14="http://schemas.microsoft.com/office/powerpoint/2010/main" val="498789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B25602-CE7D-0283-8D9B-82687D0EF5D0}"/>
              </a:ext>
            </a:extLst>
          </p:cNvPr>
          <p:cNvPicPr>
            <a:picLocks noChangeAspect="1"/>
          </p:cNvPicPr>
          <p:nvPr/>
        </p:nvPicPr>
        <p:blipFill>
          <a:blip r:embed="rId2"/>
          <a:stretch>
            <a:fillRect/>
          </a:stretch>
        </p:blipFill>
        <p:spPr>
          <a:xfrm>
            <a:off x="993775" y="1411287"/>
            <a:ext cx="10001250" cy="3629025"/>
          </a:xfrm>
          <a:prstGeom prst="rect">
            <a:avLst/>
          </a:prstGeom>
        </p:spPr>
      </p:pic>
      <p:sp>
        <p:nvSpPr>
          <p:cNvPr id="4" name="TextBox 3">
            <a:extLst>
              <a:ext uri="{FF2B5EF4-FFF2-40B4-BE49-F238E27FC236}">
                <a16:creationId xmlns:a16="http://schemas.microsoft.com/office/drawing/2014/main" id="{8A4F2341-A19A-DBF7-8B1B-7ED4BBC5B442}"/>
              </a:ext>
            </a:extLst>
          </p:cNvPr>
          <p:cNvSpPr txBox="1"/>
          <p:nvPr/>
        </p:nvSpPr>
        <p:spPr>
          <a:xfrm>
            <a:off x="2580640" y="438953"/>
            <a:ext cx="9611360" cy="830997"/>
          </a:xfrm>
          <a:prstGeom prst="rect">
            <a:avLst/>
          </a:prstGeom>
          <a:noFill/>
        </p:spPr>
        <p:txBody>
          <a:bodyPr wrap="square">
            <a:spAutoFit/>
          </a:bodyPr>
          <a:lstStyle/>
          <a:p>
            <a:r>
              <a:rPr lang="en-US" sz="4800" b="1" dirty="0">
                <a:latin typeface="Rockwell Extra Bold" panose="02060903040505020403" pitchFamily="18" charset="0"/>
                <a:ea typeface="Tahoma" panose="020B0604030504040204" pitchFamily="34" charset="0"/>
                <a:cs typeface="Times New Roman" panose="02020603050405020304" pitchFamily="18" charset="0"/>
              </a:rPr>
              <a:t>HASH ENCRYPTION</a:t>
            </a:r>
          </a:p>
        </p:txBody>
      </p:sp>
    </p:spTree>
    <p:extLst>
      <p:ext uri="{BB962C8B-B14F-4D97-AF65-F5344CB8AC3E}">
        <p14:creationId xmlns:p14="http://schemas.microsoft.com/office/powerpoint/2010/main" val="414344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CD85F-FAB4-BC7C-A8F6-923A9319718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863C047-7A15-E8F4-374C-7FC20CD200C8}"/>
              </a:ext>
            </a:extLst>
          </p:cNvPr>
          <p:cNvSpPr txBox="1"/>
          <p:nvPr/>
        </p:nvSpPr>
        <p:spPr>
          <a:xfrm>
            <a:off x="965200" y="174793"/>
            <a:ext cx="1122680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Symmetric Cryptography Systems</a:t>
            </a:r>
          </a:p>
        </p:txBody>
      </p:sp>
      <p:sp>
        <p:nvSpPr>
          <p:cNvPr id="5" name="TextBox 4">
            <a:extLst>
              <a:ext uri="{FF2B5EF4-FFF2-40B4-BE49-F238E27FC236}">
                <a16:creationId xmlns:a16="http://schemas.microsoft.com/office/drawing/2014/main" id="{9350D1AB-F297-9CE8-2075-F77A9A422941}"/>
              </a:ext>
            </a:extLst>
          </p:cNvPr>
          <p:cNvSpPr txBox="1"/>
          <p:nvPr/>
        </p:nvSpPr>
        <p:spPr>
          <a:xfrm>
            <a:off x="863600" y="1154559"/>
            <a:ext cx="10312400" cy="5078313"/>
          </a:xfrm>
          <a:prstGeom prst="rect">
            <a:avLst/>
          </a:prstGeom>
          <a:noFill/>
        </p:spPr>
        <p:txBody>
          <a:bodyPr wrap="square">
            <a:spAutoFit/>
          </a:bodyPr>
          <a:lstStyle/>
          <a:p>
            <a:pPr algn="just"/>
            <a:r>
              <a:rPr lang="en-US" sz="2700" dirty="0">
                <a:latin typeface="Times New Roman" panose="02020603050405020304" pitchFamily="18" charset="0"/>
                <a:cs typeface="Times New Roman" panose="02020603050405020304" pitchFamily="18" charset="0"/>
              </a:rPr>
              <a:t>Single-Key (Symmetric) Encryption means that the same key is used to both encrypt and decrypt a message. This is also referred to as symmetric key encryption. </a:t>
            </a:r>
          </a:p>
          <a:p>
            <a:pPr algn="just"/>
            <a:r>
              <a:rPr lang="en-US" sz="2700" dirty="0">
                <a:latin typeface="Times New Roman" panose="02020603050405020304" pitchFamily="18" charset="0"/>
                <a:cs typeface="Times New Roman" panose="02020603050405020304" pitchFamily="18" charset="0"/>
              </a:rPr>
              <a:t>There are two types of symmetric algorithms (or ciphers): </a:t>
            </a:r>
          </a:p>
          <a:p>
            <a:pPr lvl="0" defTabSz="914400" eaLnBrk="0" fontAlgn="base" hangingPunct="0">
              <a:spcBef>
                <a:spcPct val="0"/>
              </a:spcBef>
              <a:spcAft>
                <a:spcPct val="0"/>
              </a:spcAft>
            </a:pPr>
            <a:r>
              <a:rPr lang="en-US" altLang="en-PK" sz="2700" b="1" dirty="0">
                <a:latin typeface="Times New Roman" panose="02020603050405020304" pitchFamily="18" charset="0"/>
                <a:cs typeface="Times New Roman" panose="02020603050405020304" pitchFamily="18" charset="0"/>
              </a:rPr>
              <a:t>1. </a:t>
            </a:r>
            <a:r>
              <a:rPr lang="en-PK" altLang="en-PK" sz="2700" b="1" dirty="0">
                <a:latin typeface="Times New Roman" panose="02020603050405020304" pitchFamily="18" charset="0"/>
                <a:cs typeface="Times New Roman" panose="02020603050405020304" pitchFamily="18" charset="0"/>
              </a:rPr>
              <a:t>Block Ciphers</a:t>
            </a:r>
            <a:endParaRPr lang="en-PK" altLang="en-PK" sz="2700" dirty="0">
              <a:latin typeface="Times New Roman" panose="02020603050405020304" pitchFamily="18" charset="0"/>
              <a:cs typeface="Times New Roman" panose="02020603050405020304" pitchFamily="18" charset="0"/>
            </a:endParaRPr>
          </a:p>
          <a:p>
            <a:pPr marL="914400" lvl="1" indent="-457200" defTabSz="914400" eaLnBrk="0" fontAlgn="base" hangingPunct="0">
              <a:spcBef>
                <a:spcPct val="0"/>
              </a:spcBef>
              <a:spcAft>
                <a:spcPct val="0"/>
              </a:spcAft>
              <a:buFont typeface="Wingdings" panose="05000000000000000000" pitchFamily="2" charset="2"/>
              <a:buChar char="ü"/>
            </a:pPr>
            <a:r>
              <a:rPr lang="en-PK" altLang="en-PK" sz="2700" dirty="0">
                <a:latin typeface="Times New Roman" panose="02020603050405020304" pitchFamily="18" charset="0"/>
                <a:cs typeface="Times New Roman" panose="02020603050405020304" pitchFamily="18" charset="0"/>
              </a:rPr>
              <a:t>Divide data into </a:t>
            </a:r>
            <a:r>
              <a:rPr lang="en-PK" altLang="en-PK" sz="2700" b="1" dirty="0">
                <a:latin typeface="Times New Roman" panose="02020603050405020304" pitchFamily="18" charset="0"/>
                <a:cs typeface="Times New Roman" panose="02020603050405020304" pitchFamily="18" charset="0"/>
              </a:rPr>
              <a:t>fixed-size blocks</a:t>
            </a:r>
            <a:r>
              <a:rPr lang="en-PK" altLang="en-PK" sz="2700" dirty="0">
                <a:latin typeface="Times New Roman" panose="02020603050405020304" pitchFamily="18" charset="0"/>
                <a:cs typeface="Times New Roman" panose="02020603050405020304" pitchFamily="18" charset="0"/>
              </a:rPr>
              <a:t> (e.g., 64-bit or 128-bit).</a:t>
            </a:r>
          </a:p>
          <a:p>
            <a:pPr marL="914400" lvl="1" indent="-457200" defTabSz="914400" eaLnBrk="0" fontAlgn="base" hangingPunct="0">
              <a:spcBef>
                <a:spcPct val="0"/>
              </a:spcBef>
              <a:spcAft>
                <a:spcPct val="0"/>
              </a:spcAft>
              <a:buFont typeface="Wingdings" panose="05000000000000000000" pitchFamily="2" charset="2"/>
              <a:buChar char="ü"/>
            </a:pPr>
            <a:r>
              <a:rPr lang="en-PK" altLang="en-PK" sz="2700" dirty="0">
                <a:latin typeface="Times New Roman" panose="02020603050405020304" pitchFamily="18" charset="0"/>
                <a:cs typeface="Times New Roman" panose="02020603050405020304" pitchFamily="18" charset="0"/>
              </a:rPr>
              <a:t>Encrypt </a:t>
            </a:r>
            <a:r>
              <a:rPr lang="en-PK" altLang="en-PK" sz="2700" b="1" dirty="0">
                <a:latin typeface="Times New Roman" panose="02020603050405020304" pitchFamily="18" charset="0"/>
                <a:cs typeface="Times New Roman" panose="02020603050405020304" pitchFamily="18" charset="0"/>
              </a:rPr>
              <a:t>one block at a time</a:t>
            </a:r>
            <a:r>
              <a:rPr lang="en-PK" altLang="en-PK" sz="2700" dirty="0">
                <a:latin typeface="Times New Roman" panose="02020603050405020304" pitchFamily="18" charset="0"/>
                <a:cs typeface="Times New Roman" panose="02020603050405020304" pitchFamily="18" charset="0"/>
              </a:rPr>
              <a:t>.</a:t>
            </a:r>
          </a:p>
          <a:p>
            <a:pPr marL="914400" lvl="1" indent="-457200" defTabSz="914400" eaLnBrk="0" fontAlgn="base" hangingPunct="0">
              <a:spcBef>
                <a:spcPct val="0"/>
              </a:spcBef>
              <a:spcAft>
                <a:spcPct val="0"/>
              </a:spcAft>
              <a:buFont typeface="Wingdings" panose="05000000000000000000" pitchFamily="2" charset="2"/>
              <a:buChar char="ü"/>
            </a:pPr>
            <a:r>
              <a:rPr lang="en-PK" altLang="en-PK" sz="2700" dirty="0">
                <a:latin typeface="Times New Roman" panose="02020603050405020304" pitchFamily="18" charset="0"/>
                <a:cs typeface="Times New Roman" panose="02020603050405020304" pitchFamily="18" charset="0"/>
              </a:rPr>
              <a:t>Examples: </a:t>
            </a:r>
            <a:r>
              <a:rPr lang="en-PK" altLang="en-PK" sz="2700" b="1" dirty="0">
                <a:latin typeface="Times New Roman" panose="02020603050405020304" pitchFamily="18" charset="0"/>
                <a:cs typeface="Times New Roman" panose="02020603050405020304" pitchFamily="18" charset="0"/>
              </a:rPr>
              <a:t>DES</a:t>
            </a:r>
            <a:r>
              <a:rPr lang="en-US" altLang="en-PK" sz="2700" b="1" dirty="0">
                <a:latin typeface="Times New Roman" panose="02020603050405020304" pitchFamily="18" charset="0"/>
                <a:cs typeface="Times New Roman" panose="02020603050405020304" pitchFamily="18" charset="0"/>
              </a:rPr>
              <a:t> (56 bits )</a:t>
            </a:r>
            <a:r>
              <a:rPr lang="en-PK" altLang="en-PK" sz="2700" b="1" dirty="0">
                <a:latin typeface="Times New Roman" panose="02020603050405020304" pitchFamily="18" charset="0"/>
                <a:cs typeface="Times New Roman" panose="02020603050405020304" pitchFamily="18" charset="0"/>
              </a:rPr>
              <a:t>, 3DES</a:t>
            </a:r>
            <a:r>
              <a:rPr lang="en-US" altLang="en-PK" sz="2700" b="1" dirty="0">
                <a:latin typeface="Times New Roman" panose="02020603050405020304" pitchFamily="18" charset="0"/>
                <a:cs typeface="Times New Roman" panose="02020603050405020304" pitchFamily="18" charset="0"/>
              </a:rPr>
              <a:t> (192 bits )</a:t>
            </a:r>
            <a:r>
              <a:rPr lang="en-PK" altLang="en-PK" sz="2700" b="1" dirty="0">
                <a:latin typeface="Times New Roman" panose="02020603050405020304" pitchFamily="18" charset="0"/>
                <a:cs typeface="Times New Roman" panose="02020603050405020304" pitchFamily="18" charset="0"/>
              </a:rPr>
              <a:t>, AES</a:t>
            </a:r>
            <a:r>
              <a:rPr lang="en-US" altLang="en-PK" sz="2700" b="1" dirty="0">
                <a:latin typeface="Times New Roman" panose="02020603050405020304" pitchFamily="18" charset="0"/>
                <a:cs typeface="Times New Roman" panose="02020603050405020304" pitchFamily="18" charset="0"/>
              </a:rPr>
              <a:t> (128, 192, 256)</a:t>
            </a:r>
            <a:r>
              <a:rPr lang="en-PK" altLang="en-PK" sz="2700" dirty="0">
                <a:latin typeface="Times New Roman" panose="02020603050405020304" pitchFamily="18" charset="0"/>
                <a:cs typeface="Times New Roman" panose="02020603050405020304" pitchFamily="18" charset="0"/>
              </a:rPr>
              <a:t>.</a:t>
            </a:r>
          </a:p>
          <a:p>
            <a:pPr lvl="0" defTabSz="914400" eaLnBrk="0" fontAlgn="base" hangingPunct="0">
              <a:spcBef>
                <a:spcPct val="0"/>
              </a:spcBef>
              <a:spcAft>
                <a:spcPct val="0"/>
              </a:spcAft>
            </a:pPr>
            <a:r>
              <a:rPr lang="en-US" altLang="en-PK" sz="2700" b="1" dirty="0">
                <a:latin typeface="Times New Roman" panose="02020603050405020304" pitchFamily="18" charset="0"/>
                <a:cs typeface="Times New Roman" panose="02020603050405020304" pitchFamily="18" charset="0"/>
              </a:rPr>
              <a:t>2. </a:t>
            </a:r>
            <a:r>
              <a:rPr lang="en-PK" altLang="en-PK" sz="2700" b="1" dirty="0">
                <a:latin typeface="Times New Roman" panose="02020603050405020304" pitchFamily="18" charset="0"/>
                <a:cs typeface="Times New Roman" panose="02020603050405020304" pitchFamily="18" charset="0"/>
              </a:rPr>
              <a:t>Stream Ciphers</a:t>
            </a:r>
            <a:endParaRPr lang="en-PK" altLang="en-PK" sz="2700" dirty="0">
              <a:latin typeface="Times New Roman" panose="02020603050405020304" pitchFamily="18" charset="0"/>
              <a:cs typeface="Times New Roman" panose="02020603050405020304" pitchFamily="18" charset="0"/>
            </a:endParaRPr>
          </a:p>
          <a:p>
            <a:pPr marL="914400" lvl="1" indent="-457200" defTabSz="914400" eaLnBrk="0" fontAlgn="base" hangingPunct="0">
              <a:spcBef>
                <a:spcPct val="0"/>
              </a:spcBef>
              <a:spcAft>
                <a:spcPct val="0"/>
              </a:spcAft>
              <a:buFont typeface="Wingdings" panose="05000000000000000000" pitchFamily="2" charset="2"/>
              <a:buChar char="ü"/>
            </a:pPr>
            <a:r>
              <a:rPr lang="en-PK" altLang="en-PK" sz="2700" dirty="0">
                <a:latin typeface="Times New Roman" panose="02020603050405020304" pitchFamily="18" charset="0"/>
                <a:cs typeface="Times New Roman" panose="02020603050405020304" pitchFamily="18" charset="0"/>
              </a:rPr>
              <a:t>Encrypt </a:t>
            </a:r>
            <a:r>
              <a:rPr lang="en-PK" altLang="en-PK" sz="2700" b="1" dirty="0">
                <a:latin typeface="Times New Roman" panose="02020603050405020304" pitchFamily="18" charset="0"/>
                <a:cs typeface="Times New Roman" panose="02020603050405020304" pitchFamily="18" charset="0"/>
              </a:rPr>
              <a:t>data bit by bit</a:t>
            </a:r>
            <a:r>
              <a:rPr lang="en-PK" altLang="en-PK" sz="2700" dirty="0">
                <a:latin typeface="Times New Roman" panose="02020603050405020304" pitchFamily="18" charset="0"/>
                <a:cs typeface="Times New Roman" panose="02020603050405020304" pitchFamily="18" charset="0"/>
              </a:rPr>
              <a:t> as a continuous stream.</a:t>
            </a:r>
          </a:p>
          <a:p>
            <a:pPr marL="914400" lvl="1" indent="-457200" defTabSz="914400" eaLnBrk="0" fontAlgn="base" hangingPunct="0">
              <a:spcBef>
                <a:spcPct val="0"/>
              </a:spcBef>
              <a:spcAft>
                <a:spcPct val="0"/>
              </a:spcAft>
              <a:buFont typeface="Wingdings" panose="05000000000000000000" pitchFamily="2" charset="2"/>
              <a:buChar char="ü"/>
            </a:pPr>
            <a:r>
              <a:rPr lang="en-PK" altLang="en-PK" sz="2700" dirty="0">
                <a:latin typeface="Times New Roman" panose="02020603050405020304" pitchFamily="18" charset="0"/>
                <a:cs typeface="Times New Roman" panose="02020603050405020304" pitchFamily="18" charset="0"/>
              </a:rPr>
              <a:t>Examples: </a:t>
            </a:r>
            <a:r>
              <a:rPr lang="en-PK" altLang="en-PK" sz="2700" b="1" dirty="0">
                <a:latin typeface="Times New Roman" panose="02020603050405020304" pitchFamily="18" charset="0"/>
                <a:cs typeface="Times New Roman" panose="02020603050405020304" pitchFamily="18" charset="0"/>
              </a:rPr>
              <a:t>RC4</a:t>
            </a:r>
            <a:endParaRPr lang="en-US" sz="2700" dirty="0">
              <a:latin typeface="Times New Roman" panose="02020603050405020304" pitchFamily="18" charset="0"/>
              <a:cs typeface="Times New Roman" panose="02020603050405020304" pitchFamily="18" charset="0"/>
            </a:endParaRPr>
          </a:p>
          <a:p>
            <a:pPr algn="just"/>
            <a:endParaRPr lang="en-US" sz="2700" dirty="0">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222BB700-4522-195B-8E6D-01644721FA44}"/>
              </a:ext>
            </a:extLst>
          </p:cNvPr>
          <p:cNvSpPr>
            <a:spLocks noChangeArrowheads="1"/>
          </p:cNvSpPr>
          <p:nvPr/>
        </p:nvSpPr>
        <p:spPr bwMode="auto">
          <a:xfrm>
            <a:off x="0" y="-323165"/>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36913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240E0-92DC-ED60-B52D-4229FB790E2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CF0E078-C288-7DBB-7D50-144DEF348275}"/>
              </a:ext>
            </a:extLst>
          </p:cNvPr>
          <p:cNvSpPr txBox="1"/>
          <p:nvPr/>
        </p:nvSpPr>
        <p:spPr>
          <a:xfrm>
            <a:off x="1463040" y="323166"/>
            <a:ext cx="1122680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Data Encryption Standard (DES)</a:t>
            </a:r>
          </a:p>
        </p:txBody>
      </p:sp>
      <p:sp>
        <p:nvSpPr>
          <p:cNvPr id="5" name="TextBox 4">
            <a:extLst>
              <a:ext uri="{FF2B5EF4-FFF2-40B4-BE49-F238E27FC236}">
                <a16:creationId xmlns:a16="http://schemas.microsoft.com/office/drawing/2014/main" id="{05F586BB-FBB0-36DC-3DF0-9C7D61EC15B4}"/>
              </a:ext>
            </a:extLst>
          </p:cNvPr>
          <p:cNvSpPr txBox="1"/>
          <p:nvPr/>
        </p:nvSpPr>
        <p:spPr>
          <a:xfrm>
            <a:off x="939800" y="1428879"/>
            <a:ext cx="10312400" cy="4832092"/>
          </a:xfrm>
          <a:prstGeom prst="rect">
            <a:avLst/>
          </a:prstGeom>
          <a:noFill/>
        </p:spPr>
        <p:txBody>
          <a:bodyPr wrap="square">
            <a:spAutoFit/>
          </a:bodyPr>
          <a:lstStyle/>
          <a:p>
            <a:pPr marL="342900" lvl="0" indent="-342900" algn="just" defTabSz="914400" eaLnBrk="0" fontAlgn="base" hangingPunct="0">
              <a:spcBef>
                <a:spcPct val="0"/>
              </a:spcBef>
              <a:spcAft>
                <a:spcPct val="0"/>
              </a:spcAft>
              <a:buFont typeface="Wingdings" panose="05000000000000000000" pitchFamily="2" charset="2"/>
              <a:buChar char="ü"/>
            </a:pPr>
            <a:r>
              <a:rPr lang="en-PK" altLang="en-PK" sz="2800" dirty="0">
                <a:latin typeface="Times New Roman" panose="02020603050405020304" pitchFamily="18" charset="0"/>
                <a:cs typeface="Times New Roman" panose="02020603050405020304" pitchFamily="18" charset="0"/>
              </a:rPr>
              <a:t>Developed by IBM in early 1970s; published in </a:t>
            </a:r>
            <a:r>
              <a:rPr lang="en-PK" altLang="en-PK" sz="2800" b="1" dirty="0">
                <a:latin typeface="Times New Roman" panose="02020603050405020304" pitchFamily="18" charset="0"/>
                <a:cs typeface="Times New Roman" panose="02020603050405020304" pitchFamily="18" charset="0"/>
              </a:rPr>
              <a:t>1976</a:t>
            </a:r>
            <a:r>
              <a:rPr lang="en-PK" altLang="en-PK" sz="2800" dirty="0">
                <a:latin typeface="Times New Roman" panose="02020603050405020304" pitchFamily="18" charset="0"/>
                <a:cs typeface="Times New Roman" panose="02020603050405020304" pitchFamily="18" charset="0"/>
              </a:rPr>
              <a:t>.</a:t>
            </a:r>
          </a:p>
          <a:p>
            <a:pPr marL="342900" lvl="0" indent="-342900" algn="just" defTabSz="914400" eaLnBrk="0" fontAlgn="base" hangingPunct="0">
              <a:spcBef>
                <a:spcPct val="0"/>
              </a:spcBef>
              <a:spcAft>
                <a:spcPct val="0"/>
              </a:spcAft>
              <a:buFont typeface="Wingdings" panose="05000000000000000000" pitchFamily="2" charset="2"/>
              <a:buChar char="ü"/>
            </a:pPr>
            <a:r>
              <a:rPr lang="en-PK" altLang="en-PK" sz="2800" dirty="0">
                <a:latin typeface="Times New Roman" panose="02020603050405020304" pitchFamily="18" charset="0"/>
                <a:cs typeface="Times New Roman" panose="02020603050405020304" pitchFamily="18" charset="0"/>
              </a:rPr>
              <a:t>First major </a:t>
            </a:r>
            <a:r>
              <a:rPr lang="en-PK" altLang="en-PK" sz="2800" b="1" dirty="0">
                <a:latin typeface="Times New Roman" panose="02020603050405020304" pitchFamily="18" charset="0"/>
                <a:cs typeface="Times New Roman" panose="02020603050405020304" pitchFamily="18" charset="0"/>
              </a:rPr>
              <a:t>modern symmetric key block cipher</a:t>
            </a:r>
            <a:endParaRPr lang="en-US" altLang="en-PK" sz="2800" b="1" dirty="0">
              <a:latin typeface="Times New Roman" panose="02020603050405020304" pitchFamily="18" charset="0"/>
              <a:cs typeface="Times New Roman" panose="02020603050405020304" pitchFamily="18" charset="0"/>
            </a:endParaRPr>
          </a:p>
          <a:p>
            <a:pPr marL="342900" lvl="0" indent="-342900" algn="just" defTabSz="914400" eaLnBrk="0" fontAlgn="base" hangingPunct="0">
              <a:spcBef>
                <a:spcPct val="0"/>
              </a:spcBef>
              <a:spcAft>
                <a:spcPct val="0"/>
              </a:spcAf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It is an older encryption algorithm that is used to convert 64-bit plaintext data into 48-bit encrypted ciphertext. </a:t>
            </a:r>
          </a:p>
          <a:p>
            <a:pPr marL="342900" lvl="0" indent="-342900" algn="just" defTabSz="914400" eaLnBrk="0" fontAlgn="base" hangingPunct="0">
              <a:spcBef>
                <a:spcPct val="0"/>
              </a:spcBef>
              <a:spcAft>
                <a:spcPct val="0"/>
              </a:spcAf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It uses symmetric keys (which means same key for encryption and decryption).</a:t>
            </a:r>
          </a:p>
          <a:p>
            <a:pPr marL="342900" lvl="0" indent="-342900" algn="just" defTabSz="914400" eaLnBrk="0" fontAlgn="base" hangingPunct="0">
              <a:spcBef>
                <a:spcPct val="0"/>
              </a:spcBef>
              <a:spcAft>
                <a:spcPct val="0"/>
              </a:spcAf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It introduced the </a:t>
            </a:r>
            <a:r>
              <a:rPr lang="en-US" sz="2800" b="1" dirty="0">
                <a:latin typeface="Times New Roman" panose="02020603050405020304" pitchFamily="18" charset="0"/>
                <a:cs typeface="Times New Roman" panose="02020603050405020304" pitchFamily="18" charset="0"/>
              </a:rPr>
              <a:t>Feistel Cipher structure</a:t>
            </a:r>
            <a:r>
              <a:rPr lang="en-US" sz="2800" dirty="0">
                <a:latin typeface="Times New Roman" panose="02020603050405020304" pitchFamily="18" charset="0"/>
                <a:cs typeface="Times New Roman" panose="02020603050405020304" pitchFamily="18" charset="0"/>
              </a:rPr>
              <a:t>, used in many modern algorithms (e.g., 3DES, Blowfish).</a:t>
            </a:r>
          </a:p>
          <a:p>
            <a:pPr marL="342900" lvl="0" indent="-342900" algn="just" defTabSz="914400" eaLnBrk="0" fontAlgn="base" hangingPunct="0">
              <a:spcBef>
                <a:spcPct val="0"/>
              </a:spcBef>
              <a:spcAft>
                <a:spcPct val="0"/>
              </a:spcAf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It is kind of old by today’s standard but can be used as a basic building block for learning newer encryption algorithms</a:t>
            </a:r>
          </a:p>
          <a:p>
            <a:pPr marL="342900" indent="-342900" algn="just">
              <a:buFont typeface="Wingdings" panose="05000000000000000000" pitchFamily="2" charset="2"/>
              <a:buChar char="ü"/>
            </a:pPr>
            <a:endParaRPr lang="en-US" sz="2800" dirty="0">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414ADDA0-9F59-BBDF-FA9F-4B9F5FA15E16}"/>
              </a:ext>
            </a:extLst>
          </p:cNvPr>
          <p:cNvSpPr>
            <a:spLocks noChangeArrowheads="1"/>
          </p:cNvSpPr>
          <p:nvPr/>
        </p:nvSpPr>
        <p:spPr bwMode="auto">
          <a:xfrm>
            <a:off x="0" y="-323165"/>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666E2F0A-339E-267D-D892-5F129EC7FC3B}"/>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173536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7EAAC-9EB4-C145-60CF-13B1238F42E3}"/>
            </a:ext>
          </a:extLst>
        </p:cNvPr>
        <p:cNvGrpSpPr/>
        <p:nvPr/>
      </p:nvGrpSpPr>
      <p:grpSpPr>
        <a:xfrm>
          <a:off x="0" y="0"/>
          <a:ext cx="0" cy="0"/>
          <a:chOff x="0" y="0"/>
          <a:chExt cx="0" cy="0"/>
        </a:xfrm>
      </p:grpSpPr>
      <p:sp>
        <p:nvSpPr>
          <p:cNvPr id="7" name="Rectangle 2">
            <a:extLst>
              <a:ext uri="{FF2B5EF4-FFF2-40B4-BE49-F238E27FC236}">
                <a16:creationId xmlns:a16="http://schemas.microsoft.com/office/drawing/2014/main" id="{48960681-BDFB-4BBF-C766-8411BAD355AC}"/>
              </a:ext>
            </a:extLst>
          </p:cNvPr>
          <p:cNvSpPr>
            <a:spLocks noChangeArrowheads="1"/>
          </p:cNvSpPr>
          <p:nvPr/>
        </p:nvSpPr>
        <p:spPr bwMode="auto">
          <a:xfrm>
            <a:off x="0" y="-323165"/>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F712D439-F09A-7919-1255-1C482A6604EC}"/>
              </a:ext>
            </a:extLst>
          </p:cNvPr>
          <p:cNvPicPr>
            <a:picLocks noChangeAspect="1"/>
          </p:cNvPicPr>
          <p:nvPr/>
        </p:nvPicPr>
        <p:blipFill>
          <a:blip r:embed="rId2"/>
          <a:stretch>
            <a:fillRect/>
          </a:stretch>
        </p:blipFill>
        <p:spPr>
          <a:xfrm>
            <a:off x="13891" y="0"/>
            <a:ext cx="12157789" cy="6033770"/>
          </a:xfrm>
          <a:prstGeom prst="rect">
            <a:avLst/>
          </a:prstGeom>
        </p:spPr>
      </p:pic>
    </p:spTree>
    <p:extLst>
      <p:ext uri="{BB962C8B-B14F-4D97-AF65-F5344CB8AC3E}">
        <p14:creationId xmlns:p14="http://schemas.microsoft.com/office/powerpoint/2010/main" val="2464012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3202E-AEED-8D40-447C-5DC64A6E6D3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7A6E846-ABC4-9CBE-A2D3-4426ABC5842A}"/>
              </a:ext>
            </a:extLst>
          </p:cNvPr>
          <p:cNvSpPr txBox="1"/>
          <p:nvPr/>
        </p:nvSpPr>
        <p:spPr>
          <a:xfrm>
            <a:off x="1463040" y="323166"/>
            <a:ext cx="1122680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Data Encryption Standard (DES)</a:t>
            </a:r>
          </a:p>
        </p:txBody>
      </p:sp>
      <p:sp>
        <p:nvSpPr>
          <p:cNvPr id="5" name="TextBox 4">
            <a:extLst>
              <a:ext uri="{FF2B5EF4-FFF2-40B4-BE49-F238E27FC236}">
                <a16:creationId xmlns:a16="http://schemas.microsoft.com/office/drawing/2014/main" id="{71858034-7BB3-3451-F942-A643322C1054}"/>
              </a:ext>
            </a:extLst>
          </p:cNvPr>
          <p:cNvSpPr txBox="1"/>
          <p:nvPr/>
        </p:nvSpPr>
        <p:spPr>
          <a:xfrm>
            <a:off x="651504" y="1896239"/>
            <a:ext cx="4699000" cy="3416320"/>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Basics:</a:t>
            </a: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Type</a:t>
            </a:r>
            <a:r>
              <a:rPr lang="en-US" sz="2400" dirty="0">
                <a:latin typeface="Times New Roman" panose="02020603050405020304" pitchFamily="18" charset="0"/>
                <a:cs typeface="Times New Roman" panose="02020603050405020304" pitchFamily="18" charset="0"/>
              </a:rPr>
              <a:t>: Symmetric Block Cipher</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Block Size</a:t>
            </a:r>
            <a:r>
              <a:rPr lang="en-US" sz="2400" dirty="0">
                <a:latin typeface="Times New Roman" panose="02020603050405020304" pitchFamily="18" charset="0"/>
                <a:cs typeface="Times New Roman" panose="02020603050405020304" pitchFamily="18" charset="0"/>
              </a:rPr>
              <a:t>: 64 bits</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Key Size</a:t>
            </a:r>
            <a:r>
              <a:rPr lang="en-US" sz="2400" dirty="0">
                <a:latin typeface="Times New Roman" panose="02020603050405020304" pitchFamily="18" charset="0"/>
                <a:cs typeface="Times New Roman" panose="02020603050405020304" pitchFamily="18" charset="0"/>
              </a:rPr>
              <a:t>: 56 bits (stored as 64 bits but 8 bits are parity)</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Rounds</a:t>
            </a:r>
            <a:r>
              <a:rPr lang="en-US" sz="2400" dirty="0">
                <a:latin typeface="Times New Roman" panose="02020603050405020304" pitchFamily="18" charset="0"/>
                <a:cs typeface="Times New Roman" panose="02020603050405020304" pitchFamily="18" charset="0"/>
              </a:rPr>
              <a:t>: 16</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Structure</a:t>
            </a:r>
            <a:r>
              <a:rPr lang="en-US" sz="2400" dirty="0">
                <a:latin typeface="Times New Roman" panose="02020603050405020304" pitchFamily="18" charset="0"/>
                <a:cs typeface="Times New Roman" panose="02020603050405020304" pitchFamily="18" charset="0"/>
              </a:rPr>
              <a:t>: Feistel Network</a:t>
            </a:r>
          </a:p>
          <a:p>
            <a:pPr marL="342900" indent="-342900">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B5925745-C4F2-E767-A321-9C313DFB23B9}"/>
              </a:ext>
            </a:extLst>
          </p:cNvPr>
          <p:cNvSpPr>
            <a:spLocks noChangeArrowheads="1"/>
          </p:cNvSpPr>
          <p:nvPr/>
        </p:nvSpPr>
        <p:spPr bwMode="auto">
          <a:xfrm>
            <a:off x="5350504" y="1390363"/>
            <a:ext cx="637032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PK" sz="2400" b="1" dirty="0">
                <a:latin typeface="Times New Roman" panose="02020603050405020304" pitchFamily="18" charset="0"/>
                <a:cs typeface="Times New Roman" panose="02020603050405020304" pitchFamily="18" charset="0"/>
              </a:rPr>
              <a:t>Steps:</a:t>
            </a:r>
          </a:p>
          <a:p>
            <a:pPr lvl="0" defTabSz="914400" eaLnBrk="0" fontAlgn="base" hangingPunct="0">
              <a:spcBef>
                <a:spcPct val="0"/>
              </a:spcBef>
              <a:spcAft>
                <a:spcPct val="0"/>
              </a:spcAft>
            </a:pPr>
            <a:endParaRPr lang="en-US" altLang="en-PK" sz="2400" b="1" dirty="0">
              <a:latin typeface="Times New Roman" panose="02020603050405020304" pitchFamily="18" charset="0"/>
              <a:cs typeface="Times New Roman" panose="02020603050405020304" pitchFamily="18" charset="0"/>
            </a:endParaRPr>
          </a:p>
          <a:p>
            <a:pPr marL="457200" lvl="0" indent="-457200" defTabSz="914400" eaLnBrk="0" fontAlgn="base" hangingPunct="0">
              <a:spcBef>
                <a:spcPct val="0"/>
              </a:spcBef>
              <a:spcAft>
                <a:spcPct val="0"/>
              </a:spcAft>
              <a:buFont typeface="+mj-lt"/>
              <a:buAutoNum type="arabicPeriod"/>
            </a:pPr>
            <a:r>
              <a:rPr lang="en-PK" altLang="en-PK" sz="2400" b="1" dirty="0">
                <a:latin typeface="Times New Roman" panose="02020603050405020304" pitchFamily="18" charset="0"/>
                <a:cs typeface="Times New Roman" panose="02020603050405020304" pitchFamily="18" charset="0"/>
              </a:rPr>
              <a:t>Divide data into 64-bit blocks</a:t>
            </a:r>
            <a:r>
              <a:rPr lang="en-PK" altLang="en-PK" sz="2400" dirty="0">
                <a:latin typeface="Times New Roman" panose="02020603050405020304" pitchFamily="18" charset="0"/>
                <a:cs typeface="Times New Roman" panose="02020603050405020304" pitchFamily="18" charset="0"/>
              </a:rPr>
              <a:t>.</a:t>
            </a:r>
          </a:p>
          <a:p>
            <a:pPr marL="457200" lvl="0" indent="-457200" defTabSz="914400" eaLnBrk="0" fontAlgn="base" hangingPunct="0">
              <a:spcBef>
                <a:spcPct val="0"/>
              </a:spcBef>
              <a:spcAft>
                <a:spcPct val="0"/>
              </a:spcAft>
              <a:buFont typeface="+mj-lt"/>
              <a:buAutoNum type="arabicPeriod"/>
            </a:pPr>
            <a:r>
              <a:rPr lang="en-PK" altLang="en-PK" sz="2400" dirty="0">
                <a:latin typeface="Times New Roman" panose="02020603050405020304" pitchFamily="18" charset="0"/>
                <a:cs typeface="Times New Roman" panose="02020603050405020304" pitchFamily="18" charset="0"/>
              </a:rPr>
              <a:t>Split each block into </a:t>
            </a:r>
            <a:r>
              <a:rPr lang="en-PK" altLang="en-PK" sz="2400" b="1" dirty="0">
                <a:latin typeface="Times New Roman" panose="02020603050405020304" pitchFamily="18" charset="0"/>
                <a:cs typeface="Times New Roman" panose="02020603050405020304" pitchFamily="18" charset="0"/>
              </a:rPr>
              <a:t>Left (32 bits)</a:t>
            </a:r>
            <a:r>
              <a:rPr lang="en-PK" altLang="en-PK" sz="2400" dirty="0">
                <a:latin typeface="Times New Roman" panose="02020603050405020304" pitchFamily="18" charset="0"/>
                <a:cs typeface="Times New Roman" panose="02020603050405020304" pitchFamily="18" charset="0"/>
              </a:rPr>
              <a:t> and </a:t>
            </a:r>
            <a:r>
              <a:rPr lang="en-PK" altLang="en-PK" sz="2400" b="1" dirty="0">
                <a:latin typeface="Times New Roman" panose="02020603050405020304" pitchFamily="18" charset="0"/>
                <a:cs typeface="Times New Roman" panose="02020603050405020304" pitchFamily="18" charset="0"/>
              </a:rPr>
              <a:t>Right (32 bits)</a:t>
            </a:r>
            <a:r>
              <a:rPr lang="en-PK" altLang="en-PK" sz="2400" dirty="0">
                <a:latin typeface="Times New Roman" panose="02020603050405020304" pitchFamily="18" charset="0"/>
                <a:cs typeface="Times New Roman" panose="02020603050405020304" pitchFamily="18" charset="0"/>
              </a:rPr>
              <a:t>.</a:t>
            </a:r>
          </a:p>
          <a:p>
            <a:pPr marL="457200" lvl="0" indent="-457200" defTabSz="914400" eaLnBrk="0" fontAlgn="base" hangingPunct="0">
              <a:spcBef>
                <a:spcPct val="0"/>
              </a:spcBef>
              <a:spcAft>
                <a:spcPct val="0"/>
              </a:spcAft>
              <a:buFont typeface="+mj-lt"/>
              <a:buAutoNum type="arabicPeriod"/>
            </a:pPr>
            <a:r>
              <a:rPr lang="en-PK" altLang="en-PK" sz="2400" dirty="0">
                <a:latin typeface="Times New Roman" panose="02020603050405020304" pitchFamily="18" charset="0"/>
                <a:cs typeface="Times New Roman" panose="02020603050405020304" pitchFamily="18" charset="0"/>
              </a:rPr>
              <a:t>Apply a </a:t>
            </a:r>
            <a:r>
              <a:rPr lang="en-PK" altLang="en-PK" sz="2400" b="1" dirty="0">
                <a:latin typeface="Times New Roman" panose="02020603050405020304" pitchFamily="18" charset="0"/>
                <a:cs typeface="Times New Roman" panose="02020603050405020304" pitchFamily="18" charset="0"/>
              </a:rPr>
              <a:t>round function</a:t>
            </a:r>
            <a:r>
              <a:rPr lang="en-PK" altLang="en-PK" sz="2400" dirty="0">
                <a:latin typeface="Times New Roman" panose="02020603050405020304" pitchFamily="18" charset="0"/>
                <a:cs typeface="Times New Roman" panose="02020603050405020304" pitchFamily="18" charset="0"/>
              </a:rPr>
              <a:t> on one half + XOR with key.</a:t>
            </a:r>
          </a:p>
          <a:p>
            <a:pPr marL="457200" lvl="0" indent="-457200" defTabSz="914400" eaLnBrk="0" fontAlgn="base" hangingPunct="0">
              <a:spcBef>
                <a:spcPct val="0"/>
              </a:spcBef>
              <a:spcAft>
                <a:spcPct val="0"/>
              </a:spcAft>
              <a:buFont typeface="+mj-lt"/>
              <a:buAutoNum type="arabicPeriod"/>
            </a:pPr>
            <a:r>
              <a:rPr lang="en-PK" altLang="en-PK" sz="2400" b="1" dirty="0">
                <a:latin typeface="Times New Roman" panose="02020603050405020304" pitchFamily="18" charset="0"/>
                <a:cs typeface="Times New Roman" panose="02020603050405020304" pitchFamily="18" charset="0"/>
              </a:rPr>
              <a:t>Swap halves</a:t>
            </a:r>
            <a:r>
              <a:rPr lang="en-PK" altLang="en-PK" sz="2400" dirty="0">
                <a:latin typeface="Times New Roman" panose="02020603050405020304" pitchFamily="18" charset="0"/>
                <a:cs typeface="Times New Roman" panose="02020603050405020304" pitchFamily="18" charset="0"/>
              </a:rPr>
              <a:t>.</a:t>
            </a:r>
          </a:p>
          <a:p>
            <a:pPr marL="457200" lvl="0" indent="-457200" defTabSz="914400" eaLnBrk="0" fontAlgn="base" hangingPunct="0">
              <a:spcBef>
                <a:spcPct val="0"/>
              </a:spcBef>
              <a:spcAft>
                <a:spcPct val="0"/>
              </a:spcAft>
              <a:buFont typeface="+mj-lt"/>
              <a:buAutoNum type="arabicPeriod"/>
            </a:pPr>
            <a:r>
              <a:rPr lang="en-PK" altLang="en-PK" sz="2400" dirty="0">
                <a:latin typeface="Times New Roman" panose="02020603050405020304" pitchFamily="18" charset="0"/>
                <a:cs typeface="Times New Roman" panose="02020603050405020304" pitchFamily="18" charset="0"/>
              </a:rPr>
              <a:t>Repeat for </a:t>
            </a:r>
            <a:r>
              <a:rPr lang="en-PK" altLang="en-PK" sz="2400" b="1" dirty="0">
                <a:latin typeface="Times New Roman" panose="02020603050405020304" pitchFamily="18" charset="0"/>
                <a:cs typeface="Times New Roman" panose="02020603050405020304" pitchFamily="18" charset="0"/>
              </a:rPr>
              <a:t>16 rounds</a:t>
            </a:r>
            <a:r>
              <a:rPr lang="en-PK" altLang="en-PK" sz="2400" dirty="0">
                <a:latin typeface="Times New Roman" panose="02020603050405020304" pitchFamily="18" charset="0"/>
                <a:cs typeface="Times New Roman" panose="02020603050405020304" pitchFamily="18" charset="0"/>
              </a:rPr>
              <a:t>.</a:t>
            </a:r>
          </a:p>
          <a:p>
            <a:pPr marL="457200" lvl="0" indent="-457200" defTabSz="914400" eaLnBrk="0" fontAlgn="base" hangingPunct="0">
              <a:spcBef>
                <a:spcPct val="0"/>
              </a:spcBef>
              <a:spcAft>
                <a:spcPct val="0"/>
              </a:spcAft>
              <a:buFont typeface="+mj-lt"/>
              <a:buAutoNum type="arabicPeriod"/>
            </a:pPr>
            <a:r>
              <a:rPr lang="en-PK" altLang="en-PK" sz="2400" dirty="0">
                <a:latin typeface="Times New Roman" panose="02020603050405020304" pitchFamily="18" charset="0"/>
                <a:cs typeface="Times New Roman" panose="02020603050405020304" pitchFamily="18" charset="0"/>
              </a:rPr>
              <a:t>Combine halves → final 64-bit encrypted block</a:t>
            </a:r>
            <a:r>
              <a:rPr lang="en-US" altLang="en-PK" sz="2400" dirty="0">
                <a:latin typeface="Times New Roman" panose="02020603050405020304" pitchFamily="18" charset="0"/>
                <a:cs typeface="Times New Roman" panose="02020603050405020304" pitchFamily="18" charset="0"/>
              </a:rPr>
              <a:t>.</a:t>
            </a:r>
          </a:p>
          <a:p>
            <a:pPr lvl="0" defTabSz="914400" eaLnBrk="0" fontAlgn="base" hangingPunct="0">
              <a:spcBef>
                <a:spcPct val="0"/>
              </a:spcBef>
              <a:spcAft>
                <a:spcPct val="0"/>
              </a:spcAft>
            </a:pPr>
            <a:endParaRPr lang="en-US" altLang="en-PK"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2876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F14D3-32F4-C888-C81C-6A393F41E2C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FF54F77-E169-AB5F-F986-0C90689C1A7F}"/>
              </a:ext>
            </a:extLst>
          </p:cNvPr>
          <p:cNvSpPr txBox="1"/>
          <p:nvPr/>
        </p:nvSpPr>
        <p:spPr>
          <a:xfrm>
            <a:off x="802640" y="112325"/>
            <a:ext cx="1122680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DES Round Structure (Feistel Round)</a:t>
            </a:r>
          </a:p>
        </p:txBody>
      </p:sp>
      <p:sp>
        <p:nvSpPr>
          <p:cNvPr id="5" name="TextBox 4">
            <a:extLst>
              <a:ext uri="{FF2B5EF4-FFF2-40B4-BE49-F238E27FC236}">
                <a16:creationId xmlns:a16="http://schemas.microsoft.com/office/drawing/2014/main" id="{7DD7DDA3-3788-D641-68A3-838ECE3D827B}"/>
              </a:ext>
            </a:extLst>
          </p:cNvPr>
          <p:cNvSpPr txBox="1"/>
          <p:nvPr/>
        </p:nvSpPr>
        <p:spPr>
          <a:xfrm>
            <a:off x="509264" y="1032639"/>
            <a:ext cx="9986016" cy="5632311"/>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Each round performs:</a:t>
            </a:r>
          </a:p>
          <a:p>
            <a:r>
              <a:rPr lang="en-US" sz="2000" b="1" dirty="0">
                <a:latin typeface="Times New Roman" panose="02020603050405020304" pitchFamily="18" charset="0"/>
                <a:cs typeface="Times New Roman" panose="02020603050405020304" pitchFamily="18" charset="0"/>
              </a:rPr>
              <a:t>Key Schedule</a:t>
            </a:r>
            <a:endParaRPr lang="en-US" sz="20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Original 56-bit key → split into two 28-bit halves.</a:t>
            </a:r>
          </a:p>
          <a:p>
            <a:pPr lvl="1"/>
            <a:r>
              <a:rPr lang="en-US" sz="2000" dirty="0">
                <a:latin typeface="Times New Roman" panose="02020603050405020304" pitchFamily="18" charset="0"/>
                <a:cs typeface="Times New Roman" panose="02020603050405020304" pitchFamily="18" charset="0"/>
              </a:rPr>
              <a:t>Halves are circular-shifted.</a:t>
            </a:r>
          </a:p>
          <a:p>
            <a:pPr lvl="1"/>
            <a:r>
              <a:rPr lang="en-US" sz="2000" dirty="0">
                <a:latin typeface="Times New Roman" panose="02020603050405020304" pitchFamily="18" charset="0"/>
                <a:cs typeface="Times New Roman" panose="02020603050405020304" pitchFamily="18" charset="0"/>
              </a:rPr>
              <a:t>A unique </a:t>
            </a:r>
            <a:r>
              <a:rPr lang="en-US" sz="2000" b="1" dirty="0">
                <a:latin typeface="Times New Roman" panose="02020603050405020304" pitchFamily="18" charset="0"/>
                <a:cs typeface="Times New Roman" panose="02020603050405020304" pitchFamily="18" charset="0"/>
              </a:rPr>
              <a:t>48-bit round key</a:t>
            </a:r>
            <a:r>
              <a:rPr lang="en-US" sz="2000" dirty="0">
                <a:latin typeface="Times New Roman" panose="02020603050405020304" pitchFamily="18" charset="0"/>
                <a:cs typeface="Times New Roman" panose="02020603050405020304" pitchFamily="18" charset="0"/>
              </a:rPr>
              <a:t> is generated for each round.</a:t>
            </a:r>
          </a:p>
          <a:p>
            <a:r>
              <a:rPr lang="en-US" sz="2000" b="1" dirty="0">
                <a:latin typeface="Times New Roman" panose="02020603050405020304" pitchFamily="18" charset="0"/>
                <a:cs typeface="Times New Roman" panose="02020603050405020304" pitchFamily="18" charset="0"/>
              </a:rPr>
              <a:t>Expansion</a:t>
            </a:r>
            <a:endParaRPr lang="en-US" sz="20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Right half (32 bits) is expanded to </a:t>
            </a:r>
            <a:r>
              <a:rPr lang="en-US" sz="2000" b="1" dirty="0">
                <a:latin typeface="Times New Roman" panose="02020603050405020304" pitchFamily="18" charset="0"/>
                <a:cs typeface="Times New Roman" panose="02020603050405020304" pitchFamily="18" charset="0"/>
              </a:rPr>
              <a:t>48 bits</a:t>
            </a:r>
            <a:r>
              <a:rPr lang="en-US" sz="2000" dirty="0">
                <a:latin typeface="Times New Roman" panose="02020603050405020304" pitchFamily="18" charset="0"/>
                <a:cs typeface="Times New Roman" panose="02020603050405020304" pitchFamily="18" charset="0"/>
              </a:rPr>
              <a:t> by duplicating border bits.</a:t>
            </a:r>
          </a:p>
          <a:p>
            <a:pPr lvl="1"/>
            <a:r>
              <a:rPr lang="en-US" sz="2000" dirty="0">
                <a:latin typeface="Times New Roman" panose="02020603050405020304" pitchFamily="18" charset="0"/>
                <a:cs typeface="Times New Roman" panose="02020603050405020304" pitchFamily="18" charset="0"/>
              </a:rPr>
              <a:t>Why? To match the 48-bit round key.</a:t>
            </a:r>
          </a:p>
          <a:p>
            <a:r>
              <a:rPr lang="en-US" sz="2000" b="1" dirty="0">
                <a:latin typeface="Times New Roman" panose="02020603050405020304" pitchFamily="18" charset="0"/>
                <a:cs typeface="Times New Roman" panose="02020603050405020304" pitchFamily="18" charset="0"/>
              </a:rPr>
              <a:t>XOR</a:t>
            </a:r>
            <a:endParaRPr lang="en-US" sz="20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48-bit expanded data XOR 48-bit round key.</a:t>
            </a:r>
          </a:p>
          <a:p>
            <a:r>
              <a:rPr lang="en-US" sz="2000" b="1" dirty="0">
                <a:latin typeface="Times New Roman" panose="02020603050405020304" pitchFamily="18" charset="0"/>
                <a:cs typeface="Times New Roman" panose="02020603050405020304" pitchFamily="18" charset="0"/>
              </a:rPr>
              <a:t>Substitution using S-Boxes</a:t>
            </a:r>
            <a:endParaRPr lang="en-US" sz="20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Output of XOR is 48 bits → divided into </a:t>
            </a:r>
            <a:r>
              <a:rPr lang="en-US" sz="2000" b="1" dirty="0">
                <a:latin typeface="Times New Roman" panose="02020603050405020304" pitchFamily="18" charset="0"/>
                <a:cs typeface="Times New Roman" panose="02020603050405020304" pitchFamily="18" charset="0"/>
              </a:rPr>
              <a:t>eight 6-bit blocks</a:t>
            </a:r>
            <a:r>
              <a:rPr lang="en-US" sz="2000" dirty="0">
                <a:latin typeface="Times New Roman" panose="02020603050405020304" pitchFamily="18" charset="0"/>
                <a:cs typeface="Times New Roman" panose="02020603050405020304" pitchFamily="18" charset="0"/>
              </a:rPr>
              <a:t>.</a:t>
            </a:r>
          </a:p>
          <a:p>
            <a:pPr lvl="1"/>
            <a:r>
              <a:rPr lang="en-US" sz="2000" dirty="0">
                <a:latin typeface="Times New Roman" panose="02020603050405020304" pitchFamily="18" charset="0"/>
                <a:cs typeface="Times New Roman" panose="02020603050405020304" pitchFamily="18" charset="0"/>
              </a:rPr>
              <a:t>Each 6-bit block goes into an </a:t>
            </a:r>
            <a:r>
              <a:rPr lang="en-US" sz="2000" b="1" dirty="0">
                <a:latin typeface="Times New Roman" panose="02020603050405020304" pitchFamily="18" charset="0"/>
                <a:cs typeface="Times New Roman" panose="02020603050405020304" pitchFamily="18" charset="0"/>
              </a:rPr>
              <a:t>S-Box</a:t>
            </a:r>
            <a:r>
              <a:rPr lang="en-US" sz="2000" dirty="0">
                <a:latin typeface="Times New Roman" panose="02020603050405020304" pitchFamily="18" charset="0"/>
                <a:cs typeface="Times New Roman" panose="02020603050405020304" pitchFamily="18" charset="0"/>
              </a:rPr>
              <a:t>, producing 4 bits.</a:t>
            </a:r>
          </a:p>
          <a:p>
            <a:pPr lvl="1"/>
            <a:r>
              <a:rPr lang="en-US" sz="2000" dirty="0">
                <a:latin typeface="Times New Roman" panose="02020603050405020304" pitchFamily="18" charset="0"/>
                <a:cs typeface="Times New Roman" panose="02020603050405020304" pitchFamily="18" charset="0"/>
              </a:rPr>
              <a:t>Total output = </a:t>
            </a:r>
            <a:r>
              <a:rPr lang="en-US" sz="2000" b="1" dirty="0">
                <a:latin typeface="Times New Roman" panose="02020603050405020304" pitchFamily="18" charset="0"/>
                <a:cs typeface="Times New Roman" panose="02020603050405020304" pitchFamily="18" charset="0"/>
              </a:rPr>
              <a:t>32 bits</a:t>
            </a:r>
            <a:r>
              <a:rPr lang="en-US" sz="2000" dirty="0">
                <a:latin typeface="Times New Roman" panose="02020603050405020304" pitchFamily="18" charset="0"/>
                <a:cs typeface="Times New Roman" panose="02020603050405020304" pitchFamily="18" charset="0"/>
              </a:rPr>
              <a:t>.</a:t>
            </a:r>
          </a:p>
          <a:p>
            <a:r>
              <a:rPr lang="en-US" sz="2000" b="1" dirty="0">
                <a:latin typeface="Times New Roman" panose="02020603050405020304" pitchFamily="18" charset="0"/>
                <a:cs typeface="Times New Roman" panose="02020603050405020304" pitchFamily="18" charset="0"/>
              </a:rPr>
              <a:t>Permutation + XOR</a:t>
            </a:r>
            <a:endParaRPr lang="en-US" sz="20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The 32-bit output is XORed with the </a:t>
            </a:r>
            <a:r>
              <a:rPr lang="en-US" sz="2000" b="1" dirty="0">
                <a:latin typeface="Times New Roman" panose="02020603050405020304" pitchFamily="18" charset="0"/>
                <a:cs typeface="Times New Roman" panose="02020603050405020304" pitchFamily="18" charset="0"/>
              </a:rPr>
              <a:t>left half</a:t>
            </a:r>
            <a:r>
              <a:rPr lang="en-US" sz="2000" dirty="0">
                <a:latin typeface="Times New Roman" panose="02020603050405020304" pitchFamily="18" charset="0"/>
                <a:cs typeface="Times New Roman" panose="02020603050405020304" pitchFamily="18" charset="0"/>
              </a:rPr>
              <a:t>.</a:t>
            </a:r>
          </a:p>
          <a:p>
            <a:r>
              <a:rPr lang="en-US" sz="2000" b="1" dirty="0">
                <a:latin typeface="Times New Roman" panose="02020603050405020304" pitchFamily="18" charset="0"/>
                <a:cs typeface="Times New Roman" panose="02020603050405020304" pitchFamily="18" charset="0"/>
              </a:rPr>
              <a:t>Swap halves</a:t>
            </a:r>
            <a:endParaRPr lang="en-US" sz="20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Except in the final round.</a:t>
            </a:r>
          </a:p>
        </p:txBody>
      </p:sp>
      <p:pic>
        <p:nvPicPr>
          <p:cNvPr id="6" name="Picture 5">
            <a:extLst>
              <a:ext uri="{FF2B5EF4-FFF2-40B4-BE49-F238E27FC236}">
                <a16:creationId xmlns:a16="http://schemas.microsoft.com/office/drawing/2014/main" id="{1B9F5E8C-D0DA-B9A0-8425-7C558A542452}"/>
              </a:ext>
            </a:extLst>
          </p:cNvPr>
          <p:cNvPicPr>
            <a:picLocks noChangeAspect="1"/>
          </p:cNvPicPr>
          <p:nvPr/>
        </p:nvPicPr>
        <p:blipFill>
          <a:blip r:embed="rId2"/>
          <a:stretch>
            <a:fillRect/>
          </a:stretch>
        </p:blipFill>
        <p:spPr>
          <a:xfrm>
            <a:off x="8100810" y="1402079"/>
            <a:ext cx="4091190" cy="5343595"/>
          </a:xfrm>
          <a:prstGeom prst="rect">
            <a:avLst/>
          </a:prstGeom>
        </p:spPr>
      </p:pic>
    </p:spTree>
    <p:extLst>
      <p:ext uri="{BB962C8B-B14F-4D97-AF65-F5344CB8AC3E}">
        <p14:creationId xmlns:p14="http://schemas.microsoft.com/office/powerpoint/2010/main" val="3010730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3D929-9745-D180-0388-2230039774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52E0FC8-DEF9-EF21-DD13-F22A6A64D739}"/>
              </a:ext>
            </a:extLst>
          </p:cNvPr>
          <p:cNvSpPr txBox="1"/>
          <p:nvPr/>
        </p:nvSpPr>
        <p:spPr>
          <a:xfrm>
            <a:off x="609600" y="184666"/>
            <a:ext cx="1122680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Advanced Encryption Standard (AES)</a:t>
            </a:r>
          </a:p>
        </p:txBody>
      </p:sp>
      <p:sp>
        <p:nvSpPr>
          <p:cNvPr id="5" name="TextBox 4">
            <a:extLst>
              <a:ext uri="{FF2B5EF4-FFF2-40B4-BE49-F238E27FC236}">
                <a16:creationId xmlns:a16="http://schemas.microsoft.com/office/drawing/2014/main" id="{F17A5277-5F6F-3B51-E8B9-429F400782CD}"/>
              </a:ext>
            </a:extLst>
          </p:cNvPr>
          <p:cNvSpPr txBox="1"/>
          <p:nvPr/>
        </p:nvSpPr>
        <p:spPr>
          <a:xfrm>
            <a:off x="777240" y="1245999"/>
            <a:ext cx="10312400" cy="5693866"/>
          </a:xfrm>
          <a:prstGeom prst="rect">
            <a:avLst/>
          </a:prstGeom>
          <a:noFill/>
        </p:spPr>
        <p:txBody>
          <a:bodyPr wrap="square">
            <a:spAutoFit/>
          </a:bodyPr>
          <a:lstStyle/>
          <a:p>
            <a:pPr marL="457200"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AES is a </a:t>
            </a:r>
            <a:r>
              <a:rPr lang="en-US" sz="2800" b="1" dirty="0">
                <a:latin typeface="Times New Roman" panose="02020603050405020304" pitchFamily="18" charset="0"/>
                <a:cs typeface="Times New Roman" panose="02020603050405020304" pitchFamily="18" charset="0"/>
              </a:rPr>
              <a:t>symmetric block cipher</a:t>
            </a:r>
            <a:r>
              <a:rPr lang="en-US" sz="2800" dirty="0">
                <a:latin typeface="Times New Roman" panose="02020603050405020304" pitchFamily="18" charset="0"/>
                <a:cs typeface="Times New Roman" panose="02020603050405020304" pitchFamily="18" charset="0"/>
              </a:rPr>
              <a:t> selected by the U.S. government to replace DES.</a:t>
            </a:r>
          </a:p>
          <a:p>
            <a:pPr marL="457200"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It operates on </a:t>
            </a:r>
            <a:r>
              <a:rPr lang="en-US" sz="2800" b="1" dirty="0">
                <a:latin typeface="Times New Roman" panose="02020603050405020304" pitchFamily="18" charset="0"/>
                <a:cs typeface="Times New Roman" panose="02020603050405020304" pitchFamily="18" charset="0"/>
              </a:rPr>
              <a:t>128-bit data blocks</a:t>
            </a:r>
            <a:r>
              <a:rPr lang="en-US" sz="2800" dirty="0">
                <a:latin typeface="Times New Roman" panose="02020603050405020304" pitchFamily="18" charset="0"/>
                <a:cs typeface="Times New Roman" panose="02020603050405020304" pitchFamily="18" charset="0"/>
              </a:rPr>
              <a:t> and supports </a:t>
            </a:r>
            <a:r>
              <a:rPr lang="en-US" sz="2800" b="1" dirty="0">
                <a:latin typeface="Times New Roman" panose="02020603050405020304" pitchFamily="18" charset="0"/>
                <a:cs typeface="Times New Roman" panose="02020603050405020304" pitchFamily="18" charset="0"/>
              </a:rPr>
              <a:t>three key sizes: 128, 192, or 256 bits</a:t>
            </a:r>
            <a:r>
              <a:rPr lang="en-US" sz="2800" dirty="0">
                <a:latin typeface="Times New Roman" panose="02020603050405020304" pitchFamily="18" charset="0"/>
                <a:cs typeface="Times New Roman" panose="02020603050405020304" pitchFamily="18" charset="0"/>
              </a:rPr>
              <a:t> (AES-128, AES-192, AES-256).</a:t>
            </a:r>
          </a:p>
          <a:p>
            <a:pPr marL="457200"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AES is currently the </a:t>
            </a:r>
            <a:r>
              <a:rPr lang="en-US" sz="2800" b="1" dirty="0">
                <a:latin typeface="Times New Roman" panose="02020603050405020304" pitchFamily="18" charset="0"/>
                <a:cs typeface="Times New Roman" panose="02020603050405020304" pitchFamily="18" charset="0"/>
              </a:rPr>
              <a:t>most widely used symmetric encryption algorithm</a:t>
            </a:r>
            <a:r>
              <a:rPr lang="en-US" sz="2800" dirty="0">
                <a:latin typeface="Times New Roman" panose="02020603050405020304" pitchFamily="18" charset="0"/>
                <a:cs typeface="Times New Roman" panose="02020603050405020304" pitchFamily="18" charset="0"/>
              </a:rPr>
              <a:t> in the world due to its security, speed, and efficiency.</a:t>
            </a:r>
          </a:p>
          <a:p>
            <a:pPr marL="457200" indent="-4572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AES is also known as the </a:t>
            </a:r>
            <a:r>
              <a:rPr lang="en-US" sz="2800" b="1" dirty="0">
                <a:latin typeface="Times New Roman" panose="02020603050405020304" pitchFamily="18" charset="0"/>
                <a:cs typeface="Times New Roman" panose="02020603050405020304" pitchFamily="18" charset="0"/>
              </a:rPr>
              <a:t>Rijndael cipher</a:t>
            </a:r>
            <a:r>
              <a:rPr lang="en-US" sz="2800" dirty="0">
                <a:latin typeface="Times New Roman" panose="02020603050405020304" pitchFamily="18" charset="0"/>
                <a:cs typeface="Times New Roman" panose="02020603050405020304" pitchFamily="18" charset="0"/>
              </a:rPr>
              <a:t>, designed by </a:t>
            </a:r>
            <a:r>
              <a:rPr lang="en-US" sz="2800" b="1" dirty="0">
                <a:latin typeface="Times New Roman" panose="02020603050405020304" pitchFamily="18" charset="0"/>
                <a:cs typeface="Times New Roman" panose="02020603050405020304" pitchFamily="18" charset="0"/>
              </a:rPr>
              <a:t>Joan Daemen and Vincent </a:t>
            </a:r>
            <a:r>
              <a:rPr lang="en-US" sz="2800" b="1" dirty="0" err="1">
                <a:latin typeface="Times New Roman" panose="02020603050405020304" pitchFamily="18" charset="0"/>
                <a:cs typeface="Times New Roman" panose="02020603050405020304" pitchFamily="18" charset="0"/>
              </a:rPr>
              <a:t>Rijmen</a:t>
            </a:r>
            <a:r>
              <a:rPr lang="en-US" sz="2800" dirty="0">
                <a:latin typeface="Times New Roman" panose="02020603050405020304" pitchFamily="18" charset="0"/>
                <a:cs typeface="Times New Roman" panose="02020603050405020304" pitchFamily="18" charset="0"/>
              </a:rPr>
              <a:t>, and officially standardized as </a:t>
            </a:r>
            <a:r>
              <a:rPr lang="en-US" sz="2800" b="1" dirty="0">
                <a:latin typeface="Times New Roman" panose="02020603050405020304" pitchFamily="18" charset="0"/>
                <a:cs typeface="Times New Roman" panose="02020603050405020304" pitchFamily="18" charset="0"/>
              </a:rPr>
              <a:t>FIPS 197</a:t>
            </a:r>
            <a:r>
              <a:rPr lang="en-US" sz="2800" dirty="0">
                <a:latin typeface="Times New Roman" panose="02020603050405020304" pitchFamily="18" charset="0"/>
                <a:cs typeface="Times New Roman" panose="02020603050405020304" pitchFamily="18" charset="0"/>
              </a:rPr>
              <a:t> in 2001.</a:t>
            </a:r>
          </a:p>
          <a:p>
            <a:pPr marL="457200" indent="-457200" algn="just">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Unlike DES, AES does not use a Feistel network. Instead, it uses a </a:t>
            </a:r>
            <a:r>
              <a:rPr lang="en-US" sz="2800" b="1" dirty="0">
                <a:latin typeface="Times New Roman" panose="02020603050405020304" pitchFamily="18" charset="0"/>
                <a:cs typeface="Times New Roman" panose="02020603050405020304" pitchFamily="18" charset="0"/>
              </a:rPr>
              <a:t>substitution–permutation structure</a:t>
            </a:r>
            <a:r>
              <a:rPr lang="en-US" sz="2800" dirty="0">
                <a:latin typeface="Times New Roman" panose="02020603050405020304" pitchFamily="18" charset="0"/>
                <a:cs typeface="Times New Roman" panose="02020603050405020304" pitchFamily="18" charset="0"/>
              </a:rPr>
              <a:t>, repeatedly transforming data through multiple rounds (10, 12, or 14 depending on key size).</a:t>
            </a:r>
          </a:p>
          <a:p>
            <a:pPr marL="457200" indent="-457200" algn="just">
              <a:buFont typeface="Wingdings" panose="05000000000000000000" pitchFamily="2" charset="2"/>
              <a:buChar char="ü"/>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9986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4DE27D-E863-EEC1-A33E-AC03D056EC03}"/>
              </a:ext>
            </a:extLst>
          </p:cNvPr>
          <p:cNvPicPr>
            <a:picLocks noChangeAspect="1"/>
          </p:cNvPicPr>
          <p:nvPr/>
        </p:nvPicPr>
        <p:blipFill>
          <a:blip r:embed="rId2"/>
          <a:stretch>
            <a:fillRect/>
          </a:stretch>
        </p:blipFill>
        <p:spPr>
          <a:xfrm>
            <a:off x="436770" y="182880"/>
            <a:ext cx="11108165" cy="5565775"/>
          </a:xfrm>
          <a:prstGeom prst="rect">
            <a:avLst/>
          </a:prstGeom>
        </p:spPr>
      </p:pic>
      <p:sp>
        <p:nvSpPr>
          <p:cNvPr id="5" name="TextBox 4">
            <a:extLst>
              <a:ext uri="{FF2B5EF4-FFF2-40B4-BE49-F238E27FC236}">
                <a16:creationId xmlns:a16="http://schemas.microsoft.com/office/drawing/2014/main" id="{9C76A096-0059-ED61-1FEA-14093C3C6030}"/>
              </a:ext>
            </a:extLst>
          </p:cNvPr>
          <p:cNvSpPr txBox="1"/>
          <p:nvPr/>
        </p:nvSpPr>
        <p:spPr>
          <a:xfrm>
            <a:off x="589280" y="5857855"/>
            <a:ext cx="10596880" cy="646331"/>
          </a:xfrm>
          <a:prstGeom prst="rect">
            <a:avLst/>
          </a:prstGeom>
          <a:noFill/>
        </p:spPr>
        <p:txBody>
          <a:bodyPr wrap="square">
            <a:spAutoFit/>
          </a:bodyPr>
          <a:lstStyle/>
          <a:p>
            <a:pPr algn="ctr"/>
            <a:r>
              <a:rPr lang="en-US" dirty="0"/>
              <a:t>AES is secure, fast, and widely used in file encryption, VPNs, TLS/HTTPS, Wi-Fi security (WPA2/WPA3), and almost all modern security protocols.</a:t>
            </a:r>
            <a:endParaRPr lang="en-PK" dirty="0"/>
          </a:p>
        </p:txBody>
      </p:sp>
    </p:spTree>
    <p:extLst>
      <p:ext uri="{BB962C8B-B14F-4D97-AF65-F5344CB8AC3E}">
        <p14:creationId xmlns:p14="http://schemas.microsoft.com/office/powerpoint/2010/main" val="3638879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CB211-208A-A740-06B6-65F37A49EF6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5382DC1-F366-B4CB-CCE9-C215532F6974}"/>
              </a:ext>
            </a:extLst>
          </p:cNvPr>
          <p:cNvSpPr txBox="1"/>
          <p:nvPr/>
        </p:nvSpPr>
        <p:spPr>
          <a:xfrm>
            <a:off x="2926080" y="154186"/>
            <a:ext cx="514096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Working of AES </a:t>
            </a:r>
          </a:p>
        </p:txBody>
      </p:sp>
      <p:sp>
        <p:nvSpPr>
          <p:cNvPr id="5" name="TextBox 4">
            <a:extLst>
              <a:ext uri="{FF2B5EF4-FFF2-40B4-BE49-F238E27FC236}">
                <a16:creationId xmlns:a16="http://schemas.microsoft.com/office/drawing/2014/main" id="{BDF8DC99-0E34-8B56-7B41-E4ECD055FB8D}"/>
              </a:ext>
            </a:extLst>
          </p:cNvPr>
          <p:cNvSpPr txBox="1"/>
          <p:nvPr/>
        </p:nvSpPr>
        <p:spPr>
          <a:xfrm>
            <a:off x="777240" y="1245999"/>
            <a:ext cx="10312400" cy="1815882"/>
          </a:xfrm>
          <a:prstGeom prst="rect">
            <a:avLst/>
          </a:prstGeom>
          <a:noFill/>
        </p:spPr>
        <p:txBody>
          <a:bodyPr wrap="square">
            <a:spAutoFit/>
          </a:bodyPr>
          <a:lstStyle/>
          <a:p>
            <a:pPr marL="342900" indent="-342900" algn="just" fontAlgn="base">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AES performs operations on bytes of data rather than in bits. Since the block size is 128 bits, the cipher processes 128 bits (or 16 bytes) of the input data at a time.</a:t>
            </a:r>
          </a:p>
          <a:p>
            <a:pPr marL="342900" indent="-342900" algn="just" fontAlgn="base">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algn="just" fontAlgn="base"/>
            <a:r>
              <a:rPr lang="en-US" sz="2000" dirty="0">
                <a:latin typeface="Times New Roman" panose="02020603050405020304" pitchFamily="18" charset="0"/>
                <a:cs typeface="Times New Roman" panose="02020603050405020304" pitchFamily="18" charset="0"/>
              </a:rPr>
              <a:t>The number of rounds depends on the key length as follows :</a:t>
            </a:r>
          </a:p>
          <a:p>
            <a:pPr marL="457200" indent="-457200" algn="just">
              <a:buFont typeface="Wingdings" panose="05000000000000000000" pitchFamily="2" charset="2"/>
              <a:buChar char="ü"/>
            </a:pPr>
            <a:endParaRPr lang="en-US" sz="3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D5EEEC9-060F-FFDE-EB0A-9EC7FDC0D2AA}"/>
              </a:ext>
            </a:extLst>
          </p:cNvPr>
          <p:cNvPicPr>
            <a:picLocks noChangeAspect="1"/>
          </p:cNvPicPr>
          <p:nvPr/>
        </p:nvPicPr>
        <p:blipFill>
          <a:blip r:embed="rId2"/>
          <a:stretch>
            <a:fillRect/>
          </a:stretch>
        </p:blipFill>
        <p:spPr>
          <a:xfrm>
            <a:off x="2926080" y="2568892"/>
            <a:ext cx="5838825" cy="3914775"/>
          </a:xfrm>
          <a:prstGeom prst="rect">
            <a:avLst/>
          </a:prstGeom>
        </p:spPr>
      </p:pic>
    </p:spTree>
    <p:extLst>
      <p:ext uri="{BB962C8B-B14F-4D97-AF65-F5344CB8AC3E}">
        <p14:creationId xmlns:p14="http://schemas.microsoft.com/office/powerpoint/2010/main" val="24430345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C67B9-1450-C6C0-0EBF-61C980ACBC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9D6ECC9-0A41-5848-CEDD-599C1424AC6B}"/>
              </a:ext>
            </a:extLst>
          </p:cNvPr>
          <p:cNvSpPr txBox="1"/>
          <p:nvPr/>
        </p:nvSpPr>
        <p:spPr>
          <a:xfrm>
            <a:off x="2926080" y="154186"/>
            <a:ext cx="514096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AES Structure </a:t>
            </a:r>
          </a:p>
        </p:txBody>
      </p:sp>
      <p:sp>
        <p:nvSpPr>
          <p:cNvPr id="5" name="TextBox 4">
            <a:extLst>
              <a:ext uri="{FF2B5EF4-FFF2-40B4-BE49-F238E27FC236}">
                <a16:creationId xmlns:a16="http://schemas.microsoft.com/office/drawing/2014/main" id="{E26BB132-3BC4-99B8-583D-D12412ED2488}"/>
              </a:ext>
            </a:extLst>
          </p:cNvPr>
          <p:cNvSpPr txBox="1"/>
          <p:nvPr/>
        </p:nvSpPr>
        <p:spPr>
          <a:xfrm>
            <a:off x="777240" y="1245999"/>
            <a:ext cx="10312400" cy="1384995"/>
          </a:xfrm>
          <a:prstGeom prst="rect">
            <a:avLst/>
          </a:prstGeom>
          <a:noFill/>
        </p:spPr>
        <p:txBody>
          <a:bodyPr wrap="square">
            <a:spAutoFit/>
          </a:bodyPr>
          <a:lstStyle/>
          <a:p>
            <a:pPr>
              <a:buNone/>
            </a:pPr>
            <a:r>
              <a:rPr lang="en-US" sz="2800" dirty="0">
                <a:latin typeface="Times New Roman" panose="02020603050405020304" pitchFamily="18" charset="0"/>
                <a:cs typeface="Times New Roman" panose="02020603050405020304" pitchFamily="18" charset="0"/>
              </a:rPr>
              <a:t>AES is based on a </a:t>
            </a:r>
            <a:r>
              <a:rPr lang="en-US" sz="2800" b="1" dirty="0">
                <a:latin typeface="Times New Roman" panose="02020603050405020304" pitchFamily="18" charset="0"/>
                <a:cs typeface="Times New Roman" panose="02020603050405020304" pitchFamily="18" charset="0"/>
              </a:rPr>
              <a:t>substitution-permutation network (SPN)</a:t>
            </a:r>
            <a:r>
              <a:rPr lang="en-US" sz="2800" dirty="0">
                <a:latin typeface="Times New Roman" panose="02020603050405020304" pitchFamily="18" charset="0"/>
                <a:cs typeface="Times New Roman" panose="02020603050405020304" pitchFamily="18" charset="0"/>
              </a:rPr>
              <a:t> rather than a Feistel network. Its operations are done on a 4x4 matrix of bytes called the </a:t>
            </a:r>
            <a:r>
              <a:rPr lang="en-US" sz="2800" b="1" dirty="0">
                <a:latin typeface="Times New Roman" panose="02020603050405020304" pitchFamily="18" charset="0"/>
                <a:cs typeface="Times New Roman" panose="02020603050405020304" pitchFamily="18" charset="0"/>
              </a:rPr>
              <a:t>state.</a:t>
            </a:r>
            <a:endParaRPr lang="en-US" sz="2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57F9BFA4-7B9B-DBE1-B5E9-081864DA9678}"/>
              </a:ext>
            </a:extLst>
          </p:cNvPr>
          <p:cNvPicPr>
            <a:picLocks noChangeAspect="1"/>
          </p:cNvPicPr>
          <p:nvPr/>
        </p:nvPicPr>
        <p:blipFill>
          <a:blip r:embed="rId2"/>
          <a:stretch>
            <a:fillRect/>
          </a:stretch>
        </p:blipFill>
        <p:spPr>
          <a:xfrm>
            <a:off x="1390014" y="2891810"/>
            <a:ext cx="9410065" cy="3082256"/>
          </a:xfrm>
          <a:prstGeom prst="rect">
            <a:avLst/>
          </a:prstGeom>
        </p:spPr>
      </p:pic>
      <p:pic>
        <p:nvPicPr>
          <p:cNvPr id="10" name="Picture 9">
            <a:extLst>
              <a:ext uri="{FF2B5EF4-FFF2-40B4-BE49-F238E27FC236}">
                <a16:creationId xmlns:a16="http://schemas.microsoft.com/office/drawing/2014/main" id="{17A746CD-6675-CB8A-6CE4-8C2B58D9C723}"/>
              </a:ext>
            </a:extLst>
          </p:cNvPr>
          <p:cNvPicPr>
            <a:picLocks noChangeAspect="1"/>
          </p:cNvPicPr>
          <p:nvPr/>
        </p:nvPicPr>
        <p:blipFill>
          <a:blip r:embed="rId2"/>
          <a:stretch>
            <a:fillRect/>
          </a:stretch>
        </p:blipFill>
        <p:spPr>
          <a:xfrm>
            <a:off x="1115694" y="2891810"/>
            <a:ext cx="9410065" cy="3082256"/>
          </a:xfrm>
          <a:prstGeom prst="rect">
            <a:avLst/>
          </a:prstGeom>
        </p:spPr>
      </p:pic>
    </p:spTree>
    <p:extLst>
      <p:ext uri="{BB962C8B-B14F-4D97-AF65-F5344CB8AC3E}">
        <p14:creationId xmlns:p14="http://schemas.microsoft.com/office/powerpoint/2010/main" val="13570166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59E2D-DF33-008A-D9A2-D86D3F3AC7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86BF1C4-84E5-4757-0FF9-72E05F9D643B}"/>
              </a:ext>
            </a:extLst>
          </p:cNvPr>
          <p:cNvSpPr txBox="1"/>
          <p:nvPr/>
        </p:nvSpPr>
        <p:spPr>
          <a:xfrm>
            <a:off x="2926080" y="154186"/>
            <a:ext cx="514096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Round Key of AES </a:t>
            </a:r>
          </a:p>
        </p:txBody>
      </p:sp>
      <p:sp>
        <p:nvSpPr>
          <p:cNvPr id="5" name="TextBox 4">
            <a:extLst>
              <a:ext uri="{FF2B5EF4-FFF2-40B4-BE49-F238E27FC236}">
                <a16:creationId xmlns:a16="http://schemas.microsoft.com/office/drawing/2014/main" id="{9AF07CD9-1146-B8B4-E89B-26B5A78D053C}"/>
              </a:ext>
            </a:extLst>
          </p:cNvPr>
          <p:cNvSpPr txBox="1"/>
          <p:nvPr/>
        </p:nvSpPr>
        <p:spPr>
          <a:xfrm>
            <a:off x="868679" y="5837336"/>
            <a:ext cx="10312400" cy="646331"/>
          </a:xfrm>
          <a:prstGeom prst="rect">
            <a:avLst/>
          </a:prstGeom>
          <a:noFill/>
        </p:spPr>
        <p:txBody>
          <a:bodyPr wrap="square">
            <a:spAutoFit/>
          </a:bodyPr>
          <a:lstStyle/>
          <a:p>
            <a:pPr algn="ctr" fontAlgn="base"/>
            <a:r>
              <a:rPr lang="en-US" dirty="0">
                <a:latin typeface="Times New Roman" panose="02020603050405020304" pitchFamily="18" charset="0"/>
                <a:cs typeface="Times New Roman" panose="02020603050405020304" pitchFamily="18" charset="0"/>
              </a:rPr>
              <a:t>A Key Schedule algorithm calculates all the round keys from the key. So the initial key is used to create many different round keys which will be used in the corresponding round of the encryption.</a:t>
            </a:r>
            <a:endParaRPr lang="en-US" sz="3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3787AB0-F859-8397-C1E9-7BAC56BF16A8}"/>
              </a:ext>
            </a:extLst>
          </p:cNvPr>
          <p:cNvPicPr>
            <a:picLocks noChangeAspect="1"/>
          </p:cNvPicPr>
          <p:nvPr/>
        </p:nvPicPr>
        <p:blipFill>
          <a:blip r:embed="rId2"/>
          <a:stretch>
            <a:fillRect/>
          </a:stretch>
        </p:blipFill>
        <p:spPr>
          <a:xfrm>
            <a:off x="1743392" y="1120497"/>
            <a:ext cx="8562975" cy="4581525"/>
          </a:xfrm>
          <a:prstGeom prst="rect">
            <a:avLst/>
          </a:prstGeom>
        </p:spPr>
      </p:pic>
    </p:spTree>
    <p:extLst>
      <p:ext uri="{BB962C8B-B14F-4D97-AF65-F5344CB8AC3E}">
        <p14:creationId xmlns:p14="http://schemas.microsoft.com/office/powerpoint/2010/main" val="28470084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0CB64-9249-A5FE-5F34-DB446339BFF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1E60287-9693-DFFF-853F-723B5B7CA25D}"/>
              </a:ext>
            </a:extLst>
          </p:cNvPr>
          <p:cNvSpPr txBox="1"/>
          <p:nvPr/>
        </p:nvSpPr>
        <p:spPr>
          <a:xfrm>
            <a:off x="3713480" y="184666"/>
            <a:ext cx="476504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AES Operations</a:t>
            </a:r>
          </a:p>
        </p:txBody>
      </p:sp>
      <p:sp>
        <p:nvSpPr>
          <p:cNvPr id="5" name="TextBox 4">
            <a:extLst>
              <a:ext uri="{FF2B5EF4-FFF2-40B4-BE49-F238E27FC236}">
                <a16:creationId xmlns:a16="http://schemas.microsoft.com/office/drawing/2014/main" id="{505C708C-39A3-DE11-B237-529939283BF9}"/>
              </a:ext>
            </a:extLst>
          </p:cNvPr>
          <p:cNvSpPr txBox="1"/>
          <p:nvPr/>
        </p:nvSpPr>
        <p:spPr>
          <a:xfrm>
            <a:off x="828040" y="1379577"/>
            <a:ext cx="10312400" cy="5293757"/>
          </a:xfrm>
          <a:prstGeom prst="rect">
            <a:avLst/>
          </a:prstGeom>
          <a:noFill/>
        </p:spPr>
        <p:txBody>
          <a:bodyPr wrap="square">
            <a:spAutoFit/>
          </a:bodyPr>
          <a:lstStyle/>
          <a:p>
            <a:r>
              <a:rPr lang="en-US" sz="2600" dirty="0">
                <a:latin typeface="Times New Roman" panose="02020603050405020304" pitchFamily="18" charset="0"/>
                <a:cs typeface="Times New Roman" panose="02020603050405020304" pitchFamily="18" charset="0"/>
              </a:rPr>
              <a:t>Each AES round (except the final round) performs </a:t>
            </a:r>
            <a:r>
              <a:rPr lang="en-US" sz="2600" b="1" dirty="0">
                <a:latin typeface="Times New Roman" panose="02020603050405020304" pitchFamily="18" charset="0"/>
                <a:cs typeface="Times New Roman" panose="02020603050405020304" pitchFamily="18" charset="0"/>
              </a:rPr>
              <a:t>four main operations</a:t>
            </a:r>
            <a:r>
              <a:rPr lang="en-US" sz="2600" dirty="0">
                <a:latin typeface="Times New Roman" panose="02020603050405020304" pitchFamily="18" charset="0"/>
                <a:cs typeface="Times New Roman" panose="02020603050405020304" pitchFamily="18" charset="0"/>
              </a:rPr>
              <a:t>:</a:t>
            </a:r>
          </a:p>
          <a:p>
            <a:r>
              <a:rPr lang="en-US" sz="2600" b="1" dirty="0">
                <a:latin typeface="Times New Roman" panose="02020603050405020304" pitchFamily="18" charset="0"/>
                <a:cs typeface="Times New Roman" panose="02020603050405020304" pitchFamily="18" charset="0"/>
              </a:rPr>
              <a:t>1. </a:t>
            </a:r>
            <a:r>
              <a:rPr lang="en-US" sz="2600" b="1" dirty="0" err="1">
                <a:latin typeface="Times New Roman" panose="02020603050405020304" pitchFamily="18" charset="0"/>
                <a:cs typeface="Times New Roman" panose="02020603050405020304" pitchFamily="18" charset="0"/>
              </a:rPr>
              <a:t>SubBytes</a:t>
            </a:r>
            <a:r>
              <a:rPr lang="en-US" sz="2600" b="1" dirty="0">
                <a:latin typeface="Times New Roman" panose="02020603050405020304" pitchFamily="18" charset="0"/>
                <a:cs typeface="Times New Roman" panose="02020603050405020304" pitchFamily="18" charset="0"/>
              </a:rPr>
              <a:t> (Byte Substitution):</a:t>
            </a:r>
            <a:endParaRPr lang="en-US" sz="26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Each byte in the state is replaced using a </a:t>
            </a:r>
            <a:r>
              <a:rPr lang="en-US" sz="2600" b="1" dirty="0">
                <a:latin typeface="Times New Roman" panose="02020603050405020304" pitchFamily="18" charset="0"/>
                <a:cs typeface="Times New Roman" panose="02020603050405020304" pitchFamily="18" charset="0"/>
              </a:rPr>
              <a:t>Substitution box (S-box)</a:t>
            </a:r>
            <a:r>
              <a:rPr lang="en-US" sz="2600" dirty="0">
                <a:latin typeface="Times New Roman" panose="02020603050405020304" pitchFamily="18" charset="0"/>
                <a:cs typeface="Times New Roman" panose="02020603050405020304" pitchFamily="18" charset="0"/>
              </a:rPr>
              <a:t>.</a:t>
            </a:r>
          </a:p>
          <a:p>
            <a:pPr marL="914400" lvl="1"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Provides </a:t>
            </a:r>
            <a:r>
              <a:rPr lang="en-US" sz="2600" b="1" dirty="0">
                <a:latin typeface="Times New Roman" panose="02020603050405020304" pitchFamily="18" charset="0"/>
                <a:cs typeface="Times New Roman" panose="02020603050405020304" pitchFamily="18" charset="0"/>
              </a:rPr>
              <a:t>non-linearity</a:t>
            </a:r>
            <a:r>
              <a:rPr lang="en-US" sz="2600" dirty="0">
                <a:latin typeface="Times New Roman" panose="02020603050405020304" pitchFamily="18" charset="0"/>
                <a:cs typeface="Times New Roman" panose="02020603050405020304" pitchFamily="18" charset="0"/>
              </a:rPr>
              <a:t> and resistance to linear and differential cryptanalysis.</a:t>
            </a:r>
          </a:p>
          <a:p>
            <a:r>
              <a:rPr lang="en-US" sz="2600" b="1" dirty="0">
                <a:latin typeface="Times New Roman" panose="02020603050405020304" pitchFamily="18" charset="0"/>
                <a:cs typeface="Times New Roman" panose="02020603050405020304" pitchFamily="18" charset="0"/>
              </a:rPr>
              <a:t>2. </a:t>
            </a:r>
            <a:r>
              <a:rPr lang="en-US" sz="2600" b="1" dirty="0" err="1">
                <a:latin typeface="Times New Roman" panose="02020603050405020304" pitchFamily="18" charset="0"/>
                <a:cs typeface="Times New Roman" panose="02020603050405020304" pitchFamily="18" charset="0"/>
              </a:rPr>
              <a:t>ShiftRows</a:t>
            </a:r>
            <a:r>
              <a:rPr lang="en-US" sz="2600" b="1" dirty="0">
                <a:latin typeface="Times New Roman" panose="02020603050405020304" pitchFamily="18" charset="0"/>
                <a:cs typeface="Times New Roman" panose="02020603050405020304" pitchFamily="18" charset="0"/>
              </a:rPr>
              <a:t> (Row Shifting):</a:t>
            </a:r>
            <a:endParaRPr lang="en-US" sz="26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Rows of the state are </a:t>
            </a:r>
            <a:r>
              <a:rPr lang="en-US" sz="2600" b="1" dirty="0">
                <a:latin typeface="Times New Roman" panose="02020603050405020304" pitchFamily="18" charset="0"/>
                <a:cs typeface="Times New Roman" panose="02020603050405020304" pitchFamily="18" charset="0"/>
              </a:rPr>
              <a:t>cyclically shifted</a:t>
            </a:r>
            <a:r>
              <a:rPr lang="en-US" sz="2600" dirty="0">
                <a:latin typeface="Times New Roman" panose="02020603050405020304" pitchFamily="18" charset="0"/>
                <a:cs typeface="Times New Roman" panose="02020603050405020304" pitchFamily="18" charset="0"/>
              </a:rPr>
              <a:t> left by different offsets:</a:t>
            </a:r>
          </a:p>
          <a:p>
            <a:pPr marL="1428750" lvl="2" indent="-514350">
              <a:buFont typeface="+mj-lt"/>
              <a:buAutoNum type="arabicPeriod"/>
            </a:pPr>
            <a:r>
              <a:rPr lang="en-US" sz="2600" dirty="0">
                <a:latin typeface="Times New Roman" panose="02020603050405020304" pitchFamily="18" charset="0"/>
                <a:cs typeface="Times New Roman" panose="02020603050405020304" pitchFamily="18" charset="0"/>
              </a:rPr>
              <a:t>Row 0: no shift</a:t>
            </a:r>
          </a:p>
          <a:p>
            <a:pPr marL="1428750" lvl="2" indent="-514350">
              <a:buFont typeface="+mj-lt"/>
              <a:buAutoNum type="arabicPeriod"/>
            </a:pPr>
            <a:r>
              <a:rPr lang="en-US" sz="2600" dirty="0">
                <a:latin typeface="Times New Roman" panose="02020603050405020304" pitchFamily="18" charset="0"/>
                <a:cs typeface="Times New Roman" panose="02020603050405020304" pitchFamily="18" charset="0"/>
              </a:rPr>
              <a:t>Row 1: shift 1 byte</a:t>
            </a:r>
          </a:p>
          <a:p>
            <a:pPr marL="1428750" lvl="2" indent="-514350">
              <a:buFont typeface="+mj-lt"/>
              <a:buAutoNum type="arabicPeriod"/>
            </a:pPr>
            <a:r>
              <a:rPr lang="en-US" sz="2600" dirty="0">
                <a:latin typeface="Times New Roman" panose="02020603050405020304" pitchFamily="18" charset="0"/>
                <a:cs typeface="Times New Roman" panose="02020603050405020304" pitchFamily="18" charset="0"/>
              </a:rPr>
              <a:t>Row 2: shift 2 bytes</a:t>
            </a:r>
          </a:p>
          <a:p>
            <a:pPr marL="1428750" lvl="2" indent="-514350">
              <a:buFont typeface="+mj-lt"/>
              <a:buAutoNum type="arabicPeriod"/>
            </a:pPr>
            <a:r>
              <a:rPr lang="en-US" sz="2600" dirty="0">
                <a:latin typeface="Times New Roman" panose="02020603050405020304" pitchFamily="18" charset="0"/>
                <a:cs typeface="Times New Roman" panose="02020603050405020304" pitchFamily="18" charset="0"/>
              </a:rPr>
              <a:t>Row 3: shift 3 bytes</a:t>
            </a:r>
          </a:p>
          <a:p>
            <a:pPr marL="914400" lvl="1"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Provides </a:t>
            </a:r>
            <a:r>
              <a:rPr lang="en-US" sz="2600" b="1" dirty="0">
                <a:latin typeface="Times New Roman" panose="02020603050405020304" pitchFamily="18" charset="0"/>
                <a:cs typeface="Times New Roman" panose="02020603050405020304" pitchFamily="18" charset="0"/>
              </a:rPr>
              <a:t>diffusion</a:t>
            </a:r>
            <a:r>
              <a:rPr lang="en-US" sz="2600" dirty="0">
                <a:latin typeface="Times New Roman" panose="02020603050405020304" pitchFamily="18" charset="0"/>
                <a:cs typeface="Times New Roman" panose="02020603050405020304" pitchFamily="18" charset="0"/>
              </a:rPr>
              <a:t> across columns.</a:t>
            </a:r>
          </a:p>
          <a:p>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8297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EDE5C-D081-8DD3-1693-2DE1880218F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9A93ADE-6FC3-202F-2DE7-5806D16468F8}"/>
              </a:ext>
            </a:extLst>
          </p:cNvPr>
          <p:cNvSpPr txBox="1"/>
          <p:nvPr/>
        </p:nvSpPr>
        <p:spPr>
          <a:xfrm>
            <a:off x="3713480" y="184666"/>
            <a:ext cx="476504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AES Operations</a:t>
            </a:r>
          </a:p>
        </p:txBody>
      </p:sp>
      <p:sp>
        <p:nvSpPr>
          <p:cNvPr id="5" name="TextBox 4">
            <a:extLst>
              <a:ext uri="{FF2B5EF4-FFF2-40B4-BE49-F238E27FC236}">
                <a16:creationId xmlns:a16="http://schemas.microsoft.com/office/drawing/2014/main" id="{99196DCB-FC0F-D381-8871-B83D7619E977}"/>
              </a:ext>
            </a:extLst>
          </p:cNvPr>
          <p:cNvSpPr txBox="1"/>
          <p:nvPr/>
        </p:nvSpPr>
        <p:spPr>
          <a:xfrm>
            <a:off x="828040" y="1379577"/>
            <a:ext cx="10312400" cy="4893647"/>
          </a:xfrm>
          <a:prstGeom prst="rect">
            <a:avLst/>
          </a:prstGeom>
          <a:noFill/>
        </p:spPr>
        <p:txBody>
          <a:bodyPr wrap="square">
            <a:spAutoFit/>
          </a:bodyPr>
          <a:lstStyle/>
          <a:p>
            <a:r>
              <a:rPr lang="en-US" sz="2600" b="1" dirty="0">
                <a:latin typeface="Times New Roman" panose="02020603050405020304" pitchFamily="18" charset="0"/>
                <a:cs typeface="Times New Roman" panose="02020603050405020304" pitchFamily="18" charset="0"/>
              </a:rPr>
              <a:t>3. </a:t>
            </a:r>
            <a:r>
              <a:rPr lang="en-US" sz="2600" b="1" dirty="0" err="1">
                <a:latin typeface="Times New Roman" panose="02020603050405020304" pitchFamily="18" charset="0"/>
                <a:cs typeface="Times New Roman" panose="02020603050405020304" pitchFamily="18" charset="0"/>
              </a:rPr>
              <a:t>MixColumns</a:t>
            </a:r>
            <a:r>
              <a:rPr lang="en-US" sz="2600" b="1" dirty="0">
                <a:latin typeface="Times New Roman" panose="02020603050405020304" pitchFamily="18" charset="0"/>
                <a:cs typeface="Times New Roman" panose="02020603050405020304" pitchFamily="18" charset="0"/>
              </a:rPr>
              <a:t> (Column Mixing):</a:t>
            </a:r>
            <a:endParaRPr lang="en-US" sz="26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Each column is transformed using </a:t>
            </a:r>
            <a:r>
              <a:rPr lang="en-US" sz="2600" b="1" dirty="0">
                <a:latin typeface="Times New Roman" panose="02020603050405020304" pitchFamily="18" charset="0"/>
                <a:cs typeface="Times New Roman" panose="02020603050405020304" pitchFamily="18" charset="0"/>
              </a:rPr>
              <a:t>matrix multiplication</a:t>
            </a:r>
            <a:r>
              <a:rPr lang="en-US" sz="2600" dirty="0">
                <a:latin typeface="Times New Roman" panose="02020603050405020304" pitchFamily="18" charset="0"/>
                <a:cs typeface="Times New Roman" panose="02020603050405020304" pitchFamily="18" charset="0"/>
              </a:rPr>
              <a:t> over a finite field GF(2^8).</a:t>
            </a:r>
          </a:p>
          <a:p>
            <a:pPr marL="914400" lvl="1"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Mixes bytes within columns, enhancing </a:t>
            </a:r>
            <a:r>
              <a:rPr lang="en-US" sz="2600" b="1" dirty="0">
                <a:latin typeface="Times New Roman" panose="02020603050405020304" pitchFamily="18" charset="0"/>
                <a:cs typeface="Times New Roman" panose="02020603050405020304" pitchFamily="18" charset="0"/>
              </a:rPr>
              <a:t>diffusion</a:t>
            </a:r>
            <a:r>
              <a:rPr lang="en-US" sz="2600" dirty="0">
                <a:latin typeface="Times New Roman" panose="02020603050405020304" pitchFamily="18" charset="0"/>
                <a:cs typeface="Times New Roman" panose="02020603050405020304" pitchFamily="18" charset="0"/>
              </a:rPr>
              <a:t>.</a:t>
            </a:r>
          </a:p>
          <a:p>
            <a:pPr marL="914400" lvl="1" indent="-457200">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Note:</a:t>
            </a:r>
            <a:r>
              <a:rPr lang="en-US" sz="2600" dirty="0">
                <a:latin typeface="Times New Roman" panose="02020603050405020304" pitchFamily="18" charset="0"/>
                <a:cs typeface="Times New Roman" panose="02020603050405020304" pitchFamily="18" charset="0"/>
              </a:rPr>
              <a:t> This step is skipped in the final round.</a:t>
            </a:r>
          </a:p>
          <a:p>
            <a:r>
              <a:rPr lang="en-US" sz="2600" b="1" dirty="0">
                <a:latin typeface="Times New Roman" panose="02020603050405020304" pitchFamily="18" charset="0"/>
                <a:cs typeface="Times New Roman" panose="02020603050405020304" pitchFamily="18" charset="0"/>
              </a:rPr>
              <a:t>4. </a:t>
            </a:r>
            <a:r>
              <a:rPr lang="en-US" sz="2600" b="1" dirty="0" err="1">
                <a:latin typeface="Times New Roman" panose="02020603050405020304" pitchFamily="18" charset="0"/>
                <a:cs typeface="Times New Roman" panose="02020603050405020304" pitchFamily="18" charset="0"/>
              </a:rPr>
              <a:t>AddRoundKey</a:t>
            </a:r>
            <a:r>
              <a:rPr lang="en-US" sz="2600" b="1" dirty="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Each byte of the state is </a:t>
            </a:r>
            <a:r>
              <a:rPr lang="en-US" sz="2600" b="1" dirty="0">
                <a:latin typeface="Times New Roman" panose="02020603050405020304" pitchFamily="18" charset="0"/>
                <a:cs typeface="Times New Roman" panose="02020603050405020304" pitchFamily="18" charset="0"/>
              </a:rPr>
              <a:t>XORed</a:t>
            </a:r>
            <a:r>
              <a:rPr lang="en-US" sz="2600" dirty="0">
                <a:latin typeface="Times New Roman" panose="02020603050405020304" pitchFamily="18" charset="0"/>
                <a:cs typeface="Times New Roman" panose="02020603050405020304" pitchFamily="18" charset="0"/>
              </a:rPr>
              <a:t> with a round key derived from the original key using the </a:t>
            </a:r>
            <a:r>
              <a:rPr lang="en-US" sz="2600" b="1" dirty="0">
                <a:latin typeface="Times New Roman" panose="02020603050405020304" pitchFamily="18" charset="0"/>
                <a:cs typeface="Times New Roman" panose="02020603050405020304" pitchFamily="18" charset="0"/>
              </a:rPr>
              <a:t>Key Expansion algorithm</a:t>
            </a:r>
            <a:r>
              <a:rPr lang="en-US" sz="2600" dirty="0">
                <a:latin typeface="Times New Roman" panose="02020603050405020304" pitchFamily="18" charset="0"/>
                <a:cs typeface="Times New Roman" panose="02020603050405020304" pitchFamily="18" charset="0"/>
              </a:rPr>
              <a:t>.</a:t>
            </a:r>
          </a:p>
          <a:p>
            <a:pPr marL="914400" lvl="1"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Provides </a:t>
            </a:r>
            <a:r>
              <a:rPr lang="en-US" sz="2600" b="1" dirty="0">
                <a:latin typeface="Times New Roman" panose="02020603050405020304" pitchFamily="18" charset="0"/>
                <a:cs typeface="Times New Roman" panose="02020603050405020304" pitchFamily="18" charset="0"/>
              </a:rPr>
              <a:t>key dependency</a:t>
            </a:r>
            <a:r>
              <a:rPr lang="en-US" sz="2600" dirty="0">
                <a:latin typeface="Times New Roman" panose="02020603050405020304" pitchFamily="18" charset="0"/>
                <a:cs typeface="Times New Roman" panose="02020603050405020304" pitchFamily="18" charset="0"/>
              </a:rPr>
              <a:t>.</a:t>
            </a:r>
          </a:p>
          <a:p>
            <a:r>
              <a:rPr lang="en-US" sz="2600" b="1" dirty="0">
                <a:latin typeface="Times New Roman" panose="02020603050405020304" pitchFamily="18" charset="0"/>
                <a:cs typeface="Times New Roman" panose="02020603050405020304" pitchFamily="18" charset="0"/>
              </a:rPr>
              <a:t>Final Round</a:t>
            </a:r>
          </a:p>
          <a:p>
            <a:r>
              <a:rPr lang="en-US" sz="2600" dirty="0">
                <a:latin typeface="Times New Roman" panose="02020603050405020304" pitchFamily="18" charset="0"/>
                <a:cs typeface="Times New Roman" panose="02020603050405020304" pitchFamily="18" charset="0"/>
              </a:rPr>
              <a:t>The last round </a:t>
            </a:r>
            <a:r>
              <a:rPr lang="en-US" sz="2600" b="1" dirty="0">
                <a:latin typeface="Times New Roman" panose="02020603050405020304" pitchFamily="18" charset="0"/>
                <a:cs typeface="Times New Roman" panose="02020603050405020304" pitchFamily="18" charset="0"/>
              </a:rPr>
              <a:t>omits the </a:t>
            </a:r>
            <a:r>
              <a:rPr lang="en-US" sz="2600" b="1" dirty="0" err="1">
                <a:latin typeface="Times New Roman" panose="02020603050405020304" pitchFamily="18" charset="0"/>
                <a:cs typeface="Times New Roman" panose="02020603050405020304" pitchFamily="18" charset="0"/>
              </a:rPr>
              <a:t>MixColumns</a:t>
            </a:r>
            <a:r>
              <a:rPr lang="en-US" sz="2600" b="1" dirty="0">
                <a:latin typeface="Times New Roman" panose="02020603050405020304" pitchFamily="18" charset="0"/>
                <a:cs typeface="Times New Roman" panose="02020603050405020304" pitchFamily="18" charset="0"/>
              </a:rPr>
              <a:t> step</a:t>
            </a:r>
            <a:r>
              <a:rPr lang="en-US" sz="2600" dirty="0">
                <a:latin typeface="Times New Roman" panose="02020603050405020304" pitchFamily="18" charset="0"/>
                <a:cs typeface="Times New Roman" panose="02020603050405020304" pitchFamily="18" charset="0"/>
              </a:rPr>
              <a:t>.</a:t>
            </a:r>
          </a:p>
          <a:p>
            <a:r>
              <a:rPr lang="en-US" sz="2600" dirty="0">
                <a:latin typeface="Times New Roman" panose="02020603050405020304" pitchFamily="18" charset="0"/>
                <a:cs typeface="Times New Roman" panose="02020603050405020304" pitchFamily="18" charset="0"/>
              </a:rPr>
              <a:t>The sequence is: </a:t>
            </a:r>
            <a:r>
              <a:rPr lang="en-US" sz="2600" dirty="0" err="1">
                <a:latin typeface="Times New Roman" panose="02020603050405020304" pitchFamily="18" charset="0"/>
                <a:cs typeface="Times New Roman" panose="02020603050405020304" pitchFamily="18" charset="0"/>
              </a:rPr>
              <a:t>SubBytes</a:t>
            </a:r>
            <a:r>
              <a:rPr lang="en-US" sz="2600" dirty="0">
                <a:latin typeface="Times New Roman" panose="02020603050405020304" pitchFamily="18" charset="0"/>
                <a:cs typeface="Times New Roman" panose="02020603050405020304" pitchFamily="18" charset="0"/>
              </a:rPr>
              <a:t> → </a:t>
            </a:r>
            <a:r>
              <a:rPr lang="en-US" sz="2600" dirty="0" err="1">
                <a:latin typeface="Times New Roman" panose="02020603050405020304" pitchFamily="18" charset="0"/>
                <a:cs typeface="Times New Roman" panose="02020603050405020304" pitchFamily="18" charset="0"/>
              </a:rPr>
              <a:t>ShiftRows</a:t>
            </a:r>
            <a:r>
              <a:rPr lang="en-US" sz="2600" dirty="0">
                <a:latin typeface="Times New Roman" panose="02020603050405020304" pitchFamily="18" charset="0"/>
                <a:cs typeface="Times New Roman" panose="02020603050405020304" pitchFamily="18" charset="0"/>
              </a:rPr>
              <a:t> → </a:t>
            </a:r>
            <a:r>
              <a:rPr lang="en-US" sz="2600" dirty="0" err="1">
                <a:latin typeface="Times New Roman" panose="02020603050405020304" pitchFamily="18" charset="0"/>
                <a:cs typeface="Times New Roman" panose="02020603050405020304" pitchFamily="18" charset="0"/>
              </a:rPr>
              <a:t>AddRoundKey</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1034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5E757F-AF0B-76BD-A314-0EAA65DEDD2C}"/>
              </a:ext>
            </a:extLst>
          </p:cNvPr>
          <p:cNvSpPr txBox="1"/>
          <p:nvPr/>
        </p:nvSpPr>
        <p:spPr>
          <a:xfrm>
            <a:off x="883920" y="1734572"/>
            <a:ext cx="10607040" cy="3570208"/>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The main problem with symmetric keys is the </a:t>
            </a:r>
            <a:r>
              <a:rPr lang="en-US" sz="3200" b="1" dirty="0">
                <a:latin typeface="Times New Roman" panose="02020603050405020304" pitchFamily="18" charset="0"/>
                <a:cs typeface="Times New Roman" panose="02020603050405020304" pitchFamily="18" charset="0"/>
              </a:rPr>
              <a:t>Key Distribution Problem:</a:t>
            </a:r>
            <a:r>
              <a:rPr lang="en-US" sz="2000" dirty="0">
                <a:latin typeface="Times New Roman" panose="02020603050405020304" pitchFamily="18" charset="0"/>
                <a:cs typeface="Times New Roman" panose="02020603050405020304" pitchFamily="18" charset="0"/>
              </a:rPr>
              <a:t> securely sharing the secret key between sender and receiver is difficult, as an intercepted key compromises all encrypted data.</a:t>
            </a:r>
            <a:endParaRPr lang="en-US" sz="3200" dirty="0">
              <a:latin typeface="Times New Roman" panose="02020603050405020304" pitchFamily="18" charset="0"/>
              <a:cs typeface="Times New Roman" panose="02020603050405020304" pitchFamily="18" charset="0"/>
            </a:endParaRPr>
          </a:p>
          <a:p>
            <a:endParaRPr lang="en-US" altLang="en-US" sz="3200" dirty="0">
              <a:latin typeface="Times New Roman" panose="02020603050405020304" pitchFamily="18" charset="0"/>
              <a:cs typeface="Times New Roman" panose="02020603050405020304" pitchFamily="18" charset="0"/>
            </a:endParaRPr>
          </a:p>
          <a:p>
            <a:r>
              <a:rPr lang="en-US" altLang="en-US" sz="3200" b="1" dirty="0">
                <a:latin typeface="Times New Roman" panose="02020603050405020304" pitchFamily="18" charset="0"/>
                <a:cs typeface="Times New Roman" panose="02020603050405020304" pitchFamily="18" charset="0"/>
              </a:rPr>
              <a:t>Q: How do you transmit the symmetric key?</a:t>
            </a:r>
          </a:p>
          <a:p>
            <a:pPr eaLnBrk="1" hangingPunct="1"/>
            <a:endParaRPr lang="en-US" alt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SOLUTION: Asymmetric (public-key) cryptography solves the key distribution problem by allowing secure key exchange over insecure channels.</a:t>
            </a:r>
          </a:p>
          <a:p>
            <a:pPr lvl="1" eaLnBrk="1" hangingPunct="1"/>
            <a:endParaRPr lang="en-US" altLang="en-US" sz="3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BC7D85F-9D9A-6F28-8ACF-BF4430D89299}"/>
              </a:ext>
            </a:extLst>
          </p:cNvPr>
          <p:cNvSpPr txBox="1"/>
          <p:nvPr/>
        </p:nvSpPr>
        <p:spPr>
          <a:xfrm>
            <a:off x="2783840" y="572254"/>
            <a:ext cx="6807200" cy="830997"/>
          </a:xfrm>
          <a:prstGeom prst="rect">
            <a:avLst/>
          </a:prstGeom>
          <a:noFill/>
        </p:spPr>
        <p:txBody>
          <a:bodyPr wrap="square">
            <a:spAutoFit/>
          </a:bodyPr>
          <a:lstStyle/>
          <a:p>
            <a:r>
              <a:rPr lang="en-US" sz="48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MODERN METHODS</a:t>
            </a:r>
          </a:p>
        </p:txBody>
      </p:sp>
      <p:pic>
        <p:nvPicPr>
          <p:cNvPr id="7" name="Picture 6">
            <a:extLst>
              <a:ext uri="{FF2B5EF4-FFF2-40B4-BE49-F238E27FC236}">
                <a16:creationId xmlns:a16="http://schemas.microsoft.com/office/drawing/2014/main" id="{90878E71-377D-D22B-EFCE-AECF0BDA9636}"/>
              </a:ext>
            </a:extLst>
          </p:cNvPr>
          <p:cNvPicPr>
            <a:picLocks noChangeAspect="1"/>
          </p:cNvPicPr>
          <p:nvPr/>
        </p:nvPicPr>
        <p:blipFill>
          <a:blip r:embed="rId2"/>
          <a:stretch>
            <a:fillRect/>
          </a:stretch>
        </p:blipFill>
        <p:spPr>
          <a:xfrm>
            <a:off x="10281602" y="4892675"/>
            <a:ext cx="1666875" cy="1847850"/>
          </a:xfrm>
          <a:prstGeom prst="rect">
            <a:avLst/>
          </a:prstGeom>
        </p:spPr>
      </p:pic>
    </p:spTree>
    <p:extLst>
      <p:ext uri="{BB962C8B-B14F-4D97-AF65-F5344CB8AC3E}">
        <p14:creationId xmlns:p14="http://schemas.microsoft.com/office/powerpoint/2010/main" val="4630285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24840-87B7-5C2F-E6CB-CE9BD61D278B}"/>
              </a:ext>
            </a:extLst>
          </p:cNvPr>
          <p:cNvSpPr>
            <a:spLocks noGrp="1"/>
          </p:cNvSpPr>
          <p:nvPr>
            <p:ph type="title"/>
          </p:nvPr>
        </p:nvSpPr>
        <p:spPr>
          <a:xfrm>
            <a:off x="4148328" y="1425940"/>
            <a:ext cx="6194552" cy="2807208"/>
          </a:xfrm>
        </p:spPr>
        <p:txBody>
          <a:bodyPr>
            <a:normAutofit/>
          </a:bodyPr>
          <a:lstStyle/>
          <a:p>
            <a:r>
              <a:rPr lang="en-US" sz="8000" dirty="0"/>
              <a:t>Thank you!</a:t>
            </a:r>
            <a:endParaRPr lang="en-PK" sz="8000" dirty="0"/>
          </a:p>
        </p:txBody>
      </p:sp>
      <p:sp>
        <p:nvSpPr>
          <p:cNvPr id="4" name="TextBox 3">
            <a:extLst>
              <a:ext uri="{FF2B5EF4-FFF2-40B4-BE49-F238E27FC236}">
                <a16:creationId xmlns:a16="http://schemas.microsoft.com/office/drawing/2014/main" id="{7119812F-AABC-0688-A538-8A303FE5DAE1}"/>
              </a:ext>
            </a:extLst>
          </p:cNvPr>
          <p:cNvSpPr txBox="1"/>
          <p:nvPr/>
        </p:nvSpPr>
        <p:spPr>
          <a:xfrm>
            <a:off x="1146898" y="3343939"/>
            <a:ext cx="10535920" cy="369332"/>
          </a:xfrm>
          <a:prstGeom prst="rect">
            <a:avLst/>
          </a:prstGeom>
          <a:noFill/>
        </p:spPr>
        <p:txBody>
          <a:bodyPr wrap="square">
            <a:spAutoFit/>
          </a:bodyPr>
          <a:lstStyle/>
          <a:p>
            <a:pPr algn="ctr"/>
            <a:r>
              <a:rPr lang="en-US" dirty="0"/>
              <a:t>“</a:t>
            </a:r>
            <a:r>
              <a:rPr lang="en-US" dirty="0">
                <a:latin typeface="Times New Roman" panose="02020603050405020304" pitchFamily="18" charset="0"/>
                <a:cs typeface="Times New Roman" panose="02020603050405020304" pitchFamily="18" charset="0"/>
              </a:rPr>
              <a:t>The main problem with symmetric keys is the Key Distribution Problem</a:t>
            </a:r>
            <a:r>
              <a:rPr lang="en-US" dirty="0"/>
              <a:t>”</a:t>
            </a:r>
            <a:endParaRPr lang="en-PK" dirty="0"/>
          </a:p>
        </p:txBody>
      </p:sp>
    </p:spTree>
    <p:extLst>
      <p:ext uri="{BB962C8B-B14F-4D97-AF65-F5344CB8AC3E}">
        <p14:creationId xmlns:p14="http://schemas.microsoft.com/office/powerpoint/2010/main" val="11958689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{45F63935-1AF4-4F8C-991F-4D25D3E9C223}TF2ec419c9-97c3-4958-b02a-0886397d33afcfe10e4b-d68909c4b1b0</Template>
  <TotalTime>3367</TotalTime>
  <Words>1484</Words>
  <Application>Microsoft Office PowerPoint</Application>
  <PresentationFormat>Widescreen</PresentationFormat>
  <Paragraphs>138</Paragraphs>
  <Slides>24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Rockwell</vt:lpstr>
      <vt:lpstr>Rockwell Condensed</vt:lpstr>
      <vt:lpstr>Rockwell Extra Bold</vt:lpstr>
      <vt:lpstr>Times New Roman</vt:lpstr>
      <vt:lpstr>Wingdings</vt:lpstr>
      <vt:lpstr>Wood Type</vt:lpstr>
      <vt:lpstr>Cyber Security</vt:lpstr>
      <vt:lpstr>Lecture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Adil Ahmed</cp:lastModifiedBy>
  <cp:revision>2111</cp:revision>
  <dcterms:created xsi:type="dcterms:W3CDTF">2025-10-15T06:15:30Z</dcterms:created>
  <dcterms:modified xsi:type="dcterms:W3CDTF">2026-01-18T14:55:42Z</dcterms:modified>
</cp:coreProperties>
</file>